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20" r:id="rId2"/>
    <p:sldId id="321" r:id="rId3"/>
    <p:sldId id="257" r:id="rId4"/>
    <p:sldId id="258" r:id="rId5"/>
    <p:sldId id="322" r:id="rId6"/>
    <p:sldId id="323" r:id="rId7"/>
    <p:sldId id="324" r:id="rId8"/>
    <p:sldId id="325" r:id="rId9"/>
    <p:sldId id="326" r:id="rId10"/>
    <p:sldId id="327" r:id="rId11"/>
    <p:sldId id="328" r:id="rId12"/>
    <p:sldId id="329" r:id="rId13"/>
    <p:sldId id="330" r:id="rId14"/>
    <p:sldId id="263" r:id="rId15"/>
    <p:sldId id="331" r:id="rId16"/>
    <p:sldId id="332" r:id="rId17"/>
    <p:sldId id="333" r:id="rId18"/>
    <p:sldId id="334" r:id="rId19"/>
    <p:sldId id="335" r:id="rId20"/>
    <p:sldId id="336" r:id="rId21"/>
    <p:sldId id="337" r:id="rId22"/>
    <p:sldId id="338" r:id="rId23"/>
    <p:sldId id="339" r:id="rId24"/>
    <p:sldId id="340" r:id="rId25"/>
    <p:sldId id="341" r:id="rId26"/>
    <p:sldId id="267" r:id="rId27"/>
    <p:sldId id="342" r:id="rId28"/>
    <p:sldId id="269" r:id="rId29"/>
    <p:sldId id="270" r:id="rId30"/>
    <p:sldId id="271" r:id="rId31"/>
    <p:sldId id="272" r:id="rId32"/>
    <p:sldId id="273" r:id="rId33"/>
    <p:sldId id="274" r:id="rId34"/>
    <p:sldId id="275" r:id="rId35"/>
    <p:sldId id="280" r:id="rId36"/>
    <p:sldId id="281" r:id="rId37"/>
    <p:sldId id="282" r:id="rId38"/>
    <p:sldId id="287" r:id="rId39"/>
    <p:sldId id="288" r:id="rId40"/>
    <p:sldId id="289" r:id="rId41"/>
    <p:sldId id="290" r:id="rId42"/>
    <p:sldId id="291" r:id="rId43"/>
    <p:sldId id="292" r:id="rId44"/>
    <p:sldId id="283" r:id="rId45"/>
    <p:sldId id="293" r:id="rId46"/>
    <p:sldId id="343" r:id="rId47"/>
    <p:sldId id="294" r:id="rId48"/>
    <p:sldId id="295" r:id="rId49"/>
    <p:sldId id="296" r:id="rId50"/>
    <p:sldId id="297" r:id="rId51"/>
    <p:sldId id="284" r:id="rId52"/>
    <p:sldId id="285" r:id="rId53"/>
    <p:sldId id="286" r:id="rId54"/>
    <p:sldId id="276" r:id="rId55"/>
    <p:sldId id="277" r:id="rId56"/>
    <p:sldId id="278" r:id="rId57"/>
    <p:sldId id="298" r:id="rId58"/>
    <p:sldId id="299" r:id="rId59"/>
    <p:sldId id="300" r:id="rId60"/>
    <p:sldId id="301" r:id="rId61"/>
    <p:sldId id="302" r:id="rId62"/>
    <p:sldId id="279" r:id="rId63"/>
    <p:sldId id="304" r:id="rId64"/>
    <p:sldId id="305" r:id="rId65"/>
    <p:sldId id="306" r:id="rId66"/>
    <p:sldId id="319" r:id="rId67"/>
    <p:sldId id="307" r:id="rId68"/>
    <p:sldId id="344" r:id="rId69"/>
    <p:sldId id="308" r:id="rId70"/>
    <p:sldId id="309" r:id="rId71"/>
    <p:sldId id="311" r:id="rId72"/>
    <p:sldId id="312" r:id="rId73"/>
    <p:sldId id="313" r:id="rId74"/>
    <p:sldId id="314" r:id="rId75"/>
    <p:sldId id="345" r:id="rId76"/>
    <p:sldId id="346" r:id="rId77"/>
    <p:sldId id="315" r:id="rId78"/>
    <p:sldId id="347" r:id="rId79"/>
    <p:sldId id="316" r:id="rId80"/>
    <p:sldId id="317" r:id="rId81"/>
    <p:sldId id="318" r:id="rId82"/>
    <p:sldId id="310" r:id="rId8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144E"/>
    <a:srgbClr val="006600"/>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Стиль із теми 1 – акцент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Стиль із теми 1 – акцент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Стиль із теми 1 – акцент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uk-UA"/>
              <a:t>Клацніть, щоб редагувати стиль зразка заголовка</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93481DD3-158A-4718-959A-B530ED523914}" type="datetimeFigureOut">
              <a:rPr lang="uk-UA" smtClean="0"/>
              <a:t>20.03.2026</a:t>
            </a:fld>
            <a:endParaRPr lang="uk-UA"/>
          </a:p>
        </p:txBody>
      </p:sp>
      <p:sp>
        <p:nvSpPr>
          <p:cNvPr id="5" name="Footer Placeholder 4"/>
          <p:cNvSpPr>
            <a:spLocks noGrp="1"/>
          </p:cNvSpPr>
          <p:nvPr>
            <p:ph type="ftr" sz="quarter" idx="11"/>
          </p:nvPr>
        </p:nvSpPr>
        <p:spPr>
          <a:xfrm>
            <a:off x="1371600" y="4323845"/>
            <a:ext cx="6400800" cy="365125"/>
          </a:xfrm>
        </p:spPr>
        <p:txBody>
          <a:bodyPr/>
          <a:lstStyle/>
          <a:p>
            <a:endParaRPr lang="uk-UA"/>
          </a:p>
        </p:txBody>
      </p:sp>
      <p:sp>
        <p:nvSpPr>
          <p:cNvPr id="6" name="Slide Number Placeholder 5"/>
          <p:cNvSpPr>
            <a:spLocks noGrp="1"/>
          </p:cNvSpPr>
          <p:nvPr>
            <p:ph type="sldNum" sz="quarter" idx="12"/>
          </p:nvPr>
        </p:nvSpPr>
        <p:spPr>
          <a:xfrm>
            <a:off x="8077200" y="1430866"/>
            <a:ext cx="2743200" cy="365125"/>
          </a:xfrm>
        </p:spPr>
        <p:txBody>
          <a:bodyPr/>
          <a:lstStyle/>
          <a:p>
            <a:fld id="{448C2613-3046-40A5-AA42-BA0D7BFB8007}" type="slidenum">
              <a:rPr lang="uk-UA" smtClean="0"/>
              <a:t>‹№›</a:t>
            </a:fld>
            <a:endParaRPr lang="uk-UA"/>
          </a:p>
        </p:txBody>
      </p:sp>
    </p:spTree>
    <p:extLst>
      <p:ext uri="{BB962C8B-B14F-4D97-AF65-F5344CB8AC3E}">
        <p14:creationId xmlns:p14="http://schemas.microsoft.com/office/powerpoint/2010/main" val="285273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93481DD3-158A-4718-959A-B530ED523914}" type="datetimeFigureOut">
              <a:rPr lang="uk-UA" smtClean="0"/>
              <a:t>20.03.2026</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48C2613-3046-40A5-AA42-BA0D7BFB8007}" type="slidenum">
              <a:rPr lang="uk-UA" smtClean="0"/>
              <a:t>‹№›</a:t>
            </a:fld>
            <a:endParaRPr lang="uk-UA"/>
          </a:p>
        </p:txBody>
      </p:sp>
    </p:spTree>
    <p:extLst>
      <p:ext uri="{BB962C8B-B14F-4D97-AF65-F5344CB8AC3E}">
        <p14:creationId xmlns:p14="http://schemas.microsoft.com/office/powerpoint/2010/main" val="2327355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Назва розділу">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93481DD3-158A-4718-959A-B530ED523914}" type="datetimeFigureOut">
              <a:rPr lang="uk-UA" smtClean="0"/>
              <a:t>20.03.2026</a:t>
            </a:fld>
            <a:endParaRPr lang="uk-UA"/>
          </a:p>
        </p:txBody>
      </p:sp>
      <p:sp>
        <p:nvSpPr>
          <p:cNvPr id="5" name="Footer Placeholder 4"/>
          <p:cNvSpPr>
            <a:spLocks noGrp="1"/>
          </p:cNvSpPr>
          <p:nvPr>
            <p:ph type="ftr" sz="quarter" idx="11"/>
          </p:nvPr>
        </p:nvSpPr>
        <p:spPr>
          <a:xfrm>
            <a:off x="685800" y="381001"/>
            <a:ext cx="6991492" cy="364065"/>
          </a:xfrm>
        </p:spPr>
        <p:txBody>
          <a:bodyPr/>
          <a:lstStyle/>
          <a:p>
            <a:endParaRPr lang="uk-UA"/>
          </a:p>
        </p:txBody>
      </p:sp>
      <p:sp>
        <p:nvSpPr>
          <p:cNvPr id="6" name="Slide Number Placeholder 5"/>
          <p:cNvSpPr>
            <a:spLocks noGrp="1"/>
          </p:cNvSpPr>
          <p:nvPr>
            <p:ph type="sldNum" sz="quarter" idx="12"/>
          </p:nvPr>
        </p:nvSpPr>
        <p:spPr>
          <a:xfrm>
            <a:off x="10862452" y="381000"/>
            <a:ext cx="643748" cy="365125"/>
          </a:xfrm>
        </p:spPr>
        <p:txBody>
          <a:bodyPr/>
          <a:lstStyle/>
          <a:p>
            <a:fld id="{448C2613-3046-40A5-AA42-BA0D7BFB8007}" type="slidenum">
              <a:rPr lang="uk-UA" smtClean="0"/>
              <a:t>‹№›</a:t>
            </a:fld>
            <a:endParaRPr lang="uk-UA"/>
          </a:p>
        </p:txBody>
      </p:sp>
    </p:spTree>
    <p:extLst>
      <p:ext uri="{BB962C8B-B14F-4D97-AF65-F5344CB8AC3E}">
        <p14:creationId xmlns:p14="http://schemas.microsoft.com/office/powerpoint/2010/main" val="290117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Date Placeholder 4"/>
          <p:cNvSpPr>
            <a:spLocks noGrp="1"/>
          </p:cNvSpPr>
          <p:nvPr>
            <p:ph type="dt" sz="half" idx="10"/>
          </p:nvPr>
        </p:nvSpPr>
        <p:spPr/>
        <p:txBody>
          <a:bodyPr/>
          <a:lstStyle/>
          <a:p>
            <a:fld id="{93481DD3-158A-4718-959A-B530ED523914}" type="datetimeFigureOut">
              <a:rPr lang="uk-UA" smtClean="0"/>
              <a:t>20.03.2026</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48C2613-3046-40A5-AA42-BA0D7BFB8007}" type="slidenum">
              <a:rPr lang="uk-UA" smtClean="0"/>
              <a:t>‹№›</a:t>
            </a:fld>
            <a:endParaRPr lang="uk-UA"/>
          </a:p>
        </p:txBody>
      </p:sp>
    </p:spTree>
    <p:extLst>
      <p:ext uri="{BB962C8B-B14F-4D97-AF65-F5344CB8AC3E}">
        <p14:creationId xmlns:p14="http://schemas.microsoft.com/office/powerpoint/2010/main" val="2746137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Content Placeholder 3"/>
          <p:cNvSpPr>
            <a:spLocks noGrp="1"/>
          </p:cNvSpPr>
          <p:nvPr>
            <p:ph sz="half" idx="2"/>
          </p:nvPr>
        </p:nvSpPr>
        <p:spPr>
          <a:xfrm>
            <a:off x="685800" y="3132666"/>
            <a:ext cx="5311775" cy="3086019"/>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Content Placeholder 5"/>
          <p:cNvSpPr>
            <a:spLocks noGrp="1"/>
          </p:cNvSpPr>
          <p:nvPr>
            <p:ph sz="quarter" idx="4"/>
          </p:nvPr>
        </p:nvSpPr>
        <p:spPr>
          <a:xfrm>
            <a:off x="6172200" y="3132666"/>
            <a:ext cx="5334000" cy="3086019"/>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7" name="Date Placeholder 6"/>
          <p:cNvSpPr>
            <a:spLocks noGrp="1"/>
          </p:cNvSpPr>
          <p:nvPr>
            <p:ph type="dt" sz="half" idx="10"/>
          </p:nvPr>
        </p:nvSpPr>
        <p:spPr/>
        <p:txBody>
          <a:bodyPr/>
          <a:lstStyle/>
          <a:p>
            <a:fld id="{93481DD3-158A-4718-959A-B530ED523914}" type="datetimeFigureOut">
              <a:rPr lang="uk-UA" smtClean="0"/>
              <a:t>20.03.2026</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448C2613-3046-40A5-AA42-BA0D7BFB8007}" type="slidenum">
              <a:rPr lang="uk-UA" smtClean="0"/>
              <a:t>‹№›</a:t>
            </a:fld>
            <a:endParaRPr lang="uk-UA"/>
          </a:p>
        </p:txBody>
      </p:sp>
    </p:spTree>
    <p:extLst>
      <p:ext uri="{BB962C8B-B14F-4D97-AF65-F5344CB8AC3E}">
        <p14:creationId xmlns:p14="http://schemas.microsoft.com/office/powerpoint/2010/main" val="331338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Date Placeholder 2"/>
          <p:cNvSpPr>
            <a:spLocks noGrp="1"/>
          </p:cNvSpPr>
          <p:nvPr>
            <p:ph type="dt" sz="half" idx="10"/>
          </p:nvPr>
        </p:nvSpPr>
        <p:spPr/>
        <p:txBody>
          <a:bodyPr/>
          <a:lstStyle/>
          <a:p>
            <a:fld id="{93481DD3-158A-4718-959A-B530ED523914}" type="datetimeFigureOut">
              <a:rPr lang="uk-UA" smtClean="0"/>
              <a:t>20.03.2026</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448C2613-3046-40A5-AA42-BA0D7BFB8007}" type="slidenum">
              <a:rPr lang="uk-UA" smtClean="0"/>
              <a:t>‹№›</a:t>
            </a:fld>
            <a:endParaRPr lang="uk-UA"/>
          </a:p>
        </p:txBody>
      </p:sp>
    </p:spTree>
    <p:extLst>
      <p:ext uri="{BB962C8B-B14F-4D97-AF65-F5344CB8AC3E}">
        <p14:creationId xmlns:p14="http://schemas.microsoft.com/office/powerpoint/2010/main" val="178400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481DD3-158A-4718-959A-B530ED523914}" type="datetimeFigureOut">
              <a:rPr lang="uk-UA" smtClean="0"/>
              <a:t>20.03.2026</a:t>
            </a:fld>
            <a:endParaRPr lang="uk-UA"/>
          </a:p>
        </p:txBody>
      </p:sp>
      <p:sp>
        <p:nvSpPr>
          <p:cNvPr id="3" name="Footer Placeholder 2"/>
          <p:cNvSpPr>
            <a:spLocks noGrp="1"/>
          </p:cNvSpPr>
          <p:nvPr>
            <p:ph type="ftr" sz="quarter" idx="11"/>
          </p:nvPr>
        </p:nvSpPr>
        <p:spPr/>
        <p:txBody>
          <a:bodyPr/>
          <a:lstStyle/>
          <a:p>
            <a:endParaRPr lang="uk-UA"/>
          </a:p>
        </p:txBody>
      </p:sp>
      <p:sp>
        <p:nvSpPr>
          <p:cNvPr id="4" name="Slide Number Placeholder 3"/>
          <p:cNvSpPr>
            <a:spLocks noGrp="1"/>
          </p:cNvSpPr>
          <p:nvPr>
            <p:ph type="sldNum" sz="quarter" idx="12"/>
          </p:nvPr>
        </p:nvSpPr>
        <p:spPr/>
        <p:txBody>
          <a:bodyPr/>
          <a:lstStyle/>
          <a:p>
            <a:fld id="{448C2613-3046-40A5-AA42-BA0D7BFB8007}" type="slidenum">
              <a:rPr lang="uk-UA" smtClean="0"/>
              <a:t>‹№›</a:t>
            </a:fld>
            <a:endParaRPr lang="uk-UA"/>
          </a:p>
        </p:txBody>
      </p:sp>
    </p:spTree>
    <p:extLst>
      <p:ext uri="{BB962C8B-B14F-4D97-AF65-F5344CB8AC3E}">
        <p14:creationId xmlns:p14="http://schemas.microsoft.com/office/powerpoint/2010/main" val="578392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93481DD3-158A-4718-959A-B530ED523914}" type="datetimeFigureOut">
              <a:rPr lang="uk-UA" smtClean="0"/>
              <a:t>20.03.2026</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48C2613-3046-40A5-AA42-BA0D7BFB8007}" type="slidenum">
              <a:rPr lang="uk-UA" smtClean="0"/>
              <a:t>‹№›</a:t>
            </a:fld>
            <a:endParaRPr lang="uk-UA"/>
          </a:p>
        </p:txBody>
      </p:sp>
    </p:spTree>
    <p:extLst>
      <p:ext uri="{BB962C8B-B14F-4D97-AF65-F5344CB8AC3E}">
        <p14:creationId xmlns:p14="http://schemas.microsoft.com/office/powerpoint/2010/main" val="816363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93481DD3-158A-4718-959A-B530ED523914}" type="datetimeFigureOut">
              <a:rPr lang="uk-UA" smtClean="0"/>
              <a:t>20.03.2026</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48C2613-3046-40A5-AA42-BA0D7BFB8007}" type="slidenum">
              <a:rPr lang="uk-UA" smtClean="0"/>
              <a:t>‹№›</a:t>
            </a:fld>
            <a:endParaRPr lang="uk-UA"/>
          </a:p>
        </p:txBody>
      </p:sp>
    </p:spTree>
    <p:extLst>
      <p:ext uri="{BB962C8B-B14F-4D97-AF65-F5344CB8AC3E}">
        <p14:creationId xmlns:p14="http://schemas.microsoft.com/office/powerpoint/2010/main" val="1351825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 фотографія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93481DD3-158A-4718-959A-B530ED523914}" type="datetimeFigureOut">
              <a:rPr lang="uk-UA" smtClean="0"/>
              <a:t>20.03.2026</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48C2613-3046-40A5-AA42-BA0D7BFB8007}" type="slidenum">
              <a:rPr lang="uk-UA" smtClean="0"/>
              <a:t>‹№›</a:t>
            </a:fld>
            <a:endParaRPr lang="uk-UA"/>
          </a:p>
        </p:txBody>
      </p:sp>
    </p:spTree>
    <p:extLst>
      <p:ext uri="{BB962C8B-B14F-4D97-AF65-F5344CB8AC3E}">
        <p14:creationId xmlns:p14="http://schemas.microsoft.com/office/powerpoint/2010/main" val="312818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Назва та підпис">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93481DD3-158A-4718-959A-B530ED523914}" type="datetimeFigureOut">
              <a:rPr lang="uk-UA" smtClean="0"/>
              <a:t>20.03.2026</a:t>
            </a:fld>
            <a:endParaRPr lang="uk-UA"/>
          </a:p>
        </p:txBody>
      </p:sp>
      <p:sp>
        <p:nvSpPr>
          <p:cNvPr id="6" name="Footer Placeholder 5"/>
          <p:cNvSpPr>
            <a:spLocks noGrp="1"/>
          </p:cNvSpPr>
          <p:nvPr>
            <p:ph type="ftr" sz="quarter" idx="11"/>
          </p:nvPr>
        </p:nvSpPr>
        <p:spPr>
          <a:xfrm>
            <a:off x="685800" y="379941"/>
            <a:ext cx="6991492" cy="365125"/>
          </a:xfrm>
        </p:spPr>
        <p:txBody>
          <a:bodyPr/>
          <a:lstStyle/>
          <a:p>
            <a:endParaRPr lang="uk-UA"/>
          </a:p>
        </p:txBody>
      </p:sp>
      <p:sp>
        <p:nvSpPr>
          <p:cNvPr id="7" name="Slide Number Placeholder 6"/>
          <p:cNvSpPr>
            <a:spLocks noGrp="1"/>
          </p:cNvSpPr>
          <p:nvPr>
            <p:ph type="sldNum" sz="quarter" idx="12"/>
          </p:nvPr>
        </p:nvSpPr>
        <p:spPr>
          <a:xfrm>
            <a:off x="10862452" y="381000"/>
            <a:ext cx="643748" cy="365125"/>
          </a:xfrm>
        </p:spPr>
        <p:txBody>
          <a:bodyPr/>
          <a:lstStyle/>
          <a:p>
            <a:fld id="{448C2613-3046-40A5-AA42-BA0D7BFB8007}" type="slidenum">
              <a:rPr lang="uk-UA" smtClean="0"/>
              <a:t>‹№›</a:t>
            </a:fld>
            <a:endParaRPr lang="uk-UA"/>
          </a:p>
        </p:txBody>
      </p:sp>
    </p:spTree>
    <p:extLst>
      <p:ext uri="{BB962C8B-B14F-4D97-AF65-F5344CB8AC3E}">
        <p14:creationId xmlns:p14="http://schemas.microsoft.com/office/powerpoint/2010/main" val="2484493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Цитата з підписом">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uk-UA"/>
              <a:t>Клацніть, щоб редагувати стиль зразка заголовка</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93481DD3-158A-4718-959A-B530ED523914}" type="datetimeFigureOut">
              <a:rPr lang="uk-UA" smtClean="0"/>
              <a:t>20.03.2026</a:t>
            </a:fld>
            <a:endParaRPr lang="uk-UA"/>
          </a:p>
        </p:txBody>
      </p:sp>
      <p:sp>
        <p:nvSpPr>
          <p:cNvPr id="6" name="Footer Placeholder 5"/>
          <p:cNvSpPr>
            <a:spLocks noGrp="1"/>
          </p:cNvSpPr>
          <p:nvPr>
            <p:ph type="ftr" sz="quarter" idx="11"/>
          </p:nvPr>
        </p:nvSpPr>
        <p:spPr>
          <a:xfrm>
            <a:off x="685800" y="379941"/>
            <a:ext cx="6991492" cy="365125"/>
          </a:xfrm>
        </p:spPr>
        <p:txBody>
          <a:bodyPr/>
          <a:lstStyle/>
          <a:p>
            <a:endParaRPr lang="uk-UA"/>
          </a:p>
        </p:txBody>
      </p:sp>
      <p:sp>
        <p:nvSpPr>
          <p:cNvPr id="7" name="Slide Number Placeholder 6"/>
          <p:cNvSpPr>
            <a:spLocks noGrp="1"/>
          </p:cNvSpPr>
          <p:nvPr>
            <p:ph type="sldNum" sz="quarter" idx="12"/>
          </p:nvPr>
        </p:nvSpPr>
        <p:spPr>
          <a:xfrm>
            <a:off x="10862452" y="381000"/>
            <a:ext cx="643748" cy="365125"/>
          </a:xfrm>
        </p:spPr>
        <p:txBody>
          <a:bodyPr/>
          <a:lstStyle/>
          <a:p>
            <a:fld id="{448C2613-3046-40A5-AA42-BA0D7BFB8007}" type="slidenum">
              <a:rPr lang="uk-UA" smtClean="0"/>
              <a:t>‹№›</a:t>
            </a:fld>
            <a:endParaRPr lang="uk-UA"/>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5078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Картка назви">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93481DD3-158A-4718-959A-B530ED523914}" type="datetimeFigureOut">
              <a:rPr lang="uk-UA" smtClean="0"/>
              <a:t>20.03.2026</a:t>
            </a:fld>
            <a:endParaRPr lang="uk-UA"/>
          </a:p>
        </p:txBody>
      </p:sp>
      <p:sp>
        <p:nvSpPr>
          <p:cNvPr id="6" name="Footer Placeholder 5"/>
          <p:cNvSpPr>
            <a:spLocks noGrp="1"/>
          </p:cNvSpPr>
          <p:nvPr>
            <p:ph type="ftr" sz="quarter" idx="11"/>
          </p:nvPr>
        </p:nvSpPr>
        <p:spPr>
          <a:xfrm>
            <a:off x="685800" y="378883"/>
            <a:ext cx="6991492" cy="365125"/>
          </a:xfrm>
        </p:spPr>
        <p:txBody>
          <a:bodyPr/>
          <a:lstStyle/>
          <a:p>
            <a:endParaRPr lang="uk-UA"/>
          </a:p>
        </p:txBody>
      </p:sp>
      <p:sp>
        <p:nvSpPr>
          <p:cNvPr id="7" name="Slide Number Placeholder 6"/>
          <p:cNvSpPr>
            <a:spLocks noGrp="1"/>
          </p:cNvSpPr>
          <p:nvPr>
            <p:ph type="sldNum" sz="quarter" idx="12"/>
          </p:nvPr>
        </p:nvSpPr>
        <p:spPr>
          <a:xfrm>
            <a:off x="10862452" y="381000"/>
            <a:ext cx="643748" cy="365125"/>
          </a:xfrm>
        </p:spPr>
        <p:txBody>
          <a:bodyPr/>
          <a:lstStyle/>
          <a:p>
            <a:fld id="{448C2613-3046-40A5-AA42-BA0D7BFB8007}" type="slidenum">
              <a:rPr lang="uk-UA" smtClean="0"/>
              <a:t>‹№›</a:t>
            </a:fld>
            <a:endParaRPr lang="uk-UA"/>
          </a:p>
        </p:txBody>
      </p:sp>
    </p:spTree>
    <p:extLst>
      <p:ext uri="{BB962C8B-B14F-4D97-AF65-F5344CB8AC3E}">
        <p14:creationId xmlns:p14="http://schemas.microsoft.com/office/powerpoint/2010/main" val="5664390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uk-UA"/>
              <a:t>Клацніть, щоб редагувати стиль зразка заголовка</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3" name="Date Placeholder 2"/>
          <p:cNvSpPr>
            <a:spLocks noGrp="1"/>
          </p:cNvSpPr>
          <p:nvPr>
            <p:ph type="dt" sz="half" idx="10"/>
          </p:nvPr>
        </p:nvSpPr>
        <p:spPr/>
        <p:txBody>
          <a:bodyPr/>
          <a:lstStyle/>
          <a:p>
            <a:fld id="{93481DD3-158A-4718-959A-B530ED523914}" type="datetimeFigureOut">
              <a:rPr lang="uk-UA" smtClean="0"/>
              <a:t>20.03.2026</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448C2613-3046-40A5-AA42-BA0D7BFB8007}" type="slidenum">
              <a:rPr lang="uk-UA" smtClean="0"/>
              <a:t>‹№›</a:t>
            </a:fld>
            <a:endParaRPr lang="uk-UA"/>
          </a:p>
        </p:txBody>
      </p:sp>
    </p:spTree>
    <p:extLst>
      <p:ext uri="{BB962C8B-B14F-4D97-AF65-F5344CB8AC3E}">
        <p14:creationId xmlns:p14="http://schemas.microsoft.com/office/powerpoint/2010/main" val="11512054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колонки з малюнками">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uk-UA"/>
              <a:t>Клацніть, щоб редагувати стиль зразка заголовка</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3" name="Date Placeholder 2"/>
          <p:cNvSpPr>
            <a:spLocks noGrp="1"/>
          </p:cNvSpPr>
          <p:nvPr>
            <p:ph type="dt" sz="half" idx="10"/>
          </p:nvPr>
        </p:nvSpPr>
        <p:spPr/>
        <p:txBody>
          <a:bodyPr/>
          <a:lstStyle/>
          <a:p>
            <a:fld id="{93481DD3-158A-4718-959A-B530ED523914}" type="datetimeFigureOut">
              <a:rPr lang="uk-UA" smtClean="0"/>
              <a:t>20.03.2026</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448C2613-3046-40A5-AA42-BA0D7BFB8007}" type="slidenum">
              <a:rPr lang="uk-UA" smtClean="0"/>
              <a:t>‹№›</a:t>
            </a:fld>
            <a:endParaRPr lang="uk-UA"/>
          </a:p>
        </p:txBody>
      </p:sp>
    </p:spTree>
    <p:extLst>
      <p:ext uri="{BB962C8B-B14F-4D97-AF65-F5344CB8AC3E}">
        <p14:creationId xmlns:p14="http://schemas.microsoft.com/office/powerpoint/2010/main" val="29493360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93481DD3-158A-4718-959A-B530ED523914}" type="datetimeFigureOut">
              <a:rPr lang="uk-UA" smtClean="0"/>
              <a:t>20.03.2026</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48C2613-3046-40A5-AA42-BA0D7BFB8007}" type="slidenum">
              <a:rPr lang="uk-UA" smtClean="0"/>
              <a:t>‹№›</a:t>
            </a:fld>
            <a:endParaRPr lang="uk-UA"/>
          </a:p>
        </p:txBody>
      </p:sp>
    </p:spTree>
    <p:extLst>
      <p:ext uri="{BB962C8B-B14F-4D97-AF65-F5344CB8AC3E}">
        <p14:creationId xmlns:p14="http://schemas.microsoft.com/office/powerpoint/2010/main" val="22180934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ий заголовок і текст">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93481DD3-158A-4718-959A-B530ED523914}" type="datetimeFigureOut">
              <a:rPr lang="uk-UA" smtClean="0"/>
              <a:t>20.03.2026</a:t>
            </a:fld>
            <a:endParaRPr lang="uk-UA"/>
          </a:p>
        </p:txBody>
      </p:sp>
      <p:sp>
        <p:nvSpPr>
          <p:cNvPr id="5" name="Footer Placeholder 4"/>
          <p:cNvSpPr>
            <a:spLocks noGrp="1"/>
          </p:cNvSpPr>
          <p:nvPr>
            <p:ph type="ftr" sz="quarter" idx="11"/>
          </p:nvPr>
        </p:nvSpPr>
        <p:spPr>
          <a:xfrm>
            <a:off x="685800" y="381000"/>
            <a:ext cx="6991492" cy="365125"/>
          </a:xfrm>
        </p:spPr>
        <p:txBody>
          <a:bodyPr/>
          <a:lstStyle/>
          <a:p>
            <a:endParaRPr lang="uk-UA"/>
          </a:p>
        </p:txBody>
      </p:sp>
      <p:sp>
        <p:nvSpPr>
          <p:cNvPr id="6" name="Slide Number Placeholder 5"/>
          <p:cNvSpPr>
            <a:spLocks noGrp="1"/>
          </p:cNvSpPr>
          <p:nvPr>
            <p:ph type="sldNum" sz="quarter" idx="12"/>
          </p:nvPr>
        </p:nvSpPr>
        <p:spPr>
          <a:xfrm>
            <a:off x="10862452" y="381000"/>
            <a:ext cx="643748" cy="365125"/>
          </a:xfrm>
        </p:spPr>
        <p:txBody>
          <a:bodyPr/>
          <a:lstStyle/>
          <a:p>
            <a:fld id="{448C2613-3046-40A5-AA42-BA0D7BFB8007}" type="slidenum">
              <a:rPr lang="uk-UA" smtClean="0"/>
              <a:t>‹№›</a:t>
            </a:fld>
            <a:endParaRPr lang="uk-UA"/>
          </a:p>
        </p:txBody>
      </p:sp>
    </p:spTree>
    <p:extLst>
      <p:ext uri="{BB962C8B-B14F-4D97-AF65-F5344CB8AC3E}">
        <p14:creationId xmlns:p14="http://schemas.microsoft.com/office/powerpoint/2010/main" val="3055933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3481DD3-158A-4718-959A-B530ED523914}" type="datetimeFigureOut">
              <a:rPr lang="uk-UA" smtClean="0"/>
              <a:t>20.03.2026</a:t>
            </a:fld>
            <a:endParaRPr lang="uk-UA"/>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uk-UA"/>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48C2613-3046-40A5-AA42-BA0D7BFB8007}" type="slidenum">
              <a:rPr lang="uk-UA" smtClean="0"/>
              <a:t>‹№›</a:t>
            </a:fld>
            <a:endParaRPr lang="uk-UA"/>
          </a:p>
        </p:txBody>
      </p:sp>
    </p:spTree>
    <p:extLst>
      <p:ext uri="{BB962C8B-B14F-4D97-AF65-F5344CB8AC3E}">
        <p14:creationId xmlns:p14="http://schemas.microsoft.com/office/powerpoint/2010/main" val="4997110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49D5EE-5439-B4E3-F734-B8FF4D6B3107}"/>
              </a:ext>
            </a:extLst>
          </p:cNvPr>
          <p:cNvSpPr>
            <a:spLocks noGrp="1"/>
          </p:cNvSpPr>
          <p:nvPr>
            <p:ph type="ctrTitle"/>
          </p:nvPr>
        </p:nvSpPr>
        <p:spPr/>
        <p:txBody>
          <a:bodyPr/>
          <a:lstStyle/>
          <a:p>
            <a:r>
              <a:rPr lang="uk-UA" dirty="0"/>
              <a:t>Лекція 6. Робота з АРІ</a:t>
            </a:r>
            <a:br>
              <a:rPr lang="uk-UA" dirty="0"/>
            </a:br>
            <a:endParaRPr lang="uk-UA" dirty="0"/>
          </a:p>
        </p:txBody>
      </p:sp>
      <p:sp>
        <p:nvSpPr>
          <p:cNvPr id="3" name="Підзаголовок 2">
            <a:extLst>
              <a:ext uri="{FF2B5EF4-FFF2-40B4-BE49-F238E27FC236}">
                <a16:creationId xmlns:a16="http://schemas.microsoft.com/office/drawing/2014/main" id="{72013326-ED6D-4410-3363-8EFA6E8729AD}"/>
              </a:ext>
            </a:extLst>
          </p:cNvPr>
          <p:cNvSpPr>
            <a:spLocks noGrp="1"/>
          </p:cNvSpPr>
          <p:nvPr>
            <p:ph type="subTitle" idx="1"/>
          </p:nvPr>
        </p:nvSpPr>
        <p:spPr/>
        <p:txBody>
          <a:bodyPr/>
          <a:lstStyle/>
          <a:p>
            <a:endParaRPr lang="uk-UA" dirty="0"/>
          </a:p>
        </p:txBody>
      </p:sp>
    </p:spTree>
    <p:extLst>
      <p:ext uri="{BB962C8B-B14F-4D97-AF65-F5344CB8AC3E}">
        <p14:creationId xmlns:p14="http://schemas.microsoft.com/office/powerpoint/2010/main" val="159023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2CE40E-EA37-60C2-209D-771F503AFC95}"/>
              </a:ext>
            </a:extLst>
          </p:cNvPr>
          <p:cNvSpPr>
            <a:spLocks noGrp="1"/>
          </p:cNvSpPr>
          <p:nvPr>
            <p:ph type="title"/>
          </p:nvPr>
        </p:nvSpPr>
        <p:spPr/>
        <p:txBody>
          <a:bodyPr/>
          <a:lstStyle/>
          <a:p>
            <a:r>
              <a:rPr lang="uk-UA" dirty="0"/>
              <a:t>Що таке </a:t>
            </a:r>
            <a:r>
              <a:rPr lang="en-US" dirty="0"/>
              <a:t>API?</a:t>
            </a:r>
            <a:endParaRPr lang="uk-UA" dirty="0"/>
          </a:p>
        </p:txBody>
      </p:sp>
      <p:sp>
        <p:nvSpPr>
          <p:cNvPr id="3" name="Місце для вмісту 2">
            <a:extLst>
              <a:ext uri="{FF2B5EF4-FFF2-40B4-BE49-F238E27FC236}">
                <a16:creationId xmlns:a16="http://schemas.microsoft.com/office/drawing/2014/main" id="{F0865820-AD0F-F3E1-9725-F01F077BA7D0}"/>
              </a:ext>
            </a:extLst>
          </p:cNvPr>
          <p:cNvSpPr>
            <a:spLocks noGrp="1"/>
          </p:cNvSpPr>
          <p:nvPr>
            <p:ph idx="1"/>
          </p:nvPr>
        </p:nvSpPr>
        <p:spPr/>
        <p:txBody>
          <a:bodyPr>
            <a:normAutofit fontScale="92500" lnSpcReduction="10000"/>
          </a:bodyPr>
          <a:lstStyle/>
          <a:p>
            <a:pPr marL="0" indent="0">
              <a:buNone/>
            </a:pPr>
            <a:r>
              <a:rPr lang="en-US" dirty="0">
                <a:solidFill>
                  <a:schemeClr val="accent6">
                    <a:lumMod val="75000"/>
                  </a:schemeClr>
                </a:solidFill>
              </a:rPr>
              <a:t>API (Application Programming Interface) </a:t>
            </a:r>
            <a:r>
              <a:rPr lang="en-US" dirty="0"/>
              <a:t>— </a:t>
            </a:r>
            <a:r>
              <a:rPr lang="uk-UA" dirty="0"/>
              <a:t>це інтерфейс програмування застосунків, який дозволяє різним програмам взаємодіяти між собою. Це набір правил і методів, за допомогою яких одна програма може звертатися до функцій або даних іншої програми.</a:t>
            </a:r>
            <a:endParaRPr lang="en-US" dirty="0"/>
          </a:p>
          <a:p>
            <a:pPr marL="0" indent="0">
              <a:buNone/>
            </a:pPr>
            <a:endParaRPr lang="en-US" dirty="0"/>
          </a:p>
          <a:p>
            <a:pPr algn="ctr">
              <a:buNone/>
            </a:pPr>
            <a:r>
              <a:rPr lang="uk-UA" b="1" dirty="0"/>
              <a:t>Як працює </a:t>
            </a:r>
            <a:r>
              <a:rPr lang="en-US" b="1" dirty="0"/>
              <a:t>API?</a:t>
            </a:r>
          </a:p>
          <a:p>
            <a:pPr>
              <a:buNone/>
            </a:pPr>
            <a:r>
              <a:rPr lang="en-US" dirty="0"/>
              <a:t>API </a:t>
            </a:r>
            <a:r>
              <a:rPr lang="uk-UA" dirty="0"/>
              <a:t>працює як посередник між двома системами:</a:t>
            </a:r>
          </a:p>
          <a:p>
            <a:pPr>
              <a:buFont typeface="+mj-lt"/>
              <a:buAutoNum type="arabicPeriod"/>
            </a:pPr>
            <a:r>
              <a:rPr lang="uk-UA" b="1" dirty="0">
                <a:solidFill>
                  <a:schemeClr val="accent6">
                    <a:lumMod val="75000"/>
                  </a:schemeClr>
                </a:solidFill>
              </a:rPr>
              <a:t>Клієнтська програма</a:t>
            </a:r>
            <a:r>
              <a:rPr lang="uk-UA" dirty="0">
                <a:solidFill>
                  <a:schemeClr val="accent6">
                    <a:lumMod val="75000"/>
                  </a:schemeClr>
                </a:solidFill>
              </a:rPr>
              <a:t> </a:t>
            </a:r>
            <a:r>
              <a:rPr lang="uk-UA" dirty="0"/>
              <a:t>(наприклад, мобільний застосунок) надсилає запит через </a:t>
            </a:r>
            <a:r>
              <a:rPr lang="en-US" dirty="0"/>
              <a:t>API.</a:t>
            </a:r>
          </a:p>
          <a:p>
            <a:pPr>
              <a:buFont typeface="+mj-lt"/>
              <a:buAutoNum type="arabicPeriod"/>
            </a:pPr>
            <a:r>
              <a:rPr lang="uk-UA" b="1" dirty="0">
                <a:solidFill>
                  <a:schemeClr val="accent6">
                    <a:lumMod val="75000"/>
                  </a:schemeClr>
                </a:solidFill>
              </a:rPr>
              <a:t>Сервер</a:t>
            </a:r>
            <a:r>
              <a:rPr lang="uk-UA" dirty="0"/>
              <a:t> обробляє цей запит і повертає відповідь у визначеному форматі (наприклад, </a:t>
            </a:r>
            <a:r>
              <a:rPr lang="en-US" dirty="0"/>
              <a:t>JSON </a:t>
            </a:r>
            <a:r>
              <a:rPr lang="uk-UA" dirty="0"/>
              <a:t>або </a:t>
            </a:r>
            <a:r>
              <a:rPr lang="en-US" dirty="0"/>
              <a:t>XML).</a:t>
            </a:r>
          </a:p>
          <a:p>
            <a:pPr>
              <a:buFont typeface="+mj-lt"/>
              <a:buAutoNum type="arabicPeriod"/>
            </a:pPr>
            <a:r>
              <a:rPr lang="uk-UA" b="1" dirty="0">
                <a:solidFill>
                  <a:schemeClr val="accent6">
                    <a:lumMod val="75000"/>
                  </a:schemeClr>
                </a:solidFill>
              </a:rPr>
              <a:t>Клієнт</a:t>
            </a:r>
            <a:r>
              <a:rPr lang="uk-UA" dirty="0"/>
              <a:t> отримує відповідь і використовує її для відображення або подальших дій.</a:t>
            </a:r>
          </a:p>
          <a:p>
            <a:pPr marL="0" indent="0">
              <a:buNone/>
            </a:pPr>
            <a:endParaRPr lang="uk-UA" dirty="0"/>
          </a:p>
        </p:txBody>
      </p:sp>
    </p:spTree>
    <p:extLst>
      <p:ext uri="{BB962C8B-B14F-4D97-AF65-F5344CB8AC3E}">
        <p14:creationId xmlns:p14="http://schemas.microsoft.com/office/powerpoint/2010/main" val="2567791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EEA32611-7FB4-5427-09EB-1A217F3B1FCC}"/>
              </a:ext>
            </a:extLst>
          </p:cNvPr>
          <p:cNvSpPr>
            <a:spLocks noGrp="1"/>
          </p:cNvSpPr>
          <p:nvPr>
            <p:ph type="title"/>
          </p:nvPr>
        </p:nvSpPr>
        <p:spPr/>
        <p:txBody>
          <a:bodyPr/>
          <a:lstStyle/>
          <a:p>
            <a:r>
              <a:rPr lang="uk-UA" dirty="0"/>
              <a:t>Приклад </a:t>
            </a:r>
            <a:r>
              <a:rPr lang="en-US" dirty="0" err="1"/>
              <a:t>api</a:t>
            </a:r>
            <a:endParaRPr lang="uk-UA" dirty="0"/>
          </a:p>
        </p:txBody>
      </p:sp>
      <p:sp>
        <p:nvSpPr>
          <p:cNvPr id="6" name="Місце для вмісту 5">
            <a:extLst>
              <a:ext uri="{FF2B5EF4-FFF2-40B4-BE49-F238E27FC236}">
                <a16:creationId xmlns:a16="http://schemas.microsoft.com/office/drawing/2014/main" id="{B4D52EE3-50AF-5EF3-9F0C-BC1D5DEB3852}"/>
              </a:ext>
            </a:extLst>
          </p:cNvPr>
          <p:cNvSpPr>
            <a:spLocks noGrp="1"/>
          </p:cNvSpPr>
          <p:nvPr>
            <p:ph idx="1"/>
          </p:nvPr>
        </p:nvSpPr>
        <p:spPr>
          <a:xfrm>
            <a:off x="685800" y="2194560"/>
            <a:ext cx="3630561" cy="4024125"/>
          </a:xfrm>
        </p:spPr>
        <p:txBody>
          <a:bodyPr>
            <a:normAutofit fontScale="85000" lnSpcReduction="20000"/>
          </a:bodyPr>
          <a:lstStyle/>
          <a:p>
            <a:pPr marL="0" indent="0">
              <a:buNone/>
            </a:pPr>
            <a:r>
              <a:rPr lang="uk-UA" dirty="0"/>
              <a:t>Прикладом можливостей використання </a:t>
            </a:r>
            <a:r>
              <a:rPr lang="en-US" dirty="0"/>
              <a:t>API </a:t>
            </a:r>
            <a:r>
              <a:rPr lang="uk-UA" dirty="0"/>
              <a:t>є програма для рекомендацій щодо ресторанів, яка повертає список відповідних ресторанів у певному районі. </a:t>
            </a:r>
          </a:p>
          <a:p>
            <a:pPr marL="0" indent="0">
              <a:buNone/>
            </a:pPr>
            <a:r>
              <a:rPr lang="uk-UA" dirty="0"/>
              <a:t>Замість того, щоб створювати функцію відображення з нуля, додаток інтегрує сторонній </a:t>
            </a:r>
            <a:r>
              <a:rPr lang="en-US" dirty="0"/>
              <a:t>API, </a:t>
            </a:r>
            <a:r>
              <a:rPr lang="uk-UA" dirty="0"/>
              <a:t>щоб забезпечити функціональність карти. Творець </a:t>
            </a:r>
            <a:r>
              <a:rPr lang="en-US" dirty="0"/>
              <a:t>API </a:t>
            </a:r>
            <a:r>
              <a:rPr lang="uk-UA" dirty="0"/>
              <a:t>визначає, як і за яких обставин розробники можуть отримати доступ до інтерфейсу. </a:t>
            </a:r>
          </a:p>
          <a:p>
            <a:pPr marL="0" indent="0">
              <a:buNone/>
            </a:pPr>
            <a:endParaRPr lang="uk-UA"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11232" y="1926434"/>
            <a:ext cx="7357956" cy="4167193"/>
          </a:xfrm>
          <a:prstGeom prst="rect">
            <a:avLst/>
          </a:prstGeom>
        </p:spPr>
      </p:pic>
    </p:spTree>
    <p:extLst>
      <p:ext uri="{BB962C8B-B14F-4D97-AF65-F5344CB8AC3E}">
        <p14:creationId xmlns:p14="http://schemas.microsoft.com/office/powerpoint/2010/main" val="962426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A1BC203C-CBAE-AFBD-8010-6C5958B05208}"/>
              </a:ext>
            </a:extLst>
          </p:cNvPr>
          <p:cNvSpPr>
            <a:spLocks noGrp="1"/>
          </p:cNvSpPr>
          <p:nvPr>
            <p:ph type="title"/>
          </p:nvPr>
        </p:nvSpPr>
        <p:spPr/>
        <p:txBody>
          <a:bodyPr/>
          <a:lstStyle/>
          <a:p>
            <a:r>
              <a:rPr lang="uk-UA" dirty="0"/>
              <a:t>Асоціації</a:t>
            </a:r>
          </a:p>
        </p:txBody>
      </p:sp>
      <p:pic>
        <p:nvPicPr>
          <p:cNvPr id="2" name="Content Placeholder 1"/>
          <p:cNvPicPr>
            <a:picLocks noGrp="1" noChangeAspect="1"/>
          </p:cNvPicPr>
          <p:nvPr>
            <p:ph sz="half" idx="1"/>
          </p:nvPr>
        </p:nvPicPr>
        <p:blipFill>
          <a:blip r:embed="rId2"/>
          <a:stretch>
            <a:fillRect/>
          </a:stretch>
        </p:blipFill>
        <p:spPr>
          <a:xfrm>
            <a:off x="388374" y="1921492"/>
            <a:ext cx="5334000" cy="2879108"/>
          </a:xfrm>
          <a:prstGeom prst="rect">
            <a:avLst/>
          </a:prstGeom>
        </p:spPr>
      </p:pic>
      <p:sp>
        <p:nvSpPr>
          <p:cNvPr id="6" name="Місце для вмісту 5">
            <a:extLst>
              <a:ext uri="{FF2B5EF4-FFF2-40B4-BE49-F238E27FC236}">
                <a16:creationId xmlns:a16="http://schemas.microsoft.com/office/drawing/2014/main" id="{55BA83AB-9819-CDA3-A34E-2E021083FC09}"/>
              </a:ext>
            </a:extLst>
          </p:cNvPr>
          <p:cNvSpPr>
            <a:spLocks noGrp="1"/>
          </p:cNvSpPr>
          <p:nvPr>
            <p:ph sz="half" idx="2"/>
          </p:nvPr>
        </p:nvSpPr>
        <p:spPr>
          <a:xfrm>
            <a:off x="5722375" y="1956619"/>
            <a:ext cx="5783826" cy="3991897"/>
          </a:xfrm>
        </p:spPr>
        <p:txBody>
          <a:bodyPr>
            <a:normAutofit fontScale="77500" lnSpcReduction="20000"/>
          </a:bodyPr>
          <a:lstStyle/>
          <a:p>
            <a:pPr marL="0" indent="0">
              <a:buNone/>
            </a:pPr>
            <a:r>
              <a:rPr lang="uk-UA" dirty="0"/>
              <a:t>На </a:t>
            </a:r>
            <a:r>
              <a:rPr lang="en-US" dirty="0"/>
              <a:t>API</a:t>
            </a:r>
            <a:r>
              <a:rPr lang="uk-UA" dirty="0"/>
              <a:t> можна дивитись, як на кнопки на приладовій панелі автомобіля. Коли ви заводите автомобіль, ви не бачите і можете навіть не здогадуватись про те, що двигун запускає електронну систему запалювання, яка змушує газ потрапляти в двигун і поршні починають рухатися. Все, що ви знаєте, це те, що якщо ви хочете, щоб автомобіль завівся. </a:t>
            </a:r>
          </a:p>
          <a:p>
            <a:pPr marL="0" indent="0">
              <a:buNone/>
            </a:pPr>
            <a:endParaRPr lang="uk-UA" dirty="0"/>
          </a:p>
          <a:p>
            <a:pPr marL="0" indent="0">
              <a:buNone/>
            </a:pPr>
            <a:r>
              <a:rPr lang="uk-UA" dirty="0"/>
              <a:t>Ви повертаєте ключ або натискаєте кнопку </a:t>
            </a:r>
            <a:r>
              <a:rPr lang="en-US" dirty="0"/>
              <a:t>ON Engine. </a:t>
            </a:r>
            <a:r>
              <a:rPr lang="uk-UA" dirty="0"/>
              <a:t>Якщо натиснути іншу кнопку, наприклад, кнопку ввімкнення радіо, автомобіль не заведеться, оскільки це не було визначенням, яке автомобіль (програма) визначив для запуску двигуна. </a:t>
            </a:r>
          </a:p>
          <a:p>
            <a:pPr marL="0" indent="0">
              <a:buNone/>
            </a:pPr>
            <a:r>
              <a:rPr lang="uk-UA" dirty="0"/>
              <a:t>Автомобіль (додаток) сам по собі може робити набагато більше, ніж запускати двигун, але ці речі не доступні для водія (стороннього користувача). </a:t>
            </a:r>
          </a:p>
          <a:p>
            <a:pPr marL="0" indent="0">
              <a:buNone/>
            </a:pPr>
            <a:endParaRPr lang="uk-UA" dirty="0"/>
          </a:p>
        </p:txBody>
      </p:sp>
    </p:spTree>
    <p:extLst>
      <p:ext uri="{BB962C8B-B14F-4D97-AF65-F5344CB8AC3E}">
        <p14:creationId xmlns:p14="http://schemas.microsoft.com/office/powerpoint/2010/main" val="2614467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5799BD-DC11-3687-BC19-7CC09F96F61E}"/>
              </a:ext>
            </a:extLst>
          </p:cNvPr>
          <p:cNvSpPr>
            <a:spLocks noGrp="1"/>
          </p:cNvSpPr>
          <p:nvPr>
            <p:ph type="title"/>
          </p:nvPr>
        </p:nvSpPr>
        <p:spPr/>
        <p:txBody>
          <a:bodyPr/>
          <a:lstStyle/>
          <a:p>
            <a:r>
              <a:rPr lang="uk-UA" dirty="0"/>
              <a:t>Навіщо потрібні </a:t>
            </a:r>
            <a:r>
              <a:rPr lang="en-US" dirty="0" err="1"/>
              <a:t>api</a:t>
            </a:r>
            <a:r>
              <a:rPr lang="en-US" dirty="0"/>
              <a:t>?</a:t>
            </a:r>
            <a:endParaRPr lang="uk-UA" dirty="0"/>
          </a:p>
        </p:txBody>
      </p:sp>
      <p:sp>
        <p:nvSpPr>
          <p:cNvPr id="5" name="Місце для вмісту 4">
            <a:extLst>
              <a:ext uri="{FF2B5EF4-FFF2-40B4-BE49-F238E27FC236}">
                <a16:creationId xmlns:a16="http://schemas.microsoft.com/office/drawing/2014/main" id="{22C671FD-10C6-E6BF-FA4C-FA7D9694FD07}"/>
              </a:ext>
            </a:extLst>
          </p:cNvPr>
          <p:cNvSpPr>
            <a:spLocks noGrp="1"/>
          </p:cNvSpPr>
          <p:nvPr>
            <p:ph idx="1"/>
          </p:nvPr>
        </p:nvSpPr>
        <p:spPr/>
        <p:txBody>
          <a:bodyPr/>
          <a:lstStyle/>
          <a:p>
            <a:pPr marL="0" indent="0">
              <a:buNone/>
            </a:pPr>
            <a:r>
              <a:rPr lang="en-US" sz="2400" dirty="0"/>
              <a:t>API </a:t>
            </a:r>
            <a:r>
              <a:rPr lang="uk-UA" sz="2400" dirty="0"/>
              <a:t>зазвичай створюються для програмного використання іншими додатками, тому їх називають </a:t>
            </a:r>
            <a:r>
              <a:rPr lang="uk-UA" sz="2400" u="sng" dirty="0"/>
              <a:t>інтерфейсами програмного забезпечення</a:t>
            </a:r>
            <a:r>
              <a:rPr lang="uk-UA" sz="2400" dirty="0"/>
              <a:t>. Але їх не обов’язково потрібно використовувати програмно; їх також можуть використовувати люди, які хочуть взаємодіяти з програмою вручну. </a:t>
            </a:r>
          </a:p>
          <a:p>
            <a:pPr marL="0" indent="0">
              <a:buNone/>
            </a:pPr>
            <a:r>
              <a:rPr lang="uk-UA" sz="2400" dirty="0"/>
              <a:t>Далі розглянемо декілька з багатьох варіантів використання </a:t>
            </a:r>
            <a:r>
              <a:rPr lang="en-US" sz="2400" dirty="0"/>
              <a:t>AP</a:t>
            </a:r>
            <a:r>
              <a:rPr lang="uk-UA" sz="2400" dirty="0"/>
              <a:t>І.</a:t>
            </a:r>
            <a:endParaRPr lang="uk-UA" dirty="0"/>
          </a:p>
        </p:txBody>
      </p:sp>
    </p:spTree>
    <p:extLst>
      <p:ext uri="{BB962C8B-B14F-4D97-AF65-F5344CB8AC3E}">
        <p14:creationId xmlns:p14="http://schemas.microsoft.com/office/powerpoint/2010/main" val="1569588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4FE2E1-06EB-60A1-E40C-3353161B6339}"/>
              </a:ext>
            </a:extLst>
          </p:cNvPr>
          <p:cNvSpPr>
            <a:spLocks noGrp="1"/>
          </p:cNvSpPr>
          <p:nvPr>
            <p:ph type="title"/>
          </p:nvPr>
        </p:nvSpPr>
        <p:spPr/>
        <p:txBody>
          <a:bodyPr/>
          <a:lstStyle/>
          <a:p>
            <a:r>
              <a:rPr lang="uk-UA" sz="4000"/>
              <a:t>АРІ і Завдання автоматизації</a:t>
            </a:r>
            <a:endParaRPr lang="uk-UA" dirty="0"/>
          </a:p>
        </p:txBody>
      </p:sp>
      <p:sp>
        <p:nvSpPr>
          <p:cNvPr id="3" name="Місце для вмісту 2">
            <a:extLst>
              <a:ext uri="{FF2B5EF4-FFF2-40B4-BE49-F238E27FC236}">
                <a16:creationId xmlns:a16="http://schemas.microsoft.com/office/drawing/2014/main" id="{868A1608-DDB3-4CB5-0F61-1934690F38A4}"/>
              </a:ext>
            </a:extLst>
          </p:cNvPr>
          <p:cNvSpPr>
            <a:spLocks noGrp="1"/>
          </p:cNvSpPr>
          <p:nvPr>
            <p:ph idx="1"/>
          </p:nvPr>
        </p:nvSpPr>
        <p:spPr>
          <a:xfrm>
            <a:off x="997973" y="4417906"/>
            <a:ext cx="10820400" cy="1798832"/>
          </a:xfrm>
          <a:ln>
            <a:solidFill>
              <a:srgbClr val="0070C0"/>
            </a:solidFill>
          </a:ln>
        </p:spPr>
        <p:style>
          <a:lnRef idx="2">
            <a:schemeClr val="dk1">
              <a:shade val="15000"/>
            </a:schemeClr>
          </a:lnRef>
          <a:fillRef idx="1">
            <a:schemeClr val="dk1"/>
          </a:fillRef>
          <a:effectRef idx="0">
            <a:schemeClr val="dk1"/>
          </a:effectRef>
          <a:fontRef idx="minor">
            <a:schemeClr val="lt1"/>
          </a:fontRef>
        </p:style>
        <p:txBody>
          <a:bodyPr>
            <a:normAutofit/>
          </a:bodyPr>
          <a:lstStyle/>
          <a:p>
            <a:pPr marL="0" indent="0">
              <a:buNone/>
            </a:pPr>
            <a:r>
              <a:rPr lang="uk-UA" sz="2000" dirty="0"/>
              <a:t>Цей трудомісткий для менеджера процес підлягає автоматизації, для цього потрібно створити автоматизований сценарій, який викликає </a:t>
            </a:r>
            <a:r>
              <a:rPr lang="en-US" sz="2000" dirty="0"/>
              <a:t>API </a:t>
            </a:r>
            <a:r>
              <a:rPr lang="uk-UA" sz="2000" dirty="0"/>
              <a:t>порталу, щоб отримати дані з кожного табеля та обчислити загальну суму на основі цих даних. Цей сценарій може роздрукувати список загальної кількості відпрацьованих годин для кожного працівника у зручному для користувача форматі. </a:t>
            </a:r>
          </a:p>
        </p:txBody>
      </p:sp>
      <p:sp>
        <p:nvSpPr>
          <p:cNvPr id="5" name="TextBox 4">
            <a:extLst>
              <a:ext uri="{FF2B5EF4-FFF2-40B4-BE49-F238E27FC236}">
                <a16:creationId xmlns:a16="http://schemas.microsoft.com/office/drawing/2014/main" id="{00F3762E-9D40-36AD-7406-06087C5AA9B7}"/>
              </a:ext>
            </a:extLst>
          </p:cNvPr>
          <p:cNvSpPr txBox="1"/>
          <p:nvPr/>
        </p:nvSpPr>
        <p:spPr>
          <a:xfrm>
            <a:off x="193694" y="1793763"/>
            <a:ext cx="11624679" cy="646331"/>
          </a:xfrm>
          <a:prstGeom prst="rect">
            <a:avLst/>
          </a:prstGeom>
          <a:noFill/>
        </p:spPr>
        <p:txBody>
          <a:bodyPr wrap="square">
            <a:spAutoFit/>
          </a:bodyPr>
          <a:lstStyle/>
          <a:p>
            <a:pPr marL="0" indent="0">
              <a:buNone/>
            </a:pPr>
            <a:r>
              <a:rPr lang="uk-UA" sz="1800" dirty="0"/>
              <a:t>Часто </a:t>
            </a:r>
            <a:r>
              <a:rPr lang="en-US" sz="1800" dirty="0"/>
              <a:t>API </a:t>
            </a:r>
            <a:r>
              <a:rPr lang="uk-UA" sz="1800" dirty="0"/>
              <a:t>використовують для створення сценаріїв, які можуть автоматично та програмно виконувати ручні завдання. </a:t>
            </a:r>
          </a:p>
        </p:txBody>
      </p:sp>
      <p:sp>
        <p:nvSpPr>
          <p:cNvPr id="7" name="TextBox 6">
            <a:extLst>
              <a:ext uri="{FF2B5EF4-FFF2-40B4-BE49-F238E27FC236}">
                <a16:creationId xmlns:a16="http://schemas.microsoft.com/office/drawing/2014/main" id="{D86714E7-34D2-D91F-6539-5207B26A3ECE}"/>
              </a:ext>
            </a:extLst>
          </p:cNvPr>
          <p:cNvSpPr txBox="1"/>
          <p:nvPr/>
        </p:nvSpPr>
        <p:spPr>
          <a:xfrm>
            <a:off x="570272" y="2613392"/>
            <a:ext cx="9773265" cy="1631216"/>
          </a:xfrm>
          <a:prstGeom prst="rect">
            <a:avLst/>
          </a:prstGeom>
          <a:ln>
            <a:solidFill>
              <a:srgbClr val="0070C0"/>
            </a:solidFill>
          </a:ln>
        </p:spPr>
        <p:style>
          <a:lnRef idx="2">
            <a:schemeClr val="dk1">
              <a:shade val="15000"/>
            </a:schemeClr>
          </a:lnRef>
          <a:fillRef idx="1">
            <a:schemeClr val="dk1"/>
          </a:fillRef>
          <a:effectRef idx="0">
            <a:schemeClr val="dk1"/>
          </a:effectRef>
          <a:fontRef idx="minor">
            <a:schemeClr val="lt1"/>
          </a:fontRef>
        </p:style>
        <p:txBody>
          <a:bodyPr wrap="square">
            <a:spAutoFit/>
          </a:bodyPr>
          <a:lstStyle/>
          <a:p>
            <a:pPr marL="0" indent="0">
              <a:buNone/>
            </a:pPr>
            <a:r>
              <a:rPr lang="uk-UA" sz="2000" b="1" dirty="0">
                <a:solidFill>
                  <a:schemeClr val="accent6">
                    <a:lumMod val="75000"/>
                  </a:schemeClr>
                </a:solidFill>
              </a:rPr>
              <a:t>Приклад</a:t>
            </a:r>
            <a:r>
              <a:rPr lang="uk-UA" sz="2000" dirty="0"/>
              <a:t>: менеджеру деякої компанії в останній день кожного періоду оплати потрібно вручну ввійти на портал і завантажити табель для всіх своїх підзвітних працівників. Потім менеджер вручну повинен підсумувати кількість годин, відпрацьованих кожною особою, щоб потім обчислити заробітну платню. </a:t>
            </a:r>
          </a:p>
        </p:txBody>
      </p:sp>
    </p:spTree>
    <p:extLst>
      <p:ext uri="{BB962C8B-B14F-4D97-AF65-F5344CB8AC3E}">
        <p14:creationId xmlns:p14="http://schemas.microsoft.com/office/powerpoint/2010/main" val="981632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3EFB66-751D-B144-3F4C-3DD5D28F1DA4}"/>
              </a:ext>
            </a:extLst>
          </p:cNvPr>
          <p:cNvSpPr>
            <a:spLocks noGrp="1"/>
          </p:cNvSpPr>
          <p:nvPr>
            <p:ph type="title"/>
          </p:nvPr>
        </p:nvSpPr>
        <p:spPr/>
        <p:txBody>
          <a:bodyPr/>
          <a:lstStyle/>
          <a:p>
            <a:r>
              <a:rPr lang="uk-UA" dirty="0"/>
              <a:t>АРІ та інтеграція даних</a:t>
            </a:r>
          </a:p>
        </p:txBody>
      </p:sp>
      <p:sp>
        <p:nvSpPr>
          <p:cNvPr id="3" name="Місце для вмісту 2">
            <a:extLst>
              <a:ext uri="{FF2B5EF4-FFF2-40B4-BE49-F238E27FC236}">
                <a16:creationId xmlns:a16="http://schemas.microsoft.com/office/drawing/2014/main" id="{2D114BC4-DC35-2966-079F-1BFCB66555E5}"/>
              </a:ext>
            </a:extLst>
          </p:cNvPr>
          <p:cNvSpPr>
            <a:spLocks noGrp="1"/>
          </p:cNvSpPr>
          <p:nvPr>
            <p:ph idx="1"/>
          </p:nvPr>
        </p:nvSpPr>
        <p:spPr/>
        <p:txBody>
          <a:bodyPr/>
          <a:lstStyle/>
          <a:p>
            <a:pPr marL="0" indent="0">
              <a:buNone/>
            </a:pPr>
            <a:r>
              <a:rPr lang="uk-UA" sz="2400" b="1" dirty="0"/>
              <a:t>Інтеграція даних </a:t>
            </a:r>
            <a:r>
              <a:rPr lang="uk-UA" sz="2400" dirty="0"/>
              <a:t>означає, що програма може використовувати дані, надані іншою програмою, або реагувати на них. </a:t>
            </a:r>
          </a:p>
          <a:p>
            <a:pPr marL="0" indent="0">
              <a:buNone/>
            </a:pPr>
            <a:r>
              <a:rPr lang="uk-UA" sz="2400" dirty="0">
                <a:solidFill>
                  <a:schemeClr val="accent6">
                    <a:lumMod val="75000"/>
                  </a:schemeClr>
                </a:solidFill>
              </a:rPr>
              <a:t>Приклад</a:t>
            </a:r>
            <a:r>
              <a:rPr lang="uk-UA" sz="2400" dirty="0"/>
              <a:t>: багато веб-сайтів електронної комерції використовують платіжні послуги, доступ до яких здійснюється через </a:t>
            </a:r>
            <a:r>
              <a:rPr lang="en-US" sz="2400" dirty="0"/>
              <a:t>REST API. </a:t>
            </a:r>
            <a:r>
              <a:rPr lang="uk-UA" sz="2400" dirty="0"/>
              <a:t>Інтерфейс платежу дозволяє сайту постачальника передавати відносно малоцінні дані, такі як опис придбаного об’єкта та його ціна. Потім користувач самостійно </a:t>
            </a:r>
            <a:r>
              <a:rPr lang="uk-UA" sz="2400" dirty="0" err="1"/>
              <a:t>аутентифікується</a:t>
            </a:r>
            <a:r>
              <a:rPr lang="uk-UA" sz="2400" dirty="0"/>
              <a:t> у платіжній службі, щоб підтвердити платіж. Це дозволяє постачальнику отримувати оплату, не потребуючи прямого доступу до даних кредитної картки клієнта. Продавець отримує у відповідь код підтвердження для подальшого використання бухгалтерією. </a:t>
            </a:r>
          </a:p>
          <a:p>
            <a:pPr marL="0" indent="0">
              <a:buNone/>
            </a:pPr>
            <a:endParaRPr lang="uk-UA" dirty="0"/>
          </a:p>
        </p:txBody>
      </p:sp>
    </p:spTree>
    <p:extLst>
      <p:ext uri="{BB962C8B-B14F-4D97-AF65-F5344CB8AC3E}">
        <p14:creationId xmlns:p14="http://schemas.microsoft.com/office/powerpoint/2010/main" val="221974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B9F8B4-7FB4-4AE7-FBC2-605747ABF935}"/>
              </a:ext>
            </a:extLst>
          </p:cNvPr>
          <p:cNvSpPr>
            <a:spLocks noGrp="1"/>
          </p:cNvSpPr>
          <p:nvPr>
            <p:ph type="title"/>
          </p:nvPr>
        </p:nvSpPr>
        <p:spPr/>
        <p:txBody>
          <a:bodyPr/>
          <a:lstStyle/>
          <a:p>
            <a:r>
              <a:rPr lang="uk-UA" dirty="0"/>
              <a:t>АРІ та Функціональність</a:t>
            </a:r>
          </a:p>
        </p:txBody>
      </p:sp>
      <p:sp>
        <p:nvSpPr>
          <p:cNvPr id="3" name="Місце для вмісту 2">
            <a:extLst>
              <a:ext uri="{FF2B5EF4-FFF2-40B4-BE49-F238E27FC236}">
                <a16:creationId xmlns:a16="http://schemas.microsoft.com/office/drawing/2014/main" id="{7D20C7D4-0DF0-4F5E-4F98-A62BF0F59281}"/>
              </a:ext>
            </a:extLst>
          </p:cNvPr>
          <p:cNvSpPr>
            <a:spLocks noGrp="1"/>
          </p:cNvSpPr>
          <p:nvPr>
            <p:ph idx="1"/>
          </p:nvPr>
        </p:nvSpPr>
        <p:spPr/>
        <p:txBody>
          <a:bodyPr/>
          <a:lstStyle/>
          <a:p>
            <a:pPr marL="0" indent="0">
              <a:buNone/>
            </a:pPr>
            <a:r>
              <a:rPr lang="uk-UA" sz="2400" dirty="0"/>
              <a:t>Під </a:t>
            </a:r>
            <a:r>
              <a:rPr lang="uk-UA" sz="2400" b="1" dirty="0"/>
              <a:t>функціональністю</a:t>
            </a:r>
            <a:r>
              <a:rPr lang="uk-UA" sz="2400" dirty="0"/>
              <a:t> розуміємо, що програма може інтегрувати функціональні можливості іншої програми у свій продукт. </a:t>
            </a:r>
          </a:p>
          <a:p>
            <a:pPr marL="0" indent="0">
              <a:buNone/>
            </a:pPr>
            <a:endParaRPr lang="uk-UA" sz="2400" i="1" dirty="0"/>
          </a:p>
          <a:p>
            <a:pPr marL="0" indent="0">
              <a:buNone/>
            </a:pPr>
            <a:r>
              <a:rPr lang="uk-UA" sz="2400" i="1" dirty="0">
                <a:solidFill>
                  <a:schemeClr val="accent6">
                    <a:lumMod val="75000"/>
                  </a:schemeClr>
                </a:solidFill>
              </a:rPr>
              <a:t>Приклад</a:t>
            </a:r>
            <a:r>
              <a:rPr lang="uk-UA" sz="2400" i="1" dirty="0"/>
              <a:t>: багато онлайн-сервісів, таких як </a:t>
            </a:r>
            <a:r>
              <a:rPr lang="en-US" sz="2400" i="1" dirty="0"/>
              <a:t>Uber</a:t>
            </a:r>
            <a:r>
              <a:rPr lang="uk-UA" sz="2400" i="1" dirty="0"/>
              <a:t>, </a:t>
            </a:r>
            <a:r>
              <a:rPr lang="en-US" sz="2400" i="1" dirty="0" err="1"/>
              <a:t>Uklon</a:t>
            </a:r>
            <a:r>
              <a:rPr lang="en-US" sz="2400" i="1" dirty="0"/>
              <a:t>, </a:t>
            </a:r>
            <a:r>
              <a:rPr lang="uk-UA" sz="2400" i="1" dirty="0"/>
              <a:t>тощо</a:t>
            </a:r>
            <a:r>
              <a:rPr lang="en-US" sz="2400" i="1" dirty="0"/>
              <a:t> </a:t>
            </a:r>
            <a:r>
              <a:rPr lang="uk-UA" sz="2400" i="1" dirty="0"/>
              <a:t>обмінюються даними з </a:t>
            </a:r>
            <a:r>
              <a:rPr lang="en-US" sz="2400" i="1" dirty="0"/>
              <a:t>Google Maps </a:t>
            </a:r>
            <a:r>
              <a:rPr lang="uk-UA" sz="2400" i="1" dirty="0"/>
              <a:t>для створення й оптимізації маршрутів подорожі. Вони також вбудовують функції з </a:t>
            </a:r>
            <a:r>
              <a:rPr lang="en-US" sz="2400" i="1" dirty="0"/>
              <a:t>Google Maps </a:t>
            </a:r>
            <a:r>
              <a:rPr lang="uk-UA" sz="2400" i="1" dirty="0"/>
              <a:t>у свої власні програми та веб-сайти, щоб представити карти маршрутів у реальному часі. </a:t>
            </a:r>
          </a:p>
          <a:p>
            <a:pPr marL="0" indent="0">
              <a:buNone/>
            </a:pPr>
            <a:endParaRPr lang="uk-UA" dirty="0"/>
          </a:p>
        </p:txBody>
      </p:sp>
    </p:spTree>
    <p:extLst>
      <p:ext uri="{BB962C8B-B14F-4D97-AF65-F5344CB8AC3E}">
        <p14:creationId xmlns:p14="http://schemas.microsoft.com/office/powerpoint/2010/main" val="2540145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2A2CF1-1EE9-0902-746A-E11614C04B55}"/>
              </a:ext>
            </a:extLst>
          </p:cNvPr>
          <p:cNvSpPr>
            <a:spLocks noGrp="1"/>
          </p:cNvSpPr>
          <p:nvPr>
            <p:ph type="title"/>
          </p:nvPr>
        </p:nvSpPr>
        <p:spPr>
          <a:xfrm>
            <a:off x="201652" y="1130710"/>
            <a:ext cx="1056877" cy="5572431"/>
          </a:xfrm>
        </p:spPr>
        <p:txBody>
          <a:bodyPr vert="vert270">
            <a:normAutofit fontScale="90000"/>
          </a:bodyPr>
          <a:lstStyle/>
          <a:p>
            <a:pPr algn="ctr"/>
            <a:r>
              <a:rPr lang="uk-UA" sz="3200" dirty="0"/>
              <a:t>Причини популярності АРІ</a:t>
            </a:r>
          </a:p>
        </p:txBody>
      </p:sp>
      <p:sp>
        <p:nvSpPr>
          <p:cNvPr id="3" name="Місце для вмісту 2">
            <a:extLst>
              <a:ext uri="{FF2B5EF4-FFF2-40B4-BE49-F238E27FC236}">
                <a16:creationId xmlns:a16="http://schemas.microsoft.com/office/drawing/2014/main" id="{9A361835-F573-8506-028C-F5E17FEFF7B6}"/>
              </a:ext>
            </a:extLst>
          </p:cNvPr>
          <p:cNvSpPr>
            <a:spLocks noGrp="1"/>
          </p:cNvSpPr>
          <p:nvPr>
            <p:ph idx="1"/>
          </p:nvPr>
        </p:nvSpPr>
        <p:spPr>
          <a:xfrm>
            <a:off x="1374058" y="1376518"/>
            <a:ext cx="10316497" cy="5432321"/>
          </a:xfrm>
        </p:spPr>
        <p:txBody>
          <a:bodyPr>
            <a:normAutofit fontScale="77500" lnSpcReduction="20000"/>
          </a:bodyPr>
          <a:lstStyle/>
          <a:p>
            <a:pPr>
              <a:buNone/>
            </a:pPr>
            <a:r>
              <a:rPr lang="en-US" dirty="0"/>
              <a:t>API </a:t>
            </a:r>
            <a:r>
              <a:rPr lang="uk-UA" dirty="0"/>
              <a:t>стали популярними через їхню гнучкість, зручність та важливу роль у цифровій екосистемі. Ось основні причини їхньої популярності:</a:t>
            </a:r>
          </a:p>
          <a:p>
            <a:pPr>
              <a:buNone/>
            </a:pPr>
            <a:r>
              <a:rPr lang="uk-UA" b="1" dirty="0">
                <a:solidFill>
                  <a:schemeClr val="accent6">
                    <a:lumMod val="75000"/>
                  </a:schemeClr>
                </a:solidFill>
              </a:rPr>
              <a:t>1. Автоматизація процесів. </a:t>
            </a:r>
            <a:r>
              <a:rPr lang="en-US" dirty="0"/>
              <a:t>API </a:t>
            </a:r>
            <a:r>
              <a:rPr lang="uk-UA" dirty="0"/>
              <a:t>дозволяють автоматизувати рутинні завдання, зменшуючи ручну працю та підвищуючи ефективність. Наприклад, </a:t>
            </a:r>
            <a:r>
              <a:rPr lang="en-US" dirty="0"/>
              <a:t>API CRM-</a:t>
            </a:r>
            <a:r>
              <a:rPr lang="uk-UA" dirty="0"/>
              <a:t>системи може автоматично оновлювати дані клієнтів.</a:t>
            </a:r>
          </a:p>
          <a:p>
            <a:pPr>
              <a:buNone/>
            </a:pPr>
            <a:r>
              <a:rPr lang="uk-UA" b="1" dirty="0">
                <a:solidFill>
                  <a:schemeClr val="accent6">
                    <a:lumMod val="75000"/>
                  </a:schemeClr>
                </a:solidFill>
              </a:rPr>
              <a:t>2. Легка інтеграція. </a:t>
            </a:r>
            <a:r>
              <a:rPr lang="uk-UA" dirty="0"/>
              <a:t>За допомогою </a:t>
            </a:r>
            <a:r>
              <a:rPr lang="en-US" dirty="0"/>
              <a:t>API </a:t>
            </a:r>
            <a:r>
              <a:rPr lang="uk-UA" dirty="0"/>
              <a:t>різні сервіси можуть легко взаємодіяти. Наприклад, сайти електронної комерції інтегрують платіжні шлюзи (</a:t>
            </a:r>
            <a:r>
              <a:rPr lang="en-US" dirty="0"/>
              <a:t>PayPal, Stripe) </a:t>
            </a:r>
            <a:r>
              <a:rPr lang="uk-UA" dirty="0"/>
              <a:t>через </a:t>
            </a:r>
            <a:r>
              <a:rPr lang="en-US" dirty="0"/>
              <a:t>API, </a:t>
            </a:r>
            <a:r>
              <a:rPr lang="uk-UA" dirty="0"/>
              <a:t>спрощуючи оплату для користувачів.</a:t>
            </a:r>
          </a:p>
          <a:p>
            <a:pPr>
              <a:buNone/>
            </a:pPr>
            <a:r>
              <a:rPr lang="uk-UA" b="1" dirty="0">
                <a:solidFill>
                  <a:schemeClr val="accent6">
                    <a:lumMod val="75000"/>
                  </a:schemeClr>
                </a:solidFill>
              </a:rPr>
              <a:t>3. Гнучкість та масштабованість. </a:t>
            </a:r>
            <a:r>
              <a:rPr lang="uk-UA" dirty="0"/>
              <a:t>Розробники можуть використовувати </a:t>
            </a:r>
            <a:r>
              <a:rPr lang="en-US" dirty="0"/>
              <a:t>API, </a:t>
            </a:r>
            <a:r>
              <a:rPr lang="uk-UA" dirty="0"/>
              <a:t>щоб розширювати можливості своїх програм без необхідності створювати все з нуля. Це особливо важливо для хмарних сервісів.</a:t>
            </a:r>
          </a:p>
          <a:p>
            <a:pPr>
              <a:buNone/>
            </a:pPr>
            <a:r>
              <a:rPr lang="uk-UA" b="1" dirty="0">
                <a:solidFill>
                  <a:schemeClr val="accent6">
                    <a:lumMod val="75000"/>
                  </a:schemeClr>
                </a:solidFill>
              </a:rPr>
              <a:t>4. Можливість створення екосистем. </a:t>
            </a:r>
            <a:r>
              <a:rPr lang="uk-UA" dirty="0"/>
              <a:t>Великі компанії, такі як </a:t>
            </a:r>
            <a:r>
              <a:rPr lang="en-US" dirty="0"/>
              <a:t>Google, Facebook </a:t>
            </a:r>
            <a:r>
              <a:rPr lang="uk-UA" dirty="0"/>
              <a:t>чи </a:t>
            </a:r>
            <a:r>
              <a:rPr lang="en-US" dirty="0"/>
              <a:t>Amazon, </a:t>
            </a:r>
            <a:r>
              <a:rPr lang="uk-UA" dirty="0"/>
              <a:t>створюють </a:t>
            </a:r>
            <a:r>
              <a:rPr lang="en-US" dirty="0"/>
              <a:t>API, </a:t>
            </a:r>
            <a:r>
              <a:rPr lang="uk-UA" dirty="0"/>
              <a:t>щоб розробники могли інтегрувати їхні сервіси у власні продукти. Це сприяє розвитку екосистеми та залученню нових користувачів.</a:t>
            </a:r>
          </a:p>
          <a:p>
            <a:pPr>
              <a:buNone/>
            </a:pPr>
            <a:r>
              <a:rPr lang="uk-UA" b="1" dirty="0">
                <a:solidFill>
                  <a:schemeClr val="accent6">
                    <a:lumMod val="75000"/>
                  </a:schemeClr>
                </a:solidFill>
              </a:rPr>
              <a:t>5. Безпека. </a:t>
            </a:r>
            <a:r>
              <a:rPr lang="en-US" dirty="0"/>
              <a:t>API </a:t>
            </a:r>
            <a:r>
              <a:rPr lang="uk-UA" dirty="0"/>
              <a:t>можуть мати обмежений доступ до даних, надаючи тільки необхідну інформацію та захищаючи основну систему від прямих атак. Використання токенів та аутентифікації (</a:t>
            </a:r>
            <a:r>
              <a:rPr lang="en-US" dirty="0"/>
              <a:t>OAuth, API-</a:t>
            </a:r>
            <a:r>
              <a:rPr lang="uk-UA" dirty="0"/>
              <a:t>ключі) підвищує рівень безпеки.</a:t>
            </a:r>
          </a:p>
          <a:p>
            <a:pPr>
              <a:buNone/>
            </a:pPr>
            <a:r>
              <a:rPr lang="uk-UA" b="1" dirty="0">
                <a:solidFill>
                  <a:schemeClr val="accent6">
                    <a:lumMod val="75000"/>
                  </a:schemeClr>
                </a:solidFill>
              </a:rPr>
              <a:t>6. Економія ресурсів. </a:t>
            </a:r>
            <a:r>
              <a:rPr lang="uk-UA" dirty="0"/>
              <a:t>Замість створення власних рішень компанії можуть використовувати готові </a:t>
            </a:r>
            <a:r>
              <a:rPr lang="en-US" dirty="0"/>
              <a:t>API, </a:t>
            </a:r>
            <a:r>
              <a:rPr lang="uk-UA" dirty="0"/>
              <a:t>що дозволяє швидше запускати продукти та скорочувати витрати на розробку.</a:t>
            </a:r>
          </a:p>
          <a:p>
            <a:pPr>
              <a:buNone/>
            </a:pPr>
            <a:r>
              <a:rPr lang="uk-UA" b="1" dirty="0">
                <a:solidFill>
                  <a:schemeClr val="accent6">
                    <a:lumMod val="75000"/>
                  </a:schemeClr>
                </a:solidFill>
              </a:rPr>
              <a:t>7. Швидкість передачі даних. </a:t>
            </a:r>
            <a:r>
              <a:rPr lang="en-US" dirty="0"/>
              <a:t>API </a:t>
            </a:r>
            <a:r>
              <a:rPr lang="uk-UA" dirty="0"/>
              <a:t>використовують оптимізовані формати даних (наприклад, </a:t>
            </a:r>
            <a:r>
              <a:rPr lang="en-US" dirty="0"/>
              <a:t>JSON </a:t>
            </a:r>
            <a:r>
              <a:rPr lang="uk-UA" dirty="0"/>
              <a:t>або </a:t>
            </a:r>
            <a:r>
              <a:rPr lang="en-US" dirty="0"/>
              <a:t>XML), </a:t>
            </a:r>
            <a:r>
              <a:rPr lang="uk-UA" dirty="0"/>
              <a:t>що забезпечує швидку та ефективну взаємодію між сервісами.</a:t>
            </a:r>
          </a:p>
          <a:p>
            <a:pPr marL="0" indent="0">
              <a:buNone/>
            </a:pPr>
            <a:endParaRPr lang="uk-UA" dirty="0"/>
          </a:p>
        </p:txBody>
      </p:sp>
    </p:spTree>
    <p:extLst>
      <p:ext uri="{BB962C8B-B14F-4D97-AF65-F5344CB8AC3E}">
        <p14:creationId xmlns:p14="http://schemas.microsoft.com/office/powerpoint/2010/main" val="2524306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D8D5C3-49DB-BC31-3D2E-BB9E10307B7A}"/>
              </a:ext>
            </a:extLst>
          </p:cNvPr>
          <p:cNvSpPr>
            <a:spLocks noGrp="1"/>
          </p:cNvSpPr>
          <p:nvPr>
            <p:ph type="title"/>
          </p:nvPr>
        </p:nvSpPr>
        <p:spPr/>
        <p:txBody>
          <a:bodyPr/>
          <a:lstStyle/>
          <a:p>
            <a:r>
              <a:rPr lang="uk-UA" dirty="0"/>
              <a:t>Стилі Розробки </a:t>
            </a:r>
            <a:r>
              <a:rPr lang="en-US" dirty="0"/>
              <a:t>API</a:t>
            </a:r>
            <a:endParaRPr lang="uk-UA" dirty="0"/>
          </a:p>
        </p:txBody>
      </p:sp>
      <p:sp>
        <p:nvSpPr>
          <p:cNvPr id="3" name="Місце для вмісту 2">
            <a:extLst>
              <a:ext uri="{FF2B5EF4-FFF2-40B4-BE49-F238E27FC236}">
                <a16:creationId xmlns:a16="http://schemas.microsoft.com/office/drawing/2014/main" id="{979694A3-2303-96A7-3D99-3F42C882CE11}"/>
              </a:ext>
            </a:extLst>
          </p:cNvPr>
          <p:cNvSpPr>
            <a:spLocks noGrp="1"/>
          </p:cNvSpPr>
          <p:nvPr>
            <p:ph idx="1"/>
          </p:nvPr>
        </p:nvSpPr>
        <p:spPr/>
        <p:txBody>
          <a:bodyPr/>
          <a:lstStyle/>
          <a:p>
            <a:pPr marL="0" indent="0">
              <a:buNone/>
            </a:pPr>
            <a:r>
              <a:rPr lang="en-US" sz="2400" dirty="0"/>
              <a:t>API </a:t>
            </a:r>
            <a:r>
              <a:rPr lang="uk-UA" sz="2400" dirty="0"/>
              <a:t>можна надавати одним із двох способів: </a:t>
            </a:r>
            <a:r>
              <a:rPr lang="uk-UA" sz="2400" b="1" u="sng" dirty="0">
                <a:solidFill>
                  <a:schemeClr val="accent6">
                    <a:lumMod val="75000"/>
                  </a:schemeClr>
                </a:solidFill>
              </a:rPr>
              <a:t>синхронно</a:t>
            </a:r>
            <a:r>
              <a:rPr lang="uk-UA" sz="2400" dirty="0"/>
              <a:t> або </a:t>
            </a:r>
            <a:r>
              <a:rPr lang="uk-UA" sz="2400" b="1" u="sng" dirty="0">
                <a:solidFill>
                  <a:schemeClr val="accent6">
                    <a:lumMod val="75000"/>
                  </a:schemeClr>
                </a:solidFill>
              </a:rPr>
              <a:t>асинхронно</a:t>
            </a:r>
            <a:r>
              <a:rPr lang="uk-UA" sz="2400" dirty="0"/>
              <a:t>. </a:t>
            </a:r>
          </a:p>
          <a:p>
            <a:pPr marL="0" indent="0">
              <a:buNone/>
            </a:pPr>
            <a:r>
              <a:rPr lang="uk-UA" sz="2400" dirty="0"/>
              <a:t>Різницю між ними необхідно чітко розуміти, оскільки програма, яка використовує </a:t>
            </a:r>
            <a:r>
              <a:rPr lang="en-US" sz="2400" dirty="0"/>
              <a:t>API, </a:t>
            </a:r>
            <a:r>
              <a:rPr lang="uk-UA" sz="2400" dirty="0"/>
              <a:t>керує відповіддю по-різному залежно від дизайну </a:t>
            </a:r>
            <a:r>
              <a:rPr lang="en-US" sz="2400" dirty="0"/>
              <a:t>API. </a:t>
            </a:r>
            <a:r>
              <a:rPr lang="uk-UA" sz="2400" dirty="0"/>
              <a:t>Кожен дизайн має власну мету, а також власний набір </a:t>
            </a:r>
            <a:r>
              <a:rPr lang="uk-UA" sz="2400" dirty="0" err="1"/>
              <a:t>складностей</a:t>
            </a:r>
            <a:r>
              <a:rPr lang="uk-UA" sz="2400" dirty="0"/>
              <a:t> на стороні клієнта та/або сервера. Набір </a:t>
            </a:r>
            <a:r>
              <a:rPr lang="en-US" sz="2400" dirty="0"/>
              <a:t>API </a:t>
            </a:r>
            <a:r>
              <a:rPr lang="uk-UA" sz="2400" dirty="0"/>
              <a:t>продукту може складатися як із синхронного, так і з асинхронного проектів, де кожен дизайн </a:t>
            </a:r>
            <a:r>
              <a:rPr lang="en-US" sz="2400" dirty="0"/>
              <a:t>API </a:t>
            </a:r>
            <a:r>
              <a:rPr lang="uk-UA" sz="2400" dirty="0"/>
              <a:t>не залежить від інших. Однак для найкращих практик логіка дизайну повинна бути послідовною. </a:t>
            </a:r>
            <a:endParaRPr lang="en-US" sz="2400" dirty="0"/>
          </a:p>
          <a:p>
            <a:pPr marL="0" indent="0">
              <a:buNone/>
            </a:pPr>
            <a:endParaRPr lang="uk-UA" dirty="0"/>
          </a:p>
        </p:txBody>
      </p:sp>
    </p:spTree>
    <p:extLst>
      <p:ext uri="{BB962C8B-B14F-4D97-AF65-F5344CB8AC3E}">
        <p14:creationId xmlns:p14="http://schemas.microsoft.com/office/powerpoint/2010/main" val="1681493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E9976C-06EC-6242-0985-E2EBF845466C}"/>
              </a:ext>
            </a:extLst>
          </p:cNvPr>
          <p:cNvSpPr>
            <a:spLocks noGrp="1"/>
          </p:cNvSpPr>
          <p:nvPr>
            <p:ph type="title"/>
          </p:nvPr>
        </p:nvSpPr>
        <p:spPr/>
        <p:txBody>
          <a:bodyPr/>
          <a:lstStyle/>
          <a:p>
            <a:r>
              <a:rPr lang="uk-UA" dirty="0"/>
              <a:t>Синхронні АРІ</a:t>
            </a:r>
          </a:p>
        </p:txBody>
      </p:sp>
      <p:sp>
        <p:nvSpPr>
          <p:cNvPr id="3" name="Місце для вмісту 2">
            <a:extLst>
              <a:ext uri="{FF2B5EF4-FFF2-40B4-BE49-F238E27FC236}">
                <a16:creationId xmlns:a16="http://schemas.microsoft.com/office/drawing/2014/main" id="{7ACE9B96-19A0-A3EB-E68B-21EBF89F1788}"/>
              </a:ext>
            </a:extLst>
          </p:cNvPr>
          <p:cNvSpPr>
            <a:spLocks noGrp="1"/>
          </p:cNvSpPr>
          <p:nvPr>
            <p:ph idx="1"/>
          </p:nvPr>
        </p:nvSpPr>
        <p:spPr/>
        <p:txBody>
          <a:bodyPr>
            <a:normAutofit fontScale="85000" lnSpcReduction="20000"/>
          </a:bodyPr>
          <a:lstStyle/>
          <a:p>
            <a:pPr marL="0" indent="0">
              <a:buNone/>
            </a:pPr>
            <a:r>
              <a:rPr lang="uk-UA" u="sng" dirty="0"/>
              <a:t>Синхронні </a:t>
            </a:r>
            <a:r>
              <a:rPr lang="en-US" u="sng" dirty="0"/>
              <a:t>API </a:t>
            </a:r>
            <a:r>
              <a:rPr lang="uk-UA" dirty="0"/>
              <a:t>відповідають на запит безпосередньо, зазвичай </a:t>
            </a:r>
            <a:r>
              <a:rPr lang="uk-UA" u="sng" dirty="0"/>
              <a:t>надаючи дані (або іншу відповідь) негайно</a:t>
            </a:r>
            <a:r>
              <a:rPr lang="uk-UA" dirty="0"/>
              <a:t>.</a:t>
            </a:r>
          </a:p>
          <a:p>
            <a:pPr marL="0" indent="0">
              <a:buNone/>
            </a:pPr>
            <a:r>
              <a:rPr lang="uk-UA" b="1" dirty="0">
                <a:solidFill>
                  <a:schemeClr val="accent6">
                    <a:lumMod val="75000"/>
                  </a:schemeClr>
                </a:solidFill>
              </a:rPr>
              <a:t>Коли </a:t>
            </a:r>
            <a:r>
              <a:rPr lang="en-US" b="1" dirty="0">
                <a:solidFill>
                  <a:schemeClr val="accent6">
                    <a:lumMod val="75000"/>
                  </a:schemeClr>
                </a:solidFill>
              </a:rPr>
              <a:t>API </a:t>
            </a:r>
            <a:r>
              <a:rPr lang="uk-UA" b="1" dirty="0">
                <a:solidFill>
                  <a:schemeClr val="accent6">
                    <a:lumMod val="75000"/>
                  </a:schemeClr>
                </a:solidFill>
              </a:rPr>
              <a:t>є синхронними? </a:t>
            </a:r>
          </a:p>
          <a:p>
            <a:pPr marL="0" indent="0">
              <a:buNone/>
            </a:pPr>
            <a:r>
              <a:rPr lang="en-US" dirty="0"/>
              <a:t>API </a:t>
            </a:r>
            <a:r>
              <a:rPr lang="uk-UA" dirty="0"/>
              <a:t>зазвичай розроблені так, щоб бути синхронними, коли дані для запиту легко доступні, наприклад, коли дані зберігаються в базі даних або у внутрішній пам’яті. Сервер може миттєво отримати ці дані та негайно відповісти. </a:t>
            </a:r>
          </a:p>
          <a:p>
            <a:pPr marL="0" indent="0">
              <a:buNone/>
            </a:pPr>
            <a:r>
              <a:rPr lang="uk-UA" b="1" dirty="0">
                <a:solidFill>
                  <a:schemeClr val="accent6">
                    <a:lumMod val="75000"/>
                  </a:schemeClr>
                </a:solidFill>
              </a:rPr>
              <a:t>Переваги синхронного дизайну </a:t>
            </a:r>
            <a:r>
              <a:rPr lang="en-US" b="1" dirty="0">
                <a:solidFill>
                  <a:schemeClr val="accent6">
                    <a:lumMod val="75000"/>
                  </a:schemeClr>
                </a:solidFill>
              </a:rPr>
              <a:t>API </a:t>
            </a:r>
            <a:endParaRPr lang="uk-UA" b="1" dirty="0">
              <a:solidFill>
                <a:schemeClr val="accent6">
                  <a:lumMod val="75000"/>
                </a:schemeClr>
              </a:solidFill>
            </a:endParaRPr>
          </a:p>
          <a:p>
            <a:pPr marL="0" indent="0">
              <a:buNone/>
            </a:pPr>
            <a:r>
              <a:rPr lang="uk-UA" dirty="0"/>
              <a:t>Синхронні </a:t>
            </a:r>
            <a:r>
              <a:rPr lang="en-US" dirty="0"/>
              <a:t>API </a:t>
            </a:r>
            <a:r>
              <a:rPr lang="uk-UA" dirty="0"/>
              <a:t>дозволяють програмі отримувати дані негайно. Якщо </a:t>
            </a:r>
            <a:r>
              <a:rPr lang="en-US" dirty="0"/>
              <a:t>API </a:t>
            </a:r>
            <a:r>
              <a:rPr lang="uk-UA" dirty="0"/>
              <a:t>розроблено правильно, програма матиме </a:t>
            </a:r>
            <a:r>
              <a:rPr lang="uk-UA" u="sng" dirty="0"/>
              <a:t>кращу продуктивність</a:t>
            </a:r>
            <a:r>
              <a:rPr lang="uk-UA" dirty="0"/>
              <a:t>, оскільки все відбувається швидко. Однак, якщо він неправильно розроблений, запит </a:t>
            </a:r>
            <a:r>
              <a:rPr lang="en-US" dirty="0"/>
              <a:t>API </a:t>
            </a:r>
            <a:r>
              <a:rPr lang="uk-UA" dirty="0"/>
              <a:t>буде слабким місцем, оскільки програма має чекати відповіді. </a:t>
            </a:r>
          </a:p>
          <a:p>
            <a:pPr marL="0" indent="0">
              <a:buNone/>
            </a:pPr>
            <a:endParaRPr lang="uk-UA" b="1" dirty="0"/>
          </a:p>
          <a:p>
            <a:pPr marL="0" indent="0">
              <a:buNone/>
            </a:pPr>
            <a:r>
              <a:rPr lang="uk-UA" b="1" dirty="0">
                <a:solidFill>
                  <a:schemeClr val="accent6">
                    <a:lumMod val="75000"/>
                  </a:schemeClr>
                </a:solidFill>
              </a:rPr>
              <a:t>Обробка на стороні клієнта </a:t>
            </a:r>
          </a:p>
          <a:p>
            <a:pPr marL="0" indent="0">
              <a:buNone/>
            </a:pPr>
            <a:r>
              <a:rPr lang="uk-UA" dirty="0"/>
              <a:t>Програма, яка надсилає запит </a:t>
            </a:r>
            <a:r>
              <a:rPr lang="en-US" dirty="0"/>
              <a:t>API, </a:t>
            </a:r>
            <a:r>
              <a:rPr lang="uk-UA" dirty="0"/>
              <a:t>повинна чекати відповіді, перш ніж виконувати будь-які додаткові завдання на виконання коду. </a:t>
            </a:r>
          </a:p>
          <a:p>
            <a:endParaRPr lang="uk-UA" dirty="0"/>
          </a:p>
          <a:p>
            <a:pPr marL="0" indent="0">
              <a:buNone/>
            </a:pPr>
            <a:endParaRPr lang="uk-UA" dirty="0"/>
          </a:p>
        </p:txBody>
      </p:sp>
    </p:spTree>
    <p:extLst>
      <p:ext uri="{BB962C8B-B14F-4D97-AF65-F5344CB8AC3E}">
        <p14:creationId xmlns:p14="http://schemas.microsoft.com/office/powerpoint/2010/main" val="2310830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8BFA955-A6EC-AB3C-1DD0-C9969DCC7315}"/>
              </a:ext>
            </a:extLst>
          </p:cNvPr>
          <p:cNvSpPr>
            <a:spLocks noGrp="1"/>
          </p:cNvSpPr>
          <p:nvPr>
            <p:ph type="title"/>
          </p:nvPr>
        </p:nvSpPr>
        <p:spPr/>
        <p:txBody>
          <a:bodyPr/>
          <a:lstStyle/>
          <a:p>
            <a:r>
              <a:rPr lang="uk-UA" dirty="0"/>
              <a:t>Асинхронні АРІ</a:t>
            </a:r>
          </a:p>
        </p:txBody>
      </p:sp>
      <p:sp>
        <p:nvSpPr>
          <p:cNvPr id="3" name="Місце для вмісту 2">
            <a:extLst>
              <a:ext uri="{FF2B5EF4-FFF2-40B4-BE49-F238E27FC236}">
                <a16:creationId xmlns:a16="http://schemas.microsoft.com/office/drawing/2014/main" id="{1C251407-C923-AE0D-78AB-3D2E92B138A5}"/>
              </a:ext>
            </a:extLst>
          </p:cNvPr>
          <p:cNvSpPr>
            <a:spLocks noGrp="1"/>
          </p:cNvSpPr>
          <p:nvPr>
            <p:ph idx="1"/>
          </p:nvPr>
        </p:nvSpPr>
        <p:spPr/>
        <p:txBody>
          <a:bodyPr>
            <a:normAutofit fontScale="92500" lnSpcReduction="10000"/>
          </a:bodyPr>
          <a:lstStyle/>
          <a:p>
            <a:pPr marL="0" indent="0">
              <a:buNone/>
            </a:pPr>
            <a:r>
              <a:rPr lang="uk-UA" dirty="0"/>
              <a:t>Асинхронні </a:t>
            </a:r>
            <a:r>
              <a:rPr lang="en-US" dirty="0"/>
              <a:t>API </a:t>
            </a:r>
            <a:r>
              <a:rPr lang="uk-UA" dirty="0"/>
              <a:t>не надають негайну  відповідь на сам запит. Проте негайно присилають відповідь, яка означає, що запит отримано, але ця відповідь не містить жодних фактичних даних. С</a:t>
            </a:r>
            <a:r>
              <a:rPr lang="uk-UA" u="sng" dirty="0"/>
              <a:t>ервер обробляє запит, що може зайняти деякий час, і надсилає сповіщення (або запускає зворотний виклик) з даними після обробки запиту</a:t>
            </a:r>
            <a:r>
              <a:rPr lang="uk-UA" dirty="0"/>
              <a:t>. Потім клієнт може діяти на основі отриманих даних. </a:t>
            </a:r>
            <a:r>
              <a:rPr lang="en-US" dirty="0"/>
              <a:t>API </a:t>
            </a:r>
            <a:r>
              <a:rPr lang="uk-UA" dirty="0"/>
              <a:t>зазвичай розроблені як асинхронні, коли запит є дією, яка займає деякий час для обробки сервером, або якщо дані недоступні. </a:t>
            </a:r>
          </a:p>
          <a:p>
            <a:pPr marL="0" indent="0">
              <a:buNone/>
            </a:pPr>
            <a:endParaRPr lang="uk-UA" dirty="0"/>
          </a:p>
          <a:p>
            <a:pPr marL="0" indent="0">
              <a:buNone/>
            </a:pPr>
            <a:r>
              <a:rPr lang="uk-UA" sz="2400" i="1" dirty="0"/>
              <a:t>Наприклад, якщо сервер повинен зробити запит до віддаленої служби для отримання даних, він не може гарантувати, що він отримає дані негайно, щоб відправити їх назад клієнту. Те, що </a:t>
            </a:r>
            <a:r>
              <a:rPr lang="en-US" sz="2400" i="1" dirty="0"/>
              <a:t>API </a:t>
            </a:r>
            <a:r>
              <a:rPr lang="uk-UA" sz="2400" i="1" dirty="0"/>
              <a:t>є асинхронним, не обов’язково означає, що клієнт не отримає дані негайно. Це лише означає, що негайна відповідь з даними не гарантується. </a:t>
            </a:r>
          </a:p>
          <a:p>
            <a:pPr marL="0" indent="0">
              <a:buNone/>
            </a:pPr>
            <a:endParaRPr lang="uk-UA" dirty="0"/>
          </a:p>
          <a:p>
            <a:pPr marL="0" indent="0">
              <a:buNone/>
            </a:pPr>
            <a:endParaRPr lang="uk-UA" dirty="0"/>
          </a:p>
          <a:p>
            <a:pPr marL="0" indent="0">
              <a:buNone/>
            </a:pPr>
            <a:endParaRPr lang="uk-UA" dirty="0"/>
          </a:p>
        </p:txBody>
      </p:sp>
    </p:spTree>
    <p:extLst>
      <p:ext uri="{BB962C8B-B14F-4D97-AF65-F5344CB8AC3E}">
        <p14:creationId xmlns:p14="http://schemas.microsoft.com/office/powerpoint/2010/main" val="694295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BB5782-8EA2-B1FA-0778-7B41284C4D5B}"/>
              </a:ext>
            </a:extLst>
          </p:cNvPr>
          <p:cNvSpPr>
            <a:spLocks noGrp="1"/>
          </p:cNvSpPr>
          <p:nvPr>
            <p:ph type="title"/>
          </p:nvPr>
        </p:nvSpPr>
        <p:spPr>
          <a:xfrm>
            <a:off x="6784258" y="325120"/>
            <a:ext cx="4628147" cy="1293028"/>
          </a:xfrm>
        </p:spPr>
        <p:txBody>
          <a:bodyPr/>
          <a:lstStyle/>
          <a:p>
            <a:r>
              <a:rPr lang="uk-UA" dirty="0"/>
              <a:t>Асинхронні АРІ</a:t>
            </a:r>
          </a:p>
        </p:txBody>
      </p:sp>
      <p:sp>
        <p:nvSpPr>
          <p:cNvPr id="3" name="Місце для вмісту 2">
            <a:extLst>
              <a:ext uri="{FF2B5EF4-FFF2-40B4-BE49-F238E27FC236}">
                <a16:creationId xmlns:a16="http://schemas.microsoft.com/office/drawing/2014/main" id="{1F944845-EE61-A030-4952-3DF0314E1629}"/>
              </a:ext>
            </a:extLst>
          </p:cNvPr>
          <p:cNvSpPr>
            <a:spLocks noGrp="1"/>
          </p:cNvSpPr>
          <p:nvPr>
            <p:ph idx="1"/>
          </p:nvPr>
        </p:nvSpPr>
        <p:spPr>
          <a:xfrm>
            <a:off x="481781" y="1127760"/>
            <a:ext cx="10255045" cy="5405120"/>
          </a:xfrm>
        </p:spPr>
        <p:txBody>
          <a:bodyPr>
            <a:normAutofit/>
          </a:bodyPr>
          <a:lstStyle/>
          <a:p>
            <a:pPr marL="0" indent="0">
              <a:buNone/>
            </a:pPr>
            <a:r>
              <a:rPr lang="uk-UA" b="1" dirty="0">
                <a:solidFill>
                  <a:schemeClr val="accent6">
                    <a:lumMod val="75000"/>
                  </a:schemeClr>
                </a:solidFill>
              </a:rPr>
              <a:t>Переваги асинхронного дизайну </a:t>
            </a:r>
            <a:r>
              <a:rPr lang="en-US" b="1" dirty="0">
                <a:solidFill>
                  <a:schemeClr val="accent6">
                    <a:lumMod val="75000"/>
                  </a:schemeClr>
                </a:solidFill>
              </a:rPr>
              <a:t>API </a:t>
            </a:r>
            <a:endParaRPr lang="ru-RU" b="1" dirty="0">
              <a:solidFill>
                <a:schemeClr val="accent6">
                  <a:lumMod val="75000"/>
                </a:schemeClr>
              </a:solidFill>
            </a:endParaRPr>
          </a:p>
          <a:p>
            <a:pPr marL="0" indent="0">
              <a:buNone/>
            </a:pPr>
            <a:r>
              <a:rPr lang="uk-UA" dirty="0"/>
              <a:t>Асинхронні </a:t>
            </a:r>
            <a:r>
              <a:rPr lang="en-US" dirty="0"/>
              <a:t>API </a:t>
            </a:r>
            <a:r>
              <a:rPr lang="uk-UA" dirty="0"/>
              <a:t>дозволяють програмі продовжувати виконання без блокування протягом часу, який потрібен серверу для обробки запиту. У результаті </a:t>
            </a:r>
            <a:r>
              <a:rPr lang="uk-UA" u="sng" dirty="0"/>
              <a:t>програма може мати кращу продуктивність</a:t>
            </a:r>
            <a:r>
              <a:rPr lang="uk-UA" dirty="0"/>
              <a:t>, оскільки вона </a:t>
            </a:r>
            <a:r>
              <a:rPr lang="uk-UA" u="sng" dirty="0"/>
              <a:t>може виконувати багато завдань </a:t>
            </a:r>
            <a:r>
              <a:rPr lang="uk-UA" dirty="0"/>
              <a:t>і робити інші запити. Однак непотрібне або надмірне використання асинхронних викликів може мати протилежний вплив на продуктивність. </a:t>
            </a:r>
          </a:p>
          <a:p>
            <a:pPr marL="0" indent="0">
              <a:buNone/>
            </a:pPr>
            <a:r>
              <a:rPr lang="uk-UA" b="1" dirty="0">
                <a:solidFill>
                  <a:schemeClr val="accent6">
                    <a:lumMod val="75000"/>
                  </a:schemeClr>
                </a:solidFill>
              </a:rPr>
              <a:t>Обробка на стороні клієнта </a:t>
            </a:r>
          </a:p>
          <a:p>
            <a:pPr marL="0" indent="0">
              <a:buNone/>
            </a:pPr>
            <a:r>
              <a:rPr lang="uk-UA" dirty="0"/>
              <a:t>При асинхронній обробці дизайн </a:t>
            </a:r>
            <a:r>
              <a:rPr lang="en-US" dirty="0"/>
              <a:t>API </a:t>
            </a:r>
            <a:r>
              <a:rPr lang="uk-UA" dirty="0"/>
              <a:t>на стороні сервера визначає, що ви хочете робити на стороні клієнта. Іноді клієнт може встановити механізм прослуховування або зворотного виклику для отримання цих сповіщень і обробки їх, коли вони отримані. Залежно від дизайну програми, вашому </a:t>
            </a:r>
            <a:r>
              <a:rPr lang="uk-UA" u="sng" dirty="0"/>
              <a:t>клієнту також може знадобитися черга для зберігання запитів </a:t>
            </a:r>
            <a:r>
              <a:rPr lang="uk-UA" dirty="0"/>
              <a:t>для підтримки замовлення для обробки. Інші конструкції </a:t>
            </a:r>
            <a:r>
              <a:rPr lang="en-US" dirty="0"/>
              <a:t>API </a:t>
            </a:r>
            <a:r>
              <a:rPr lang="uk-UA" dirty="0"/>
              <a:t>потребують, щоб клієнт мав механізм опитування, щоб дізнатися статус і перебіг даного запиту. </a:t>
            </a:r>
          </a:p>
          <a:p>
            <a:pPr marL="0" indent="0">
              <a:buNone/>
            </a:pPr>
            <a:endParaRPr lang="uk-UA" dirty="0"/>
          </a:p>
        </p:txBody>
      </p:sp>
    </p:spTree>
    <p:extLst>
      <p:ext uri="{BB962C8B-B14F-4D97-AF65-F5344CB8AC3E}">
        <p14:creationId xmlns:p14="http://schemas.microsoft.com/office/powerpoint/2010/main" val="2781817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E18D22-6CF4-A508-E401-8E6D2284C999}"/>
              </a:ext>
            </a:extLst>
          </p:cNvPr>
          <p:cNvSpPr>
            <a:spLocks noGrp="1"/>
          </p:cNvSpPr>
          <p:nvPr>
            <p:ph type="title"/>
          </p:nvPr>
        </p:nvSpPr>
        <p:spPr/>
        <p:txBody>
          <a:bodyPr/>
          <a:lstStyle/>
          <a:p>
            <a:r>
              <a:rPr lang="uk-UA" dirty="0"/>
              <a:t>Архітектурні стилі АРІ</a:t>
            </a:r>
          </a:p>
        </p:txBody>
      </p:sp>
      <p:sp>
        <p:nvSpPr>
          <p:cNvPr id="3" name="Content Placeholder 2"/>
          <p:cNvSpPr>
            <a:spLocks noGrp="1"/>
          </p:cNvSpPr>
          <p:nvPr>
            <p:ph idx="1"/>
          </p:nvPr>
        </p:nvSpPr>
        <p:spPr/>
        <p:txBody>
          <a:bodyPr>
            <a:normAutofit/>
          </a:bodyPr>
          <a:lstStyle/>
          <a:p>
            <a:pPr marL="0" indent="0">
              <a:buNone/>
            </a:pPr>
            <a:r>
              <a:rPr lang="uk-UA" sz="1800" dirty="0"/>
              <a:t>Програма сама визначає, як треті сторони взаємодіють із нею, а це означає, що не можна виокремити якогось «стандартного» способу створення </a:t>
            </a:r>
            <a:r>
              <a:rPr lang="en-US" sz="1800" dirty="0"/>
              <a:t>API. </a:t>
            </a:r>
            <a:r>
              <a:rPr lang="uk-UA" sz="1800" dirty="0"/>
              <a:t>Однак, незважаючи на те, що технічно програма може виявити будь-який довільний інтерфейс, найкращим виходом буде слідувати стандартам, протоколам і специфічним архітектурним стилям. </a:t>
            </a:r>
            <a:endParaRPr lang="en-US" sz="1800" dirty="0"/>
          </a:p>
          <a:p>
            <a:pPr marL="0" indent="0">
              <a:buNone/>
            </a:pPr>
            <a:r>
              <a:rPr lang="uk-UA" sz="1800" dirty="0"/>
              <a:t>Завдяки цьому споживачам </a:t>
            </a:r>
            <a:r>
              <a:rPr lang="en-US" sz="1800" dirty="0"/>
              <a:t>API </a:t>
            </a:r>
            <a:r>
              <a:rPr lang="uk-UA" sz="1800" dirty="0"/>
              <a:t>буде набагато легше вивчити і зрозуміти </a:t>
            </a:r>
            <a:r>
              <a:rPr lang="en-US" sz="1800" dirty="0"/>
              <a:t>API, </a:t>
            </a:r>
            <a:r>
              <a:rPr lang="uk-UA" sz="1800" dirty="0"/>
              <a:t>оскільки поняття вже знайомі. </a:t>
            </a:r>
            <a:endParaRPr lang="en-US" sz="1800" dirty="0"/>
          </a:p>
          <a:p>
            <a:pPr marL="0" indent="0">
              <a:buNone/>
            </a:pPr>
            <a:r>
              <a:rPr lang="uk-UA" sz="1800" dirty="0"/>
              <a:t>Найпопулярніші типи архітектурних стилів </a:t>
            </a:r>
            <a:r>
              <a:rPr lang="en-US" sz="1800" dirty="0"/>
              <a:t>API – </a:t>
            </a:r>
            <a:r>
              <a:rPr lang="uk-UA" sz="1800" dirty="0"/>
              <a:t>це </a:t>
            </a:r>
            <a:endParaRPr lang="en-US" sz="1800" dirty="0"/>
          </a:p>
          <a:p>
            <a:r>
              <a:rPr lang="uk-UA" sz="1800" dirty="0"/>
              <a:t>✅ </a:t>
            </a:r>
            <a:r>
              <a:rPr lang="en-US" sz="1800" b="1" dirty="0">
                <a:solidFill>
                  <a:schemeClr val="accent6">
                    <a:lumMod val="75000"/>
                  </a:schemeClr>
                </a:solidFill>
              </a:rPr>
              <a:t>REST</a:t>
            </a:r>
            <a:r>
              <a:rPr lang="en-US" sz="1800" dirty="0"/>
              <a:t> — </a:t>
            </a:r>
            <a:r>
              <a:rPr lang="uk-UA" sz="1800" dirty="0"/>
              <a:t>для стандартних веб- та мобільних додатків</a:t>
            </a:r>
            <a:br>
              <a:rPr lang="uk-UA" sz="1800" dirty="0"/>
            </a:br>
            <a:r>
              <a:rPr lang="uk-UA" sz="1800" dirty="0"/>
              <a:t>✅ </a:t>
            </a:r>
            <a:r>
              <a:rPr lang="en-US" sz="1800" b="1" dirty="0">
                <a:solidFill>
                  <a:schemeClr val="accent6">
                    <a:lumMod val="75000"/>
                  </a:schemeClr>
                </a:solidFill>
              </a:rPr>
              <a:t>SOAP</a:t>
            </a:r>
            <a:r>
              <a:rPr lang="en-US" sz="1800" dirty="0"/>
              <a:t> — </a:t>
            </a:r>
            <a:r>
              <a:rPr lang="uk-UA" sz="1800" dirty="0"/>
              <a:t>для безпечних корпоративних систем</a:t>
            </a:r>
            <a:br>
              <a:rPr lang="uk-UA" sz="1800" dirty="0"/>
            </a:br>
            <a:r>
              <a:rPr lang="uk-UA" sz="1800" dirty="0"/>
              <a:t>✅ </a:t>
            </a:r>
            <a:r>
              <a:rPr lang="en-US" sz="1800" b="1" dirty="0" err="1">
                <a:solidFill>
                  <a:schemeClr val="accent6">
                    <a:lumMod val="75000"/>
                  </a:schemeClr>
                </a:solidFill>
              </a:rPr>
              <a:t>GraphQL</a:t>
            </a:r>
            <a:r>
              <a:rPr lang="en-US" sz="1800" dirty="0"/>
              <a:t> — </a:t>
            </a:r>
            <a:r>
              <a:rPr lang="uk-UA" sz="1800" dirty="0"/>
              <a:t>для гнучких запитів</a:t>
            </a:r>
            <a:br>
              <a:rPr lang="uk-UA" sz="1800" dirty="0"/>
            </a:br>
            <a:r>
              <a:rPr lang="uk-UA" sz="1800" dirty="0"/>
              <a:t>✅ </a:t>
            </a:r>
            <a:r>
              <a:rPr lang="en-US" sz="1800" b="1" dirty="0" err="1">
                <a:solidFill>
                  <a:schemeClr val="accent6">
                    <a:lumMod val="75000"/>
                  </a:schemeClr>
                </a:solidFill>
              </a:rPr>
              <a:t>gRPC</a:t>
            </a:r>
            <a:r>
              <a:rPr lang="en-US" sz="1800" dirty="0"/>
              <a:t> — </a:t>
            </a:r>
            <a:r>
              <a:rPr lang="uk-UA" sz="1800" dirty="0"/>
              <a:t>для швидких </a:t>
            </a:r>
            <a:r>
              <a:rPr lang="uk-UA" sz="1800" dirty="0" err="1"/>
              <a:t>мікросервісів</a:t>
            </a:r>
            <a:br>
              <a:rPr lang="uk-UA" sz="1800" dirty="0"/>
            </a:br>
            <a:r>
              <a:rPr lang="uk-UA" sz="1800" dirty="0"/>
              <a:t>✅ </a:t>
            </a:r>
            <a:r>
              <a:rPr lang="en-US" sz="1800" b="1" dirty="0" err="1">
                <a:solidFill>
                  <a:schemeClr val="accent6">
                    <a:lumMod val="75000"/>
                  </a:schemeClr>
                </a:solidFill>
              </a:rPr>
              <a:t>WebSockets</a:t>
            </a:r>
            <a:r>
              <a:rPr lang="en-US" sz="1800" dirty="0"/>
              <a:t> — </a:t>
            </a:r>
            <a:r>
              <a:rPr lang="uk-UA" sz="1800" dirty="0"/>
              <a:t>для роботи в реальному часі</a:t>
            </a:r>
            <a:endParaRPr lang="uk-UA" sz="2400" dirty="0"/>
          </a:p>
        </p:txBody>
      </p:sp>
    </p:spTree>
    <p:extLst>
      <p:ext uri="{BB962C8B-B14F-4D97-AF65-F5344CB8AC3E}">
        <p14:creationId xmlns:p14="http://schemas.microsoft.com/office/powerpoint/2010/main" val="1710576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7C881E-D1FF-86D5-16C7-F7906CFB9025}"/>
              </a:ext>
            </a:extLst>
          </p:cNvPr>
          <p:cNvSpPr>
            <a:spLocks noGrp="1"/>
          </p:cNvSpPr>
          <p:nvPr>
            <p:ph type="title"/>
          </p:nvPr>
        </p:nvSpPr>
        <p:spPr/>
        <p:txBody>
          <a:bodyPr/>
          <a:lstStyle/>
          <a:p>
            <a:r>
              <a:rPr lang="uk-UA" dirty="0"/>
              <a:t>Стиль </a:t>
            </a:r>
            <a:r>
              <a:rPr lang="en-US" dirty="0" err="1"/>
              <a:t>gRPC</a:t>
            </a:r>
            <a:endParaRPr lang="uk-UA" dirty="0"/>
          </a:p>
        </p:txBody>
      </p:sp>
      <p:sp>
        <p:nvSpPr>
          <p:cNvPr id="3" name="Місце для вмісту 2">
            <a:extLst>
              <a:ext uri="{FF2B5EF4-FFF2-40B4-BE49-F238E27FC236}">
                <a16:creationId xmlns:a16="http://schemas.microsoft.com/office/drawing/2014/main" id="{E9E6617F-AD07-E6AA-DC23-746359585085}"/>
              </a:ext>
            </a:extLst>
          </p:cNvPr>
          <p:cNvSpPr>
            <a:spLocks noGrp="1"/>
          </p:cNvSpPr>
          <p:nvPr>
            <p:ph idx="1"/>
          </p:nvPr>
        </p:nvSpPr>
        <p:spPr/>
        <p:txBody>
          <a:bodyPr/>
          <a:lstStyle/>
          <a:p>
            <a:pPr marL="0" indent="0">
              <a:buNone/>
            </a:pPr>
            <a:r>
              <a:rPr lang="uk-UA" sz="2400" b="1" dirty="0">
                <a:solidFill>
                  <a:schemeClr val="accent6">
                    <a:lumMod val="75000"/>
                  </a:schemeClr>
                </a:solidFill>
              </a:rPr>
              <a:t>Віддалений виклик процедур</a:t>
            </a:r>
            <a:r>
              <a:rPr lang="en-US" sz="2400" b="1" dirty="0">
                <a:solidFill>
                  <a:schemeClr val="accent6">
                    <a:lumMod val="75000"/>
                  </a:schemeClr>
                </a:solidFill>
              </a:rPr>
              <a:t> Google</a:t>
            </a:r>
            <a:r>
              <a:rPr lang="uk-UA" sz="2400" b="1" dirty="0">
                <a:solidFill>
                  <a:schemeClr val="accent6">
                    <a:lumMod val="75000"/>
                  </a:schemeClr>
                </a:solidFill>
              </a:rPr>
              <a:t> (</a:t>
            </a:r>
            <a:r>
              <a:rPr lang="en-US" sz="2400" b="1" dirty="0">
                <a:solidFill>
                  <a:schemeClr val="accent6">
                    <a:lumMod val="75000"/>
                  </a:schemeClr>
                </a:solidFill>
              </a:rPr>
              <a:t>Google Remote Procedure Call  - </a:t>
            </a:r>
            <a:r>
              <a:rPr lang="en-US" sz="2400" b="1" dirty="0" err="1">
                <a:solidFill>
                  <a:schemeClr val="accent6">
                    <a:lumMod val="75000"/>
                  </a:schemeClr>
                </a:solidFill>
              </a:rPr>
              <a:t>gRPC</a:t>
            </a:r>
            <a:r>
              <a:rPr lang="en-US" sz="2400" b="1" dirty="0">
                <a:solidFill>
                  <a:schemeClr val="accent6">
                    <a:lumMod val="75000"/>
                  </a:schemeClr>
                </a:solidFill>
              </a:rPr>
              <a:t>)</a:t>
            </a:r>
            <a:r>
              <a:rPr lang="en-US" sz="2400" b="1" dirty="0"/>
              <a:t> </a:t>
            </a:r>
            <a:r>
              <a:rPr lang="en-US" sz="2400" dirty="0"/>
              <a:t>— </a:t>
            </a:r>
            <a:r>
              <a:rPr lang="uk-UA" sz="2400" dirty="0"/>
              <a:t>це модель запиту-відповіді, яка дозволяє додатку (діє як клієнт) здійснювати виклик процедури до іншої програми (діє як сервер). «Серверна» програма зазвичай розташована в іншій системі у мережі. При застосуванні </a:t>
            </a:r>
            <a:r>
              <a:rPr lang="en-US" sz="2400" dirty="0" err="1"/>
              <a:t>gRPC</a:t>
            </a:r>
            <a:r>
              <a:rPr lang="en-US" sz="2400" dirty="0"/>
              <a:t> </a:t>
            </a:r>
            <a:r>
              <a:rPr lang="uk-UA" sz="2400" dirty="0"/>
              <a:t>клієнт зазвичай не знає, що запит процедури виконується віддалено, оскільки запит надходить до рівня, який приховує ці деталі. Що стосується клієнта, ці виклики процедур є просто діями, які він хоче виконати. Іншими словами, для клієнта віддалений виклик процедури є просто методом з аргументами. Коли його викликають, виконується метод і повертаються результати. </a:t>
            </a:r>
          </a:p>
          <a:p>
            <a:pPr marL="0" indent="0">
              <a:buNone/>
            </a:pPr>
            <a:endParaRPr lang="uk-UA" dirty="0"/>
          </a:p>
        </p:txBody>
      </p:sp>
    </p:spTree>
    <p:extLst>
      <p:ext uri="{BB962C8B-B14F-4D97-AF65-F5344CB8AC3E}">
        <p14:creationId xmlns:p14="http://schemas.microsoft.com/office/powerpoint/2010/main" val="3257626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89FF6-7387-80D2-0703-CDDEDCD9137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4DDEC0-0FAB-69B1-15D2-0CE153EC1F7A}"/>
              </a:ext>
            </a:extLst>
          </p:cNvPr>
          <p:cNvSpPr>
            <a:spLocks noGrp="1"/>
          </p:cNvSpPr>
          <p:nvPr>
            <p:ph type="title"/>
          </p:nvPr>
        </p:nvSpPr>
        <p:spPr/>
        <p:txBody>
          <a:bodyPr/>
          <a:lstStyle/>
          <a:p>
            <a:r>
              <a:rPr lang="uk-UA" dirty="0"/>
              <a:t>Стиль </a:t>
            </a:r>
            <a:r>
              <a:rPr lang="en-US" dirty="0" err="1"/>
              <a:t>gRPC</a:t>
            </a:r>
            <a:endParaRPr lang="uk-UA" dirty="0"/>
          </a:p>
        </p:txBody>
      </p:sp>
      <p:sp>
        <p:nvSpPr>
          <p:cNvPr id="3" name="Місце для вмісту 2">
            <a:extLst>
              <a:ext uri="{FF2B5EF4-FFF2-40B4-BE49-F238E27FC236}">
                <a16:creationId xmlns:a16="http://schemas.microsoft.com/office/drawing/2014/main" id="{BEFBABF8-C008-4413-3F65-00CF24BFBAB6}"/>
              </a:ext>
            </a:extLst>
          </p:cNvPr>
          <p:cNvSpPr>
            <a:spLocks noGrp="1"/>
          </p:cNvSpPr>
          <p:nvPr>
            <p:ph idx="1"/>
          </p:nvPr>
        </p:nvSpPr>
        <p:spPr>
          <a:xfrm>
            <a:off x="685800" y="2194560"/>
            <a:ext cx="5105400" cy="4124960"/>
          </a:xfrm>
        </p:spPr>
        <p:txBody>
          <a:bodyPr>
            <a:normAutofit fontScale="85000" lnSpcReduction="20000"/>
          </a:bodyPr>
          <a:lstStyle/>
          <a:p>
            <a:pPr marL="0" indent="0">
              <a:buNone/>
            </a:pPr>
            <a:r>
              <a:rPr lang="uk-UA" sz="2000" dirty="0"/>
              <a:t>У найбільш поширеному використанні </a:t>
            </a:r>
            <a:r>
              <a:rPr lang="en-US" sz="2000" dirty="0" err="1"/>
              <a:t>gRPC</a:t>
            </a:r>
            <a:r>
              <a:rPr lang="en-US" sz="2000" dirty="0"/>
              <a:t> </a:t>
            </a:r>
            <a:r>
              <a:rPr lang="uk-UA" sz="2000" dirty="0"/>
              <a:t>клієнт робить синхронний запит до сервера і блокується, поки сервер обробляє запит. Коли сервер виконує запит, він надсилає відповідь клієнту, який розблокує його процес. (Це не стосується асинхронних запитів.) </a:t>
            </a:r>
            <a:r>
              <a:rPr lang="en-US" sz="2000" dirty="0" err="1"/>
              <a:t>gRPC</a:t>
            </a:r>
            <a:r>
              <a:rPr lang="en-US" sz="2000" dirty="0"/>
              <a:t> — </a:t>
            </a:r>
            <a:r>
              <a:rPr lang="uk-UA" sz="2000" dirty="0"/>
              <a:t>це стиль </a:t>
            </a:r>
            <a:r>
              <a:rPr lang="en-US" sz="2000" dirty="0"/>
              <a:t>API, </a:t>
            </a:r>
            <a:r>
              <a:rPr lang="uk-UA" sz="2000" dirty="0"/>
              <a:t>який можна застосувати до різних транспортних протоколів. </a:t>
            </a:r>
          </a:p>
          <a:p>
            <a:endParaRPr lang="uk-UA" sz="2000" dirty="0"/>
          </a:p>
          <a:p>
            <a:pPr marL="0" indent="0">
              <a:buNone/>
            </a:pPr>
            <a:r>
              <a:rPr lang="uk-UA" sz="2000" dirty="0"/>
              <a:t>Приклади реалізації включають: </a:t>
            </a:r>
            <a:endParaRPr lang="en-US" sz="2000" dirty="0"/>
          </a:p>
          <a:p>
            <a:pPr marL="285750" indent="-285750">
              <a:buFont typeface="Arial" panose="020B0604020202020204" pitchFamily="34" charset="0"/>
              <a:buChar char="•"/>
            </a:pPr>
            <a:r>
              <a:rPr lang="en-US" sz="2000" dirty="0"/>
              <a:t>XML-RPC </a:t>
            </a:r>
          </a:p>
          <a:p>
            <a:pPr marL="285750" indent="-285750">
              <a:buFont typeface="Arial" panose="020B0604020202020204" pitchFamily="34" charset="0"/>
              <a:buChar char="•"/>
            </a:pPr>
            <a:r>
              <a:rPr lang="en-US" sz="2000" dirty="0"/>
              <a:t>JSON-RPC </a:t>
            </a:r>
          </a:p>
          <a:p>
            <a:pPr marL="285750" indent="-285750">
              <a:buFont typeface="Arial" panose="020B0604020202020204" pitchFamily="34" charset="0"/>
              <a:buChar char="•"/>
            </a:pPr>
            <a:r>
              <a:rPr lang="en-US" sz="2000" dirty="0"/>
              <a:t>NFS (Network File System - </a:t>
            </a:r>
            <a:r>
              <a:rPr lang="uk-UA" sz="2000" dirty="0"/>
              <a:t>Мережева файлова система) </a:t>
            </a:r>
            <a:endParaRPr lang="en-US" sz="2000" dirty="0"/>
          </a:p>
          <a:p>
            <a:pPr marL="285750" indent="-285750">
              <a:buFont typeface="Arial" panose="020B0604020202020204" pitchFamily="34" charset="0"/>
              <a:buChar char="•"/>
            </a:pPr>
            <a:r>
              <a:rPr lang="en-US" sz="2000" dirty="0"/>
              <a:t>Simple Object Access Protocol (SOAP) </a:t>
            </a:r>
            <a:endParaRPr lang="uk-UA" sz="2000" dirty="0"/>
          </a:p>
          <a:p>
            <a:pPr marL="0" indent="0">
              <a:buNone/>
            </a:pPr>
            <a:endParaRPr lang="uk-UA" dirty="0"/>
          </a:p>
        </p:txBody>
      </p:sp>
      <p:pic>
        <p:nvPicPr>
          <p:cNvPr id="4" name="Рисунок 3">
            <a:extLst>
              <a:ext uri="{FF2B5EF4-FFF2-40B4-BE49-F238E27FC236}">
                <a16:creationId xmlns:a16="http://schemas.microsoft.com/office/drawing/2014/main" id="{E2ABCF7B-A821-A939-FB87-CA16674F6F78}"/>
              </a:ext>
            </a:extLst>
          </p:cNvPr>
          <p:cNvPicPr>
            <a:picLocks noChangeAspect="1"/>
          </p:cNvPicPr>
          <p:nvPr/>
        </p:nvPicPr>
        <p:blipFill>
          <a:blip r:embed="rId2"/>
          <a:stretch>
            <a:fillRect/>
          </a:stretch>
        </p:blipFill>
        <p:spPr>
          <a:xfrm>
            <a:off x="6096000" y="2057401"/>
            <a:ext cx="5840474" cy="3877392"/>
          </a:xfrm>
          <a:prstGeom prst="rect">
            <a:avLst/>
          </a:prstGeom>
        </p:spPr>
      </p:pic>
    </p:spTree>
    <p:extLst>
      <p:ext uri="{BB962C8B-B14F-4D97-AF65-F5344CB8AC3E}">
        <p14:creationId xmlns:p14="http://schemas.microsoft.com/office/powerpoint/2010/main" val="4110552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ADC650-170F-7A30-4782-0A995272D4FC}"/>
              </a:ext>
            </a:extLst>
          </p:cNvPr>
          <p:cNvSpPr>
            <a:spLocks noGrp="1"/>
          </p:cNvSpPr>
          <p:nvPr>
            <p:ph type="title"/>
          </p:nvPr>
        </p:nvSpPr>
        <p:spPr/>
        <p:txBody>
          <a:bodyPr/>
          <a:lstStyle/>
          <a:p>
            <a:r>
              <a:rPr lang="uk-UA" dirty="0"/>
              <a:t>Стиль </a:t>
            </a:r>
            <a:r>
              <a:rPr lang="en-US" dirty="0"/>
              <a:t>SOAP</a:t>
            </a:r>
            <a:endParaRPr lang="uk-UA" dirty="0"/>
          </a:p>
        </p:txBody>
      </p:sp>
      <p:sp>
        <p:nvSpPr>
          <p:cNvPr id="3" name="Місце для вмісту 2">
            <a:extLst>
              <a:ext uri="{FF2B5EF4-FFF2-40B4-BE49-F238E27FC236}">
                <a16:creationId xmlns:a16="http://schemas.microsoft.com/office/drawing/2014/main" id="{F7D9F6D4-99E8-8A54-3364-E5161805CA49}"/>
              </a:ext>
            </a:extLst>
          </p:cNvPr>
          <p:cNvSpPr>
            <a:spLocks noGrp="1"/>
          </p:cNvSpPr>
          <p:nvPr>
            <p:ph idx="1"/>
          </p:nvPr>
        </p:nvSpPr>
        <p:spPr/>
        <p:txBody>
          <a:bodyPr>
            <a:normAutofit fontScale="85000" lnSpcReduction="20000"/>
          </a:bodyPr>
          <a:lstStyle/>
          <a:p>
            <a:pPr marL="0" indent="0">
              <a:buNone/>
            </a:pPr>
            <a:r>
              <a:rPr lang="en-US" sz="2400" b="1" dirty="0">
                <a:solidFill>
                  <a:schemeClr val="accent6">
                    <a:lumMod val="75000"/>
                  </a:schemeClr>
                </a:solidFill>
              </a:rPr>
              <a:t>SOAP</a:t>
            </a:r>
            <a:r>
              <a:rPr lang="uk-UA" sz="2400" b="1" dirty="0">
                <a:solidFill>
                  <a:schemeClr val="accent6">
                    <a:lumMod val="75000"/>
                  </a:schemeClr>
                </a:solidFill>
              </a:rPr>
              <a:t> (</a:t>
            </a:r>
            <a:r>
              <a:rPr lang="en-US" sz="2400" b="1" dirty="0">
                <a:solidFill>
                  <a:schemeClr val="accent6">
                    <a:lumMod val="75000"/>
                  </a:schemeClr>
                </a:solidFill>
              </a:rPr>
              <a:t>Simple Object Access Protocol</a:t>
            </a:r>
            <a:r>
              <a:rPr lang="uk-UA" sz="2400" b="1" dirty="0">
                <a:solidFill>
                  <a:schemeClr val="accent6">
                    <a:lumMod val="75000"/>
                  </a:schemeClr>
                </a:solidFill>
              </a:rPr>
              <a:t>)</a:t>
            </a:r>
            <a:r>
              <a:rPr lang="en-US" sz="2400" dirty="0"/>
              <a:t> – </a:t>
            </a:r>
            <a:r>
              <a:rPr lang="uk-UA" sz="2400" dirty="0"/>
              <a:t>це протокол обміну повідомленнями. Він використовується для зв’язку між додатками, які можуть бути на різних платформах або створені на різних мовах програмування. Це протокол на основі </a:t>
            </a:r>
            <a:r>
              <a:rPr lang="en-US" sz="2400" dirty="0"/>
              <a:t>XML, </a:t>
            </a:r>
            <a:r>
              <a:rPr lang="uk-UA" sz="2400" dirty="0"/>
              <a:t>розроблений компанією </a:t>
            </a:r>
            <a:r>
              <a:rPr lang="en-US" sz="2400" dirty="0"/>
              <a:t>Microsoft. SOAP </a:t>
            </a:r>
            <a:r>
              <a:rPr lang="uk-UA" sz="2400" dirty="0"/>
              <a:t>зазвичай використовується з транспортним протоколом </a:t>
            </a:r>
            <a:r>
              <a:rPr lang="en-US" sz="2400" dirty="0" err="1"/>
              <a:t>HyperText</a:t>
            </a:r>
            <a:r>
              <a:rPr lang="en-US" sz="2400" dirty="0"/>
              <a:t> Transfer Protocol (HTTP), </a:t>
            </a:r>
            <a:r>
              <a:rPr lang="uk-UA" sz="2400" dirty="0"/>
              <a:t>але його можна застосувати до інших протоколів (</a:t>
            </a:r>
            <a:r>
              <a:rPr lang="en-US" sz="2400" dirty="0"/>
              <a:t>SMTP, TCP</a:t>
            </a:r>
            <a:r>
              <a:rPr lang="uk-UA" sz="2400" dirty="0"/>
              <a:t>). </a:t>
            </a:r>
            <a:r>
              <a:rPr lang="en-US" sz="2400" dirty="0"/>
              <a:t>SOAP </a:t>
            </a:r>
            <a:r>
              <a:rPr lang="uk-UA" sz="2400" dirty="0"/>
              <a:t>є незалежним, розширюваним і нейтральним. </a:t>
            </a:r>
            <a:endParaRPr lang="en-US" sz="2400" dirty="0"/>
          </a:p>
          <a:p>
            <a:pPr marL="0" indent="0">
              <a:buNone/>
            </a:pPr>
            <a:r>
              <a:rPr lang="uk-UA" sz="2400" b="1" dirty="0">
                <a:solidFill>
                  <a:schemeClr val="accent6">
                    <a:lumMod val="75000"/>
                  </a:schemeClr>
                </a:solidFill>
              </a:rPr>
              <a:t>Незалежний</a:t>
            </a:r>
            <a:r>
              <a:rPr lang="en-US" sz="2400" b="1" dirty="0">
                <a:solidFill>
                  <a:schemeClr val="accent6">
                    <a:lumMod val="75000"/>
                  </a:schemeClr>
                </a:solidFill>
              </a:rPr>
              <a:t>. </a:t>
            </a:r>
            <a:r>
              <a:rPr lang="en-US" sz="2400" dirty="0"/>
              <a:t>SOAP </a:t>
            </a:r>
            <a:r>
              <a:rPr lang="uk-UA" sz="2400" dirty="0"/>
              <a:t>був розроблений так, щоб усі типи додатків могли взаємодіяти один з одним. Програми можуть бути створені з використанням різних мов програмування, можуть працювати на різних операційних системах і можуть бути максимально різними. </a:t>
            </a:r>
            <a:endParaRPr lang="en-US" sz="2400" dirty="0"/>
          </a:p>
          <a:p>
            <a:pPr marL="0" indent="0">
              <a:buNone/>
            </a:pPr>
            <a:r>
              <a:rPr lang="uk-UA" sz="2400" b="1" dirty="0">
                <a:solidFill>
                  <a:schemeClr val="accent6">
                    <a:lumMod val="75000"/>
                  </a:schemeClr>
                </a:solidFill>
              </a:rPr>
              <a:t>Розширюваний</a:t>
            </a:r>
            <a:r>
              <a:rPr lang="en-US" sz="2400" b="1" dirty="0">
                <a:solidFill>
                  <a:schemeClr val="accent6">
                    <a:lumMod val="75000"/>
                  </a:schemeClr>
                </a:solidFill>
              </a:rPr>
              <a:t>. </a:t>
            </a:r>
            <a:r>
              <a:rPr lang="uk-UA" sz="2400" dirty="0"/>
              <a:t>Сам </a:t>
            </a:r>
            <a:r>
              <a:rPr lang="en-US" sz="2400" dirty="0"/>
              <a:t>SOAP </a:t>
            </a:r>
            <a:r>
              <a:rPr lang="uk-UA" sz="2400" dirty="0"/>
              <a:t>вважається додатком </a:t>
            </a:r>
            <a:r>
              <a:rPr lang="en-US" sz="2400" dirty="0"/>
              <a:t>XML, </a:t>
            </a:r>
            <a:r>
              <a:rPr lang="uk-UA" sz="2400" dirty="0"/>
              <a:t>тому на його основі можна створювати розширення. Ця розширюваність означає, що ви можете додати такі функції, як надійність і безпека. </a:t>
            </a:r>
            <a:endParaRPr lang="en-US" sz="2400" dirty="0"/>
          </a:p>
          <a:p>
            <a:pPr marL="0" indent="0">
              <a:buNone/>
            </a:pPr>
            <a:r>
              <a:rPr lang="uk-UA" sz="2400" b="1" dirty="0">
                <a:solidFill>
                  <a:schemeClr val="accent6">
                    <a:lumMod val="75000"/>
                  </a:schemeClr>
                </a:solidFill>
              </a:rPr>
              <a:t>Нейтральний</a:t>
            </a:r>
            <a:r>
              <a:rPr lang="en-US" sz="2400" b="1" dirty="0">
                <a:solidFill>
                  <a:schemeClr val="accent6">
                    <a:lumMod val="75000"/>
                  </a:schemeClr>
                </a:solidFill>
              </a:rPr>
              <a:t>. </a:t>
            </a:r>
            <a:r>
              <a:rPr lang="en-US" sz="2400" dirty="0"/>
              <a:t>SOAP </a:t>
            </a:r>
            <a:r>
              <a:rPr lang="uk-UA" sz="2400" dirty="0"/>
              <a:t>можна використовувати через будь-який протокол, включаючи </a:t>
            </a:r>
            <a:r>
              <a:rPr lang="en-US" sz="2400" dirty="0"/>
              <a:t>HTTP, SMTP, TCP, UDP </a:t>
            </a:r>
            <a:r>
              <a:rPr lang="uk-UA" sz="2400" dirty="0"/>
              <a:t>або </a:t>
            </a:r>
            <a:r>
              <a:rPr lang="en-US" sz="2400" dirty="0"/>
              <a:t>JMS. </a:t>
            </a:r>
          </a:p>
          <a:p>
            <a:pPr marL="0" indent="0">
              <a:buNone/>
            </a:pPr>
            <a:endParaRPr lang="uk-UA" dirty="0"/>
          </a:p>
        </p:txBody>
      </p:sp>
    </p:spTree>
    <p:extLst>
      <p:ext uri="{BB962C8B-B14F-4D97-AF65-F5344CB8AC3E}">
        <p14:creationId xmlns:p14="http://schemas.microsoft.com/office/powerpoint/2010/main" val="1837390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E77C4-D131-198B-EA21-0B46DF7309C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4B589E-890F-AC56-D339-6164771AAF19}"/>
              </a:ext>
            </a:extLst>
          </p:cNvPr>
          <p:cNvSpPr>
            <a:spLocks noGrp="1"/>
          </p:cNvSpPr>
          <p:nvPr>
            <p:ph type="title"/>
          </p:nvPr>
        </p:nvSpPr>
        <p:spPr>
          <a:xfrm>
            <a:off x="7918654" y="235459"/>
            <a:ext cx="3685867" cy="1293028"/>
          </a:xfrm>
        </p:spPr>
        <p:txBody>
          <a:bodyPr/>
          <a:lstStyle/>
          <a:p>
            <a:r>
              <a:rPr lang="uk-UA" dirty="0"/>
              <a:t>Стиль </a:t>
            </a:r>
            <a:r>
              <a:rPr lang="en-US" dirty="0"/>
              <a:t>SOAP</a:t>
            </a:r>
            <a:endParaRPr lang="uk-UA" dirty="0"/>
          </a:p>
        </p:txBody>
      </p:sp>
      <p:sp>
        <p:nvSpPr>
          <p:cNvPr id="3" name="Місце для вмісту 2">
            <a:extLst>
              <a:ext uri="{FF2B5EF4-FFF2-40B4-BE49-F238E27FC236}">
                <a16:creationId xmlns:a16="http://schemas.microsoft.com/office/drawing/2014/main" id="{47785540-A7A2-B6DC-3442-04A3C0DF72FF}"/>
              </a:ext>
            </a:extLst>
          </p:cNvPr>
          <p:cNvSpPr>
            <a:spLocks noGrp="1"/>
          </p:cNvSpPr>
          <p:nvPr>
            <p:ph idx="1"/>
          </p:nvPr>
        </p:nvSpPr>
        <p:spPr>
          <a:xfrm>
            <a:off x="4552334" y="1221167"/>
            <a:ext cx="7052187" cy="2839555"/>
          </a:xfrm>
        </p:spPr>
        <p:txBody>
          <a:bodyPr>
            <a:normAutofit fontScale="92500"/>
          </a:bodyPr>
          <a:lstStyle/>
          <a:p>
            <a:pPr marL="0" indent="0">
              <a:buNone/>
            </a:pPr>
            <a:r>
              <a:rPr lang="en-US" sz="2400" b="1" dirty="0">
                <a:solidFill>
                  <a:schemeClr val="accent6">
                    <a:lumMod val="75000"/>
                  </a:schemeClr>
                </a:solidFill>
              </a:rPr>
              <a:t>SOAP-</a:t>
            </a:r>
            <a:r>
              <a:rPr lang="uk-UA" sz="2400" b="1" dirty="0">
                <a:solidFill>
                  <a:schemeClr val="accent6">
                    <a:lumMod val="75000"/>
                  </a:schemeClr>
                </a:solidFill>
              </a:rPr>
              <a:t>повідомлення </a:t>
            </a:r>
            <a:endParaRPr lang="en-US" sz="2400" b="1" dirty="0">
              <a:solidFill>
                <a:schemeClr val="accent6">
                  <a:lumMod val="75000"/>
                </a:schemeClr>
              </a:solidFill>
            </a:endParaRPr>
          </a:p>
          <a:p>
            <a:pPr marL="0" indent="0">
              <a:buNone/>
            </a:pPr>
            <a:r>
              <a:rPr lang="uk-UA" sz="2400" dirty="0"/>
              <a:t>Повідомлення </a:t>
            </a:r>
            <a:r>
              <a:rPr lang="en-US" sz="2400" dirty="0"/>
              <a:t>SOAP - </a:t>
            </a:r>
            <a:r>
              <a:rPr lang="uk-UA" sz="2400" dirty="0"/>
              <a:t>це просто </a:t>
            </a:r>
            <a:r>
              <a:rPr lang="en-US" sz="2400" dirty="0"/>
              <a:t>XML-</a:t>
            </a:r>
            <a:r>
              <a:rPr lang="uk-UA" sz="2400" dirty="0"/>
              <a:t>документ, який може містити чотири елементи: </a:t>
            </a:r>
            <a:endParaRPr lang="en-US" sz="2400" dirty="0"/>
          </a:p>
          <a:p>
            <a:r>
              <a:rPr lang="uk-UA" sz="2400" dirty="0"/>
              <a:t>Конверт (</a:t>
            </a:r>
            <a:r>
              <a:rPr lang="en-US" sz="2400" dirty="0"/>
              <a:t>Envelope</a:t>
            </a:r>
            <a:r>
              <a:rPr lang="uk-UA" sz="2400" dirty="0"/>
              <a:t>)</a:t>
            </a:r>
            <a:endParaRPr lang="en-US" sz="2400" dirty="0"/>
          </a:p>
          <a:p>
            <a:r>
              <a:rPr lang="uk-UA" sz="2400" dirty="0"/>
              <a:t>Заголовок </a:t>
            </a:r>
            <a:r>
              <a:rPr lang="en-US" sz="2400" dirty="0"/>
              <a:t>(Header)</a:t>
            </a:r>
          </a:p>
          <a:p>
            <a:r>
              <a:rPr lang="uk-UA" sz="2400" dirty="0"/>
              <a:t>Тіло </a:t>
            </a:r>
            <a:r>
              <a:rPr lang="en-US" sz="2400" dirty="0"/>
              <a:t>(Body)</a:t>
            </a:r>
          </a:p>
          <a:p>
            <a:r>
              <a:rPr lang="uk-UA" sz="2400" dirty="0"/>
              <a:t>Несправність </a:t>
            </a:r>
            <a:r>
              <a:rPr lang="en-US" sz="2400" dirty="0"/>
              <a:t>(Fault)</a:t>
            </a:r>
            <a:endParaRPr lang="uk-UA" sz="2400" dirty="0"/>
          </a:p>
          <a:p>
            <a:pPr marL="0" indent="0">
              <a:buNone/>
            </a:pPr>
            <a:endParaRPr lang="uk-UA" dirty="0"/>
          </a:p>
        </p:txBody>
      </p:sp>
      <p:sp>
        <p:nvSpPr>
          <p:cNvPr id="5" name="TextBox 4">
            <a:extLst>
              <a:ext uri="{FF2B5EF4-FFF2-40B4-BE49-F238E27FC236}">
                <a16:creationId xmlns:a16="http://schemas.microsoft.com/office/drawing/2014/main" id="{CE76E51C-88B9-F265-32C6-2A4204181F4A}"/>
              </a:ext>
            </a:extLst>
          </p:cNvPr>
          <p:cNvSpPr txBox="1"/>
          <p:nvPr/>
        </p:nvSpPr>
        <p:spPr>
          <a:xfrm>
            <a:off x="1090151" y="4161012"/>
            <a:ext cx="10011697" cy="2031325"/>
          </a:xfrm>
          <a:prstGeom prst="rect">
            <a:avLst/>
          </a:prstGeom>
          <a:noFill/>
        </p:spPr>
        <p:txBody>
          <a:bodyPr wrap="square">
            <a:spAutoFit/>
          </a:bodyPr>
          <a:lstStyle/>
          <a:p>
            <a:r>
              <a:rPr lang="uk-UA" dirty="0"/>
              <a:t>&lt;</a:t>
            </a:r>
            <a:r>
              <a:rPr lang="uk-UA" dirty="0" err="1"/>
              <a:t>soapenv:Envelope</a:t>
            </a:r>
            <a:r>
              <a:rPr lang="uk-UA" dirty="0"/>
              <a:t> </a:t>
            </a:r>
            <a:r>
              <a:rPr lang="uk-UA" dirty="0" err="1">
                <a:solidFill>
                  <a:srgbClr val="94144E"/>
                </a:solidFill>
              </a:rPr>
              <a:t>xmlns:soapenv</a:t>
            </a:r>
            <a:r>
              <a:rPr lang="uk-UA" dirty="0"/>
              <a:t>=</a:t>
            </a:r>
            <a:r>
              <a:rPr lang="uk-UA" dirty="0">
                <a:solidFill>
                  <a:srgbClr val="006600"/>
                </a:solidFill>
              </a:rPr>
              <a:t>"http://schemas.xmlsoap.org/soap/envelope/"</a:t>
            </a:r>
            <a:r>
              <a:rPr lang="uk-UA" dirty="0"/>
              <a:t>&gt;</a:t>
            </a:r>
          </a:p>
          <a:p>
            <a:r>
              <a:rPr lang="uk-UA" dirty="0"/>
              <a:t>   &lt;</a:t>
            </a:r>
            <a:r>
              <a:rPr lang="uk-UA" dirty="0" err="1"/>
              <a:t>soapenv:Body</a:t>
            </a:r>
            <a:r>
              <a:rPr lang="uk-UA" dirty="0"/>
              <a:t>&gt;</a:t>
            </a:r>
          </a:p>
          <a:p>
            <a:r>
              <a:rPr lang="uk-UA" dirty="0"/>
              <a:t>      &lt;</a:t>
            </a:r>
            <a:r>
              <a:rPr lang="uk-UA" dirty="0" err="1"/>
              <a:t>getUser</a:t>
            </a:r>
            <a:r>
              <a:rPr lang="uk-UA" dirty="0"/>
              <a:t>&gt;</a:t>
            </a:r>
          </a:p>
          <a:p>
            <a:r>
              <a:rPr lang="uk-UA" dirty="0"/>
              <a:t>         &lt;</a:t>
            </a:r>
            <a:r>
              <a:rPr lang="uk-UA" dirty="0" err="1"/>
              <a:t>id</a:t>
            </a:r>
            <a:r>
              <a:rPr lang="uk-UA" dirty="0"/>
              <a:t>&gt;1&lt;/</a:t>
            </a:r>
            <a:r>
              <a:rPr lang="uk-UA" dirty="0" err="1"/>
              <a:t>id</a:t>
            </a:r>
            <a:r>
              <a:rPr lang="uk-UA" dirty="0"/>
              <a:t>&gt;</a:t>
            </a:r>
          </a:p>
          <a:p>
            <a:r>
              <a:rPr lang="uk-UA" dirty="0"/>
              <a:t>      &lt;/</a:t>
            </a:r>
            <a:r>
              <a:rPr lang="uk-UA" dirty="0" err="1"/>
              <a:t>getUser</a:t>
            </a:r>
            <a:r>
              <a:rPr lang="uk-UA" dirty="0"/>
              <a:t>&gt;</a:t>
            </a:r>
          </a:p>
          <a:p>
            <a:r>
              <a:rPr lang="uk-UA" dirty="0"/>
              <a:t>   &lt;/</a:t>
            </a:r>
            <a:r>
              <a:rPr lang="uk-UA" dirty="0" err="1"/>
              <a:t>soapenv:Body</a:t>
            </a:r>
            <a:r>
              <a:rPr lang="uk-UA" dirty="0"/>
              <a:t>&gt;</a:t>
            </a:r>
          </a:p>
          <a:p>
            <a:r>
              <a:rPr lang="uk-UA" dirty="0"/>
              <a:t>&lt;/</a:t>
            </a:r>
            <a:r>
              <a:rPr lang="uk-UA" dirty="0" err="1"/>
              <a:t>soapenv:Envelope</a:t>
            </a:r>
            <a:r>
              <a:rPr lang="uk-UA" dirty="0"/>
              <a:t>&gt;</a:t>
            </a:r>
          </a:p>
        </p:txBody>
      </p:sp>
    </p:spTree>
    <p:extLst>
      <p:ext uri="{BB962C8B-B14F-4D97-AF65-F5344CB8AC3E}">
        <p14:creationId xmlns:p14="http://schemas.microsoft.com/office/powerpoint/2010/main" val="3293157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7FB240-7ABB-6A05-12E4-FECF894B6BAD}"/>
              </a:ext>
            </a:extLst>
          </p:cNvPr>
          <p:cNvSpPr>
            <a:spLocks noGrp="1"/>
          </p:cNvSpPr>
          <p:nvPr>
            <p:ph type="title"/>
          </p:nvPr>
        </p:nvSpPr>
        <p:spPr>
          <a:xfrm>
            <a:off x="10776655" y="0"/>
            <a:ext cx="1300316" cy="4073098"/>
          </a:xfrm>
        </p:spPr>
        <p:txBody>
          <a:bodyPr vert="vert"/>
          <a:lstStyle/>
          <a:p>
            <a:r>
              <a:rPr lang="uk-UA" dirty="0"/>
              <a:t>Стиль </a:t>
            </a:r>
            <a:r>
              <a:rPr lang="en-US" dirty="0"/>
              <a:t>SOAP</a:t>
            </a:r>
            <a:endParaRPr lang="uk-UA" dirty="0"/>
          </a:p>
        </p:txBody>
      </p:sp>
      <p:sp>
        <p:nvSpPr>
          <p:cNvPr id="3" name="Місце для вмісту 2">
            <a:extLst>
              <a:ext uri="{FF2B5EF4-FFF2-40B4-BE49-F238E27FC236}">
                <a16:creationId xmlns:a16="http://schemas.microsoft.com/office/drawing/2014/main" id="{17D69735-AF91-CF0C-F4B8-BD559FAFDB3D}"/>
              </a:ext>
            </a:extLst>
          </p:cNvPr>
          <p:cNvSpPr>
            <a:spLocks noGrp="1"/>
          </p:cNvSpPr>
          <p:nvPr>
            <p:ph idx="1"/>
          </p:nvPr>
        </p:nvSpPr>
        <p:spPr>
          <a:xfrm>
            <a:off x="292009" y="3153697"/>
            <a:ext cx="10867603" cy="3227438"/>
          </a:xfrm>
        </p:spPr>
        <p:txBody>
          <a:bodyPr>
            <a:normAutofit fontScale="70000" lnSpcReduction="20000"/>
          </a:bodyPr>
          <a:lstStyle/>
          <a:p>
            <a:pPr marL="0" indent="0">
              <a:buNone/>
            </a:pPr>
            <a:r>
              <a:rPr lang="uk-UA" b="1" dirty="0">
                <a:solidFill>
                  <a:schemeClr val="accent6">
                    <a:lumMod val="75000"/>
                  </a:schemeClr>
                </a:solidFill>
              </a:rPr>
              <a:t>Конверт (</a:t>
            </a:r>
            <a:r>
              <a:rPr lang="en-US" b="1" dirty="0">
                <a:solidFill>
                  <a:schemeClr val="accent6">
                    <a:lumMod val="75000"/>
                  </a:schemeClr>
                </a:solidFill>
              </a:rPr>
              <a:t>Envelope</a:t>
            </a:r>
            <a:r>
              <a:rPr lang="uk-UA" b="1" dirty="0">
                <a:solidFill>
                  <a:schemeClr val="accent6">
                    <a:lumMod val="75000"/>
                  </a:schemeClr>
                </a:solidFill>
              </a:rPr>
              <a:t>)</a:t>
            </a:r>
            <a:endParaRPr lang="en-US" b="1" dirty="0">
              <a:solidFill>
                <a:schemeClr val="accent6">
                  <a:lumMod val="75000"/>
                </a:schemeClr>
              </a:solidFill>
            </a:endParaRPr>
          </a:p>
          <a:p>
            <a:r>
              <a:rPr lang="uk-UA" dirty="0"/>
              <a:t>Конверт має бути кореневим елементом </a:t>
            </a:r>
            <a:r>
              <a:rPr lang="en-US" dirty="0"/>
              <a:t>XML-</a:t>
            </a:r>
            <a:r>
              <a:rPr lang="uk-UA" dirty="0"/>
              <a:t>документа. У конверті</a:t>
            </a:r>
            <a:r>
              <a:rPr lang="en-US" dirty="0"/>
              <a:t> </a:t>
            </a:r>
            <a:r>
              <a:rPr lang="uk-UA" dirty="0"/>
              <a:t>наданий простір імен повідомляє вам, що </a:t>
            </a:r>
            <a:r>
              <a:rPr lang="en-US" dirty="0"/>
              <a:t>XML-</a:t>
            </a:r>
            <a:r>
              <a:rPr lang="uk-UA" dirty="0"/>
              <a:t>документ є повідомленням </a:t>
            </a:r>
            <a:r>
              <a:rPr lang="en-US" dirty="0"/>
              <a:t>SOAP. </a:t>
            </a:r>
            <a:endParaRPr lang="uk-UA" b="1" dirty="0"/>
          </a:p>
          <a:p>
            <a:pPr marL="0" indent="0">
              <a:buNone/>
            </a:pPr>
            <a:r>
              <a:rPr lang="uk-UA" b="1" dirty="0">
                <a:solidFill>
                  <a:schemeClr val="accent6">
                    <a:lumMod val="75000"/>
                  </a:schemeClr>
                </a:solidFill>
              </a:rPr>
              <a:t>Заголовок </a:t>
            </a:r>
            <a:r>
              <a:rPr lang="en-US" b="1" dirty="0">
                <a:solidFill>
                  <a:schemeClr val="accent6">
                    <a:lumMod val="75000"/>
                  </a:schemeClr>
                </a:solidFill>
              </a:rPr>
              <a:t>(Header)</a:t>
            </a:r>
          </a:p>
          <a:p>
            <a:r>
              <a:rPr lang="uk-UA" dirty="0"/>
              <a:t>Заголовок є необов’язковим елементом, але якщо заголовок присутній, він повинен бути першим дочірнім елементом </a:t>
            </a:r>
            <a:r>
              <a:rPr lang="en-US" dirty="0"/>
              <a:t>Envelope. </a:t>
            </a:r>
            <a:r>
              <a:rPr lang="uk-UA" dirty="0"/>
              <a:t>Як і більшість інших заголовків, він містить специфічну для програми інформацію, таку як авторизація, специфічні атрибути </a:t>
            </a:r>
            <a:r>
              <a:rPr lang="en-US" dirty="0"/>
              <a:t>SOAP </a:t>
            </a:r>
            <a:r>
              <a:rPr lang="uk-UA" dirty="0"/>
              <a:t>або будь-які атрибути, визначені програмою. </a:t>
            </a:r>
          </a:p>
          <a:p>
            <a:pPr marL="0" indent="0">
              <a:buNone/>
            </a:pPr>
            <a:r>
              <a:rPr lang="uk-UA" b="1" dirty="0">
                <a:solidFill>
                  <a:schemeClr val="accent6">
                    <a:lumMod val="75000"/>
                  </a:schemeClr>
                </a:solidFill>
              </a:rPr>
              <a:t>Тіло </a:t>
            </a:r>
            <a:r>
              <a:rPr lang="en-US" b="1" dirty="0">
                <a:solidFill>
                  <a:schemeClr val="accent6">
                    <a:lumMod val="75000"/>
                  </a:schemeClr>
                </a:solidFill>
              </a:rPr>
              <a:t>(Body)</a:t>
            </a:r>
          </a:p>
          <a:p>
            <a:r>
              <a:rPr lang="uk-UA" dirty="0"/>
              <a:t>Тіло містить дані, які потрібно передати одержувачу. Ці дані мають бути у форматі </a:t>
            </a:r>
            <a:r>
              <a:rPr lang="en-US" dirty="0"/>
              <a:t>XML </a:t>
            </a:r>
            <a:r>
              <a:rPr lang="uk-UA" dirty="0"/>
              <a:t>та у власному просторі імен. </a:t>
            </a:r>
          </a:p>
          <a:p>
            <a:pPr marL="0" indent="0">
              <a:buNone/>
            </a:pPr>
            <a:r>
              <a:rPr lang="uk-UA" b="1" dirty="0">
                <a:solidFill>
                  <a:schemeClr val="accent6">
                    <a:lumMod val="75000"/>
                  </a:schemeClr>
                </a:solidFill>
              </a:rPr>
              <a:t>Несправність </a:t>
            </a:r>
            <a:r>
              <a:rPr lang="en-US" b="1" dirty="0">
                <a:solidFill>
                  <a:schemeClr val="accent6">
                    <a:lumMod val="75000"/>
                  </a:schemeClr>
                </a:solidFill>
              </a:rPr>
              <a:t>(Fault)</a:t>
            </a:r>
            <a:endParaRPr lang="uk-UA" b="1" dirty="0">
              <a:solidFill>
                <a:schemeClr val="accent6">
                  <a:lumMod val="75000"/>
                </a:schemeClr>
              </a:solidFill>
            </a:endParaRPr>
          </a:p>
          <a:p>
            <a:r>
              <a:rPr lang="uk-UA" dirty="0"/>
              <a:t>Помилка є необов'язковим елементом, але має бути дочірнім елементом тіла. У повідомленні </a:t>
            </a:r>
            <a:r>
              <a:rPr lang="en-US" dirty="0"/>
              <a:t>SOAP </a:t>
            </a:r>
            <a:r>
              <a:rPr lang="uk-UA" dirty="0"/>
              <a:t>може бути лише один елемент помилки. Елемент несправності надає інформацію про помилку та/або стан. </a:t>
            </a:r>
          </a:p>
          <a:p>
            <a:pPr marL="0" indent="0">
              <a:buNone/>
            </a:pPr>
            <a:endParaRPr lang="uk-UA" dirty="0"/>
          </a:p>
        </p:txBody>
      </p:sp>
      <p:pic>
        <p:nvPicPr>
          <p:cNvPr id="4" name="Рисунок 3">
            <a:extLst>
              <a:ext uri="{FF2B5EF4-FFF2-40B4-BE49-F238E27FC236}">
                <a16:creationId xmlns:a16="http://schemas.microsoft.com/office/drawing/2014/main" id="{C76EE5A9-DFCD-6ABE-49DF-E0CFFA0FCB83}"/>
              </a:ext>
            </a:extLst>
          </p:cNvPr>
          <p:cNvPicPr>
            <a:picLocks noChangeAspect="1"/>
          </p:cNvPicPr>
          <p:nvPr/>
        </p:nvPicPr>
        <p:blipFill>
          <a:blip r:embed="rId2"/>
          <a:srcRect l="1218" t="7288" r="1052" b="4297"/>
          <a:stretch/>
        </p:blipFill>
        <p:spPr>
          <a:xfrm>
            <a:off x="1187723" y="835742"/>
            <a:ext cx="8675011" cy="2123768"/>
          </a:xfrm>
          <a:prstGeom prst="rect">
            <a:avLst/>
          </a:prstGeom>
        </p:spPr>
      </p:pic>
    </p:spTree>
    <p:extLst>
      <p:ext uri="{BB962C8B-B14F-4D97-AF65-F5344CB8AC3E}">
        <p14:creationId xmlns:p14="http://schemas.microsoft.com/office/powerpoint/2010/main" val="2469311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71A34A-6E9B-E43E-2510-81595D48CD0F}"/>
              </a:ext>
            </a:extLst>
          </p:cNvPr>
          <p:cNvSpPr>
            <a:spLocks noGrp="1"/>
          </p:cNvSpPr>
          <p:nvPr>
            <p:ph type="title"/>
          </p:nvPr>
        </p:nvSpPr>
        <p:spPr/>
        <p:txBody>
          <a:bodyPr/>
          <a:lstStyle/>
          <a:p>
            <a:r>
              <a:rPr lang="uk-UA" dirty="0"/>
              <a:t>Стиль </a:t>
            </a:r>
            <a:r>
              <a:rPr lang="en-US" dirty="0" err="1"/>
              <a:t>GraphQL</a:t>
            </a:r>
            <a:endParaRPr lang="uk-UA" dirty="0"/>
          </a:p>
        </p:txBody>
      </p:sp>
      <p:sp>
        <p:nvSpPr>
          <p:cNvPr id="3" name="Місце для вмісту 2">
            <a:extLst>
              <a:ext uri="{FF2B5EF4-FFF2-40B4-BE49-F238E27FC236}">
                <a16:creationId xmlns:a16="http://schemas.microsoft.com/office/drawing/2014/main" id="{BA65F5F1-7D71-7BF2-4DFA-20C7FA12FC0B}"/>
              </a:ext>
            </a:extLst>
          </p:cNvPr>
          <p:cNvSpPr>
            <a:spLocks noGrp="1"/>
          </p:cNvSpPr>
          <p:nvPr>
            <p:ph idx="1"/>
          </p:nvPr>
        </p:nvSpPr>
        <p:spPr/>
        <p:txBody>
          <a:bodyPr>
            <a:normAutofit fontScale="92500" lnSpcReduction="20000"/>
          </a:bodyPr>
          <a:lstStyle/>
          <a:p>
            <a:pPr>
              <a:buNone/>
            </a:pPr>
            <a:r>
              <a:rPr lang="en-US" b="1" dirty="0" err="1">
                <a:solidFill>
                  <a:schemeClr val="accent6">
                    <a:lumMod val="75000"/>
                  </a:schemeClr>
                </a:solidFill>
              </a:rPr>
              <a:t>GraphQL</a:t>
            </a:r>
            <a:r>
              <a:rPr lang="en-US" dirty="0"/>
              <a:t> — </a:t>
            </a:r>
            <a:r>
              <a:rPr lang="uk-UA" dirty="0"/>
              <a:t>це гнучкий і потужний запитний архітектурний стиль для </a:t>
            </a:r>
            <a:r>
              <a:rPr lang="en-US" dirty="0"/>
              <a:t>API, </a:t>
            </a:r>
            <a:r>
              <a:rPr lang="uk-UA" dirty="0"/>
              <a:t>розроблений компанією </a:t>
            </a:r>
            <a:r>
              <a:rPr lang="en-US" dirty="0"/>
              <a:t>Facebook </a:t>
            </a:r>
            <a:r>
              <a:rPr lang="uk-UA" dirty="0"/>
              <a:t>у 2012 році та опублікований у відкритий доступ у 2015 році.</a:t>
            </a:r>
          </a:p>
          <a:p>
            <a:pPr>
              <a:buNone/>
            </a:pPr>
            <a:r>
              <a:rPr lang="uk-UA" dirty="0"/>
              <a:t>На відміну від традиційного </a:t>
            </a:r>
            <a:r>
              <a:rPr lang="en-US" b="1" dirty="0"/>
              <a:t>REST API</a:t>
            </a:r>
            <a:r>
              <a:rPr lang="en-US" dirty="0"/>
              <a:t>, </a:t>
            </a:r>
            <a:r>
              <a:rPr lang="uk-UA" dirty="0"/>
              <a:t>де клієнт отримує заздалегідь визначені дані від сервера, </a:t>
            </a:r>
            <a:r>
              <a:rPr lang="en-US" b="1" dirty="0" err="1"/>
              <a:t>GraphQL</a:t>
            </a:r>
            <a:r>
              <a:rPr lang="en-US" b="1" dirty="0"/>
              <a:t> </a:t>
            </a:r>
            <a:r>
              <a:rPr lang="uk-UA" b="1" dirty="0"/>
              <a:t>дозволяє клієнту самому визначати, які дані йому потрібні</a:t>
            </a:r>
            <a:r>
              <a:rPr lang="uk-UA" dirty="0"/>
              <a:t>.</a:t>
            </a:r>
          </a:p>
          <a:p>
            <a:pPr marL="0" indent="0">
              <a:buNone/>
            </a:pPr>
            <a:r>
              <a:rPr lang="en-US" dirty="0" err="1"/>
              <a:t>GraphQL</a:t>
            </a:r>
            <a:r>
              <a:rPr lang="en-US" dirty="0"/>
              <a:t> </a:t>
            </a:r>
            <a:r>
              <a:rPr lang="uk-UA" dirty="0"/>
              <a:t>використовується для ефективного отримання даних із сервера, дозволяючи </a:t>
            </a:r>
            <a:r>
              <a:rPr lang="uk-UA" b="1" dirty="0"/>
              <a:t>об'єднувати декілька запитів в один</a:t>
            </a:r>
            <a:r>
              <a:rPr lang="uk-UA" dirty="0"/>
              <a:t> і </a:t>
            </a:r>
            <a:r>
              <a:rPr lang="uk-UA" b="1" dirty="0"/>
              <a:t>запитувати лише потрібні поля</a:t>
            </a:r>
            <a:r>
              <a:rPr lang="uk-UA" dirty="0"/>
              <a:t>.</a:t>
            </a:r>
          </a:p>
          <a:p>
            <a:pPr>
              <a:buNone/>
            </a:pPr>
            <a:r>
              <a:rPr lang="en-US" dirty="0" err="1"/>
              <a:t>GraphQL</a:t>
            </a:r>
            <a:r>
              <a:rPr lang="en-US" dirty="0"/>
              <a:t> </a:t>
            </a:r>
            <a:r>
              <a:rPr lang="uk-UA" dirty="0"/>
              <a:t>широко використовується у </a:t>
            </a:r>
            <a:r>
              <a:rPr lang="uk-UA" dirty="0" err="1"/>
              <a:t>проєктах</a:t>
            </a:r>
            <a:r>
              <a:rPr lang="uk-UA" dirty="0"/>
              <a:t>, де потрібна </a:t>
            </a:r>
            <a:r>
              <a:rPr lang="uk-UA" b="1" dirty="0"/>
              <a:t>висока продуктивність і гнучкість</a:t>
            </a:r>
            <a:r>
              <a:rPr lang="uk-UA" dirty="0"/>
              <a:t>.</a:t>
            </a:r>
          </a:p>
          <a:p>
            <a:r>
              <a:rPr lang="uk-UA" dirty="0"/>
              <a:t>✅ </a:t>
            </a:r>
            <a:r>
              <a:rPr lang="uk-UA" dirty="0" err="1"/>
              <a:t>Фронтенд</a:t>
            </a:r>
            <a:r>
              <a:rPr lang="uk-UA" dirty="0"/>
              <a:t>-додатки (</a:t>
            </a:r>
            <a:r>
              <a:rPr lang="en-US" dirty="0"/>
              <a:t>React, Vue, Angular)</a:t>
            </a:r>
            <a:br>
              <a:rPr lang="en-US" dirty="0"/>
            </a:br>
            <a:r>
              <a:rPr lang="uk-UA" dirty="0"/>
              <a:t>✅ Мобільні застосунки (</a:t>
            </a:r>
            <a:r>
              <a:rPr lang="en-US" dirty="0"/>
              <a:t>iOS, Android)</a:t>
            </a:r>
            <a:br>
              <a:rPr lang="en-US" dirty="0"/>
            </a:br>
            <a:r>
              <a:rPr lang="uk-UA" dirty="0"/>
              <a:t>✅ </a:t>
            </a:r>
            <a:r>
              <a:rPr lang="uk-UA" dirty="0" err="1"/>
              <a:t>Мікросервісна</a:t>
            </a:r>
            <a:r>
              <a:rPr lang="uk-UA" dirty="0"/>
              <a:t> архітектура (інтеграція </a:t>
            </a:r>
            <a:r>
              <a:rPr lang="en-US" dirty="0"/>
              <a:t>API)</a:t>
            </a:r>
            <a:br>
              <a:rPr lang="en-US" dirty="0"/>
            </a:br>
            <a:r>
              <a:rPr lang="uk-UA" dirty="0"/>
              <a:t>✅ Системи з великою кількістю даних (аналітика, </a:t>
            </a:r>
            <a:r>
              <a:rPr lang="en-US" dirty="0"/>
              <a:t>CRM)</a:t>
            </a:r>
            <a:br>
              <a:rPr lang="en-US" dirty="0"/>
            </a:br>
            <a:r>
              <a:rPr lang="uk-UA" dirty="0"/>
              <a:t>✅ Соціальні мережі (</a:t>
            </a:r>
            <a:r>
              <a:rPr lang="en-US" dirty="0"/>
              <a:t>Facebook, Twitter, Instagram)</a:t>
            </a:r>
          </a:p>
          <a:p>
            <a:pPr marL="0" indent="0">
              <a:buNone/>
            </a:pPr>
            <a:endParaRPr lang="uk-UA" dirty="0"/>
          </a:p>
          <a:p>
            <a:pPr marL="0" indent="0">
              <a:buNone/>
            </a:pPr>
            <a:endParaRPr lang="uk-UA" dirty="0"/>
          </a:p>
        </p:txBody>
      </p:sp>
    </p:spTree>
    <p:extLst>
      <p:ext uri="{BB962C8B-B14F-4D97-AF65-F5344CB8AC3E}">
        <p14:creationId xmlns:p14="http://schemas.microsoft.com/office/powerpoint/2010/main" val="492510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5868D-6F87-1417-FCF5-257E8207029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7B7BF4-6A9C-20E0-ECB4-3213E287D033}"/>
              </a:ext>
            </a:extLst>
          </p:cNvPr>
          <p:cNvSpPr>
            <a:spLocks noGrp="1"/>
          </p:cNvSpPr>
          <p:nvPr>
            <p:ph type="title"/>
          </p:nvPr>
        </p:nvSpPr>
        <p:spPr/>
        <p:txBody>
          <a:bodyPr/>
          <a:lstStyle/>
          <a:p>
            <a:r>
              <a:rPr lang="uk-UA" dirty="0"/>
              <a:t>Стиль </a:t>
            </a:r>
            <a:r>
              <a:rPr lang="en-US" dirty="0" err="1"/>
              <a:t>GraphQL</a:t>
            </a:r>
            <a:endParaRPr lang="uk-UA" dirty="0"/>
          </a:p>
        </p:txBody>
      </p:sp>
      <p:sp>
        <p:nvSpPr>
          <p:cNvPr id="3" name="Місце для вмісту 2">
            <a:extLst>
              <a:ext uri="{FF2B5EF4-FFF2-40B4-BE49-F238E27FC236}">
                <a16:creationId xmlns:a16="http://schemas.microsoft.com/office/drawing/2014/main" id="{37108A4C-4AC1-FAB9-9099-16852E9DC771}"/>
              </a:ext>
            </a:extLst>
          </p:cNvPr>
          <p:cNvSpPr>
            <a:spLocks noGrp="1"/>
          </p:cNvSpPr>
          <p:nvPr>
            <p:ph idx="1"/>
          </p:nvPr>
        </p:nvSpPr>
        <p:spPr/>
        <p:txBody>
          <a:bodyPr>
            <a:normAutofit/>
          </a:bodyPr>
          <a:lstStyle/>
          <a:p>
            <a:pPr marL="0" indent="0">
              <a:buNone/>
            </a:pPr>
            <a:r>
              <a:rPr lang="uk-UA" dirty="0"/>
              <a:t>Приклад запиту (</a:t>
            </a:r>
            <a:r>
              <a:rPr lang="en-US" dirty="0"/>
              <a:t>Query):</a:t>
            </a:r>
            <a:endParaRPr lang="uk-UA" dirty="0"/>
          </a:p>
          <a:p>
            <a:pPr marL="1371600" lvl="3" indent="0">
              <a:buNone/>
            </a:pPr>
            <a:r>
              <a:rPr lang="en-US" dirty="0">
                <a:latin typeface="Calibri" panose="020F0502020204030204" pitchFamily="34" charset="0"/>
                <a:ea typeface="Calibri" panose="020F0502020204030204" pitchFamily="34" charset="0"/>
                <a:cs typeface="Calibri" panose="020F0502020204030204" pitchFamily="34" charset="0"/>
              </a:rPr>
              <a:t>{</a:t>
            </a:r>
          </a:p>
          <a:p>
            <a:pPr marL="1371600" lvl="3" indent="0">
              <a:buNone/>
            </a:pPr>
            <a:r>
              <a:rPr lang="en-US" dirty="0">
                <a:latin typeface="Calibri" panose="020F0502020204030204" pitchFamily="34" charset="0"/>
                <a:ea typeface="Calibri" panose="020F0502020204030204" pitchFamily="34" charset="0"/>
                <a:cs typeface="Calibri" panose="020F0502020204030204" pitchFamily="34" charset="0"/>
              </a:rPr>
              <a:t>  user(</a:t>
            </a:r>
            <a:r>
              <a:rPr lang="en-US" dirty="0">
                <a:solidFill>
                  <a:schemeClr val="accent1"/>
                </a:solidFill>
                <a:latin typeface="Calibri" panose="020F0502020204030204" pitchFamily="34" charset="0"/>
                <a:ea typeface="Calibri" panose="020F0502020204030204" pitchFamily="34" charset="0"/>
                <a:cs typeface="Calibri" panose="020F0502020204030204" pitchFamily="34" charset="0"/>
              </a:rPr>
              <a:t>id</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006600"/>
                </a:solidFill>
                <a:latin typeface="Calibri" panose="020F0502020204030204" pitchFamily="34" charset="0"/>
                <a:ea typeface="Calibri" panose="020F0502020204030204" pitchFamily="34" charset="0"/>
                <a:cs typeface="Calibri" panose="020F0502020204030204" pitchFamily="34" charset="0"/>
              </a:rPr>
              <a:t>"1"</a:t>
            </a:r>
            <a:r>
              <a:rPr lang="en-US" dirty="0">
                <a:latin typeface="Calibri" panose="020F0502020204030204" pitchFamily="34" charset="0"/>
                <a:ea typeface="Calibri" panose="020F0502020204030204" pitchFamily="34" charset="0"/>
                <a:cs typeface="Calibri" panose="020F0502020204030204" pitchFamily="34" charset="0"/>
              </a:rPr>
              <a:t>) {</a:t>
            </a:r>
          </a:p>
          <a:p>
            <a:pPr marL="1371600" lvl="3" indent="0">
              <a:buNone/>
            </a:pPr>
            <a:r>
              <a:rPr lang="en-US" dirty="0">
                <a:latin typeface="Calibri" panose="020F0502020204030204" pitchFamily="34" charset="0"/>
                <a:ea typeface="Calibri" panose="020F0502020204030204" pitchFamily="34" charset="0"/>
                <a:cs typeface="Calibri" panose="020F0502020204030204" pitchFamily="34" charset="0"/>
              </a:rPr>
              <a:t>    name</a:t>
            </a:r>
          </a:p>
          <a:p>
            <a:pPr marL="1371600" lvl="3" indent="0">
              <a:buNone/>
            </a:pPr>
            <a:r>
              <a:rPr lang="en-US" dirty="0">
                <a:latin typeface="Calibri" panose="020F0502020204030204" pitchFamily="34" charset="0"/>
                <a:ea typeface="Calibri" panose="020F0502020204030204" pitchFamily="34" charset="0"/>
                <a:cs typeface="Calibri" panose="020F0502020204030204" pitchFamily="34" charset="0"/>
              </a:rPr>
              <a:t>    email</a:t>
            </a:r>
          </a:p>
          <a:p>
            <a:pPr marL="1371600" lvl="3" indent="0">
              <a:buNone/>
            </a:pPr>
            <a:r>
              <a:rPr lang="en-US" dirty="0">
                <a:latin typeface="Calibri" panose="020F0502020204030204" pitchFamily="34" charset="0"/>
                <a:ea typeface="Calibri" panose="020F0502020204030204" pitchFamily="34" charset="0"/>
                <a:cs typeface="Calibri" panose="020F0502020204030204" pitchFamily="34" charset="0"/>
              </a:rPr>
              <a:t>    posts {</a:t>
            </a:r>
          </a:p>
          <a:p>
            <a:pPr marL="1371600" lvl="3" indent="0">
              <a:buNone/>
            </a:pPr>
            <a:r>
              <a:rPr lang="en-US" dirty="0">
                <a:latin typeface="Calibri" panose="020F0502020204030204" pitchFamily="34" charset="0"/>
                <a:ea typeface="Calibri" panose="020F0502020204030204" pitchFamily="34" charset="0"/>
                <a:cs typeface="Calibri" panose="020F0502020204030204" pitchFamily="34" charset="0"/>
              </a:rPr>
              <a:t>      title</a:t>
            </a:r>
          </a:p>
          <a:p>
            <a:pPr marL="1371600" lvl="3" indent="0">
              <a:buNone/>
            </a:pPr>
            <a:r>
              <a:rPr lang="en-US" dirty="0">
                <a:latin typeface="Calibri" panose="020F0502020204030204" pitchFamily="34" charset="0"/>
                <a:ea typeface="Calibri" panose="020F0502020204030204" pitchFamily="34" charset="0"/>
                <a:cs typeface="Calibri" panose="020F0502020204030204" pitchFamily="34" charset="0"/>
              </a:rPr>
              <a:t>      content</a:t>
            </a:r>
          </a:p>
          <a:p>
            <a:pPr marL="1371600" lvl="3" indent="0">
              <a:buNone/>
            </a:pPr>
            <a:r>
              <a:rPr lang="en-US" dirty="0">
                <a:latin typeface="Calibri" panose="020F0502020204030204" pitchFamily="34" charset="0"/>
                <a:ea typeface="Calibri" panose="020F0502020204030204" pitchFamily="34" charset="0"/>
                <a:cs typeface="Calibri" panose="020F0502020204030204" pitchFamily="34" charset="0"/>
              </a:rPr>
              <a:t>    }</a:t>
            </a:r>
          </a:p>
          <a:p>
            <a:pPr marL="1371600" lvl="3" indent="0">
              <a:buNone/>
            </a:pPr>
            <a:r>
              <a:rPr lang="en-US" dirty="0">
                <a:latin typeface="Calibri" panose="020F0502020204030204" pitchFamily="34" charset="0"/>
                <a:ea typeface="Calibri" panose="020F0502020204030204" pitchFamily="34" charset="0"/>
                <a:cs typeface="Calibri" panose="020F0502020204030204" pitchFamily="34" charset="0"/>
              </a:rPr>
              <a:t>  }</a:t>
            </a:r>
          </a:p>
          <a:p>
            <a:pPr marL="1371600" lvl="3" indent="0">
              <a:buNone/>
            </a:pPr>
            <a:r>
              <a:rPr lang="en-US" dirty="0">
                <a:latin typeface="Calibri" panose="020F0502020204030204" pitchFamily="34" charset="0"/>
                <a:ea typeface="Calibri" panose="020F0502020204030204" pitchFamily="34" charset="0"/>
                <a:cs typeface="Calibri" panose="020F0502020204030204" pitchFamily="34" charset="0"/>
              </a:rPr>
              <a:t>}</a:t>
            </a:r>
          </a:p>
          <a:p>
            <a:pPr marL="0" indent="0">
              <a:buNone/>
            </a:pPr>
            <a:r>
              <a:rPr lang="ru-RU" dirty="0">
                <a:ea typeface="Calibri" panose="020F0502020204030204" pitchFamily="34" charset="0"/>
                <a:cs typeface="Calibri" panose="020F0502020204030204" pitchFamily="34" charset="0"/>
              </a:rPr>
              <a:t>Ми </a:t>
            </a:r>
            <a:r>
              <a:rPr lang="ru-RU" dirty="0" err="1">
                <a:ea typeface="Calibri" panose="020F0502020204030204" pitchFamily="34" charset="0"/>
                <a:cs typeface="Calibri" panose="020F0502020204030204" pitchFamily="34" charset="0"/>
              </a:rPr>
              <a:t>отримуємо</a:t>
            </a:r>
            <a:r>
              <a:rPr lang="ru-RU" dirty="0">
                <a:ea typeface="Calibri" panose="020F0502020204030204" pitchFamily="34" charset="0"/>
                <a:cs typeface="Calibri" panose="020F0502020204030204" pitchFamily="34" charset="0"/>
              </a:rPr>
              <a:t> </a:t>
            </a:r>
            <a:r>
              <a:rPr lang="ru-RU" dirty="0" err="1">
                <a:ea typeface="Calibri" panose="020F0502020204030204" pitchFamily="34" charset="0"/>
                <a:cs typeface="Calibri" panose="020F0502020204030204" pitchFamily="34" charset="0"/>
              </a:rPr>
              <a:t>користувача</a:t>
            </a:r>
            <a:r>
              <a:rPr lang="ru-RU" dirty="0">
                <a:ea typeface="Calibri" panose="020F0502020204030204" pitchFamily="34" charset="0"/>
                <a:cs typeface="Calibri" panose="020F0502020204030204" pitchFamily="34" charset="0"/>
              </a:rPr>
              <a:t> за </a:t>
            </a:r>
            <a:r>
              <a:rPr lang="ru-RU" dirty="0" err="1">
                <a:ea typeface="Calibri" panose="020F0502020204030204" pitchFamily="34" charset="0"/>
                <a:cs typeface="Calibri" panose="020F0502020204030204" pitchFamily="34" charset="0"/>
              </a:rPr>
              <a:t>id</a:t>
            </a:r>
            <a:r>
              <a:rPr lang="ru-RU" dirty="0">
                <a:ea typeface="Calibri" panose="020F0502020204030204" pitchFamily="34" charset="0"/>
                <a:cs typeface="Calibri" panose="020F0502020204030204" pitchFamily="34" charset="0"/>
              </a:rPr>
              <a:t>, </a:t>
            </a:r>
            <a:r>
              <a:rPr lang="ru-RU" dirty="0" err="1">
                <a:ea typeface="Calibri" panose="020F0502020204030204" pitchFamily="34" charset="0"/>
                <a:cs typeface="Calibri" panose="020F0502020204030204" pitchFamily="34" charset="0"/>
              </a:rPr>
              <a:t>але</a:t>
            </a:r>
            <a:r>
              <a:rPr lang="ru-RU" dirty="0">
                <a:ea typeface="Calibri" panose="020F0502020204030204" pitchFamily="34" charset="0"/>
                <a:cs typeface="Calibri" panose="020F0502020204030204" pitchFamily="34" charset="0"/>
              </a:rPr>
              <a:t> </a:t>
            </a:r>
            <a:r>
              <a:rPr lang="ru-RU" dirty="0" err="1">
                <a:ea typeface="Calibri" panose="020F0502020204030204" pitchFamily="34" charset="0"/>
                <a:cs typeface="Calibri" panose="020F0502020204030204" pitchFamily="34" charset="0"/>
              </a:rPr>
              <a:t>тільки</a:t>
            </a:r>
            <a:r>
              <a:rPr lang="ru-RU" dirty="0">
                <a:ea typeface="Calibri" panose="020F0502020204030204" pitchFamily="34" charset="0"/>
                <a:cs typeface="Calibri" panose="020F0502020204030204" pitchFamily="34" charset="0"/>
              </a:rPr>
              <a:t> </a:t>
            </a:r>
            <a:r>
              <a:rPr lang="ru-RU" dirty="0" err="1">
                <a:ea typeface="Calibri" panose="020F0502020204030204" pitchFamily="34" charset="0"/>
                <a:cs typeface="Calibri" panose="020F0502020204030204" pitchFamily="34" charset="0"/>
              </a:rPr>
              <a:t>ім'я</a:t>
            </a:r>
            <a:r>
              <a:rPr lang="ru-RU" dirty="0">
                <a:ea typeface="Calibri" panose="020F0502020204030204" pitchFamily="34" charset="0"/>
                <a:cs typeface="Calibri" panose="020F0502020204030204" pitchFamily="34" charset="0"/>
              </a:rPr>
              <a:t>, </a:t>
            </a:r>
            <a:r>
              <a:rPr lang="ru-RU" dirty="0" err="1">
                <a:ea typeface="Calibri" panose="020F0502020204030204" pitchFamily="34" charset="0"/>
                <a:cs typeface="Calibri" panose="020F0502020204030204" pitchFamily="34" charset="0"/>
              </a:rPr>
              <a:t>email</a:t>
            </a:r>
            <a:r>
              <a:rPr lang="ru-RU" dirty="0">
                <a:ea typeface="Calibri" panose="020F0502020204030204" pitchFamily="34" charset="0"/>
                <a:cs typeface="Calibri" panose="020F0502020204030204" pitchFamily="34" charset="0"/>
              </a:rPr>
              <a:t> та список </a:t>
            </a:r>
            <a:r>
              <a:rPr lang="ru-RU" dirty="0" err="1">
                <a:ea typeface="Calibri" panose="020F0502020204030204" pitchFamily="34" charset="0"/>
                <a:cs typeface="Calibri" panose="020F0502020204030204" pitchFamily="34" charset="0"/>
              </a:rPr>
              <a:t>постів</a:t>
            </a:r>
            <a:r>
              <a:rPr lang="ru-RU" dirty="0">
                <a:ea typeface="Calibri" panose="020F0502020204030204" pitchFamily="34" charset="0"/>
                <a:cs typeface="Calibri" panose="020F0502020204030204" pitchFamily="34" charset="0"/>
              </a:rPr>
              <a:t> (без </a:t>
            </a:r>
            <a:r>
              <a:rPr lang="ru-RU" dirty="0" err="1">
                <a:ea typeface="Calibri" panose="020F0502020204030204" pitchFamily="34" charset="0"/>
                <a:cs typeface="Calibri" panose="020F0502020204030204" pitchFamily="34" charset="0"/>
              </a:rPr>
              <a:t>зайвих</a:t>
            </a:r>
            <a:r>
              <a:rPr lang="ru-RU" dirty="0">
                <a:ea typeface="Calibri" panose="020F0502020204030204" pitchFamily="34" charset="0"/>
                <a:cs typeface="Calibri" panose="020F0502020204030204" pitchFamily="34" charset="0"/>
              </a:rPr>
              <a:t> </a:t>
            </a:r>
            <a:r>
              <a:rPr lang="ru-RU" dirty="0" err="1">
                <a:ea typeface="Calibri" panose="020F0502020204030204" pitchFamily="34" charset="0"/>
                <a:cs typeface="Calibri" panose="020F0502020204030204" pitchFamily="34" charset="0"/>
              </a:rPr>
              <a:t>даних</a:t>
            </a:r>
            <a:r>
              <a:rPr lang="ru-RU" dirty="0">
                <a:ea typeface="Calibri" panose="020F0502020204030204" pitchFamily="34" charset="0"/>
                <a:cs typeface="Calibri" panose="020F0502020204030204" pitchFamily="34" charset="0"/>
              </a:rPr>
              <a:t>).</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2286000" lvl="5"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2286000" lvl="5"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uk-UA" dirty="0"/>
          </a:p>
        </p:txBody>
      </p:sp>
    </p:spTree>
    <p:extLst>
      <p:ext uri="{BB962C8B-B14F-4D97-AF65-F5344CB8AC3E}">
        <p14:creationId xmlns:p14="http://schemas.microsoft.com/office/powerpoint/2010/main" val="3372043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F24A3-8011-740A-6B32-AD6AA655DD6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0CD684-474E-9B59-9B1B-99B63B0E3890}"/>
              </a:ext>
            </a:extLst>
          </p:cNvPr>
          <p:cNvSpPr>
            <a:spLocks noGrp="1"/>
          </p:cNvSpPr>
          <p:nvPr>
            <p:ph type="title"/>
          </p:nvPr>
        </p:nvSpPr>
        <p:spPr/>
        <p:txBody>
          <a:bodyPr/>
          <a:lstStyle/>
          <a:p>
            <a:r>
              <a:rPr lang="uk-UA" dirty="0"/>
              <a:t>Стиль </a:t>
            </a:r>
            <a:r>
              <a:rPr lang="en-US" dirty="0" err="1"/>
              <a:t>GraphQL</a:t>
            </a:r>
            <a:endParaRPr lang="uk-UA" dirty="0"/>
          </a:p>
        </p:txBody>
      </p:sp>
      <p:sp>
        <p:nvSpPr>
          <p:cNvPr id="3" name="Місце для вмісту 2">
            <a:extLst>
              <a:ext uri="{FF2B5EF4-FFF2-40B4-BE49-F238E27FC236}">
                <a16:creationId xmlns:a16="http://schemas.microsoft.com/office/drawing/2014/main" id="{AF466C76-CD1D-1BA0-A1D9-79952FC9CE32}"/>
              </a:ext>
            </a:extLst>
          </p:cNvPr>
          <p:cNvSpPr>
            <a:spLocks noGrp="1"/>
          </p:cNvSpPr>
          <p:nvPr>
            <p:ph idx="1"/>
          </p:nvPr>
        </p:nvSpPr>
        <p:spPr/>
        <p:txBody>
          <a:bodyPr>
            <a:normAutofit fontScale="85000" lnSpcReduction="20000"/>
          </a:bodyPr>
          <a:lstStyle/>
          <a:p>
            <a:pPr marL="0" indent="0">
              <a:buNone/>
            </a:pPr>
            <a:r>
              <a:rPr lang="uk-UA" dirty="0">
                <a:ea typeface="Calibri" panose="020F0502020204030204" pitchFamily="34" charset="0"/>
                <a:cs typeface="Calibri" panose="020F0502020204030204" pitchFamily="34" charset="0"/>
              </a:rPr>
              <a:t>У відповідь приходить, наприклад, така інформація:</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US" dirty="0">
                <a:solidFill>
                  <a:srgbClr val="94144E"/>
                </a:solidFill>
                <a:latin typeface="Calibri" panose="020F0502020204030204" pitchFamily="34" charset="0"/>
                <a:ea typeface="Calibri" panose="020F0502020204030204" pitchFamily="34" charset="0"/>
                <a:cs typeface="Calibri" panose="020F0502020204030204" pitchFamily="34" charset="0"/>
              </a:rPr>
              <a:t>  "data":</a:t>
            </a:r>
            <a:r>
              <a:rPr lang="en-US"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94144E"/>
                </a:solidFill>
                <a:latin typeface="Calibri" panose="020F0502020204030204" pitchFamily="34" charset="0"/>
                <a:ea typeface="Calibri" panose="020F0502020204030204" pitchFamily="34" charset="0"/>
                <a:cs typeface="Calibri" panose="020F0502020204030204" pitchFamily="34" charset="0"/>
              </a:rPr>
              <a:t>"user"</a:t>
            </a:r>
            <a:r>
              <a:rPr lang="en-US"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94144E"/>
                </a:solidFill>
                <a:latin typeface="Calibri" panose="020F0502020204030204" pitchFamily="34" charset="0"/>
                <a:ea typeface="Calibri" panose="020F0502020204030204" pitchFamily="34" charset="0"/>
                <a:cs typeface="Calibri" panose="020F0502020204030204" pitchFamily="34" charset="0"/>
              </a:rPr>
              <a:t>"name"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006600"/>
                </a:solidFill>
                <a:latin typeface="Calibri" panose="020F0502020204030204" pitchFamily="34" charset="0"/>
                <a:ea typeface="Calibri" panose="020F0502020204030204" pitchFamily="34" charset="0"/>
                <a:cs typeface="Calibri" panose="020F0502020204030204" pitchFamily="34" charset="0"/>
              </a:rPr>
              <a:t>"</a:t>
            </a:r>
            <a:r>
              <a:rPr lang="ru-RU" dirty="0">
                <a:solidFill>
                  <a:srgbClr val="006600"/>
                </a:solidFill>
                <a:latin typeface="Calibri" panose="020F0502020204030204" pitchFamily="34" charset="0"/>
                <a:ea typeface="Calibri" panose="020F0502020204030204" pitchFamily="34" charset="0"/>
                <a:cs typeface="Calibri" panose="020F0502020204030204" pitchFamily="34" charset="0"/>
              </a:rPr>
              <a:t>Олександр"</a:t>
            </a:r>
            <a:r>
              <a:rPr lang="ru-RU" dirty="0">
                <a:latin typeface="Calibri" panose="020F0502020204030204" pitchFamily="34" charset="0"/>
                <a:ea typeface="Calibri" panose="020F0502020204030204" pitchFamily="34" charset="0"/>
                <a:cs typeface="Calibri" panose="020F0502020204030204" pitchFamily="34" charset="0"/>
              </a:rPr>
              <a:t>,</a:t>
            </a:r>
          </a:p>
          <a:p>
            <a:pPr marL="0" indent="0">
              <a:buNone/>
            </a:pPr>
            <a:r>
              <a:rPr lang="ru-RU" dirty="0">
                <a:latin typeface="Calibri" panose="020F0502020204030204" pitchFamily="34" charset="0"/>
                <a:ea typeface="Calibri" panose="020F0502020204030204" pitchFamily="34" charset="0"/>
                <a:cs typeface="Calibri" panose="020F0502020204030204" pitchFamily="34" charset="0"/>
              </a:rPr>
              <a:t>      </a:t>
            </a:r>
            <a:r>
              <a:rPr lang="ru-RU" dirty="0">
                <a:solidFill>
                  <a:srgbClr val="94144E"/>
                </a:solidFill>
                <a:latin typeface="Calibri" panose="020F0502020204030204" pitchFamily="34" charset="0"/>
                <a:ea typeface="Calibri" panose="020F0502020204030204" pitchFamily="34" charset="0"/>
                <a:cs typeface="Calibri" panose="020F0502020204030204" pitchFamily="34" charset="0"/>
              </a:rPr>
              <a:t>"</a:t>
            </a:r>
            <a:r>
              <a:rPr lang="en-US" dirty="0">
                <a:solidFill>
                  <a:srgbClr val="94144E"/>
                </a:solidFill>
                <a:latin typeface="Calibri" panose="020F0502020204030204" pitchFamily="34" charset="0"/>
                <a:ea typeface="Calibri" panose="020F0502020204030204" pitchFamily="34" charset="0"/>
                <a:cs typeface="Calibri" panose="020F0502020204030204" pitchFamily="34" charset="0"/>
              </a:rPr>
              <a:t>email"</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006600"/>
                </a:solidFill>
                <a:latin typeface="Calibri" panose="020F0502020204030204" pitchFamily="34" charset="0"/>
                <a:ea typeface="Calibri" panose="020F0502020204030204" pitchFamily="34" charset="0"/>
                <a:cs typeface="Calibri" panose="020F0502020204030204" pitchFamily="34" charset="0"/>
              </a:rPr>
              <a:t>"alex@example.com"</a:t>
            </a:r>
            <a:r>
              <a:rPr lang="en-US" dirty="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94144E"/>
                </a:solidFill>
                <a:latin typeface="Calibri" panose="020F0502020204030204" pitchFamily="34" charset="0"/>
                <a:ea typeface="Calibri" panose="020F0502020204030204" pitchFamily="34" charset="0"/>
                <a:cs typeface="Calibri" panose="020F0502020204030204" pitchFamily="34" charset="0"/>
              </a:rPr>
              <a:t>"posts"</a:t>
            </a:r>
            <a:r>
              <a:rPr lang="en-US"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 </a:t>
            </a:r>
            <a:r>
              <a:rPr lang="en-US" dirty="0">
                <a:solidFill>
                  <a:srgbClr val="94144E"/>
                </a:solidFill>
                <a:latin typeface="Calibri" panose="020F0502020204030204" pitchFamily="34" charset="0"/>
                <a:ea typeface="Calibri" panose="020F0502020204030204" pitchFamily="34" charset="0"/>
                <a:cs typeface="Calibri" panose="020F0502020204030204" pitchFamily="34" charset="0"/>
              </a:rPr>
              <a:t>"title"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006600"/>
                </a:solidFill>
                <a:latin typeface="Calibri" panose="020F0502020204030204" pitchFamily="34" charset="0"/>
                <a:ea typeface="Calibri" panose="020F0502020204030204" pitchFamily="34" charset="0"/>
                <a:cs typeface="Calibri" panose="020F0502020204030204" pitchFamily="34" charset="0"/>
              </a:rPr>
              <a:t>"</a:t>
            </a:r>
            <a:r>
              <a:rPr lang="en-US" dirty="0" err="1">
                <a:solidFill>
                  <a:srgbClr val="006600"/>
                </a:solidFill>
                <a:latin typeface="Calibri" panose="020F0502020204030204" pitchFamily="34" charset="0"/>
                <a:ea typeface="Calibri" panose="020F0502020204030204" pitchFamily="34" charset="0"/>
                <a:cs typeface="Calibri" panose="020F0502020204030204" pitchFamily="34" charset="0"/>
              </a:rPr>
              <a:t>GraphQL</a:t>
            </a:r>
            <a:r>
              <a:rPr lang="en-US" dirty="0">
                <a:solidFill>
                  <a:srgbClr val="006600"/>
                </a:solidFill>
                <a:latin typeface="Calibri" panose="020F0502020204030204" pitchFamily="34" charset="0"/>
                <a:ea typeface="Calibri" panose="020F0502020204030204" pitchFamily="34" charset="0"/>
                <a:cs typeface="Calibri" panose="020F0502020204030204" pitchFamily="34" charset="0"/>
              </a:rPr>
              <a:t> vs REST"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94144E"/>
                </a:solidFill>
                <a:latin typeface="Calibri" panose="020F0502020204030204" pitchFamily="34" charset="0"/>
                <a:ea typeface="Calibri" panose="020F0502020204030204" pitchFamily="34" charset="0"/>
                <a:cs typeface="Calibri" panose="020F0502020204030204" pitchFamily="34" charset="0"/>
              </a:rPr>
              <a:t>"content"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006600"/>
                </a:solidFill>
                <a:latin typeface="Calibri" panose="020F0502020204030204" pitchFamily="34" charset="0"/>
                <a:ea typeface="Calibri" panose="020F0502020204030204" pitchFamily="34" charset="0"/>
                <a:cs typeface="Calibri" panose="020F0502020204030204" pitchFamily="34" charset="0"/>
              </a:rPr>
              <a:t>"</a:t>
            </a:r>
            <a:r>
              <a:rPr lang="en-US" dirty="0" err="1">
                <a:solidFill>
                  <a:srgbClr val="006600"/>
                </a:solidFill>
                <a:latin typeface="Calibri" panose="020F0502020204030204" pitchFamily="34" charset="0"/>
                <a:ea typeface="Calibri" panose="020F0502020204030204" pitchFamily="34" charset="0"/>
                <a:cs typeface="Calibri" panose="020F0502020204030204" pitchFamily="34" charset="0"/>
              </a:rPr>
              <a:t>GraphQL</a:t>
            </a:r>
            <a:r>
              <a:rPr lang="en-US" dirty="0">
                <a:solidFill>
                  <a:srgbClr val="006600"/>
                </a:solidFill>
                <a:latin typeface="Calibri" panose="020F0502020204030204" pitchFamily="34" charset="0"/>
                <a:ea typeface="Calibri" panose="020F0502020204030204" pitchFamily="34" charset="0"/>
                <a:cs typeface="Calibri" panose="020F0502020204030204" pitchFamily="34" charset="0"/>
              </a:rPr>
              <a:t> </a:t>
            </a:r>
            <a:r>
              <a:rPr lang="ru-RU" dirty="0" err="1">
                <a:solidFill>
                  <a:srgbClr val="006600"/>
                </a:solidFill>
                <a:latin typeface="Calibri" panose="020F0502020204030204" pitchFamily="34" charset="0"/>
                <a:ea typeface="Calibri" panose="020F0502020204030204" pitchFamily="34" charset="0"/>
                <a:cs typeface="Calibri" panose="020F0502020204030204" pitchFamily="34" charset="0"/>
              </a:rPr>
              <a:t>ефективніший</a:t>
            </a:r>
            <a:r>
              <a:rPr lang="ru-RU" dirty="0">
                <a:solidFill>
                  <a:srgbClr val="006600"/>
                </a:solidFill>
                <a:latin typeface="Calibri" panose="020F0502020204030204" pitchFamily="34" charset="0"/>
                <a:ea typeface="Calibri" panose="020F0502020204030204" pitchFamily="34" charset="0"/>
                <a:cs typeface="Calibri" panose="020F0502020204030204" pitchFamily="34" charset="0"/>
              </a:rPr>
              <a:t>..." </a:t>
            </a:r>
            <a:r>
              <a:rPr lang="ru-RU" dirty="0">
                <a:latin typeface="Calibri" panose="020F0502020204030204" pitchFamily="34" charset="0"/>
                <a:ea typeface="Calibri" panose="020F0502020204030204" pitchFamily="34" charset="0"/>
                <a:cs typeface="Calibri" panose="020F0502020204030204" pitchFamily="34" charset="0"/>
              </a:rPr>
              <a:t>}</a:t>
            </a:r>
          </a:p>
          <a:p>
            <a:pPr marL="0" indent="0">
              <a:buNone/>
            </a:pPr>
            <a:r>
              <a:rPr lang="ru-RU"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ru-RU"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ru-RU"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ru-RU" dirty="0">
                <a:latin typeface="Calibri" panose="020F0502020204030204" pitchFamily="34" charset="0"/>
                <a:ea typeface="Calibri" panose="020F0502020204030204" pitchFamily="34" charset="0"/>
                <a:cs typeface="Calibri" panose="020F0502020204030204" pitchFamily="34" charset="0"/>
              </a:rPr>
              <a:t>}</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2286000" lvl="5"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2286000" lvl="5"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uk-UA" dirty="0"/>
          </a:p>
        </p:txBody>
      </p:sp>
    </p:spTree>
    <p:extLst>
      <p:ext uri="{BB962C8B-B14F-4D97-AF65-F5344CB8AC3E}">
        <p14:creationId xmlns:p14="http://schemas.microsoft.com/office/powerpoint/2010/main" val="20644768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93378-3F22-3B31-1F5D-1B014FB3642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946712-16BB-86E8-5B13-7778A82BF3E0}"/>
              </a:ext>
            </a:extLst>
          </p:cNvPr>
          <p:cNvSpPr>
            <a:spLocks noGrp="1"/>
          </p:cNvSpPr>
          <p:nvPr>
            <p:ph type="title"/>
          </p:nvPr>
        </p:nvSpPr>
        <p:spPr/>
        <p:txBody>
          <a:bodyPr/>
          <a:lstStyle/>
          <a:p>
            <a:r>
              <a:rPr lang="uk-UA" dirty="0"/>
              <a:t>Стиль </a:t>
            </a:r>
            <a:r>
              <a:rPr lang="en-US" dirty="0" err="1"/>
              <a:t>GraphQL</a:t>
            </a:r>
            <a:endParaRPr lang="uk-UA" dirty="0"/>
          </a:p>
        </p:txBody>
      </p:sp>
      <p:sp>
        <p:nvSpPr>
          <p:cNvPr id="3" name="Місце для вмісту 2">
            <a:extLst>
              <a:ext uri="{FF2B5EF4-FFF2-40B4-BE49-F238E27FC236}">
                <a16:creationId xmlns:a16="http://schemas.microsoft.com/office/drawing/2014/main" id="{22F7466A-AF71-56FD-F912-2033CEF49E16}"/>
              </a:ext>
            </a:extLst>
          </p:cNvPr>
          <p:cNvSpPr>
            <a:spLocks noGrp="1"/>
          </p:cNvSpPr>
          <p:nvPr>
            <p:ph idx="1"/>
          </p:nvPr>
        </p:nvSpPr>
        <p:spPr/>
        <p:txBody>
          <a:bodyPr>
            <a:normAutofit fontScale="70000" lnSpcReduction="20000"/>
          </a:bodyPr>
          <a:lstStyle/>
          <a:p>
            <a:pPr marL="0" indent="0">
              <a:buNone/>
            </a:pPr>
            <a:r>
              <a:rPr lang="uk-UA" dirty="0">
                <a:ea typeface="Calibri" panose="020F0502020204030204" pitchFamily="34" charset="0"/>
                <a:cs typeface="Calibri" panose="020F0502020204030204" pitchFamily="34" charset="0"/>
              </a:rPr>
              <a:t>Наведемо також приклад мутації:</a:t>
            </a:r>
          </a:p>
          <a:p>
            <a:pPr marL="0" indent="0">
              <a:buNone/>
            </a:pPr>
            <a:r>
              <a:rPr lang="en-US" dirty="0">
                <a:solidFill>
                  <a:srgbClr val="0070C0"/>
                </a:solidFill>
                <a:latin typeface="Calibri" panose="020F0502020204030204" pitchFamily="34" charset="0"/>
                <a:ea typeface="Calibri" panose="020F0502020204030204" pitchFamily="34" charset="0"/>
                <a:cs typeface="Calibri" panose="020F0502020204030204" pitchFamily="34" charset="0"/>
              </a:rPr>
              <a:t>mutation</a:t>
            </a:r>
            <a:r>
              <a:rPr lang="en-US"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createPost</a:t>
            </a:r>
            <a:r>
              <a:rPr lang="en-US" dirty="0">
                <a:latin typeface="Calibri" panose="020F0502020204030204" pitchFamily="34" charset="0"/>
                <a:ea typeface="Calibri" panose="020F0502020204030204" pitchFamily="34" charset="0"/>
                <a:cs typeface="Calibri" panose="020F0502020204030204" pitchFamily="34" charset="0"/>
              </a:rPr>
              <a:t>(</a:t>
            </a:r>
            <a:r>
              <a:rPr lang="en-US" dirty="0">
                <a:solidFill>
                  <a:srgbClr val="C00000"/>
                </a:solidFill>
                <a:latin typeface="Calibri" panose="020F0502020204030204" pitchFamily="34" charset="0"/>
                <a:ea typeface="Calibri" panose="020F0502020204030204" pitchFamily="34" charset="0"/>
                <a:cs typeface="Calibri" panose="020F0502020204030204" pitchFamily="34" charset="0"/>
              </a:rPr>
              <a:t>title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006600"/>
                </a:solidFill>
                <a:latin typeface="Calibri" panose="020F0502020204030204" pitchFamily="34" charset="0"/>
                <a:ea typeface="Calibri" panose="020F0502020204030204" pitchFamily="34" charset="0"/>
                <a:cs typeface="Calibri" panose="020F0502020204030204" pitchFamily="34" charset="0"/>
              </a:rPr>
              <a:t>"</a:t>
            </a:r>
            <a:r>
              <a:rPr lang="ru-RU" dirty="0" err="1">
                <a:solidFill>
                  <a:srgbClr val="006600"/>
                </a:solidFill>
                <a:latin typeface="Calibri" panose="020F0502020204030204" pitchFamily="34" charset="0"/>
                <a:ea typeface="Calibri" panose="020F0502020204030204" pitchFamily="34" charset="0"/>
                <a:cs typeface="Calibri" panose="020F0502020204030204" pitchFamily="34" charset="0"/>
              </a:rPr>
              <a:t>Новий</a:t>
            </a:r>
            <a:r>
              <a:rPr lang="ru-RU" dirty="0">
                <a:solidFill>
                  <a:srgbClr val="006600"/>
                </a:solidFill>
                <a:latin typeface="Calibri" panose="020F0502020204030204" pitchFamily="34" charset="0"/>
                <a:ea typeface="Calibri" panose="020F0502020204030204" pitchFamily="34" charset="0"/>
                <a:cs typeface="Calibri" panose="020F0502020204030204" pitchFamily="34" charset="0"/>
              </a:rPr>
              <a:t> пост"</a:t>
            </a:r>
            <a:r>
              <a:rPr lang="ru-RU"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C00000"/>
                </a:solidFill>
                <a:latin typeface="Calibri" panose="020F0502020204030204" pitchFamily="34" charset="0"/>
                <a:ea typeface="Calibri" panose="020F0502020204030204" pitchFamily="34" charset="0"/>
                <a:cs typeface="Calibri" panose="020F0502020204030204" pitchFamily="34" charset="0"/>
              </a:rPr>
              <a:t>content</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006600"/>
                </a:solidFill>
                <a:latin typeface="Calibri" panose="020F0502020204030204" pitchFamily="34" charset="0"/>
                <a:ea typeface="Calibri" panose="020F0502020204030204" pitchFamily="34" charset="0"/>
                <a:cs typeface="Calibri" panose="020F0502020204030204" pitchFamily="34" charset="0"/>
              </a:rPr>
              <a:t>"</a:t>
            </a:r>
            <a:r>
              <a:rPr lang="ru-RU" dirty="0">
                <a:solidFill>
                  <a:srgbClr val="006600"/>
                </a:solidFill>
                <a:latin typeface="Calibri" panose="020F0502020204030204" pitchFamily="34" charset="0"/>
                <a:ea typeface="Calibri" panose="020F0502020204030204" pitchFamily="34" charset="0"/>
                <a:cs typeface="Calibri" panose="020F0502020204030204" pitchFamily="34" charset="0"/>
              </a:rPr>
              <a:t>Текст поста"</a:t>
            </a:r>
            <a:r>
              <a:rPr lang="ru-RU"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ru-RU"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rPr>
              <a:t>id</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title</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a:t>
            </a:r>
            <a:r>
              <a:rPr lang="uk-UA"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rPr>
              <a:t>}</a:t>
            </a:r>
            <a:endParaRPr lang="ru-RU"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uk-UA" dirty="0">
                <a:ea typeface="Calibri" panose="020F0502020204030204" pitchFamily="34" charset="0"/>
                <a:cs typeface="Calibri" panose="020F0502020204030204" pitchFamily="34" charset="0"/>
              </a:rPr>
              <a:t>Таким чином </a:t>
            </a:r>
            <a:r>
              <a:rPr lang="ru-RU" dirty="0" err="1">
                <a:ea typeface="Calibri" panose="020F0502020204030204" pitchFamily="34" charset="0"/>
                <a:cs typeface="Calibri" panose="020F0502020204030204" pitchFamily="34" charset="0"/>
              </a:rPr>
              <a:t>створюється</a:t>
            </a:r>
            <a:r>
              <a:rPr lang="ru-RU" dirty="0">
                <a:ea typeface="Calibri" panose="020F0502020204030204" pitchFamily="34" charset="0"/>
                <a:cs typeface="Calibri" panose="020F0502020204030204" pitchFamily="34" charset="0"/>
              </a:rPr>
              <a:t> </a:t>
            </a:r>
            <a:r>
              <a:rPr lang="ru-RU" dirty="0" err="1">
                <a:ea typeface="Calibri" panose="020F0502020204030204" pitchFamily="34" charset="0"/>
                <a:cs typeface="Calibri" panose="020F0502020204030204" pitchFamily="34" charset="0"/>
              </a:rPr>
              <a:t>новий</a:t>
            </a:r>
            <a:r>
              <a:rPr lang="ru-RU" dirty="0">
                <a:ea typeface="Calibri" panose="020F0502020204030204" pitchFamily="34" charset="0"/>
                <a:cs typeface="Calibri" panose="020F0502020204030204" pitchFamily="34" charset="0"/>
              </a:rPr>
              <a:t> пост </a:t>
            </a:r>
            <a:r>
              <a:rPr lang="ru-RU" dirty="0" err="1">
                <a:ea typeface="Calibri" panose="020F0502020204030204" pitchFamily="34" charset="0"/>
                <a:cs typeface="Calibri" panose="020F0502020204030204" pitchFamily="34" charset="0"/>
              </a:rPr>
              <a:t>із</a:t>
            </a:r>
            <a:r>
              <a:rPr lang="ru-RU" dirty="0">
                <a:ea typeface="Calibri" panose="020F0502020204030204" pitchFamily="34" charset="0"/>
                <a:cs typeface="Calibri" panose="020F0502020204030204" pitchFamily="34" charset="0"/>
              </a:rPr>
              <a:t> </a:t>
            </a:r>
            <a:r>
              <a:rPr lang="ru-RU" dirty="0" err="1">
                <a:ea typeface="Calibri" panose="020F0502020204030204" pitchFamily="34" charset="0"/>
                <a:cs typeface="Calibri" panose="020F0502020204030204" pitchFamily="34" charset="0"/>
              </a:rPr>
              <a:t>вказаним</a:t>
            </a:r>
            <a:r>
              <a:rPr lang="ru-RU" dirty="0">
                <a:ea typeface="Calibri" panose="020F0502020204030204" pitchFamily="34" charset="0"/>
                <a:cs typeface="Calibri" panose="020F0502020204030204" pitchFamily="34" charset="0"/>
              </a:rPr>
              <a:t> заголовком і </a:t>
            </a:r>
            <a:r>
              <a:rPr lang="ru-RU" dirty="0" err="1">
                <a:ea typeface="Calibri" panose="020F0502020204030204" pitchFamily="34" charset="0"/>
                <a:cs typeface="Calibri" panose="020F0502020204030204" pitchFamily="34" charset="0"/>
              </a:rPr>
              <a:t>вмістом</a:t>
            </a:r>
            <a:r>
              <a:rPr lang="ru-RU" dirty="0">
                <a:ea typeface="Calibri" panose="020F0502020204030204" pitchFamily="34" charset="0"/>
                <a:cs typeface="Calibri" panose="020F0502020204030204" pitchFamily="34" charset="0"/>
              </a:rPr>
              <a:t>. А у </a:t>
            </a:r>
            <a:r>
              <a:rPr lang="ru-RU" dirty="0" err="1">
                <a:ea typeface="Calibri" panose="020F0502020204030204" pitchFamily="34" charset="0"/>
                <a:cs typeface="Calibri" panose="020F0502020204030204" pitchFamily="34" charset="0"/>
              </a:rPr>
              <a:t>відповідь</a:t>
            </a:r>
            <a:r>
              <a:rPr lang="ru-RU" dirty="0">
                <a:ea typeface="Calibri" panose="020F0502020204030204" pitchFamily="34" charset="0"/>
                <a:cs typeface="Calibri" panose="020F0502020204030204" pitchFamily="34" charset="0"/>
              </a:rPr>
              <a:t> ми </a:t>
            </a:r>
            <a:r>
              <a:rPr lang="ru-RU" dirty="0" err="1">
                <a:ea typeface="Calibri" panose="020F0502020204030204" pitchFamily="34" charset="0"/>
                <a:cs typeface="Calibri" panose="020F0502020204030204" pitchFamily="34" charset="0"/>
              </a:rPr>
              <a:t>отримуємо</a:t>
            </a:r>
            <a:r>
              <a:rPr lang="ru-RU" dirty="0">
                <a:ea typeface="Calibri" panose="020F0502020204030204" pitchFamily="34" charset="0"/>
                <a:cs typeface="Calibri" panose="020F0502020204030204" pitchFamily="34" charset="0"/>
              </a:rPr>
              <a:t> </a:t>
            </a:r>
            <a:r>
              <a:rPr lang="ru-RU" dirty="0" err="1">
                <a:ea typeface="Calibri" panose="020F0502020204030204" pitchFamily="34" charset="0"/>
                <a:cs typeface="Calibri" panose="020F0502020204030204" pitchFamily="34" charset="0"/>
              </a:rPr>
              <a:t>тільки</a:t>
            </a:r>
            <a:r>
              <a:rPr lang="ru-RU" dirty="0">
                <a:ea typeface="Calibri" panose="020F0502020204030204" pitchFamily="34" charset="0"/>
                <a:cs typeface="Calibri" panose="020F0502020204030204" pitchFamily="34" charset="0"/>
              </a:rPr>
              <a:t> ID та </a:t>
            </a:r>
            <a:r>
              <a:rPr lang="ru-RU" dirty="0" err="1">
                <a:ea typeface="Calibri" panose="020F0502020204030204" pitchFamily="34" charset="0"/>
                <a:cs typeface="Calibri" panose="020F0502020204030204" pitchFamily="34" charset="0"/>
              </a:rPr>
              <a:t>назву</a:t>
            </a:r>
            <a:r>
              <a:rPr lang="ru-RU" dirty="0">
                <a:ea typeface="Calibri" panose="020F0502020204030204" pitchFamily="34" charset="0"/>
                <a:cs typeface="Calibri" panose="020F0502020204030204" pitchFamily="34" charset="0"/>
              </a:rPr>
              <a:t> нового поста.</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94144E"/>
                </a:solidFill>
                <a:latin typeface="Calibri" panose="020F0502020204030204" pitchFamily="34" charset="0"/>
                <a:ea typeface="Calibri" panose="020F0502020204030204" pitchFamily="34" charset="0"/>
                <a:cs typeface="Calibri" panose="020F0502020204030204" pitchFamily="34" charset="0"/>
              </a:rPr>
              <a:t>"data": </a:t>
            </a:r>
            <a:r>
              <a:rPr lang="en-US" dirty="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94144E"/>
                </a:solidFill>
                <a:latin typeface="Calibri" panose="020F0502020204030204" pitchFamily="34" charset="0"/>
                <a:ea typeface="Calibri" panose="020F0502020204030204" pitchFamily="34" charset="0"/>
                <a:cs typeface="Calibri" panose="020F0502020204030204" pitchFamily="34" charset="0"/>
              </a:rPr>
              <a:t>"</a:t>
            </a:r>
            <a:r>
              <a:rPr lang="en-US" dirty="0" err="1">
                <a:solidFill>
                  <a:srgbClr val="94144E"/>
                </a:solidFill>
                <a:latin typeface="Calibri" panose="020F0502020204030204" pitchFamily="34" charset="0"/>
                <a:ea typeface="Calibri" panose="020F0502020204030204" pitchFamily="34" charset="0"/>
                <a:cs typeface="Calibri" panose="020F0502020204030204" pitchFamily="34" charset="0"/>
              </a:rPr>
              <a:t>createPost</a:t>
            </a:r>
            <a:r>
              <a:rPr lang="en-US" dirty="0">
                <a:solidFill>
                  <a:srgbClr val="94144E"/>
                </a:solidFill>
                <a:latin typeface="Calibri" panose="020F0502020204030204" pitchFamily="34" charset="0"/>
                <a:ea typeface="Calibri" panose="020F0502020204030204" pitchFamily="34" charset="0"/>
                <a:cs typeface="Calibri" panose="020F0502020204030204" pitchFamily="34" charset="0"/>
              </a:rPr>
              <a:t>"</a:t>
            </a:r>
            <a:r>
              <a:rPr lang="en-US"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94144E"/>
                </a:solidFill>
                <a:latin typeface="Calibri" panose="020F0502020204030204" pitchFamily="34" charset="0"/>
                <a:ea typeface="Calibri" panose="020F0502020204030204" pitchFamily="34" charset="0"/>
                <a:cs typeface="Calibri" panose="020F0502020204030204" pitchFamily="34" charset="0"/>
              </a:rPr>
              <a:t>"id"</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006600"/>
                </a:solidFill>
                <a:latin typeface="Calibri" panose="020F0502020204030204" pitchFamily="34" charset="0"/>
                <a:ea typeface="Calibri" panose="020F0502020204030204" pitchFamily="34" charset="0"/>
                <a:cs typeface="Calibri" panose="020F0502020204030204" pitchFamily="34" charset="0"/>
              </a:rPr>
              <a:t>"101"</a:t>
            </a:r>
            <a:r>
              <a:rPr lang="en-US" dirty="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94144E"/>
                </a:solidFill>
                <a:latin typeface="Calibri" panose="020F0502020204030204" pitchFamily="34" charset="0"/>
                <a:ea typeface="Calibri" panose="020F0502020204030204" pitchFamily="34" charset="0"/>
                <a:cs typeface="Calibri" panose="020F0502020204030204" pitchFamily="34" charset="0"/>
              </a:rPr>
              <a:t>"title"</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a:solidFill>
                  <a:srgbClr val="006600"/>
                </a:solidFill>
                <a:latin typeface="Calibri" panose="020F0502020204030204" pitchFamily="34" charset="0"/>
                <a:ea typeface="Calibri" panose="020F0502020204030204" pitchFamily="34" charset="0"/>
                <a:cs typeface="Calibri" panose="020F0502020204030204" pitchFamily="34" charset="0"/>
              </a:rPr>
              <a:t>"</a:t>
            </a:r>
            <a:r>
              <a:rPr lang="uk-UA" dirty="0">
                <a:solidFill>
                  <a:srgbClr val="006600"/>
                </a:solidFill>
                <a:latin typeface="Calibri" panose="020F0502020204030204" pitchFamily="34" charset="0"/>
                <a:ea typeface="Calibri" panose="020F0502020204030204" pitchFamily="34" charset="0"/>
                <a:cs typeface="Calibri" panose="020F0502020204030204" pitchFamily="34" charset="0"/>
              </a:rPr>
              <a:t>Новий пост"</a:t>
            </a:r>
          </a:p>
          <a:p>
            <a:pPr marL="0" indent="0">
              <a:buNone/>
            </a:pPr>
            <a:r>
              <a:rPr lang="uk-UA" dirty="0">
                <a:latin typeface="Calibri" panose="020F0502020204030204" pitchFamily="34" charset="0"/>
                <a:ea typeface="Calibri" panose="020F0502020204030204" pitchFamily="34" charset="0"/>
                <a:cs typeface="Calibri" panose="020F0502020204030204" pitchFamily="34" charset="0"/>
              </a:rPr>
              <a:t>    }       }	}</a:t>
            </a:r>
            <a:endParaRPr lang="en-US" dirty="0">
              <a:latin typeface="Calibri" panose="020F0502020204030204" pitchFamily="34" charset="0"/>
              <a:ea typeface="Calibri" panose="020F0502020204030204" pitchFamily="34" charset="0"/>
              <a:cs typeface="Calibri" panose="020F0502020204030204" pitchFamily="34" charset="0"/>
            </a:endParaRPr>
          </a:p>
          <a:p>
            <a:pPr marL="2286000" lvl="5"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2286000" lvl="5"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uk-UA" dirty="0"/>
          </a:p>
        </p:txBody>
      </p:sp>
    </p:spTree>
    <p:extLst>
      <p:ext uri="{BB962C8B-B14F-4D97-AF65-F5344CB8AC3E}">
        <p14:creationId xmlns:p14="http://schemas.microsoft.com/office/powerpoint/2010/main" val="2685538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277DC6-7C6A-941A-B970-1BA41F9F75B6}"/>
              </a:ext>
            </a:extLst>
          </p:cNvPr>
          <p:cNvSpPr>
            <a:spLocks noGrp="1"/>
          </p:cNvSpPr>
          <p:nvPr>
            <p:ph type="title"/>
          </p:nvPr>
        </p:nvSpPr>
        <p:spPr/>
        <p:txBody>
          <a:bodyPr/>
          <a:lstStyle/>
          <a:p>
            <a:r>
              <a:rPr lang="uk-UA" dirty="0"/>
              <a:t>Стиль </a:t>
            </a:r>
            <a:r>
              <a:rPr lang="en-US" dirty="0" err="1"/>
              <a:t>Websocket</a:t>
            </a:r>
            <a:endParaRPr lang="uk-UA" dirty="0"/>
          </a:p>
        </p:txBody>
      </p:sp>
      <p:sp>
        <p:nvSpPr>
          <p:cNvPr id="5" name="Rectangle 2">
            <a:extLst>
              <a:ext uri="{FF2B5EF4-FFF2-40B4-BE49-F238E27FC236}">
                <a16:creationId xmlns:a16="http://schemas.microsoft.com/office/drawing/2014/main" id="{30C8D4ED-0D5D-6012-2491-ECCC0F7BF895}"/>
              </a:ext>
            </a:extLst>
          </p:cNvPr>
          <p:cNvSpPr>
            <a:spLocks noGrp="1" noChangeArrowheads="1"/>
          </p:cNvSpPr>
          <p:nvPr>
            <p:ph idx="1"/>
          </p:nvPr>
        </p:nvSpPr>
        <p:spPr bwMode="auto">
          <a:xfrm>
            <a:off x="594360" y="2169880"/>
            <a:ext cx="1075182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uk-UA" altLang="uk-UA" sz="1800" b="0" i="0" u="none" strike="noStrike" cap="none" normalizeH="0" baseline="0" dirty="0" err="1">
                <a:ln>
                  <a:noFill/>
                </a:ln>
                <a:solidFill>
                  <a:schemeClr val="tx1"/>
                </a:solidFill>
                <a:effectLst/>
                <a:latin typeface="Arial" panose="020B0604020202020204" pitchFamily="34" charset="0"/>
              </a:rPr>
              <a:t>WebSockets</a:t>
            </a:r>
            <a:r>
              <a:rPr kumimoji="0" lang="uk-UA" altLang="uk-UA" sz="1800" b="0" i="0" u="none" strike="noStrike" cap="none" normalizeH="0" baseline="0" dirty="0">
                <a:ln>
                  <a:noFill/>
                </a:ln>
                <a:solidFill>
                  <a:schemeClr val="tx1"/>
                </a:solidFill>
                <a:effectLst/>
                <a:latin typeface="Arial" panose="020B0604020202020204" pitchFamily="34" charset="0"/>
              </a:rPr>
              <a:t> — це </a:t>
            </a:r>
            <a:r>
              <a:rPr kumimoji="0" lang="uk-UA" altLang="uk-UA" sz="1800" b="1" i="0" u="none" strike="noStrike" cap="none" normalizeH="0" baseline="0" dirty="0">
                <a:ln>
                  <a:noFill/>
                </a:ln>
                <a:solidFill>
                  <a:schemeClr val="tx1"/>
                </a:solidFill>
                <a:effectLst/>
                <a:latin typeface="Arial" panose="020B0604020202020204" pitchFamily="34" charset="0"/>
              </a:rPr>
              <a:t>протокол зв’язку у реальному часі</a:t>
            </a:r>
            <a:r>
              <a:rPr kumimoji="0" lang="uk-UA" altLang="uk-UA" sz="1800" b="0" i="0" u="none" strike="noStrike" cap="none" normalizeH="0" baseline="0" dirty="0">
                <a:ln>
                  <a:noFill/>
                </a:ln>
                <a:solidFill>
                  <a:schemeClr val="tx1"/>
                </a:solidFill>
                <a:effectLst/>
                <a:latin typeface="Arial" panose="020B0604020202020204" pitchFamily="34" charset="0"/>
              </a:rPr>
              <a:t>, що забезпечує </a:t>
            </a:r>
            <a:r>
              <a:rPr kumimoji="0" lang="uk-UA" altLang="uk-UA" sz="1800" b="1" i="0" u="none" strike="noStrike" cap="none" normalizeH="0" baseline="0" dirty="0">
                <a:ln>
                  <a:noFill/>
                </a:ln>
                <a:solidFill>
                  <a:schemeClr val="tx1"/>
                </a:solidFill>
                <a:effectLst/>
                <a:latin typeface="Arial" panose="020B0604020202020204" pitchFamily="34" charset="0"/>
              </a:rPr>
              <a:t>двосторонній зв’язок </a:t>
            </a:r>
            <a:endParaRPr kumimoji="0" lang="en-US" altLang="uk-UA"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uk-UA" altLang="uk-UA" sz="1800" b="1" i="0" u="none" strike="noStrike" cap="none" normalizeH="0" baseline="0" dirty="0">
                <a:ln>
                  <a:noFill/>
                </a:ln>
                <a:solidFill>
                  <a:schemeClr val="tx1"/>
                </a:solidFill>
                <a:effectLst/>
                <a:latin typeface="Arial" panose="020B0604020202020204" pitchFamily="34" charset="0"/>
              </a:rPr>
              <a:t>між клієнтом і сервером</a:t>
            </a:r>
            <a:r>
              <a:rPr kumimoji="0" lang="uk-UA" altLang="uk-UA" sz="1800" b="0" i="0" u="none" strike="noStrike" cap="none" normalizeH="0" baseline="0" dirty="0">
                <a:ln>
                  <a:noFill/>
                </a:ln>
                <a:solidFill>
                  <a:schemeClr val="tx1"/>
                </a:solidFill>
                <a:effectLst/>
                <a:latin typeface="Arial" panose="020B0604020202020204" pitchFamily="34" charset="0"/>
              </a:rPr>
              <a:t> через одне постійне з’єднання.</a:t>
            </a:r>
          </a:p>
          <a:p>
            <a:pPr marL="0" marR="0" lvl="0" indent="0" algn="l" defTabSz="914400" rtl="0" eaLnBrk="0" fontAlgn="base" latinLnBrk="0" hangingPunct="0">
              <a:lnSpc>
                <a:spcPct val="100000"/>
              </a:lnSpc>
              <a:spcBef>
                <a:spcPct val="0"/>
              </a:spcBef>
              <a:spcAft>
                <a:spcPct val="0"/>
              </a:spcAft>
              <a:buClrTx/>
              <a:buSzTx/>
              <a:buFontTx/>
              <a:buNone/>
              <a:tabLst/>
            </a:pPr>
            <a:r>
              <a:rPr kumimoji="0" lang="uk-UA" altLang="uk-UA" sz="1800" b="0" i="0" u="none" strike="noStrike" cap="none" normalizeH="0" baseline="0" dirty="0">
                <a:ln>
                  <a:noFill/>
                </a:ln>
                <a:solidFill>
                  <a:schemeClr val="tx1"/>
                </a:solidFill>
                <a:effectLst/>
                <a:latin typeface="Arial" panose="020B0604020202020204" pitchFamily="34" charset="0"/>
              </a:rPr>
              <a:t>📌 </a:t>
            </a:r>
            <a:r>
              <a:rPr kumimoji="0" lang="uk-UA" altLang="uk-UA" sz="1800" b="1" i="0" u="none" strike="noStrike" cap="none" normalizeH="0" baseline="0" dirty="0">
                <a:ln>
                  <a:noFill/>
                </a:ln>
                <a:solidFill>
                  <a:schemeClr val="tx1"/>
                </a:solidFill>
                <a:effectLst/>
                <a:latin typeface="Arial" panose="020B0604020202020204" pitchFamily="34" charset="0"/>
              </a:rPr>
              <a:t>Як працює?</a:t>
            </a:r>
            <a:endParaRPr kumimoji="0" lang="uk-UA" altLang="uk-UA"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uk-UA" altLang="uk-UA" sz="1800" b="0" i="0" u="none" strike="noStrike" cap="none" normalizeH="0" baseline="0" dirty="0">
                <a:ln>
                  <a:noFill/>
                </a:ln>
                <a:solidFill>
                  <a:schemeClr val="tx1"/>
                </a:solidFill>
                <a:effectLst/>
                <a:latin typeface="Arial" panose="020B0604020202020204" pitchFamily="34" charset="0"/>
              </a:rPr>
              <a:t>Клієнт </a:t>
            </a:r>
            <a:r>
              <a:rPr kumimoji="0" lang="uk-UA" altLang="uk-UA" sz="1800" b="0" i="0" u="none" strike="noStrike" cap="none" normalizeH="0" baseline="0" dirty="0" err="1">
                <a:ln>
                  <a:noFill/>
                </a:ln>
                <a:solidFill>
                  <a:schemeClr val="tx1"/>
                </a:solidFill>
                <a:effectLst/>
                <a:latin typeface="Arial" panose="020B0604020202020204" pitchFamily="34" charset="0"/>
              </a:rPr>
              <a:t>ініціалізує</a:t>
            </a:r>
            <a:r>
              <a:rPr kumimoji="0" lang="uk-UA" altLang="uk-UA" sz="1800" b="0" i="0" u="none" strike="noStrike" cap="none" normalizeH="0" baseline="0" dirty="0">
                <a:ln>
                  <a:noFill/>
                </a:ln>
                <a:solidFill>
                  <a:schemeClr val="tx1"/>
                </a:solidFill>
                <a:effectLst/>
                <a:latin typeface="Arial" panose="020B0604020202020204" pitchFamily="34" charset="0"/>
              </a:rPr>
              <a:t> </a:t>
            </a:r>
            <a:r>
              <a:rPr kumimoji="0" lang="uk-UA" altLang="uk-UA" sz="1800" b="0" i="0" u="none" strike="noStrike" cap="none" normalizeH="0" baseline="0" dirty="0" err="1">
                <a:ln>
                  <a:noFill/>
                </a:ln>
                <a:solidFill>
                  <a:schemeClr val="tx1"/>
                </a:solidFill>
                <a:effectLst/>
                <a:latin typeface="Arial" panose="020B0604020202020204" pitchFamily="34" charset="0"/>
              </a:rPr>
              <a:t>WebSocket</a:t>
            </a:r>
            <a:r>
              <a:rPr kumimoji="0" lang="uk-UA" altLang="uk-UA" sz="1800" b="0" i="0" u="none" strike="noStrike" cap="none" normalizeH="0" baseline="0" dirty="0">
                <a:ln>
                  <a:noFill/>
                </a:ln>
                <a:solidFill>
                  <a:schemeClr val="tx1"/>
                </a:solidFill>
                <a:effectLst/>
                <a:latin typeface="Arial" panose="020B0604020202020204" pitchFamily="34" charset="0"/>
              </a:rPr>
              <a:t>-з’єднання </a:t>
            </a:r>
            <a:r>
              <a:rPr kumimoji="0" lang="uk-UA" altLang="uk-UA" sz="1600" b="0" i="0" u="none" strike="noStrike" cap="none" normalizeH="0" baseline="0" dirty="0">
                <a:ln>
                  <a:noFill/>
                </a:ln>
                <a:solidFill>
                  <a:schemeClr val="tx1"/>
                </a:solidFill>
                <a:effectLst/>
                <a:latin typeface="Arial" panose="020B0604020202020204" pitchFamily="34" charset="0"/>
              </a:rPr>
              <a:t>(</a:t>
            </a:r>
            <a:r>
              <a:rPr kumimoji="0" lang="uk-UA" altLang="uk-UA" sz="1600" b="0" i="0" u="none" strike="noStrike" cap="none" normalizeH="0" baseline="0" dirty="0">
                <a:ln>
                  <a:noFill/>
                </a:ln>
                <a:solidFill>
                  <a:schemeClr val="tx1"/>
                </a:solidFill>
                <a:effectLst/>
                <a:latin typeface="Arial Unicode MS"/>
              </a:rPr>
              <a:t>ws://</a:t>
            </a:r>
            <a:r>
              <a:rPr kumimoji="0" lang="uk-UA" altLang="uk-UA" sz="1600" b="0" i="0" u="none" strike="noStrike" cap="none" normalizeH="0" baseline="0" dirty="0">
                <a:ln>
                  <a:noFill/>
                </a:ln>
                <a:solidFill>
                  <a:schemeClr val="tx1"/>
                </a:solidFill>
                <a:effectLst/>
              </a:rPr>
              <a:t> або </a:t>
            </a:r>
            <a:r>
              <a:rPr kumimoji="0" lang="uk-UA" altLang="uk-UA" sz="1600" b="0" i="0" u="none" strike="noStrike" cap="none" normalizeH="0" baseline="0" dirty="0">
                <a:ln>
                  <a:noFill/>
                </a:ln>
                <a:solidFill>
                  <a:schemeClr val="tx1"/>
                </a:solidFill>
                <a:effectLst/>
                <a:latin typeface="Arial Unicode MS"/>
              </a:rPr>
              <a:t>wss://</a:t>
            </a:r>
            <a:r>
              <a:rPr kumimoji="0" lang="uk-UA" altLang="uk-UA" sz="1600" b="0" i="0" u="none" strike="noStrike" cap="none" normalizeH="0" baseline="0" dirty="0">
                <a:ln>
                  <a:noFill/>
                </a:ln>
                <a:solidFill>
                  <a:schemeClr val="tx1"/>
                </a:solidFill>
                <a:effectLst/>
              </a:rPr>
              <a:t>).</a:t>
            </a:r>
            <a:endParaRPr kumimoji="0" lang="uk-UA" altLang="uk-UA"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uk-UA" altLang="uk-UA" sz="1800" b="0" i="0" u="none" strike="noStrike" cap="none" normalizeH="0" baseline="0" dirty="0">
                <a:ln>
                  <a:noFill/>
                </a:ln>
                <a:solidFill>
                  <a:schemeClr val="tx1"/>
                </a:solidFill>
                <a:effectLst/>
                <a:latin typeface="Arial" panose="020B0604020202020204" pitchFamily="34" charset="0"/>
              </a:rPr>
              <a:t>Сервер і клієнт обмінюються даними без необхідності повторного відкриття з’єднання.</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uk-UA" altLang="uk-UA" sz="1800" b="0" i="0" u="none" strike="noStrike" cap="none" normalizeH="0" baseline="0" dirty="0">
                <a:ln>
                  <a:noFill/>
                </a:ln>
                <a:solidFill>
                  <a:schemeClr val="tx1"/>
                </a:solidFill>
                <a:effectLst/>
                <a:latin typeface="Arial" panose="020B0604020202020204" pitchFamily="34" charset="0"/>
              </a:rPr>
              <a:t>Дані можуть надходити в обидві сторони </a:t>
            </a:r>
            <a:r>
              <a:rPr kumimoji="0" lang="uk-UA" altLang="uk-UA" sz="1800" b="1" i="0" u="none" strike="noStrike" cap="none" normalizeH="0" baseline="0" dirty="0">
                <a:ln>
                  <a:noFill/>
                </a:ln>
                <a:solidFill>
                  <a:schemeClr val="tx1"/>
                </a:solidFill>
                <a:effectLst/>
                <a:latin typeface="Arial" panose="020B0604020202020204" pitchFamily="34" charset="0"/>
              </a:rPr>
              <a:t>асинхронно</a:t>
            </a:r>
            <a:r>
              <a:rPr kumimoji="0" lang="uk-UA" altLang="uk-UA" sz="1800" b="0" i="0" u="none" strike="noStrike" cap="none" normalizeH="0" baseline="0" dirty="0">
                <a:ln>
                  <a:noFill/>
                </a:ln>
                <a:solidFill>
                  <a:schemeClr val="tx1"/>
                </a:solidFill>
                <a:effectLst/>
                <a:latin typeface="Arial" panose="020B0604020202020204" pitchFamily="34" charset="0"/>
              </a:rPr>
              <a:t> (на відміну від HTTP).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uk-UA" altLang="uk-UA"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562919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BA21F-B6FF-3D5E-BE46-FE664F6E5F1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7FD9E2-3C3E-1226-65FE-4617A1B950B5}"/>
              </a:ext>
            </a:extLst>
          </p:cNvPr>
          <p:cNvSpPr>
            <a:spLocks noGrp="1"/>
          </p:cNvSpPr>
          <p:nvPr>
            <p:ph type="title"/>
          </p:nvPr>
        </p:nvSpPr>
        <p:spPr/>
        <p:txBody>
          <a:bodyPr/>
          <a:lstStyle/>
          <a:p>
            <a:r>
              <a:rPr lang="uk-UA" dirty="0"/>
              <a:t>Стиль </a:t>
            </a:r>
            <a:r>
              <a:rPr lang="en-US" dirty="0" err="1"/>
              <a:t>Websocket</a:t>
            </a:r>
            <a:endParaRPr lang="uk-UA" dirty="0"/>
          </a:p>
        </p:txBody>
      </p:sp>
      <p:sp>
        <p:nvSpPr>
          <p:cNvPr id="3" name="Rectangle 1">
            <a:extLst>
              <a:ext uri="{FF2B5EF4-FFF2-40B4-BE49-F238E27FC236}">
                <a16:creationId xmlns:a16="http://schemas.microsoft.com/office/drawing/2014/main" id="{448E20EA-DE29-1B32-C292-D2809325B85C}"/>
              </a:ext>
            </a:extLst>
          </p:cNvPr>
          <p:cNvSpPr>
            <a:spLocks noChangeArrowheads="1"/>
          </p:cNvSpPr>
          <p:nvPr/>
        </p:nvSpPr>
        <p:spPr bwMode="auto">
          <a:xfrm>
            <a:off x="472441" y="1673216"/>
            <a:ext cx="1110996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uk-UA" altLang="uk-UA" sz="1400" dirty="0">
                <a:latin typeface="Arial" panose="020B0604020202020204" pitchFamily="34" charset="0"/>
              </a:rPr>
              <a:t>Особливості стилю:</a:t>
            </a:r>
            <a:endParaRPr kumimoji="0" lang="en-US" altLang="uk-UA" sz="14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uk-UA" altLang="uk-UA" sz="1400" i="0" u="none" strike="noStrike" cap="none" normalizeH="0" baseline="0" dirty="0">
                <a:ln>
                  <a:noFill/>
                </a:ln>
                <a:solidFill>
                  <a:schemeClr val="tx1"/>
                </a:solidFill>
                <a:effectLst/>
                <a:latin typeface="Arial" panose="020B0604020202020204" pitchFamily="34" charset="0"/>
              </a:rPr>
              <a:t>✅ </a:t>
            </a:r>
            <a:r>
              <a:rPr kumimoji="0" lang="uk-UA" altLang="uk-UA" sz="1400" b="1" i="0" u="none" strike="noStrike" cap="none" normalizeH="0" baseline="0" dirty="0">
                <a:ln>
                  <a:noFill/>
                </a:ln>
                <a:solidFill>
                  <a:srgbClr val="0070C0"/>
                </a:solidFill>
                <a:effectLst/>
                <a:latin typeface="Arial" panose="020B0604020202020204" pitchFamily="34" charset="0"/>
              </a:rPr>
              <a:t>Постійне з’єднання</a:t>
            </a:r>
            <a:r>
              <a:rPr lang="uk-UA" altLang="uk-UA" sz="1400" dirty="0">
                <a:latin typeface="Arial" panose="020B0604020202020204" pitchFamily="34" charset="0"/>
              </a:rPr>
              <a:t>. </a:t>
            </a:r>
            <a:r>
              <a:rPr kumimoji="0" lang="uk-UA" altLang="uk-UA" sz="1400" i="0" u="none" strike="noStrike" cap="none" normalizeH="0" baseline="0" dirty="0">
                <a:ln>
                  <a:noFill/>
                </a:ln>
                <a:solidFill>
                  <a:schemeClr val="tx1"/>
                </a:solidFill>
                <a:effectLst/>
                <a:latin typeface="Arial" panose="020B0604020202020204" pitchFamily="34" charset="0"/>
              </a:rPr>
              <a:t>Сервер може надсилати оновлення клієнту в реальному часі, без постійних запитів (</a:t>
            </a:r>
            <a:r>
              <a:rPr kumimoji="0" lang="uk-UA" altLang="uk-UA" sz="1400" i="0" u="none" strike="noStrike" cap="none" normalizeH="0" baseline="0" dirty="0" err="1">
                <a:ln>
                  <a:noFill/>
                </a:ln>
                <a:solidFill>
                  <a:schemeClr val="tx1"/>
                </a:solidFill>
                <a:effectLst/>
                <a:latin typeface="Arial Unicode MS"/>
              </a:rPr>
              <a:t>polling</a:t>
            </a:r>
            <a:r>
              <a:rPr kumimoji="0" lang="uk-UA" altLang="uk-UA" sz="1400" i="0" u="none" strike="noStrike" cap="none" normalizeH="0" baseline="0" dirty="0">
                <a:ln>
                  <a:noFill/>
                </a:ln>
                <a:solidFill>
                  <a:schemeClr val="tx1"/>
                </a:solidFill>
                <a:effectLst/>
              </a:rPr>
              <a:t>).</a:t>
            </a:r>
            <a:endParaRPr kumimoji="0" lang="uk-UA" altLang="uk-UA" sz="14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uk-UA" altLang="uk-UA" sz="1400" i="0" u="none" strike="noStrike" cap="none" normalizeH="0" baseline="0" dirty="0">
                <a:ln>
                  <a:noFill/>
                </a:ln>
                <a:solidFill>
                  <a:schemeClr val="tx1"/>
                </a:solidFill>
                <a:effectLst/>
                <a:latin typeface="Arial" panose="020B0604020202020204" pitchFamily="34" charset="0"/>
              </a:rPr>
              <a:t>✅ </a:t>
            </a:r>
            <a:r>
              <a:rPr kumimoji="0" lang="uk-UA" altLang="uk-UA" sz="1400" b="1" i="0" u="none" strike="noStrike" cap="none" normalizeH="0" baseline="0" dirty="0">
                <a:ln>
                  <a:noFill/>
                </a:ln>
                <a:solidFill>
                  <a:srgbClr val="0070C0"/>
                </a:solidFill>
                <a:effectLst/>
                <a:latin typeface="Arial" panose="020B0604020202020204" pitchFamily="34" charset="0"/>
              </a:rPr>
              <a:t>Мінімальний трафік</a:t>
            </a:r>
            <a:r>
              <a:rPr kumimoji="0" lang="uk-UA" altLang="uk-UA" sz="1400" i="0" u="none" strike="noStrike" cap="none" normalizeH="0" baseline="0" dirty="0">
                <a:ln>
                  <a:noFill/>
                </a:ln>
                <a:solidFill>
                  <a:schemeClr val="tx1"/>
                </a:solidFill>
                <a:effectLst/>
                <a:latin typeface="Arial" panose="020B0604020202020204" pitchFamily="34" charset="0"/>
              </a:rPr>
              <a:t>. Використовує бінарний формат або JSON, передаючи лише корисні дані без зайвих заголовків.</a:t>
            </a:r>
          </a:p>
          <a:p>
            <a:pPr marL="0" marR="0" lvl="0" indent="0" algn="l" defTabSz="914400" rtl="0" eaLnBrk="0" fontAlgn="base" latinLnBrk="0" hangingPunct="0">
              <a:lnSpc>
                <a:spcPct val="100000"/>
              </a:lnSpc>
              <a:spcBef>
                <a:spcPct val="0"/>
              </a:spcBef>
              <a:spcAft>
                <a:spcPct val="0"/>
              </a:spcAft>
              <a:buClrTx/>
              <a:buSzTx/>
              <a:buFontTx/>
              <a:buNone/>
              <a:tabLst/>
            </a:pPr>
            <a:r>
              <a:rPr kumimoji="0" lang="uk-UA" altLang="uk-UA" sz="1400" i="0" u="none" strike="noStrike" cap="none" normalizeH="0" baseline="0" dirty="0">
                <a:ln>
                  <a:noFill/>
                </a:ln>
                <a:solidFill>
                  <a:schemeClr val="tx1"/>
                </a:solidFill>
                <a:effectLst/>
                <a:latin typeface="Arial" panose="020B0604020202020204" pitchFamily="34" charset="0"/>
              </a:rPr>
              <a:t>✅ </a:t>
            </a:r>
            <a:r>
              <a:rPr kumimoji="0" lang="uk-UA" altLang="uk-UA" sz="1400" b="1" i="0" u="none" strike="noStrike" cap="none" normalizeH="0" baseline="0" dirty="0">
                <a:ln>
                  <a:noFill/>
                </a:ln>
                <a:solidFill>
                  <a:srgbClr val="0070C0"/>
                </a:solidFill>
                <a:effectLst/>
                <a:latin typeface="Arial" panose="020B0604020202020204" pitchFamily="34" charset="0"/>
              </a:rPr>
              <a:t>Підтримка всіма сучасними браузерами</a:t>
            </a:r>
            <a:r>
              <a:rPr kumimoji="0" lang="uk-UA" altLang="uk-UA" sz="1400" i="0" u="none" strike="noStrike" cap="none" normalizeH="0" baseline="0" dirty="0">
                <a:ln>
                  <a:noFill/>
                </a:ln>
                <a:solidFill>
                  <a:schemeClr val="tx1"/>
                </a:solidFill>
                <a:effectLst/>
                <a:latin typeface="Arial" panose="020B0604020202020204" pitchFamily="34" charset="0"/>
              </a:rPr>
              <a:t>. Дозволяє створювати чати, онлайн-ігри, біржові додатки, моніторинг у реальному часі.</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uk-UA" altLang="uk-UA"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54950E31-C1A2-A87E-CC42-E6241CEB3901}"/>
              </a:ext>
            </a:extLst>
          </p:cNvPr>
          <p:cNvSpPr txBox="1"/>
          <p:nvPr/>
        </p:nvSpPr>
        <p:spPr>
          <a:xfrm>
            <a:off x="3512344" y="2676942"/>
            <a:ext cx="6435090" cy="2123658"/>
          </a:xfrm>
          <a:prstGeom prst="rect">
            <a:avLst/>
          </a:prstGeom>
          <a:noFill/>
        </p:spPr>
        <p:txBody>
          <a:bodyPr wrap="square">
            <a:spAutoFit/>
          </a:bodyPr>
          <a:lstStyle/>
          <a:p>
            <a:r>
              <a:rPr lang="en-US" sz="1200" dirty="0">
                <a:solidFill>
                  <a:srgbClr val="0070C0"/>
                </a:solidFill>
              </a:rPr>
              <a:t>import</a:t>
            </a:r>
            <a:r>
              <a:rPr lang="en-US" sz="1200" dirty="0"/>
              <a:t> </a:t>
            </a:r>
            <a:r>
              <a:rPr lang="en-US" sz="1200" dirty="0" err="1"/>
              <a:t>asyncio</a:t>
            </a:r>
            <a:endParaRPr lang="en-US" sz="1200" dirty="0"/>
          </a:p>
          <a:p>
            <a:r>
              <a:rPr lang="en-US" sz="1200" dirty="0">
                <a:solidFill>
                  <a:srgbClr val="0070C0"/>
                </a:solidFill>
              </a:rPr>
              <a:t>import</a:t>
            </a:r>
            <a:r>
              <a:rPr lang="en-US" sz="1200" dirty="0"/>
              <a:t> </a:t>
            </a:r>
            <a:r>
              <a:rPr lang="en-US" sz="1200" dirty="0" err="1"/>
              <a:t>websockets</a:t>
            </a:r>
            <a:endParaRPr lang="en-US" sz="1200" dirty="0"/>
          </a:p>
          <a:p>
            <a:endParaRPr lang="en-US" sz="1200" dirty="0"/>
          </a:p>
          <a:p>
            <a:r>
              <a:rPr lang="en-US" sz="1200" dirty="0">
                <a:solidFill>
                  <a:srgbClr val="0070C0"/>
                </a:solidFill>
              </a:rPr>
              <a:t>async</a:t>
            </a:r>
            <a:r>
              <a:rPr lang="en-US" sz="1200" dirty="0"/>
              <a:t> </a:t>
            </a:r>
            <a:r>
              <a:rPr lang="en-US" sz="1200" dirty="0">
                <a:solidFill>
                  <a:srgbClr val="0070C0"/>
                </a:solidFill>
              </a:rPr>
              <a:t>def</a:t>
            </a:r>
            <a:r>
              <a:rPr lang="en-US" sz="1200" dirty="0"/>
              <a:t> </a:t>
            </a:r>
            <a:r>
              <a:rPr lang="en-US" sz="1200" dirty="0">
                <a:solidFill>
                  <a:srgbClr val="C00000"/>
                </a:solidFill>
              </a:rPr>
              <a:t>echo</a:t>
            </a:r>
            <a:r>
              <a:rPr lang="en-US" sz="1200" dirty="0"/>
              <a:t>(</a:t>
            </a:r>
            <a:r>
              <a:rPr lang="en-US" sz="1200" dirty="0" err="1"/>
              <a:t>websocket</a:t>
            </a:r>
            <a:r>
              <a:rPr lang="en-US" sz="1200" dirty="0"/>
              <a:t>, path):</a:t>
            </a:r>
          </a:p>
          <a:p>
            <a:r>
              <a:rPr lang="en-US" sz="1200" dirty="0"/>
              <a:t>    </a:t>
            </a:r>
            <a:r>
              <a:rPr lang="en-US" sz="1200" dirty="0">
                <a:solidFill>
                  <a:srgbClr val="0070C0"/>
                </a:solidFill>
              </a:rPr>
              <a:t>async</a:t>
            </a:r>
            <a:r>
              <a:rPr lang="en-US" sz="1200" dirty="0"/>
              <a:t> </a:t>
            </a:r>
            <a:r>
              <a:rPr lang="en-US" sz="1200" dirty="0">
                <a:solidFill>
                  <a:srgbClr val="0070C0"/>
                </a:solidFill>
              </a:rPr>
              <a:t>for</a:t>
            </a:r>
            <a:r>
              <a:rPr lang="en-US" sz="1200" dirty="0"/>
              <a:t> message </a:t>
            </a:r>
            <a:r>
              <a:rPr lang="en-US" sz="1200" dirty="0">
                <a:solidFill>
                  <a:srgbClr val="0070C0"/>
                </a:solidFill>
              </a:rPr>
              <a:t>in</a:t>
            </a:r>
            <a:r>
              <a:rPr lang="en-US" sz="1200" dirty="0"/>
              <a:t> </a:t>
            </a:r>
            <a:r>
              <a:rPr lang="en-US" sz="1200" dirty="0" err="1"/>
              <a:t>websocket</a:t>
            </a:r>
            <a:r>
              <a:rPr lang="en-US" sz="1200" dirty="0"/>
              <a:t>:</a:t>
            </a:r>
          </a:p>
          <a:p>
            <a:r>
              <a:rPr lang="en-US" sz="1200" dirty="0"/>
              <a:t>        </a:t>
            </a:r>
            <a:r>
              <a:rPr lang="en-US" sz="1200" dirty="0">
                <a:solidFill>
                  <a:srgbClr val="0070C0"/>
                </a:solidFill>
              </a:rPr>
              <a:t>await</a:t>
            </a:r>
            <a:r>
              <a:rPr lang="en-US" sz="1200" dirty="0"/>
              <a:t> </a:t>
            </a:r>
            <a:r>
              <a:rPr lang="en-US" sz="1200" dirty="0" err="1"/>
              <a:t>websocket.send</a:t>
            </a:r>
            <a:r>
              <a:rPr lang="en-US" sz="1200" dirty="0"/>
              <a:t>(</a:t>
            </a:r>
            <a:r>
              <a:rPr lang="en-US" sz="1200" dirty="0">
                <a:solidFill>
                  <a:srgbClr val="006600"/>
                </a:solidFill>
              </a:rPr>
              <a:t>f"</a:t>
            </a:r>
            <a:r>
              <a:rPr lang="uk-UA" sz="1200" dirty="0">
                <a:solidFill>
                  <a:srgbClr val="006600"/>
                </a:solidFill>
              </a:rPr>
              <a:t>Отримано: {</a:t>
            </a:r>
            <a:r>
              <a:rPr lang="en-US" sz="1200" dirty="0">
                <a:solidFill>
                  <a:srgbClr val="006600"/>
                </a:solidFill>
              </a:rPr>
              <a:t>message}"</a:t>
            </a:r>
            <a:r>
              <a:rPr lang="en-US" sz="1200" dirty="0"/>
              <a:t>)</a:t>
            </a:r>
          </a:p>
          <a:p>
            <a:endParaRPr lang="en-US" sz="1200" dirty="0"/>
          </a:p>
          <a:p>
            <a:r>
              <a:rPr lang="en-US" sz="1200" dirty="0" err="1"/>
              <a:t>start_server</a:t>
            </a:r>
            <a:r>
              <a:rPr lang="en-US" sz="1200" dirty="0"/>
              <a:t> = </a:t>
            </a:r>
            <a:r>
              <a:rPr lang="en-US" sz="1200" dirty="0" err="1"/>
              <a:t>websockets.serve</a:t>
            </a:r>
            <a:r>
              <a:rPr lang="en-US" sz="1200" dirty="0"/>
              <a:t>(echo, </a:t>
            </a:r>
            <a:r>
              <a:rPr lang="en-US" sz="1200" dirty="0">
                <a:solidFill>
                  <a:srgbClr val="006600"/>
                </a:solidFill>
              </a:rPr>
              <a:t>"localhost"</a:t>
            </a:r>
            <a:r>
              <a:rPr lang="en-US" sz="1200" dirty="0"/>
              <a:t>, </a:t>
            </a:r>
            <a:r>
              <a:rPr lang="en-US" sz="1200" dirty="0">
                <a:solidFill>
                  <a:srgbClr val="94144E"/>
                </a:solidFill>
              </a:rPr>
              <a:t>8765</a:t>
            </a:r>
            <a:r>
              <a:rPr lang="en-US" sz="1200" dirty="0"/>
              <a:t>)</a:t>
            </a:r>
          </a:p>
          <a:p>
            <a:endParaRPr lang="en-US" sz="1200" dirty="0"/>
          </a:p>
          <a:p>
            <a:r>
              <a:rPr lang="en-US" sz="1200" dirty="0" err="1"/>
              <a:t>asyncio.get_event_loop</a:t>
            </a:r>
            <a:r>
              <a:rPr lang="en-US" sz="1200" dirty="0"/>
              <a:t>().</a:t>
            </a:r>
            <a:r>
              <a:rPr lang="en-US" sz="1200" dirty="0" err="1"/>
              <a:t>run_until_complete</a:t>
            </a:r>
            <a:r>
              <a:rPr lang="en-US" sz="1200" dirty="0"/>
              <a:t>(</a:t>
            </a:r>
            <a:r>
              <a:rPr lang="en-US" sz="1200" dirty="0" err="1"/>
              <a:t>start_server</a:t>
            </a:r>
            <a:r>
              <a:rPr lang="en-US" sz="1200" dirty="0"/>
              <a:t>)</a:t>
            </a:r>
          </a:p>
          <a:p>
            <a:r>
              <a:rPr lang="en-US" sz="1200" dirty="0" err="1"/>
              <a:t>asyncio.get_event_loop</a:t>
            </a:r>
            <a:r>
              <a:rPr lang="en-US" sz="1200" dirty="0"/>
              <a:t>().</a:t>
            </a:r>
            <a:r>
              <a:rPr lang="en-US" sz="1200" dirty="0" err="1"/>
              <a:t>run_forever</a:t>
            </a:r>
            <a:r>
              <a:rPr lang="en-US" sz="1200" dirty="0"/>
              <a:t>()</a:t>
            </a:r>
            <a:endParaRPr lang="uk-UA" sz="1600" dirty="0"/>
          </a:p>
        </p:txBody>
      </p:sp>
      <p:sp>
        <p:nvSpPr>
          <p:cNvPr id="8" name="TextBox 7">
            <a:extLst>
              <a:ext uri="{FF2B5EF4-FFF2-40B4-BE49-F238E27FC236}">
                <a16:creationId xmlns:a16="http://schemas.microsoft.com/office/drawing/2014/main" id="{DE29DAB8-8A7E-AF6A-6B81-3B12F3EDFEAF}"/>
              </a:ext>
            </a:extLst>
          </p:cNvPr>
          <p:cNvSpPr txBox="1"/>
          <p:nvPr/>
        </p:nvSpPr>
        <p:spPr>
          <a:xfrm>
            <a:off x="2773680" y="2837826"/>
            <a:ext cx="738664" cy="1962774"/>
          </a:xfrm>
          <a:prstGeom prst="rect">
            <a:avLst/>
          </a:prstGeom>
          <a:noFill/>
        </p:spPr>
        <p:txBody>
          <a:bodyPr vert="vert270" wrap="square" rtlCol="0">
            <a:spAutoFit/>
          </a:bodyPr>
          <a:lstStyle/>
          <a:p>
            <a:r>
              <a:rPr lang="uk-UA" dirty="0"/>
              <a:t>Приклад застосування:</a:t>
            </a:r>
          </a:p>
        </p:txBody>
      </p:sp>
    </p:spTree>
    <p:extLst>
      <p:ext uri="{BB962C8B-B14F-4D97-AF65-F5344CB8AC3E}">
        <p14:creationId xmlns:p14="http://schemas.microsoft.com/office/powerpoint/2010/main" val="64411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AB3E39-961F-6BC0-C10A-DC67A4A72BA1}"/>
              </a:ext>
            </a:extLst>
          </p:cNvPr>
          <p:cNvSpPr>
            <a:spLocks noGrp="1"/>
          </p:cNvSpPr>
          <p:nvPr>
            <p:ph type="title"/>
          </p:nvPr>
        </p:nvSpPr>
        <p:spPr/>
        <p:txBody>
          <a:bodyPr/>
          <a:lstStyle/>
          <a:p>
            <a:r>
              <a:rPr lang="uk-UA" dirty="0"/>
              <a:t>Стиль</a:t>
            </a:r>
            <a:r>
              <a:rPr lang="en-US" dirty="0"/>
              <a:t> rest</a:t>
            </a:r>
            <a:r>
              <a:rPr lang="uk-UA" dirty="0"/>
              <a:t> </a:t>
            </a:r>
          </a:p>
        </p:txBody>
      </p:sp>
      <p:sp>
        <p:nvSpPr>
          <p:cNvPr id="3" name="Content Placeholder 2"/>
          <p:cNvSpPr>
            <a:spLocks noGrp="1"/>
          </p:cNvSpPr>
          <p:nvPr>
            <p:ph idx="1"/>
          </p:nvPr>
        </p:nvSpPr>
        <p:spPr/>
        <p:txBody>
          <a:bodyPr>
            <a:normAutofit fontScale="92500" lnSpcReduction="10000"/>
          </a:bodyPr>
          <a:lstStyle/>
          <a:p>
            <a:pPr marL="0" indent="0">
              <a:buNone/>
            </a:pPr>
            <a:r>
              <a:rPr lang="en-US" sz="1800" b="1" dirty="0" err="1">
                <a:solidFill>
                  <a:schemeClr val="accent6">
                    <a:lumMod val="75000"/>
                  </a:schemeClr>
                </a:solidFill>
              </a:rPr>
              <a:t>REpresentational</a:t>
            </a:r>
            <a:r>
              <a:rPr lang="en-US" sz="1800" b="1" dirty="0">
                <a:solidFill>
                  <a:schemeClr val="accent6">
                    <a:lumMod val="75000"/>
                  </a:schemeClr>
                </a:solidFill>
              </a:rPr>
              <a:t> State Transfer (REST) </a:t>
            </a:r>
            <a:r>
              <a:rPr lang="en-US" sz="1800" dirty="0"/>
              <a:t>— </a:t>
            </a:r>
            <a:r>
              <a:rPr lang="uk-UA" sz="1800" dirty="0"/>
              <a:t>це архітектурний стиль, автором якого є американський вчений Рой Томас Філдінг. Він описав </a:t>
            </a:r>
            <a:r>
              <a:rPr lang="en-US" sz="1800" dirty="0"/>
              <a:t>REST</a:t>
            </a:r>
            <a:r>
              <a:rPr lang="uk-UA" sz="1800" dirty="0"/>
              <a:t> у розділі 5 своєї докторської дисертації «Архітектурні стилі та проектування мережевих програмних архітектур» у 2000 році. Рой Філдінг визначає </a:t>
            </a:r>
            <a:r>
              <a:rPr lang="en-US" sz="1800" dirty="0"/>
              <a:t>REST </a:t>
            </a:r>
            <a:r>
              <a:rPr lang="uk-UA" sz="1800" dirty="0"/>
              <a:t>як гібридний стиль, похідний від кількох мережевих архітектурних стилів, які він описав в інших частинах роботи, «у поєднанні з додатковими обмеженнями, які визначають єдиний інтерфейс з’єднувача». </a:t>
            </a:r>
          </a:p>
          <a:p>
            <a:pPr marL="0" indent="0">
              <a:buNone/>
            </a:pPr>
            <a:r>
              <a:rPr lang="uk-UA" sz="1800" dirty="0"/>
              <a:t>У роботі Філдінга він встановлює шість обмежень, що застосовуються до елементів в архітектурі: </a:t>
            </a:r>
          </a:p>
          <a:p>
            <a:pPr lvl="1"/>
            <a:r>
              <a:rPr lang="en-US" sz="1600" dirty="0"/>
              <a:t>Client-Server</a:t>
            </a:r>
          </a:p>
          <a:p>
            <a:pPr lvl="1"/>
            <a:r>
              <a:rPr lang="en-US" sz="1600" dirty="0"/>
              <a:t>Stateless</a:t>
            </a:r>
          </a:p>
          <a:p>
            <a:pPr lvl="1"/>
            <a:r>
              <a:rPr lang="en-US" sz="1600" dirty="0"/>
              <a:t>Cache</a:t>
            </a:r>
          </a:p>
          <a:p>
            <a:pPr lvl="1"/>
            <a:r>
              <a:rPr lang="en-US" sz="1600" dirty="0"/>
              <a:t>Uniform Interface</a:t>
            </a:r>
          </a:p>
          <a:p>
            <a:pPr lvl="1"/>
            <a:r>
              <a:rPr lang="en-US" sz="1600" dirty="0"/>
              <a:t>Layered System</a:t>
            </a:r>
          </a:p>
          <a:p>
            <a:pPr lvl="1"/>
            <a:r>
              <a:rPr lang="en-US" sz="1600" dirty="0"/>
              <a:t>Code-On-Demand</a:t>
            </a:r>
            <a:endParaRPr lang="uk-UA" sz="1600" dirty="0"/>
          </a:p>
          <a:p>
            <a:pPr marL="0" indent="0">
              <a:buNone/>
            </a:pPr>
            <a:r>
              <a:rPr lang="uk-UA" sz="1800" dirty="0"/>
              <a:t>Ці шість обмежень можна застосувати до будь-якого протоколу, і коли вони застосовуються, це означає, що він підтримує REST.</a:t>
            </a:r>
            <a:r>
              <a:rPr lang="en-US" sz="1800" dirty="0"/>
              <a:t> </a:t>
            </a:r>
            <a:r>
              <a:rPr lang="uk-UA" sz="1800" dirty="0"/>
              <a:t>Розглянемо їх детальніше.</a:t>
            </a:r>
          </a:p>
        </p:txBody>
      </p:sp>
    </p:spTree>
    <p:extLst>
      <p:ext uri="{BB962C8B-B14F-4D97-AF65-F5344CB8AC3E}">
        <p14:creationId xmlns:p14="http://schemas.microsoft.com/office/powerpoint/2010/main" val="14197054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D7BEC5-E2D9-07D0-0090-6F7EA23697BC}"/>
              </a:ext>
            </a:extLst>
          </p:cNvPr>
          <p:cNvSpPr>
            <a:spLocks noGrp="1"/>
          </p:cNvSpPr>
          <p:nvPr>
            <p:ph type="title"/>
          </p:nvPr>
        </p:nvSpPr>
        <p:spPr/>
        <p:txBody>
          <a:bodyPr/>
          <a:lstStyle/>
          <a:p>
            <a:r>
              <a:rPr lang="uk-UA" dirty="0"/>
              <a:t>Стиль </a:t>
            </a:r>
            <a:r>
              <a:rPr lang="en-US" dirty="0"/>
              <a:t>Rest</a:t>
            </a:r>
            <a:endParaRPr lang="uk-UA" dirty="0"/>
          </a:p>
        </p:txBody>
      </p:sp>
      <p:sp>
        <p:nvSpPr>
          <p:cNvPr id="3" name="Місце для вмісту 2">
            <a:extLst>
              <a:ext uri="{FF2B5EF4-FFF2-40B4-BE49-F238E27FC236}">
                <a16:creationId xmlns:a16="http://schemas.microsoft.com/office/drawing/2014/main" id="{4E86B971-89F6-4005-FA3F-47F317A67954}"/>
              </a:ext>
            </a:extLst>
          </p:cNvPr>
          <p:cNvSpPr>
            <a:spLocks noGrp="1"/>
          </p:cNvSpPr>
          <p:nvPr>
            <p:ph idx="1"/>
          </p:nvPr>
        </p:nvSpPr>
        <p:spPr>
          <a:xfrm>
            <a:off x="685800" y="2194560"/>
            <a:ext cx="5730240" cy="1554479"/>
          </a:xfrm>
        </p:spPr>
        <p:txBody>
          <a:bodyPr>
            <a:normAutofit fontScale="85000" lnSpcReduction="20000"/>
          </a:bodyPr>
          <a:lstStyle/>
          <a:p>
            <a:pPr marL="0" indent="0">
              <a:buNone/>
            </a:pPr>
            <a:r>
              <a:rPr lang="en-US" sz="2400" b="1" dirty="0">
                <a:solidFill>
                  <a:srgbClr val="0070C0"/>
                </a:solidFill>
              </a:rPr>
              <a:t>Client-Server</a:t>
            </a:r>
          </a:p>
          <a:p>
            <a:pPr marL="0" indent="0">
              <a:buNone/>
            </a:pPr>
            <a:r>
              <a:rPr lang="uk-UA" sz="2400" u="sng" dirty="0"/>
              <a:t>Клієнт і сервер повинні бути незалежними один від одного</a:t>
            </a:r>
            <a:r>
              <a:rPr lang="uk-UA" sz="2400" dirty="0"/>
              <a:t>, що дозволяє створювати клієнта для кількох платформ і спрощувати компоненти на стороні сервера.</a:t>
            </a:r>
          </a:p>
          <a:p>
            <a:pPr marL="0" indent="0">
              <a:buNone/>
            </a:pPr>
            <a:endParaRPr lang="uk-UA" dirty="0"/>
          </a:p>
        </p:txBody>
      </p:sp>
      <p:sp>
        <p:nvSpPr>
          <p:cNvPr id="5" name="TextBox 4">
            <a:extLst>
              <a:ext uri="{FF2B5EF4-FFF2-40B4-BE49-F238E27FC236}">
                <a16:creationId xmlns:a16="http://schemas.microsoft.com/office/drawing/2014/main" id="{6BC9C374-5362-450D-696B-B3208F93033B}"/>
              </a:ext>
            </a:extLst>
          </p:cNvPr>
          <p:cNvSpPr txBox="1"/>
          <p:nvPr/>
        </p:nvSpPr>
        <p:spPr>
          <a:xfrm>
            <a:off x="6195060" y="4373800"/>
            <a:ext cx="5730240" cy="1477328"/>
          </a:xfrm>
          <a:prstGeom prst="rect">
            <a:avLst/>
          </a:prstGeom>
          <a:noFill/>
        </p:spPr>
        <p:txBody>
          <a:bodyPr wrap="square">
            <a:spAutoFit/>
          </a:bodyPr>
          <a:lstStyle/>
          <a:p>
            <a:pPr marL="0" indent="0">
              <a:buNone/>
            </a:pPr>
            <a:r>
              <a:rPr lang="en-US" sz="1800" b="1" dirty="0">
                <a:solidFill>
                  <a:srgbClr val="0070C0"/>
                </a:solidFill>
              </a:rPr>
              <a:t>Stateless</a:t>
            </a:r>
          </a:p>
          <a:p>
            <a:pPr marL="0" indent="0">
              <a:buNone/>
            </a:pPr>
            <a:r>
              <a:rPr lang="uk-UA" sz="1800" dirty="0"/>
              <a:t>Запити від клієнта до сервера повинні містити всю інформацію, необхідну серверу для виконання запиту. </a:t>
            </a:r>
            <a:r>
              <a:rPr lang="uk-UA" sz="1800" u="sng" dirty="0"/>
              <a:t>Сервер не може містити стани сеансу</a:t>
            </a:r>
            <a:r>
              <a:rPr lang="uk-UA" sz="1800" dirty="0"/>
              <a:t>.</a:t>
            </a:r>
          </a:p>
        </p:txBody>
      </p:sp>
      <p:pic>
        <p:nvPicPr>
          <p:cNvPr id="6" name="Picture 1"/>
          <p:cNvPicPr>
            <a:picLocks noChangeAspect="1"/>
          </p:cNvPicPr>
          <p:nvPr/>
        </p:nvPicPr>
        <p:blipFill>
          <a:blip r:embed="rId2"/>
          <a:stretch>
            <a:fillRect/>
          </a:stretch>
        </p:blipFill>
        <p:spPr>
          <a:xfrm>
            <a:off x="6801188" y="1937662"/>
            <a:ext cx="4019503" cy="2185361"/>
          </a:xfrm>
          <a:prstGeom prst="rect">
            <a:avLst/>
          </a:prstGeom>
        </p:spPr>
      </p:pic>
      <p:pic>
        <p:nvPicPr>
          <p:cNvPr id="7" name="Picture 3"/>
          <p:cNvPicPr>
            <a:picLocks noChangeAspect="1"/>
          </p:cNvPicPr>
          <p:nvPr/>
        </p:nvPicPr>
        <p:blipFill>
          <a:blip r:embed="rId3"/>
          <a:stretch>
            <a:fillRect/>
          </a:stretch>
        </p:blipFill>
        <p:spPr>
          <a:xfrm>
            <a:off x="1863731" y="3886198"/>
            <a:ext cx="2997829" cy="2601743"/>
          </a:xfrm>
          <a:prstGeom prst="rect">
            <a:avLst/>
          </a:prstGeom>
        </p:spPr>
      </p:pic>
    </p:spTree>
    <p:extLst>
      <p:ext uri="{BB962C8B-B14F-4D97-AF65-F5344CB8AC3E}">
        <p14:creationId xmlns:p14="http://schemas.microsoft.com/office/powerpoint/2010/main" val="1035118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C6116BA0-64DF-942C-0C0A-B9D365724DDF}"/>
              </a:ext>
            </a:extLst>
          </p:cNvPr>
          <p:cNvSpPr>
            <a:spLocks noGrp="1"/>
          </p:cNvSpPr>
          <p:nvPr>
            <p:ph type="title"/>
          </p:nvPr>
        </p:nvSpPr>
        <p:spPr/>
        <p:txBody>
          <a:bodyPr/>
          <a:lstStyle/>
          <a:p>
            <a:r>
              <a:rPr lang="uk-UA" dirty="0"/>
              <a:t>СТИЛЬ </a:t>
            </a:r>
            <a:r>
              <a:rPr lang="en-US" dirty="0" err="1"/>
              <a:t>RESt</a:t>
            </a:r>
            <a:endParaRPr lang="uk-UA" dirty="0"/>
          </a:p>
        </p:txBody>
      </p:sp>
      <p:sp>
        <p:nvSpPr>
          <p:cNvPr id="3" name="Content Placeholder 2"/>
          <p:cNvSpPr>
            <a:spLocks noGrp="1"/>
          </p:cNvSpPr>
          <p:nvPr>
            <p:ph idx="1"/>
          </p:nvPr>
        </p:nvSpPr>
        <p:spPr>
          <a:xfrm>
            <a:off x="685800" y="2194560"/>
            <a:ext cx="5410200" cy="4024125"/>
          </a:xfrm>
        </p:spPr>
        <p:txBody>
          <a:bodyPr>
            <a:normAutofit/>
          </a:bodyPr>
          <a:lstStyle/>
          <a:p>
            <a:pPr marL="0" indent="0">
              <a:buNone/>
            </a:pPr>
            <a:r>
              <a:rPr lang="en-US" sz="1800" b="1" dirty="0">
                <a:solidFill>
                  <a:srgbClr val="0070C0"/>
                </a:solidFill>
              </a:rPr>
              <a:t>Cache</a:t>
            </a:r>
            <a:r>
              <a:rPr lang="uk-UA" sz="1800" b="1" dirty="0"/>
              <a:t> </a:t>
            </a:r>
            <a:endParaRPr lang="en-US" sz="1800" b="1" dirty="0"/>
          </a:p>
          <a:p>
            <a:pPr marL="0" indent="0">
              <a:buNone/>
            </a:pPr>
            <a:r>
              <a:rPr lang="uk-UA" sz="1800" u="sng" dirty="0"/>
              <a:t>У відповідях сервера </a:t>
            </a:r>
            <a:r>
              <a:rPr lang="uk-UA" sz="1800" dirty="0"/>
              <a:t>має бути зазначено, </a:t>
            </a:r>
            <a:r>
              <a:rPr lang="uk-UA" sz="1800" u="sng" dirty="0"/>
              <a:t>кешується відповідь чи не кешується</a:t>
            </a:r>
            <a:r>
              <a:rPr lang="uk-UA" sz="1800" dirty="0"/>
              <a:t>. </a:t>
            </a:r>
          </a:p>
          <a:p>
            <a:pPr marL="0" indent="0">
              <a:buNone/>
            </a:pPr>
            <a:r>
              <a:rPr lang="uk-UA" sz="1800" dirty="0"/>
              <a:t>Якщо вона кешується, клієнт може використовувати дані з відповіді для подальших запитів.</a:t>
            </a:r>
          </a:p>
        </p:txBody>
      </p:sp>
      <p:pic>
        <p:nvPicPr>
          <p:cNvPr id="2" name="Picture 1"/>
          <p:cNvPicPr>
            <a:picLocks noChangeAspect="1"/>
          </p:cNvPicPr>
          <p:nvPr/>
        </p:nvPicPr>
        <p:blipFill>
          <a:blip r:embed="rId2"/>
          <a:stretch>
            <a:fillRect/>
          </a:stretch>
        </p:blipFill>
        <p:spPr>
          <a:xfrm>
            <a:off x="6390640" y="2139565"/>
            <a:ext cx="4682111" cy="3954062"/>
          </a:xfrm>
          <a:prstGeom prst="rect">
            <a:avLst/>
          </a:prstGeom>
        </p:spPr>
      </p:pic>
    </p:spTree>
    <p:extLst>
      <p:ext uri="{BB962C8B-B14F-4D97-AF65-F5344CB8AC3E}">
        <p14:creationId xmlns:p14="http://schemas.microsoft.com/office/powerpoint/2010/main" val="37506930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69FEB7-140E-7B0A-D508-D56DA9304951}"/>
              </a:ext>
            </a:extLst>
          </p:cNvPr>
          <p:cNvSpPr>
            <a:spLocks noGrp="1"/>
          </p:cNvSpPr>
          <p:nvPr>
            <p:ph type="title"/>
          </p:nvPr>
        </p:nvSpPr>
        <p:spPr/>
        <p:txBody>
          <a:bodyPr/>
          <a:lstStyle/>
          <a:p>
            <a:r>
              <a:rPr lang="uk-UA" dirty="0"/>
              <a:t>Стиль </a:t>
            </a:r>
            <a:r>
              <a:rPr lang="en-US" dirty="0"/>
              <a:t>REST</a:t>
            </a:r>
            <a:endParaRPr lang="uk-UA" dirty="0"/>
          </a:p>
        </p:txBody>
      </p:sp>
      <p:sp>
        <p:nvSpPr>
          <p:cNvPr id="3" name="Content Placeholder 2"/>
          <p:cNvSpPr>
            <a:spLocks noGrp="1"/>
          </p:cNvSpPr>
          <p:nvPr>
            <p:ph idx="1"/>
          </p:nvPr>
        </p:nvSpPr>
        <p:spPr>
          <a:xfrm>
            <a:off x="533400" y="1879600"/>
            <a:ext cx="11231880" cy="4622800"/>
          </a:xfrm>
        </p:spPr>
        <p:txBody>
          <a:bodyPr>
            <a:normAutofit fontScale="85000" lnSpcReduction="20000"/>
          </a:bodyPr>
          <a:lstStyle/>
          <a:p>
            <a:pPr marL="0" indent="0">
              <a:buNone/>
            </a:pPr>
            <a:r>
              <a:rPr lang="en-US" sz="1800" b="1" dirty="0">
                <a:solidFill>
                  <a:srgbClr val="0070C0"/>
                </a:solidFill>
              </a:rPr>
              <a:t>Uniform Interface (</a:t>
            </a:r>
            <a:r>
              <a:rPr lang="uk-UA" sz="1800" b="1" dirty="0">
                <a:solidFill>
                  <a:srgbClr val="0070C0"/>
                </a:solidFill>
              </a:rPr>
              <a:t>Уніфікований інтерфейс</a:t>
            </a:r>
            <a:r>
              <a:rPr lang="en-US" sz="1800" b="1" dirty="0">
                <a:solidFill>
                  <a:srgbClr val="0070C0"/>
                </a:solidFill>
              </a:rPr>
              <a:t>)</a:t>
            </a:r>
            <a:r>
              <a:rPr lang="uk-UA" sz="1800" b="1" dirty="0">
                <a:solidFill>
                  <a:srgbClr val="0070C0"/>
                </a:solidFill>
              </a:rPr>
              <a:t> </a:t>
            </a:r>
          </a:p>
          <a:p>
            <a:pPr marL="0" indent="0">
              <a:buNone/>
            </a:pPr>
            <a:endParaRPr lang="uk-UA" sz="1800" b="1" dirty="0"/>
          </a:p>
          <a:p>
            <a:pPr marL="0" indent="0">
              <a:buNone/>
            </a:pPr>
            <a:r>
              <a:rPr lang="uk-UA" sz="1800" dirty="0"/>
              <a:t>Інтерфейс між клієнтом і сервером повинен відповідати чотирьом принципам:</a:t>
            </a:r>
          </a:p>
          <a:p>
            <a:pPr marL="0" indent="0">
              <a:buNone/>
            </a:pPr>
            <a:r>
              <a:rPr lang="uk-UA" sz="1800" b="1" dirty="0">
                <a:solidFill>
                  <a:srgbClr val="0070C0"/>
                </a:solidFill>
              </a:rPr>
              <a:t>1. Ідентифікація ресурсів</a:t>
            </a:r>
            <a:r>
              <a:rPr lang="uk-UA" sz="1800" dirty="0"/>
              <a:t>. Ресурс повинен бути ідентифікований у запиті як </a:t>
            </a:r>
            <a:r>
              <a:rPr lang="uk-UA" sz="1800" u="sng" dirty="0"/>
              <a:t>окремий об’єкт, до якого сервер буде звертатися та керувати ним</a:t>
            </a:r>
            <a:r>
              <a:rPr lang="uk-UA" sz="1800" dirty="0"/>
              <a:t>. Ресурсом може бути будь-яка інформація, наприклад документ, зображення, особа, набір інших ресурсів тощо. Наприклад, у запиті на зміну пароля для користувача необхідно ідентифікувати окремого користувача. </a:t>
            </a:r>
            <a:endParaRPr lang="en-US" sz="1800" dirty="0"/>
          </a:p>
          <a:p>
            <a:pPr marL="0" indent="0">
              <a:buNone/>
            </a:pPr>
            <a:r>
              <a:rPr lang="uk-UA" sz="1800" b="1" dirty="0">
                <a:solidFill>
                  <a:srgbClr val="0070C0"/>
                </a:solidFill>
              </a:rPr>
              <a:t>2. Маніпулювання ресурсами через представлення </a:t>
            </a:r>
            <a:r>
              <a:rPr lang="uk-UA" sz="1800" dirty="0"/>
              <a:t>– </a:t>
            </a:r>
            <a:r>
              <a:rPr lang="uk-UA" sz="1800" u="sng" dirty="0"/>
              <a:t>клієнт отримує представлення ресурсу від сервера</a:t>
            </a:r>
            <a:r>
              <a:rPr lang="uk-UA" sz="1800" dirty="0"/>
              <a:t>. Це представлення має містити достатньо даних або метаданих, щоб клієнт міг маніпулювати ресурсом. Наприклад, запит, призначений для заповнення профілю користувача, повинен містити інформацію профілю. Представлення може бути точною копією ресурсу на сервері або навіть спрощеною версією ресурсу, але не, наприклад, просто ідентифікатором додаткового ресурсу. </a:t>
            </a:r>
            <a:endParaRPr lang="en-US" sz="1800" dirty="0"/>
          </a:p>
          <a:p>
            <a:pPr marL="0" indent="0">
              <a:buNone/>
            </a:pPr>
            <a:r>
              <a:rPr lang="uk-UA" sz="1800" b="1" dirty="0">
                <a:solidFill>
                  <a:srgbClr val="0070C0"/>
                </a:solidFill>
              </a:rPr>
              <a:t>3.</a:t>
            </a:r>
            <a:r>
              <a:rPr lang="uk-UA" sz="1800" b="1" dirty="0"/>
              <a:t> </a:t>
            </a:r>
            <a:r>
              <a:rPr lang="uk-UA" sz="1800" b="1" dirty="0">
                <a:solidFill>
                  <a:srgbClr val="0070C0"/>
                </a:solidFill>
              </a:rPr>
              <a:t>Повідомлення з самоописом </a:t>
            </a:r>
            <a:r>
              <a:rPr lang="uk-UA" sz="1800" dirty="0"/>
              <a:t>– кожне </a:t>
            </a:r>
            <a:r>
              <a:rPr lang="uk-UA" sz="1800" u="sng" dirty="0"/>
              <a:t>повідомлення має містити всю інформацію</a:t>
            </a:r>
            <a:r>
              <a:rPr lang="uk-UA" sz="1800" dirty="0"/>
              <a:t>, яку одержувач може обробити.</a:t>
            </a:r>
          </a:p>
          <a:p>
            <a:pPr marL="0" indent="0">
              <a:buNone/>
            </a:pPr>
            <a:r>
              <a:rPr lang="uk-UA" sz="1800" dirty="0"/>
              <a:t>Прикладами інформації можуть бути: </a:t>
            </a:r>
            <a:endParaRPr lang="en-US" sz="1800" dirty="0"/>
          </a:p>
          <a:p>
            <a:pPr marL="715963" indent="0">
              <a:buNone/>
            </a:pPr>
            <a:r>
              <a:rPr lang="en-US" sz="1800" dirty="0"/>
              <a:t>- </a:t>
            </a:r>
            <a:r>
              <a:rPr lang="uk-UA" sz="1800" dirty="0"/>
              <a:t>Тип протоколу </a:t>
            </a:r>
            <a:endParaRPr lang="en-US" sz="1800" dirty="0"/>
          </a:p>
          <a:p>
            <a:pPr marL="715963" indent="0">
              <a:buNone/>
            </a:pPr>
            <a:r>
              <a:rPr lang="en-US" sz="1800" dirty="0"/>
              <a:t>- </a:t>
            </a:r>
            <a:r>
              <a:rPr lang="uk-UA" sz="1800" dirty="0"/>
              <a:t>Формат даних повідомлення </a:t>
            </a:r>
            <a:endParaRPr lang="en-US" sz="1800" dirty="0"/>
          </a:p>
          <a:p>
            <a:pPr marL="715963" indent="0">
              <a:buNone/>
            </a:pPr>
            <a:r>
              <a:rPr lang="en-US" sz="1800" dirty="0"/>
              <a:t>- </a:t>
            </a:r>
            <a:r>
              <a:rPr lang="uk-UA" sz="1800" dirty="0"/>
              <a:t>Запитувана операція</a:t>
            </a:r>
            <a:endParaRPr lang="en-US" sz="1800" dirty="0"/>
          </a:p>
          <a:p>
            <a:pPr marL="0" indent="0">
              <a:buNone/>
            </a:pPr>
            <a:r>
              <a:rPr lang="uk-UA" sz="1800" b="1" dirty="0">
                <a:solidFill>
                  <a:srgbClr val="0070C0"/>
                </a:solidFill>
              </a:rPr>
              <a:t>4. Гіпермедіа як механізм стану програми </a:t>
            </a:r>
            <a:r>
              <a:rPr lang="en-US" sz="1800" dirty="0"/>
              <a:t>- </a:t>
            </a:r>
            <a:r>
              <a:rPr lang="uk-UA" sz="1800" dirty="0"/>
              <a:t>дані, надіслані сервером, повинні включати </a:t>
            </a:r>
            <a:r>
              <a:rPr lang="uk-UA" sz="1800" u="sng" dirty="0"/>
              <a:t>додаткові дії та ресурси, доступні клієнту</a:t>
            </a:r>
            <a:r>
              <a:rPr lang="uk-UA" sz="1800" dirty="0"/>
              <a:t> для доступу до додаткової інформації про ресурс. </a:t>
            </a:r>
          </a:p>
        </p:txBody>
      </p:sp>
    </p:spTree>
    <p:extLst>
      <p:ext uri="{BB962C8B-B14F-4D97-AF65-F5344CB8AC3E}">
        <p14:creationId xmlns:p14="http://schemas.microsoft.com/office/powerpoint/2010/main" val="15799914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CA002266-48D2-6BFB-CE40-F99F8C9C1CC0}"/>
              </a:ext>
            </a:extLst>
          </p:cNvPr>
          <p:cNvSpPr>
            <a:spLocks noGrp="1"/>
          </p:cNvSpPr>
          <p:nvPr>
            <p:ph type="title"/>
          </p:nvPr>
        </p:nvSpPr>
        <p:spPr>
          <a:xfrm>
            <a:off x="7264400" y="334163"/>
            <a:ext cx="3820160" cy="1293028"/>
          </a:xfrm>
        </p:spPr>
        <p:txBody>
          <a:bodyPr/>
          <a:lstStyle/>
          <a:p>
            <a:r>
              <a:rPr lang="uk-UA" dirty="0"/>
              <a:t>Стиль </a:t>
            </a:r>
            <a:r>
              <a:rPr lang="en-US" dirty="0"/>
              <a:t>Rest</a:t>
            </a:r>
            <a:endParaRPr lang="uk-UA" dirty="0"/>
          </a:p>
        </p:txBody>
      </p:sp>
      <p:sp>
        <p:nvSpPr>
          <p:cNvPr id="3" name="Content Placeholder 2"/>
          <p:cNvSpPr>
            <a:spLocks noGrp="1"/>
          </p:cNvSpPr>
          <p:nvPr>
            <p:ph idx="1"/>
          </p:nvPr>
        </p:nvSpPr>
        <p:spPr>
          <a:xfrm>
            <a:off x="343043" y="1640985"/>
            <a:ext cx="5488797" cy="2032000"/>
          </a:xfrm>
        </p:spPr>
        <p:txBody>
          <a:bodyPr>
            <a:normAutofit/>
          </a:bodyPr>
          <a:lstStyle/>
          <a:p>
            <a:pPr marL="0" indent="0">
              <a:buNone/>
            </a:pPr>
            <a:r>
              <a:rPr lang="en-US" sz="1800" b="1" dirty="0">
                <a:solidFill>
                  <a:srgbClr val="0070C0"/>
                </a:solidFill>
              </a:rPr>
              <a:t>Layered System (</a:t>
            </a:r>
            <a:r>
              <a:rPr lang="ru-RU" sz="1800" b="1" dirty="0" err="1">
                <a:solidFill>
                  <a:srgbClr val="0070C0"/>
                </a:solidFill>
              </a:rPr>
              <a:t>Багатошарова</a:t>
            </a:r>
            <a:r>
              <a:rPr lang="ru-RU" sz="1800" b="1" dirty="0">
                <a:solidFill>
                  <a:srgbClr val="0070C0"/>
                </a:solidFill>
              </a:rPr>
              <a:t> система</a:t>
            </a:r>
            <a:r>
              <a:rPr lang="en-US" sz="1800" b="1" dirty="0">
                <a:solidFill>
                  <a:srgbClr val="0070C0"/>
                </a:solidFill>
              </a:rPr>
              <a:t>)</a:t>
            </a:r>
            <a:r>
              <a:rPr lang="ru-RU" sz="1800" b="1" dirty="0">
                <a:solidFill>
                  <a:srgbClr val="0070C0"/>
                </a:solidFill>
              </a:rPr>
              <a:t> </a:t>
            </a:r>
            <a:endParaRPr lang="en-US" sz="1800" b="1" dirty="0">
              <a:solidFill>
                <a:srgbClr val="0070C0"/>
              </a:solidFill>
            </a:endParaRPr>
          </a:p>
          <a:p>
            <a:pPr marL="0" indent="0">
              <a:buNone/>
            </a:pPr>
            <a:r>
              <a:rPr lang="ru-RU" sz="1800" dirty="0"/>
              <a:t>Система складається з різних ієрархічних рівнів, в яких кожен рівень надає послуги тільки тому шару, що знаходиться вище. </a:t>
            </a:r>
            <a:r>
              <a:rPr lang="uk-UA" sz="1800" dirty="0"/>
              <a:t>У</a:t>
            </a:r>
            <a:r>
              <a:rPr lang="ru-RU" sz="1800" dirty="0"/>
              <a:t> результаті він споживає послуги з нижнього </a:t>
            </a:r>
            <a:r>
              <a:rPr lang="ru-RU" sz="1800" dirty="0" err="1"/>
              <a:t>рівня</a:t>
            </a:r>
            <a:r>
              <a:rPr lang="ru-RU" sz="1800" dirty="0"/>
              <a:t>.</a:t>
            </a:r>
          </a:p>
          <a:p>
            <a:pPr marL="0" indent="0">
              <a:buNone/>
            </a:pPr>
            <a:endParaRPr lang="ru-RU" sz="1800" dirty="0"/>
          </a:p>
          <a:p>
            <a:pPr marL="0" indent="0">
              <a:buNone/>
            </a:pPr>
            <a:endParaRPr lang="en-US" sz="1800" dirty="0"/>
          </a:p>
        </p:txBody>
      </p:sp>
      <p:pic>
        <p:nvPicPr>
          <p:cNvPr id="2" name="Picture 1"/>
          <p:cNvPicPr>
            <a:picLocks noChangeAspect="1"/>
          </p:cNvPicPr>
          <p:nvPr/>
        </p:nvPicPr>
        <p:blipFill>
          <a:blip r:embed="rId2"/>
          <a:stretch>
            <a:fillRect/>
          </a:stretch>
        </p:blipFill>
        <p:spPr>
          <a:xfrm>
            <a:off x="429403" y="3530745"/>
            <a:ext cx="4609957" cy="2931397"/>
          </a:xfrm>
          <a:prstGeom prst="rect">
            <a:avLst/>
          </a:prstGeom>
        </p:spPr>
      </p:pic>
      <p:sp>
        <p:nvSpPr>
          <p:cNvPr id="6" name="TextBox 5">
            <a:extLst>
              <a:ext uri="{FF2B5EF4-FFF2-40B4-BE49-F238E27FC236}">
                <a16:creationId xmlns:a16="http://schemas.microsoft.com/office/drawing/2014/main" id="{DEBFC206-3190-30D2-635B-E04548A13F19}"/>
              </a:ext>
            </a:extLst>
          </p:cNvPr>
          <p:cNvSpPr txBox="1"/>
          <p:nvPr/>
        </p:nvSpPr>
        <p:spPr>
          <a:xfrm>
            <a:off x="5918200" y="1656900"/>
            <a:ext cx="6096000" cy="2031325"/>
          </a:xfrm>
          <a:prstGeom prst="rect">
            <a:avLst/>
          </a:prstGeom>
          <a:noFill/>
        </p:spPr>
        <p:txBody>
          <a:bodyPr wrap="square">
            <a:spAutoFit/>
          </a:bodyPr>
          <a:lstStyle/>
          <a:p>
            <a:pPr marL="0" indent="0">
              <a:buNone/>
            </a:pPr>
            <a:r>
              <a:rPr lang="en-US" sz="1800" b="1" dirty="0">
                <a:solidFill>
                  <a:srgbClr val="0070C0"/>
                </a:solidFill>
              </a:rPr>
              <a:t>Code-On-Demand (</a:t>
            </a:r>
            <a:r>
              <a:rPr lang="uk-UA" sz="1800" b="1" dirty="0">
                <a:solidFill>
                  <a:srgbClr val="0070C0"/>
                </a:solidFill>
              </a:rPr>
              <a:t>Код за запитом</a:t>
            </a:r>
            <a:r>
              <a:rPr lang="en-US" sz="1800" b="1" dirty="0">
                <a:solidFill>
                  <a:srgbClr val="0070C0"/>
                </a:solidFill>
              </a:rPr>
              <a:t>)</a:t>
            </a:r>
          </a:p>
          <a:p>
            <a:pPr marL="0" indent="0">
              <a:buNone/>
            </a:pPr>
            <a:r>
              <a:rPr lang="uk-UA" sz="1800" dirty="0"/>
              <a:t>Це обмеження є необов’язковим і посилається на той факт, що інформація, яку повертає служба </a:t>
            </a:r>
            <a:r>
              <a:rPr lang="en-US" sz="1800" dirty="0"/>
              <a:t>REST, </a:t>
            </a:r>
            <a:r>
              <a:rPr lang="uk-UA" sz="1800" dirty="0"/>
              <a:t>може включати виконуваний код (наприклад, </a:t>
            </a:r>
            <a:r>
              <a:rPr lang="en-US" sz="1800" dirty="0"/>
              <a:t>JavaScript) </a:t>
            </a:r>
            <a:r>
              <a:rPr lang="uk-UA" sz="1800" dirty="0"/>
              <a:t>або посилання на такий код, призначений для корисного розширення функціональних можливостей клієнта. </a:t>
            </a:r>
          </a:p>
        </p:txBody>
      </p:sp>
    </p:spTree>
    <p:extLst>
      <p:ext uri="{BB962C8B-B14F-4D97-AF65-F5344CB8AC3E}">
        <p14:creationId xmlns:p14="http://schemas.microsoft.com/office/powerpoint/2010/main" val="10511483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1F3793B0-169D-4471-AB60-51D6E76821E5}"/>
              </a:ext>
            </a:extLst>
          </p:cNvPr>
          <p:cNvSpPr>
            <a:spLocks noGrp="1"/>
          </p:cNvSpPr>
          <p:nvPr>
            <p:ph type="title"/>
          </p:nvPr>
        </p:nvSpPr>
        <p:spPr>
          <a:xfrm>
            <a:off x="2895600" y="262227"/>
            <a:ext cx="8610600" cy="1293028"/>
          </a:xfrm>
        </p:spPr>
        <p:txBody>
          <a:bodyPr/>
          <a:lstStyle/>
          <a:p>
            <a:r>
              <a:rPr lang="uk-UA" sz="4000" b="1" dirty="0">
                <a:effectLst/>
              </a:rPr>
              <a:t>Вступ до </a:t>
            </a:r>
            <a:r>
              <a:rPr lang="en-US" sz="4000" b="1" dirty="0">
                <a:effectLst/>
              </a:rPr>
              <a:t>REST APIs</a:t>
            </a:r>
            <a:br>
              <a:rPr lang="en-US" sz="4000" b="1" dirty="0">
                <a:effectLst/>
              </a:rPr>
            </a:br>
            <a:endParaRPr lang="uk-UA" dirty="0"/>
          </a:p>
        </p:txBody>
      </p:sp>
      <p:pic>
        <p:nvPicPr>
          <p:cNvPr id="2" name="Picture 1"/>
          <p:cNvPicPr>
            <a:picLocks noChangeAspect="1"/>
          </p:cNvPicPr>
          <p:nvPr/>
        </p:nvPicPr>
        <p:blipFill>
          <a:blip r:embed="rId2"/>
          <a:stretch>
            <a:fillRect/>
          </a:stretch>
        </p:blipFill>
        <p:spPr>
          <a:xfrm>
            <a:off x="6276975" y="1635088"/>
            <a:ext cx="5456842" cy="2091350"/>
          </a:xfrm>
          <a:prstGeom prst="rect">
            <a:avLst/>
          </a:prstGeom>
        </p:spPr>
      </p:pic>
      <p:sp>
        <p:nvSpPr>
          <p:cNvPr id="4" name="Rectangle 3"/>
          <p:cNvSpPr/>
          <p:nvPr/>
        </p:nvSpPr>
        <p:spPr>
          <a:xfrm>
            <a:off x="361951" y="1387735"/>
            <a:ext cx="6096000" cy="1477328"/>
          </a:xfrm>
          <a:prstGeom prst="rect">
            <a:avLst/>
          </a:prstGeom>
        </p:spPr>
        <p:txBody>
          <a:bodyPr>
            <a:spAutoFit/>
          </a:bodyPr>
          <a:lstStyle/>
          <a:p>
            <a:r>
              <a:rPr lang="en-US" sz="1800" b="1" dirty="0">
                <a:solidFill>
                  <a:srgbClr val="0070C0"/>
                </a:solidFill>
                <a:effectLst/>
              </a:rPr>
              <a:t>REST API request/response model</a:t>
            </a:r>
            <a:endParaRPr lang="uk-UA" dirty="0">
              <a:solidFill>
                <a:srgbClr val="0070C0"/>
              </a:solidFill>
            </a:endParaRPr>
          </a:p>
          <a:p>
            <a:r>
              <a:rPr lang="en-US" dirty="0"/>
              <a:t>API </a:t>
            </a:r>
            <a:r>
              <a:rPr lang="uk-UA" dirty="0"/>
              <a:t>веб-сервісу </a:t>
            </a:r>
            <a:r>
              <a:rPr lang="en-US" dirty="0"/>
              <a:t>REST (REST API) — </a:t>
            </a:r>
            <a:r>
              <a:rPr lang="uk-UA" dirty="0"/>
              <a:t>це інтерфейс програмування, який спілкується через </a:t>
            </a:r>
            <a:r>
              <a:rPr lang="en-US" dirty="0"/>
              <a:t>HTTP, </a:t>
            </a:r>
            <a:r>
              <a:rPr lang="uk-UA" dirty="0"/>
              <a:t>дотримуючись принципів архітектурного стилю </a:t>
            </a:r>
            <a:r>
              <a:rPr lang="en-US" dirty="0"/>
              <a:t>REST.</a:t>
            </a:r>
          </a:p>
        </p:txBody>
      </p:sp>
      <p:sp>
        <p:nvSpPr>
          <p:cNvPr id="5" name="Rectangle 4"/>
          <p:cNvSpPr/>
          <p:nvPr/>
        </p:nvSpPr>
        <p:spPr>
          <a:xfrm>
            <a:off x="361951" y="4062925"/>
            <a:ext cx="11830049" cy="1754326"/>
          </a:xfrm>
          <a:prstGeom prst="rect">
            <a:avLst/>
          </a:prstGeom>
        </p:spPr>
        <p:txBody>
          <a:bodyPr wrap="square">
            <a:spAutoFit/>
          </a:bodyPr>
          <a:lstStyle/>
          <a:p>
            <a:r>
              <a:rPr lang="uk-UA" dirty="0"/>
              <a:t>Оскільки </a:t>
            </a:r>
            <a:r>
              <a:rPr lang="en-US" dirty="0"/>
              <a:t>REST API </a:t>
            </a:r>
            <a:r>
              <a:rPr lang="uk-UA" dirty="0"/>
              <a:t>спілкуються через </a:t>
            </a:r>
            <a:r>
              <a:rPr lang="en-US" dirty="0"/>
              <a:t>HTTP, </a:t>
            </a:r>
            <a:r>
              <a:rPr lang="uk-UA" dirty="0"/>
              <a:t>вони використовують ті ж концепції, що й протокол </a:t>
            </a:r>
            <a:r>
              <a:rPr lang="en-US" dirty="0"/>
              <a:t>HTTP:</a:t>
            </a:r>
          </a:p>
          <a:p>
            <a:pPr marL="285750" indent="-285750">
              <a:buFont typeface="Arial" panose="020B0604020202020204" pitchFamily="34" charset="0"/>
              <a:buChar char="•"/>
            </a:pPr>
            <a:r>
              <a:rPr lang="en-US" dirty="0"/>
              <a:t>HTTP requests/responses</a:t>
            </a:r>
          </a:p>
          <a:p>
            <a:pPr marL="285750" indent="-285750">
              <a:buFont typeface="Arial" panose="020B0604020202020204" pitchFamily="34" charset="0"/>
              <a:buChar char="•"/>
            </a:pPr>
            <a:r>
              <a:rPr lang="en-US" dirty="0"/>
              <a:t>HTTP verbs</a:t>
            </a:r>
          </a:p>
          <a:p>
            <a:pPr marL="285750" indent="-285750">
              <a:buFont typeface="Arial" panose="020B0604020202020204" pitchFamily="34" charset="0"/>
              <a:buChar char="•"/>
            </a:pPr>
            <a:r>
              <a:rPr lang="en-US" dirty="0"/>
              <a:t>HTTP status codes</a:t>
            </a:r>
          </a:p>
          <a:p>
            <a:pPr marL="285750" indent="-285750">
              <a:buFont typeface="Arial" panose="020B0604020202020204" pitchFamily="34" charset="0"/>
              <a:buChar char="•"/>
            </a:pPr>
            <a:r>
              <a:rPr lang="en-US" dirty="0"/>
              <a:t>HTTP headers/body</a:t>
            </a:r>
          </a:p>
          <a:p>
            <a:endParaRPr lang="uk-UA" dirty="0"/>
          </a:p>
        </p:txBody>
      </p:sp>
    </p:spTree>
    <p:extLst>
      <p:ext uri="{BB962C8B-B14F-4D97-AF65-F5344CB8AC3E}">
        <p14:creationId xmlns:p14="http://schemas.microsoft.com/office/powerpoint/2010/main" val="4259769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9D10EC-3F6C-EF38-6771-866003ED55FB}"/>
              </a:ext>
            </a:extLst>
          </p:cNvPr>
          <p:cNvSpPr>
            <a:spLocks noGrp="1"/>
          </p:cNvSpPr>
          <p:nvPr>
            <p:ph type="title"/>
          </p:nvPr>
        </p:nvSpPr>
        <p:spPr/>
        <p:txBody>
          <a:bodyPr/>
          <a:lstStyle/>
          <a:p>
            <a:r>
              <a:rPr lang="en-US" sz="4000" b="1" dirty="0">
                <a:effectLst/>
              </a:rPr>
              <a:t>REST API Requests</a:t>
            </a:r>
            <a:br>
              <a:rPr lang="uk-UA" sz="4000" b="1" dirty="0">
                <a:effectLst/>
              </a:rPr>
            </a:br>
            <a:endParaRPr lang="uk-UA" dirty="0"/>
          </a:p>
        </p:txBody>
      </p:sp>
      <p:sp>
        <p:nvSpPr>
          <p:cNvPr id="3" name="Content Placeholder 2"/>
          <p:cNvSpPr>
            <a:spLocks noGrp="1"/>
          </p:cNvSpPr>
          <p:nvPr>
            <p:ph idx="1"/>
          </p:nvPr>
        </p:nvSpPr>
        <p:spPr>
          <a:xfrm>
            <a:off x="421640" y="1584960"/>
            <a:ext cx="11282680" cy="4785360"/>
          </a:xfrm>
        </p:spPr>
        <p:txBody>
          <a:bodyPr>
            <a:normAutofit fontScale="70000" lnSpcReduction="20000"/>
          </a:bodyPr>
          <a:lstStyle/>
          <a:p>
            <a:pPr marL="0" indent="0" algn="ctr">
              <a:buNone/>
            </a:pPr>
            <a:endParaRPr lang="en-US" sz="1800" b="1" dirty="0">
              <a:effectLst/>
            </a:endParaRPr>
          </a:p>
          <a:p>
            <a:pPr marL="0" indent="0">
              <a:buNone/>
            </a:pPr>
            <a:r>
              <a:rPr lang="uk-UA" sz="1800" dirty="0"/>
              <a:t>Запити </a:t>
            </a:r>
            <a:r>
              <a:rPr lang="en-US" sz="1800" dirty="0"/>
              <a:t>REST API </a:t>
            </a:r>
            <a:r>
              <a:rPr lang="uk-UA" sz="1800" dirty="0"/>
              <a:t>по суті є </a:t>
            </a:r>
            <a:r>
              <a:rPr lang="en-US" sz="1800" dirty="0"/>
              <a:t>HTTP-</a:t>
            </a:r>
            <a:r>
              <a:rPr lang="uk-UA" sz="1800" dirty="0"/>
              <a:t>запитами, які відповідають принципам </a:t>
            </a:r>
            <a:r>
              <a:rPr lang="en-US" sz="1800" dirty="0"/>
              <a:t>REST. </a:t>
            </a:r>
            <a:r>
              <a:rPr lang="uk-UA" sz="1800" dirty="0"/>
              <a:t>Ці запити є способом для програми (клієнта) попросити сервер виконати функцію. Оскільки це </a:t>
            </a:r>
            <a:r>
              <a:rPr lang="en-US" sz="1800" dirty="0"/>
              <a:t>API, </a:t>
            </a:r>
            <a:r>
              <a:rPr lang="uk-UA" sz="1800" dirty="0"/>
              <a:t>ці функції попередньо визначені сервером і повинні відповідати наданій специфікації. </a:t>
            </a:r>
          </a:p>
          <a:p>
            <a:pPr marL="0" indent="0">
              <a:buNone/>
            </a:pPr>
            <a:endParaRPr lang="uk-UA" sz="1800" dirty="0"/>
          </a:p>
          <a:p>
            <a:pPr marL="0" indent="0">
              <a:buNone/>
            </a:pPr>
            <a:r>
              <a:rPr lang="en-US" sz="1800" u="sng" dirty="0">
                <a:effectLst/>
              </a:rPr>
              <a:t>REST API </a:t>
            </a:r>
            <a:r>
              <a:rPr lang="uk-UA" sz="1800" u="sng" dirty="0">
                <a:effectLst/>
              </a:rPr>
              <a:t>запити складаються з чотирьох компонент</a:t>
            </a:r>
            <a:r>
              <a:rPr lang="en-US" sz="1800" dirty="0">
                <a:effectLst/>
              </a:rPr>
              <a:t>:</a:t>
            </a:r>
          </a:p>
          <a:p>
            <a:r>
              <a:rPr lang="en-US" sz="1800" dirty="0">
                <a:effectLst/>
              </a:rPr>
              <a:t>Uniform Resource Identifier (URI)</a:t>
            </a:r>
          </a:p>
          <a:p>
            <a:r>
              <a:rPr lang="en-US" sz="1800" dirty="0">
                <a:effectLst/>
              </a:rPr>
              <a:t>HTTP Method</a:t>
            </a:r>
          </a:p>
          <a:p>
            <a:r>
              <a:rPr lang="en-US" sz="1800" dirty="0">
                <a:effectLst/>
              </a:rPr>
              <a:t>Header</a:t>
            </a:r>
          </a:p>
          <a:p>
            <a:r>
              <a:rPr lang="en-US" sz="1800" dirty="0">
                <a:effectLst/>
              </a:rPr>
              <a:t>Body</a:t>
            </a:r>
            <a:endParaRPr lang="uk-UA" sz="1800" dirty="0">
              <a:effectLst/>
            </a:endParaRPr>
          </a:p>
          <a:p>
            <a:endParaRPr lang="en-US" sz="1800" dirty="0">
              <a:effectLst/>
            </a:endParaRPr>
          </a:p>
          <a:p>
            <a:pPr marL="0" indent="0">
              <a:buNone/>
            </a:pPr>
            <a:r>
              <a:rPr lang="en-US" sz="1800" b="1" dirty="0">
                <a:effectLst/>
              </a:rPr>
              <a:t>Uniform Resource Identifier (URI)</a:t>
            </a:r>
            <a:endParaRPr lang="en-US" sz="1800" dirty="0">
              <a:effectLst/>
            </a:endParaRPr>
          </a:p>
          <a:p>
            <a:pPr marL="0" indent="0">
              <a:buNone/>
            </a:pPr>
            <a:r>
              <a:rPr lang="en-US" sz="1800" dirty="0">
                <a:effectLst/>
              </a:rPr>
              <a:t>Uniform Resource Identifier (URI) </a:t>
            </a:r>
            <a:r>
              <a:rPr lang="uk-UA" sz="1800" dirty="0">
                <a:effectLst/>
              </a:rPr>
              <a:t>іноді плутають з </a:t>
            </a:r>
            <a:r>
              <a:rPr lang="en-US" sz="1800" dirty="0">
                <a:effectLst/>
              </a:rPr>
              <a:t>Uniform Resource Locator (URL). </a:t>
            </a:r>
            <a:r>
              <a:rPr lang="en-US" sz="1800" u="sng" dirty="0">
                <a:effectLst/>
              </a:rPr>
              <a:t>URI </a:t>
            </a:r>
            <a:r>
              <a:rPr lang="uk-UA" sz="1800" u="sng" dirty="0">
                <a:effectLst/>
              </a:rPr>
              <a:t>визначає з яким ресурсом хоче взаємодіяти клієнт</a:t>
            </a:r>
            <a:r>
              <a:rPr lang="en-US" sz="1800" dirty="0">
                <a:effectLst/>
              </a:rPr>
              <a:t>. </a:t>
            </a:r>
            <a:r>
              <a:rPr lang="uk-UA" sz="1800" dirty="0"/>
              <a:t>Запит </a:t>
            </a:r>
            <a:r>
              <a:rPr lang="en-US" sz="1800" dirty="0"/>
              <a:t>REST </a:t>
            </a:r>
            <a:r>
              <a:rPr lang="uk-UA" sz="1800" dirty="0"/>
              <a:t>повинен ідентифікувати запитуваний ресурс; ідентифікація ресурсів для </a:t>
            </a:r>
            <a:r>
              <a:rPr lang="en-US" sz="1800" dirty="0"/>
              <a:t>REST API </a:t>
            </a:r>
            <a:r>
              <a:rPr lang="uk-UA" sz="1800" dirty="0"/>
              <a:t>зазвичай є частиною </a:t>
            </a:r>
            <a:r>
              <a:rPr lang="en-US" sz="1800" dirty="0"/>
              <a:t>URI </a:t>
            </a:r>
            <a:r>
              <a:rPr lang="en-US" sz="1800" dirty="0">
                <a:effectLst/>
              </a:rPr>
              <a:t>.</a:t>
            </a:r>
          </a:p>
          <a:p>
            <a:pPr marL="0" indent="0">
              <a:buNone/>
            </a:pPr>
            <a:r>
              <a:rPr lang="ru-RU" sz="1800" dirty="0"/>
              <a:t>URI по суті є таким же форматом, що й URL-адреса, яку ви використовуєте у браузері для переходу на веб-сторінку. </a:t>
            </a:r>
          </a:p>
          <a:p>
            <a:pPr marL="0" indent="0">
              <a:buNone/>
            </a:pPr>
            <a:r>
              <a:rPr lang="ru-RU" sz="1800" u="sng" dirty="0"/>
              <a:t>Синтаксис </a:t>
            </a:r>
            <a:r>
              <a:rPr lang="en-US" sz="1800" u="sng" dirty="0"/>
              <a:t>URI </a:t>
            </a:r>
            <a:r>
              <a:rPr lang="ru-RU" sz="1800" u="sng" dirty="0"/>
              <a:t>складається з таких компонентів у цьому конкретному порядку</a:t>
            </a:r>
            <a:r>
              <a:rPr lang="ru-RU" sz="1800" dirty="0"/>
              <a:t>: </a:t>
            </a:r>
          </a:p>
          <a:p>
            <a:r>
              <a:rPr lang="en-US" sz="1800" dirty="0">
                <a:effectLst/>
              </a:rPr>
              <a:t>Scheme</a:t>
            </a:r>
          </a:p>
          <a:p>
            <a:r>
              <a:rPr lang="en-US" sz="1800" dirty="0">
                <a:effectLst/>
              </a:rPr>
              <a:t>Authority</a:t>
            </a:r>
          </a:p>
          <a:p>
            <a:r>
              <a:rPr lang="en-US" sz="1800" dirty="0">
                <a:effectLst/>
              </a:rPr>
              <a:t>Path</a:t>
            </a:r>
          </a:p>
          <a:p>
            <a:r>
              <a:rPr lang="en-US" sz="1800" dirty="0">
                <a:effectLst/>
              </a:rPr>
              <a:t>Query</a:t>
            </a:r>
          </a:p>
          <a:p>
            <a:pPr marL="0" indent="0">
              <a:buNone/>
            </a:pPr>
            <a:endParaRPr lang="uk-UA" sz="1800" dirty="0"/>
          </a:p>
        </p:txBody>
      </p:sp>
    </p:spTree>
    <p:extLst>
      <p:ext uri="{BB962C8B-B14F-4D97-AF65-F5344CB8AC3E}">
        <p14:creationId xmlns:p14="http://schemas.microsoft.com/office/powerpoint/2010/main" val="13401745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D1A9B2-94CA-BFDB-BB91-A40992EA9ABD}"/>
              </a:ext>
            </a:extLst>
          </p:cNvPr>
          <p:cNvSpPr>
            <a:spLocks noGrp="1"/>
          </p:cNvSpPr>
          <p:nvPr>
            <p:ph type="title"/>
          </p:nvPr>
        </p:nvSpPr>
        <p:spPr>
          <a:xfrm>
            <a:off x="2895600" y="764373"/>
            <a:ext cx="8610600" cy="1003467"/>
          </a:xfrm>
        </p:spPr>
        <p:txBody>
          <a:bodyPr>
            <a:normAutofit fontScale="90000"/>
          </a:bodyPr>
          <a:lstStyle/>
          <a:p>
            <a:r>
              <a:rPr lang="en-US" sz="4000" b="1" dirty="0">
                <a:effectLst/>
              </a:rPr>
              <a:t>REST API Requests</a:t>
            </a:r>
            <a:br>
              <a:rPr lang="uk-UA" sz="4000" b="1" dirty="0">
                <a:effectLst/>
              </a:rPr>
            </a:br>
            <a:endParaRPr lang="uk-UA" dirty="0"/>
          </a:p>
        </p:txBody>
      </p:sp>
      <p:sp>
        <p:nvSpPr>
          <p:cNvPr id="3" name="Content Placeholder 2"/>
          <p:cNvSpPr>
            <a:spLocks noGrp="1"/>
          </p:cNvSpPr>
          <p:nvPr>
            <p:ph idx="1"/>
          </p:nvPr>
        </p:nvSpPr>
        <p:spPr>
          <a:xfrm>
            <a:off x="401320" y="1592998"/>
            <a:ext cx="11619926" cy="3852762"/>
          </a:xfrm>
        </p:spPr>
        <p:txBody>
          <a:bodyPr>
            <a:normAutofit fontScale="85000" lnSpcReduction="20000"/>
          </a:bodyPr>
          <a:lstStyle/>
          <a:p>
            <a:pPr marL="0" indent="0">
              <a:buNone/>
            </a:pPr>
            <a:r>
              <a:rPr lang="ru-RU" sz="1800" dirty="0"/>
              <a:t>Коли ви з’єднаєте компоненти разом, URI буде виглядати так: </a:t>
            </a:r>
            <a:endParaRPr lang="uk-UA" sz="1800" dirty="0"/>
          </a:p>
          <a:p>
            <a:pPr marL="0" indent="0">
              <a:buNone/>
            </a:pPr>
            <a:r>
              <a:rPr lang="en-US" sz="1800" b="1" dirty="0">
                <a:solidFill>
                  <a:srgbClr val="0070C0"/>
                </a:solidFill>
              </a:rPr>
              <a:t>Scheme</a:t>
            </a:r>
            <a:endParaRPr lang="en-US" sz="1800" dirty="0">
              <a:solidFill>
                <a:srgbClr val="0070C0"/>
              </a:solidFill>
            </a:endParaRPr>
          </a:p>
          <a:p>
            <a:pPr marL="0" indent="0">
              <a:buNone/>
            </a:pPr>
            <a:r>
              <a:rPr lang="ru-RU" sz="1800" dirty="0"/>
              <a:t>Схема визначає, який протокол HTTP слід використовувати. Для REST API є два варіанти</a:t>
            </a:r>
            <a:r>
              <a:rPr lang="en-US" sz="1800" dirty="0"/>
              <a:t>:</a:t>
            </a:r>
          </a:p>
          <a:p>
            <a:pPr marL="0" indent="0">
              <a:buNone/>
            </a:pPr>
            <a:r>
              <a:rPr lang="uk-UA" sz="1800" dirty="0"/>
              <a:t>		1)</a:t>
            </a:r>
            <a:r>
              <a:rPr lang="en-US" sz="1800" dirty="0"/>
              <a:t>http – </a:t>
            </a:r>
            <a:r>
              <a:rPr lang="uk-UA" sz="1800" dirty="0"/>
              <a:t>відкрите з’єднання		2) </a:t>
            </a:r>
            <a:r>
              <a:rPr lang="en-US" sz="1800" dirty="0"/>
              <a:t>https – </a:t>
            </a:r>
            <a:r>
              <a:rPr lang="uk-UA" sz="1800" dirty="0"/>
              <a:t>захищене з’єднання</a:t>
            </a:r>
            <a:endParaRPr lang="uk-UA" sz="1800" b="1" dirty="0"/>
          </a:p>
          <a:p>
            <a:pPr marL="0" indent="0">
              <a:buNone/>
            </a:pPr>
            <a:r>
              <a:rPr lang="en-US" sz="1800" b="1" dirty="0">
                <a:solidFill>
                  <a:srgbClr val="0070C0"/>
                </a:solidFill>
              </a:rPr>
              <a:t>Authority</a:t>
            </a:r>
            <a:endParaRPr lang="en-US" sz="1800" dirty="0">
              <a:solidFill>
                <a:srgbClr val="0070C0"/>
              </a:solidFill>
            </a:endParaRPr>
          </a:p>
          <a:p>
            <a:pPr marL="0" indent="0">
              <a:buNone/>
            </a:pPr>
            <a:r>
              <a:rPr lang="en-US" sz="1800" dirty="0"/>
              <a:t>Authority</a:t>
            </a:r>
            <a:r>
              <a:rPr lang="ru-RU" sz="1800" dirty="0"/>
              <a:t> </a:t>
            </a:r>
            <a:r>
              <a:rPr lang="en-US" sz="1800" dirty="0"/>
              <a:t>(</a:t>
            </a:r>
            <a:r>
              <a:rPr lang="ru-RU" sz="1800" dirty="0"/>
              <a:t>повноваження</a:t>
            </a:r>
            <a:r>
              <a:rPr lang="en-US" sz="1800" dirty="0"/>
              <a:t>)</a:t>
            </a:r>
            <a:r>
              <a:rPr lang="ru-RU" sz="1800" dirty="0"/>
              <a:t>, або призначення, складається з двох частин, перед якими стоять дві косі риски </a:t>
            </a:r>
            <a:r>
              <a:rPr lang="uk-UA" sz="1800" dirty="0"/>
              <a:t>(</a:t>
            </a:r>
            <a:r>
              <a:rPr lang="uk-UA" sz="1800" b="1" dirty="0"/>
              <a:t>//</a:t>
            </a:r>
            <a:r>
              <a:rPr lang="uk-UA" sz="1800" dirty="0"/>
              <a:t>)</a:t>
            </a:r>
          </a:p>
          <a:p>
            <a:r>
              <a:rPr lang="en-US" sz="1800" dirty="0"/>
              <a:t>Host</a:t>
            </a:r>
          </a:p>
          <a:p>
            <a:r>
              <a:rPr lang="en-US" sz="1800" dirty="0"/>
              <a:t>Port</a:t>
            </a:r>
          </a:p>
          <a:p>
            <a:pPr marL="0" indent="0">
              <a:buNone/>
            </a:pPr>
            <a:r>
              <a:rPr lang="uk-UA" sz="1800" dirty="0">
                <a:solidFill>
                  <a:srgbClr val="0070C0"/>
                </a:solidFill>
              </a:rPr>
              <a:t>Хост</a:t>
            </a:r>
            <a:r>
              <a:rPr lang="uk-UA" sz="1800" dirty="0"/>
              <a:t> — це ім’я хоста або </a:t>
            </a:r>
            <a:r>
              <a:rPr lang="en-US" sz="1800" dirty="0"/>
              <a:t>IP-</a:t>
            </a:r>
            <a:r>
              <a:rPr lang="uk-UA" sz="1800" dirty="0"/>
              <a:t>адреса сервера, який надає </a:t>
            </a:r>
            <a:r>
              <a:rPr lang="en-US" sz="1800" dirty="0"/>
              <a:t>REST API (</a:t>
            </a:r>
            <a:r>
              <a:rPr lang="uk-UA" sz="1800" dirty="0"/>
              <a:t>веб-сервіс). Порт - це кінцева точка зв'язку або номер порту, який пов'язаний з хостом. Перед портом завжди стоїть двокрапка (</a:t>
            </a:r>
            <a:r>
              <a:rPr lang="uk-UA" sz="1800" b="1" dirty="0"/>
              <a:t>:</a:t>
            </a:r>
            <a:r>
              <a:rPr lang="uk-UA" sz="1800" dirty="0"/>
              <a:t>) </a:t>
            </a:r>
            <a:r>
              <a:rPr lang="uk-UA" sz="1800" i="1" dirty="0"/>
              <a:t>Зауважте, що якщо сервер використовує порт за замовчуванням — 80 для </a:t>
            </a:r>
            <a:r>
              <a:rPr lang="en-US" sz="1800" i="1" dirty="0"/>
              <a:t>HTTP </a:t>
            </a:r>
            <a:r>
              <a:rPr lang="uk-UA" sz="1800" i="1" dirty="0"/>
              <a:t>і 443 для </a:t>
            </a:r>
            <a:r>
              <a:rPr lang="en-US" sz="1800" i="1" dirty="0"/>
              <a:t>HTTPS — </a:t>
            </a:r>
            <a:r>
              <a:rPr lang="uk-UA" sz="1800" i="1" dirty="0"/>
              <a:t>порт може бути не вказано в </a:t>
            </a:r>
            <a:r>
              <a:rPr lang="en-US" sz="1800" i="1" dirty="0"/>
              <a:t>URI</a:t>
            </a:r>
            <a:r>
              <a:rPr lang="en-US" sz="1800" dirty="0"/>
              <a:t>. </a:t>
            </a:r>
          </a:p>
          <a:p>
            <a:pPr marL="0" indent="0">
              <a:buNone/>
            </a:pPr>
            <a:r>
              <a:rPr lang="en-US" sz="1800" b="1" dirty="0">
                <a:solidFill>
                  <a:srgbClr val="0070C0"/>
                </a:solidFill>
              </a:rPr>
              <a:t>Path</a:t>
            </a:r>
            <a:endParaRPr lang="en-US" sz="1800" dirty="0">
              <a:solidFill>
                <a:srgbClr val="0070C0"/>
              </a:solidFill>
            </a:endParaRPr>
          </a:p>
          <a:p>
            <a:pPr marL="0" indent="0">
              <a:buNone/>
            </a:pPr>
            <a:r>
              <a:rPr lang="uk-UA" sz="1800" dirty="0"/>
              <a:t>Для </a:t>
            </a:r>
            <a:r>
              <a:rPr lang="en-US" sz="1800" dirty="0"/>
              <a:t>REST API </a:t>
            </a:r>
            <a:r>
              <a:rPr lang="uk-UA" sz="1800" dirty="0"/>
              <a:t>шлях зазвичай відомий як шлях до ресурсу і представляє місце розташування ресурсу, даних або об’єкта, якими потрібно маніпулювати на сервері. Шляху передує косою рискою (</a:t>
            </a:r>
            <a:r>
              <a:rPr lang="uk-UA" sz="1800" b="1" dirty="0"/>
              <a:t>/</a:t>
            </a:r>
            <a:r>
              <a:rPr lang="uk-UA" sz="1800" dirty="0"/>
              <a:t>) і може складатися з кількох сегментів, розділених косою рискою (</a:t>
            </a:r>
            <a:r>
              <a:rPr lang="uk-UA" sz="1800" b="1" dirty="0"/>
              <a:t>/</a:t>
            </a:r>
            <a:r>
              <a:rPr lang="uk-UA" sz="1800" dirty="0"/>
              <a:t>) </a:t>
            </a:r>
            <a:endParaRPr lang="en-US" sz="1800" dirty="0"/>
          </a:p>
          <a:p>
            <a:pPr marL="0" indent="0">
              <a:buNone/>
            </a:pPr>
            <a:endParaRPr lang="en-US" sz="1800" dirty="0"/>
          </a:p>
          <a:p>
            <a:pPr marL="0" indent="0">
              <a:buNone/>
            </a:pPr>
            <a:endParaRPr lang="uk-UA" sz="1800" dirty="0"/>
          </a:p>
        </p:txBody>
      </p:sp>
      <p:pic>
        <p:nvPicPr>
          <p:cNvPr id="5" name="Picture 4"/>
          <p:cNvPicPr>
            <a:picLocks noChangeAspect="1"/>
          </p:cNvPicPr>
          <p:nvPr/>
        </p:nvPicPr>
        <p:blipFill>
          <a:blip r:embed="rId2"/>
          <a:srcRect l="1005" t="16199" r="2838" b="18573"/>
          <a:stretch/>
        </p:blipFill>
        <p:spPr>
          <a:xfrm>
            <a:off x="6517640" y="1501558"/>
            <a:ext cx="4988560" cy="337402"/>
          </a:xfrm>
          <a:prstGeom prst="rect">
            <a:avLst/>
          </a:prstGeom>
        </p:spPr>
      </p:pic>
      <p:pic>
        <p:nvPicPr>
          <p:cNvPr id="6" name="Picture 5"/>
          <p:cNvPicPr>
            <a:picLocks noChangeAspect="1"/>
          </p:cNvPicPr>
          <p:nvPr/>
        </p:nvPicPr>
        <p:blipFill>
          <a:blip r:embed="rId3"/>
          <a:stretch>
            <a:fillRect/>
          </a:stretch>
        </p:blipFill>
        <p:spPr>
          <a:xfrm>
            <a:off x="2659954" y="5356442"/>
            <a:ext cx="7824409" cy="1324900"/>
          </a:xfrm>
          <a:prstGeom prst="rect">
            <a:avLst/>
          </a:prstGeom>
        </p:spPr>
      </p:pic>
    </p:spTree>
    <p:extLst>
      <p:ext uri="{BB962C8B-B14F-4D97-AF65-F5344CB8AC3E}">
        <p14:creationId xmlns:p14="http://schemas.microsoft.com/office/powerpoint/2010/main" val="25594262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CA485CBE-70B3-0D4B-1320-E0512D025675}"/>
              </a:ext>
            </a:extLst>
          </p:cNvPr>
          <p:cNvSpPr>
            <a:spLocks noGrp="1"/>
          </p:cNvSpPr>
          <p:nvPr>
            <p:ph type="title"/>
          </p:nvPr>
        </p:nvSpPr>
        <p:spPr/>
        <p:txBody>
          <a:bodyPr/>
          <a:lstStyle/>
          <a:p>
            <a:r>
              <a:rPr lang="en-US" sz="4000" b="1" dirty="0">
                <a:effectLst/>
              </a:rPr>
              <a:t>REST API Requests</a:t>
            </a:r>
            <a:br>
              <a:rPr lang="uk-UA" sz="4000" b="1" dirty="0">
                <a:effectLst/>
              </a:rPr>
            </a:br>
            <a:endParaRPr lang="uk-UA" dirty="0"/>
          </a:p>
        </p:txBody>
      </p:sp>
      <p:sp>
        <p:nvSpPr>
          <p:cNvPr id="3" name="Content Placeholder 2"/>
          <p:cNvSpPr>
            <a:spLocks noGrp="1"/>
          </p:cNvSpPr>
          <p:nvPr>
            <p:ph idx="1"/>
          </p:nvPr>
        </p:nvSpPr>
        <p:spPr>
          <a:xfrm>
            <a:off x="441960" y="1509873"/>
            <a:ext cx="10820400" cy="2829011"/>
          </a:xfrm>
        </p:spPr>
        <p:txBody>
          <a:bodyPr>
            <a:normAutofit fontScale="92500" lnSpcReduction="20000"/>
          </a:bodyPr>
          <a:lstStyle/>
          <a:p>
            <a:pPr marL="0" indent="0">
              <a:buNone/>
            </a:pPr>
            <a:r>
              <a:rPr lang="en-US" sz="1800" b="1" dirty="0">
                <a:solidFill>
                  <a:srgbClr val="0070C0"/>
                </a:solidFill>
              </a:rPr>
              <a:t>Query</a:t>
            </a:r>
            <a:endParaRPr lang="en-US" sz="1800" dirty="0">
              <a:solidFill>
                <a:srgbClr val="0070C0"/>
              </a:solidFill>
            </a:endParaRPr>
          </a:p>
          <a:p>
            <a:pPr marL="0" indent="0">
              <a:buNone/>
            </a:pPr>
            <a:r>
              <a:rPr lang="uk-UA" sz="1800" dirty="0"/>
              <a:t>Запит</a:t>
            </a:r>
            <a:r>
              <a:rPr lang="en-US" sz="1800" dirty="0"/>
              <a:t> (query)</a:t>
            </a:r>
            <a:r>
              <a:rPr lang="uk-UA" sz="1800" dirty="0"/>
              <a:t>, який містить параметри запиту, є необов’язковим. Запит надає додаткові відомості щодо обсягу, фільтрації або роз’яснення запиту. Якщо запит присутній, перед ним ставиться знак питання (</a:t>
            </a:r>
            <a:r>
              <a:rPr lang="uk-UA" sz="1800" b="1" dirty="0"/>
              <a:t>?</a:t>
            </a:r>
            <a:r>
              <a:rPr lang="uk-UA" sz="1800" dirty="0"/>
              <a:t>). Немає спеціального синтаксису для параметрів запиту, але він зазвичай визначається як набір пар ключ-значення, розділених амперсандом (</a:t>
            </a:r>
            <a:r>
              <a:rPr lang="uk-UA" sz="1800" b="1" dirty="0"/>
              <a:t>&amp;</a:t>
            </a:r>
            <a:r>
              <a:rPr lang="uk-UA" sz="1800" dirty="0"/>
              <a:t>). Наприклад: </a:t>
            </a:r>
            <a:endParaRPr lang="en-US" sz="1800" dirty="0"/>
          </a:p>
          <a:p>
            <a:pPr marL="0" indent="0">
              <a:buNone/>
            </a:pPr>
            <a:endParaRPr lang="en-US" sz="1800" dirty="0"/>
          </a:p>
          <a:p>
            <a:pPr marL="0" indent="0">
              <a:buNone/>
            </a:pPr>
            <a:r>
              <a:rPr lang="en-US" sz="1800" b="1" dirty="0">
                <a:solidFill>
                  <a:srgbClr val="0070C0"/>
                </a:solidFill>
              </a:rPr>
              <a:t>HTTP method</a:t>
            </a:r>
            <a:endParaRPr lang="uk-UA" sz="1800" dirty="0">
              <a:solidFill>
                <a:srgbClr val="0070C0"/>
              </a:solidFill>
            </a:endParaRPr>
          </a:p>
          <a:p>
            <a:pPr marL="0" indent="0">
              <a:buNone/>
            </a:pPr>
            <a:r>
              <a:rPr lang="en-US" sz="1800" dirty="0"/>
              <a:t>REST</a:t>
            </a:r>
            <a:r>
              <a:rPr lang="uk-UA" sz="1800" dirty="0"/>
              <a:t> </a:t>
            </a:r>
            <a:r>
              <a:rPr lang="en-US" sz="1800" dirty="0"/>
              <a:t>API </a:t>
            </a:r>
            <a:r>
              <a:rPr lang="uk-UA" sz="1800" dirty="0"/>
              <a:t>використовують стандартні методи </a:t>
            </a:r>
            <a:r>
              <a:rPr lang="en-US" sz="1800" dirty="0"/>
              <a:t>HTTP, </a:t>
            </a:r>
            <a:r>
              <a:rPr lang="uk-UA" sz="1800" dirty="0"/>
              <a:t>також відомі як </a:t>
            </a:r>
            <a:r>
              <a:rPr lang="en-US" sz="1800" dirty="0"/>
              <a:t>HTTP</a:t>
            </a:r>
            <a:r>
              <a:rPr lang="ru-RU" sz="1800" dirty="0"/>
              <a:t> </a:t>
            </a:r>
            <a:r>
              <a:rPr lang="uk-UA" sz="1800" dirty="0"/>
              <a:t>дієслова </a:t>
            </a:r>
            <a:r>
              <a:rPr lang="en-US" sz="1800" dirty="0"/>
              <a:t>(</a:t>
            </a:r>
            <a:r>
              <a:rPr lang="en-US" sz="1800" b="1" dirty="0"/>
              <a:t>HTTP verbs</a:t>
            </a:r>
            <a:r>
              <a:rPr lang="en-US" sz="1800" dirty="0"/>
              <a:t>), </a:t>
            </a:r>
            <a:r>
              <a:rPr lang="uk-UA" sz="1800" dirty="0"/>
              <a:t>як спосіб повідомити веб-сервісу, яка дія запитується для даного ресурсу. Немає стандарту, який визначає, який метод </a:t>
            </a:r>
            <a:r>
              <a:rPr lang="en-US" sz="1800" dirty="0"/>
              <a:t>HTTP </a:t>
            </a:r>
            <a:r>
              <a:rPr lang="uk-UA" sz="1800" dirty="0"/>
              <a:t>зіставляється з яким дієсловом, але запропоноване зіставлення виглядає так: </a:t>
            </a:r>
            <a:endParaRPr lang="en-US" sz="1800" dirty="0"/>
          </a:p>
        </p:txBody>
      </p:sp>
      <p:pic>
        <p:nvPicPr>
          <p:cNvPr id="2" name="Picture 1"/>
          <p:cNvPicPr>
            <a:picLocks noChangeAspect="1"/>
          </p:cNvPicPr>
          <p:nvPr/>
        </p:nvPicPr>
        <p:blipFill>
          <a:blip r:embed="rId2"/>
          <a:srcRect l="1323" t="28513" r="1105" b="26758"/>
          <a:stretch/>
        </p:blipFill>
        <p:spPr>
          <a:xfrm>
            <a:off x="1730677" y="2683708"/>
            <a:ext cx="8242966" cy="238385"/>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1048847299"/>
              </p:ext>
            </p:extLst>
          </p:nvPr>
        </p:nvGraphicFramePr>
        <p:xfrm>
          <a:off x="1160732" y="4116812"/>
          <a:ext cx="9185354" cy="2247613"/>
        </p:xfrm>
        <a:graphic>
          <a:graphicData uri="http://schemas.openxmlformats.org/drawingml/2006/table">
            <a:tbl>
              <a:tblPr firstRow="1">
                <a:tableStyleId>{08FB837D-C827-4EFA-A057-4D05807E0F7C}</a:tableStyleId>
              </a:tblPr>
              <a:tblGrid>
                <a:gridCol w="2413362">
                  <a:extLst>
                    <a:ext uri="{9D8B030D-6E8A-4147-A177-3AD203B41FA5}">
                      <a16:colId xmlns:a16="http://schemas.microsoft.com/office/drawing/2014/main" val="20000"/>
                    </a:ext>
                  </a:extLst>
                </a:gridCol>
                <a:gridCol w="2263367">
                  <a:extLst>
                    <a:ext uri="{9D8B030D-6E8A-4147-A177-3AD203B41FA5}">
                      <a16:colId xmlns:a16="http://schemas.microsoft.com/office/drawing/2014/main" val="20001"/>
                    </a:ext>
                  </a:extLst>
                </a:gridCol>
                <a:gridCol w="4508625">
                  <a:extLst>
                    <a:ext uri="{9D8B030D-6E8A-4147-A177-3AD203B41FA5}">
                      <a16:colId xmlns:a16="http://schemas.microsoft.com/office/drawing/2014/main" val="20002"/>
                    </a:ext>
                  </a:extLst>
                </a:gridCol>
              </a:tblGrid>
              <a:tr h="216254">
                <a:tc>
                  <a:txBody>
                    <a:bodyPr/>
                    <a:lstStyle/>
                    <a:p>
                      <a:pPr algn="ctr"/>
                      <a:r>
                        <a:rPr lang="en-US" sz="1800" dirty="0">
                          <a:effectLst/>
                        </a:rPr>
                        <a:t>HTTP Method</a:t>
                      </a:r>
                    </a:p>
                  </a:txBody>
                  <a:tcPr marL="32232" marR="32232" marT="16116" marB="16116" anchor="ctr"/>
                </a:tc>
                <a:tc>
                  <a:txBody>
                    <a:bodyPr/>
                    <a:lstStyle/>
                    <a:p>
                      <a:pPr algn="ctr"/>
                      <a:r>
                        <a:rPr lang="en-US" sz="1800" dirty="0">
                          <a:effectLst/>
                        </a:rPr>
                        <a:t>Action</a:t>
                      </a:r>
                    </a:p>
                  </a:txBody>
                  <a:tcPr marL="32232" marR="32232" marT="16116" marB="16116" anchor="ctr"/>
                </a:tc>
                <a:tc>
                  <a:txBody>
                    <a:bodyPr/>
                    <a:lstStyle/>
                    <a:p>
                      <a:pPr algn="ctr"/>
                      <a:r>
                        <a:rPr lang="en-US" sz="1800" dirty="0"/>
                        <a:t>Description</a:t>
                      </a:r>
                    </a:p>
                  </a:txBody>
                  <a:tcPr marL="32232" marR="32232" marT="16116" marB="16116" anchor="ctr"/>
                </a:tc>
                <a:extLst>
                  <a:ext uri="{0D108BD9-81ED-4DB2-BD59-A6C34878D82A}">
                    <a16:rowId xmlns:a16="http://schemas.microsoft.com/office/drawing/2014/main" val="10000"/>
                  </a:ext>
                </a:extLst>
              </a:tr>
              <a:tr h="326401">
                <a:tc>
                  <a:txBody>
                    <a:bodyPr/>
                    <a:lstStyle/>
                    <a:p>
                      <a:pPr algn="ctr"/>
                      <a:r>
                        <a:rPr lang="en-US" sz="1600" dirty="0"/>
                        <a:t>POST</a:t>
                      </a:r>
                    </a:p>
                  </a:txBody>
                  <a:tcPr marL="32232" marR="32232" marT="16116" marB="16116" anchor="ctr"/>
                </a:tc>
                <a:tc>
                  <a:txBody>
                    <a:bodyPr/>
                    <a:lstStyle/>
                    <a:p>
                      <a:pPr algn="ctr"/>
                      <a:r>
                        <a:rPr lang="en-US" sz="1600"/>
                        <a:t>Create</a:t>
                      </a:r>
                    </a:p>
                  </a:txBody>
                  <a:tcPr marL="32232" marR="32232" marT="16116" marB="16116" anchor="ctr"/>
                </a:tc>
                <a:tc>
                  <a:txBody>
                    <a:bodyPr/>
                    <a:lstStyle/>
                    <a:p>
                      <a:pPr algn="ctr"/>
                      <a:r>
                        <a:rPr lang="ru-RU" sz="1600" dirty="0"/>
                        <a:t>Створити новий об’єкт або ресурс. </a:t>
                      </a:r>
                      <a:endParaRPr lang="en-US" sz="1600" dirty="0"/>
                    </a:p>
                  </a:txBody>
                  <a:tcPr marL="32232" marR="32232" marT="16116" marB="16116" anchor="ctr"/>
                </a:tc>
                <a:extLst>
                  <a:ext uri="{0D108BD9-81ED-4DB2-BD59-A6C34878D82A}">
                    <a16:rowId xmlns:a16="http://schemas.microsoft.com/office/drawing/2014/main" val="10001"/>
                  </a:ext>
                </a:extLst>
              </a:tr>
              <a:tr h="380246">
                <a:tc>
                  <a:txBody>
                    <a:bodyPr/>
                    <a:lstStyle/>
                    <a:p>
                      <a:pPr algn="ctr"/>
                      <a:r>
                        <a:rPr lang="en-US" sz="1600" dirty="0"/>
                        <a:t>GET</a:t>
                      </a:r>
                    </a:p>
                  </a:txBody>
                  <a:tcPr marL="32232" marR="32232" marT="16116" marB="16116" anchor="ctr"/>
                </a:tc>
                <a:tc>
                  <a:txBody>
                    <a:bodyPr/>
                    <a:lstStyle/>
                    <a:p>
                      <a:pPr algn="ctr"/>
                      <a:r>
                        <a:rPr lang="en-US" sz="1600" dirty="0"/>
                        <a:t>Read</a:t>
                      </a:r>
                    </a:p>
                  </a:txBody>
                  <a:tcPr marL="32232" marR="32232" marT="16116" marB="16116" anchor="ctr"/>
                </a:tc>
                <a:tc>
                  <a:txBody>
                    <a:bodyPr/>
                    <a:lstStyle/>
                    <a:p>
                      <a:pPr algn="ctr"/>
                      <a:r>
                        <a:rPr lang="ru-RU" sz="1600" dirty="0"/>
                        <a:t>Отримати інформацію про ресурс із системи. </a:t>
                      </a:r>
                      <a:endParaRPr lang="en-US" sz="1600" dirty="0"/>
                    </a:p>
                  </a:txBody>
                  <a:tcPr marL="32232" marR="32232" marT="16116" marB="16116" anchor="ctr"/>
                </a:tc>
                <a:extLst>
                  <a:ext uri="{0D108BD9-81ED-4DB2-BD59-A6C34878D82A}">
                    <a16:rowId xmlns:a16="http://schemas.microsoft.com/office/drawing/2014/main" val="10002"/>
                  </a:ext>
                </a:extLst>
              </a:tr>
              <a:tr h="271604">
                <a:tc>
                  <a:txBody>
                    <a:bodyPr/>
                    <a:lstStyle/>
                    <a:p>
                      <a:pPr algn="ctr"/>
                      <a:r>
                        <a:rPr lang="en-US" sz="1600" dirty="0"/>
                        <a:t>PUT</a:t>
                      </a:r>
                    </a:p>
                  </a:txBody>
                  <a:tcPr marL="32232" marR="32232" marT="16116" marB="16116" anchor="ctr"/>
                </a:tc>
                <a:tc>
                  <a:txBody>
                    <a:bodyPr/>
                    <a:lstStyle/>
                    <a:p>
                      <a:pPr algn="ctr"/>
                      <a:r>
                        <a:rPr lang="en-US" sz="1600" dirty="0"/>
                        <a:t>Update</a:t>
                      </a:r>
                    </a:p>
                  </a:txBody>
                  <a:tcPr marL="32232" marR="32232" marT="16116" marB="16116" anchor="ctr"/>
                </a:tc>
                <a:tc>
                  <a:txBody>
                    <a:bodyPr/>
                    <a:lstStyle/>
                    <a:p>
                      <a:pPr algn="ctr"/>
                      <a:r>
                        <a:rPr lang="ru-RU" sz="1600" dirty="0"/>
                        <a:t>Заміна або оновлення існуючого ресурсу. </a:t>
                      </a:r>
                      <a:endParaRPr lang="en-US" sz="1600" dirty="0"/>
                    </a:p>
                  </a:txBody>
                  <a:tcPr marL="32232" marR="32232" marT="16116" marB="16116" anchor="ctr"/>
                </a:tc>
                <a:extLst>
                  <a:ext uri="{0D108BD9-81ED-4DB2-BD59-A6C34878D82A}">
                    <a16:rowId xmlns:a16="http://schemas.microsoft.com/office/drawing/2014/main" val="10003"/>
                  </a:ext>
                </a:extLst>
              </a:tr>
              <a:tr h="407406">
                <a:tc>
                  <a:txBody>
                    <a:bodyPr/>
                    <a:lstStyle/>
                    <a:p>
                      <a:pPr algn="ctr"/>
                      <a:r>
                        <a:rPr lang="en-US" sz="1600" dirty="0"/>
                        <a:t>PATCH</a:t>
                      </a:r>
                    </a:p>
                  </a:txBody>
                  <a:tcPr marL="32232" marR="32232" marT="16116" marB="16116" anchor="ctr"/>
                </a:tc>
                <a:tc>
                  <a:txBody>
                    <a:bodyPr/>
                    <a:lstStyle/>
                    <a:p>
                      <a:pPr algn="ctr"/>
                      <a:r>
                        <a:rPr lang="en-US" sz="1600" dirty="0"/>
                        <a:t>Partial Update</a:t>
                      </a:r>
                    </a:p>
                  </a:txBody>
                  <a:tcPr marL="32232" marR="32232" marT="16116" marB="16116" anchor="ctr"/>
                </a:tc>
                <a:tc>
                  <a:txBody>
                    <a:bodyPr/>
                    <a:lstStyle/>
                    <a:p>
                      <a:pPr algn="ctr"/>
                      <a:r>
                        <a:rPr lang="ru-RU" sz="1600" dirty="0"/>
                        <a:t>Оновлення деяких деталей з наявного ресурсу </a:t>
                      </a:r>
                      <a:r>
                        <a:rPr lang="en-US" sz="1600" dirty="0"/>
                        <a:t>.</a:t>
                      </a:r>
                    </a:p>
                  </a:txBody>
                  <a:tcPr marL="32232" marR="32232" marT="16116" marB="16116" anchor="ctr"/>
                </a:tc>
                <a:extLst>
                  <a:ext uri="{0D108BD9-81ED-4DB2-BD59-A6C34878D82A}">
                    <a16:rowId xmlns:a16="http://schemas.microsoft.com/office/drawing/2014/main" val="10004"/>
                  </a:ext>
                </a:extLst>
              </a:tr>
              <a:tr h="298764">
                <a:tc>
                  <a:txBody>
                    <a:bodyPr/>
                    <a:lstStyle/>
                    <a:p>
                      <a:pPr algn="ctr"/>
                      <a:r>
                        <a:rPr lang="en-US" sz="1600"/>
                        <a:t>DELETE</a:t>
                      </a:r>
                    </a:p>
                  </a:txBody>
                  <a:tcPr marL="32232" marR="32232" marT="16116" marB="16116" anchor="ctr"/>
                </a:tc>
                <a:tc>
                  <a:txBody>
                    <a:bodyPr/>
                    <a:lstStyle/>
                    <a:p>
                      <a:pPr algn="ctr"/>
                      <a:r>
                        <a:rPr lang="en-US" sz="1600" dirty="0"/>
                        <a:t>Delete</a:t>
                      </a:r>
                    </a:p>
                  </a:txBody>
                  <a:tcPr marL="32232" marR="32232" marT="16116" marB="16116" anchor="ctr"/>
                </a:tc>
                <a:tc>
                  <a:txBody>
                    <a:bodyPr/>
                    <a:lstStyle/>
                    <a:p>
                      <a:pPr algn="ctr"/>
                      <a:r>
                        <a:rPr lang="uk-UA" sz="1600" dirty="0"/>
                        <a:t>Видалення ресурсу із системи. </a:t>
                      </a:r>
                      <a:endParaRPr lang="en-US" sz="1600" dirty="0"/>
                    </a:p>
                  </a:txBody>
                  <a:tcPr marL="32232" marR="32232" marT="16116" marB="16116"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549628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07FDE1AC-F875-6F53-B495-1F312FD243D1}"/>
              </a:ext>
            </a:extLst>
          </p:cNvPr>
          <p:cNvSpPr>
            <a:spLocks noGrp="1"/>
          </p:cNvSpPr>
          <p:nvPr>
            <p:ph type="title"/>
          </p:nvPr>
        </p:nvSpPr>
        <p:spPr>
          <a:xfrm>
            <a:off x="2895600" y="764373"/>
            <a:ext cx="8610600" cy="969507"/>
          </a:xfrm>
        </p:spPr>
        <p:txBody>
          <a:bodyPr>
            <a:normAutofit fontScale="90000"/>
          </a:bodyPr>
          <a:lstStyle/>
          <a:p>
            <a:r>
              <a:rPr lang="en-US" sz="4000" b="1" dirty="0">
                <a:effectLst/>
              </a:rPr>
              <a:t>REST API Requests</a:t>
            </a:r>
            <a:br>
              <a:rPr lang="uk-UA" sz="4000" b="1" dirty="0">
                <a:effectLst/>
              </a:rPr>
            </a:br>
            <a:endParaRPr lang="uk-UA" dirty="0"/>
          </a:p>
        </p:txBody>
      </p:sp>
      <p:sp>
        <p:nvSpPr>
          <p:cNvPr id="3" name="Content Placeholder 2"/>
          <p:cNvSpPr>
            <a:spLocks noGrp="1"/>
          </p:cNvSpPr>
          <p:nvPr>
            <p:ph idx="1"/>
          </p:nvPr>
        </p:nvSpPr>
        <p:spPr>
          <a:xfrm>
            <a:off x="458005" y="2265127"/>
            <a:ext cx="10820400" cy="2560874"/>
          </a:xfrm>
        </p:spPr>
        <p:txBody>
          <a:bodyPr>
            <a:normAutofit/>
          </a:bodyPr>
          <a:lstStyle/>
          <a:p>
            <a:pPr marL="0" indent="0">
              <a:buNone/>
            </a:pPr>
            <a:r>
              <a:rPr lang="en-US" sz="1800" b="1" dirty="0">
                <a:solidFill>
                  <a:srgbClr val="0070C0"/>
                </a:solidFill>
              </a:rPr>
              <a:t>Header</a:t>
            </a:r>
            <a:endParaRPr lang="en-US" sz="1800" dirty="0">
              <a:solidFill>
                <a:srgbClr val="0070C0"/>
              </a:solidFill>
            </a:endParaRPr>
          </a:p>
          <a:p>
            <a:pPr marL="0" indent="0">
              <a:buNone/>
            </a:pPr>
            <a:r>
              <a:rPr lang="en-US" sz="1800" dirty="0"/>
              <a:t>API REST </a:t>
            </a:r>
            <a:r>
              <a:rPr lang="uk-UA" sz="1800" dirty="0"/>
              <a:t>використовують стандартний формат заголовка </a:t>
            </a:r>
            <a:r>
              <a:rPr lang="en-US" sz="1800" dirty="0"/>
              <a:t>HTTP </a:t>
            </a:r>
            <a:r>
              <a:rPr lang="uk-UA" sz="1800" dirty="0"/>
              <a:t>для передачі додаткової інформації між клієнтом і сервером, але ця додаткова інформація необов’язкова. Заголовки </a:t>
            </a:r>
            <a:r>
              <a:rPr lang="en-US" sz="1800" dirty="0"/>
              <a:t>HTTP </a:t>
            </a:r>
            <a:r>
              <a:rPr lang="uk-UA" sz="1800" dirty="0"/>
              <a:t>відформатовані як пари ім’я-значення, розділені двокрапкою (</a:t>
            </a:r>
            <a:r>
              <a:rPr lang="uk-UA" sz="1800" b="1" dirty="0"/>
              <a:t>:</a:t>
            </a:r>
            <a:r>
              <a:rPr lang="uk-UA" sz="1800" dirty="0"/>
              <a:t>) , </a:t>
            </a:r>
            <a:r>
              <a:rPr lang="uk-UA" sz="1800" b="1" dirty="0">
                <a:solidFill>
                  <a:srgbClr val="0070C0"/>
                </a:solidFill>
              </a:rPr>
              <a:t>[ім’я]:[значення]</a:t>
            </a:r>
            <a:r>
              <a:rPr lang="uk-UA" sz="1800" dirty="0"/>
              <a:t>.</a:t>
            </a:r>
            <a:r>
              <a:rPr lang="uk-UA" sz="1800" b="1" dirty="0"/>
              <a:t> </a:t>
            </a:r>
            <a:r>
              <a:rPr lang="uk-UA" sz="1800" dirty="0"/>
              <a:t>Визначено деякі стандартні заголовки </a:t>
            </a:r>
            <a:r>
              <a:rPr lang="en-US" sz="1800" dirty="0"/>
              <a:t>HTTP, </a:t>
            </a:r>
            <a:r>
              <a:rPr lang="uk-UA" sz="1800" dirty="0"/>
              <a:t>але веб-сервіс, який приймає запит </a:t>
            </a:r>
            <a:r>
              <a:rPr lang="en-US" sz="1800" dirty="0"/>
              <a:t>REST API, </a:t>
            </a:r>
            <a:r>
              <a:rPr lang="uk-UA" sz="1800" dirty="0"/>
              <a:t>може визначити спеціальні заголовки для прийняття. </a:t>
            </a:r>
          </a:p>
          <a:p>
            <a:pPr marL="0" indent="0">
              <a:buNone/>
            </a:pPr>
            <a:endParaRPr lang="uk-UA" sz="1800" dirty="0"/>
          </a:p>
        </p:txBody>
      </p:sp>
    </p:spTree>
    <p:extLst>
      <p:ext uri="{BB962C8B-B14F-4D97-AF65-F5344CB8AC3E}">
        <p14:creationId xmlns:p14="http://schemas.microsoft.com/office/powerpoint/2010/main" val="3590507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085A389A-54C7-C754-B3D4-FF3AC83C067A}"/>
              </a:ext>
            </a:extLst>
          </p:cNvPr>
          <p:cNvSpPr>
            <a:spLocks noGrp="1"/>
          </p:cNvSpPr>
          <p:nvPr>
            <p:ph type="title"/>
          </p:nvPr>
        </p:nvSpPr>
        <p:spPr>
          <a:xfrm>
            <a:off x="2895600" y="764373"/>
            <a:ext cx="8610600" cy="993307"/>
          </a:xfrm>
        </p:spPr>
        <p:txBody>
          <a:bodyPr>
            <a:normAutofit fontScale="90000"/>
          </a:bodyPr>
          <a:lstStyle/>
          <a:p>
            <a:r>
              <a:rPr lang="en-US" sz="4000" b="1" dirty="0">
                <a:effectLst/>
              </a:rPr>
              <a:t>REST API Requests</a:t>
            </a:r>
            <a:br>
              <a:rPr lang="uk-UA" sz="4000" b="1" dirty="0">
                <a:effectLst/>
              </a:rPr>
            </a:br>
            <a:endParaRPr lang="uk-UA" dirty="0"/>
          </a:p>
        </p:txBody>
      </p:sp>
      <p:sp>
        <p:nvSpPr>
          <p:cNvPr id="3" name="Content Placeholder 2"/>
          <p:cNvSpPr>
            <a:spLocks noGrp="1"/>
          </p:cNvSpPr>
          <p:nvPr>
            <p:ph idx="1"/>
          </p:nvPr>
        </p:nvSpPr>
        <p:spPr>
          <a:xfrm>
            <a:off x="685800" y="1416937"/>
            <a:ext cx="10820400" cy="4861943"/>
          </a:xfrm>
        </p:spPr>
        <p:txBody>
          <a:bodyPr>
            <a:normAutofit/>
          </a:bodyPr>
          <a:lstStyle/>
          <a:p>
            <a:pPr marL="0" indent="0">
              <a:buNone/>
            </a:pPr>
            <a:r>
              <a:rPr lang="uk-UA" sz="1800" dirty="0"/>
              <a:t>Існує два типи заголовків: заголовки запитів і заголовки сутностей. </a:t>
            </a:r>
            <a:endParaRPr lang="uk-UA" sz="1800" b="1" dirty="0"/>
          </a:p>
          <a:p>
            <a:pPr marL="0" indent="0">
              <a:buNone/>
            </a:pPr>
            <a:r>
              <a:rPr lang="uk-UA" sz="1800" b="1" dirty="0"/>
              <a:t>Заголовки запитів (</a:t>
            </a:r>
            <a:r>
              <a:rPr lang="en-US" sz="1800" b="1" dirty="0"/>
              <a:t>Request headers</a:t>
            </a:r>
            <a:r>
              <a:rPr lang="uk-UA" sz="1800" b="1" dirty="0"/>
              <a:t>)</a:t>
            </a:r>
            <a:endParaRPr lang="en-US" sz="1800" dirty="0"/>
          </a:p>
          <a:p>
            <a:pPr marL="0" indent="0">
              <a:buNone/>
            </a:pPr>
            <a:r>
              <a:rPr lang="ru-RU" sz="1800" dirty="0"/>
              <a:t>Заголовки </a:t>
            </a:r>
            <a:r>
              <a:rPr lang="ru-RU" sz="1800" dirty="0" err="1"/>
              <a:t>запиту</a:t>
            </a:r>
            <a:r>
              <a:rPr lang="ru-RU" sz="1800" dirty="0"/>
              <a:t> </a:t>
            </a:r>
            <a:r>
              <a:rPr lang="ru-RU" sz="1800" dirty="0" err="1"/>
              <a:t>містять</a:t>
            </a:r>
            <a:r>
              <a:rPr lang="ru-RU" sz="1800" dirty="0"/>
              <a:t> </a:t>
            </a:r>
            <a:r>
              <a:rPr lang="ru-RU" sz="1800" dirty="0" err="1"/>
              <a:t>додаткову</a:t>
            </a:r>
            <a:r>
              <a:rPr lang="ru-RU" sz="1800" dirty="0"/>
              <a:t> </a:t>
            </a:r>
            <a:r>
              <a:rPr lang="ru-RU" sz="1800" dirty="0" err="1"/>
              <a:t>інформацію</a:t>
            </a:r>
            <a:r>
              <a:rPr lang="ru-RU" sz="1800" dirty="0"/>
              <a:t>, яка не </a:t>
            </a:r>
            <a:r>
              <a:rPr lang="ru-RU" sz="1800" dirty="0" err="1"/>
              <a:t>стосується</a:t>
            </a:r>
            <a:r>
              <a:rPr lang="ru-RU" sz="1800" dirty="0"/>
              <a:t> </a:t>
            </a:r>
            <a:r>
              <a:rPr lang="ru-RU" sz="1800" dirty="0" err="1"/>
              <a:t>змісту</a:t>
            </a:r>
            <a:r>
              <a:rPr lang="ru-RU" sz="1800" dirty="0"/>
              <a:t> </a:t>
            </a:r>
            <a:r>
              <a:rPr lang="ru-RU" sz="1800" dirty="0" err="1"/>
              <a:t>повідомлення</a:t>
            </a:r>
            <a:r>
              <a:rPr lang="ru-RU" sz="1800" dirty="0"/>
              <a:t>. </a:t>
            </a:r>
            <a:r>
              <a:rPr lang="ru-RU" sz="1800" dirty="0" err="1"/>
              <a:t>Наприклад</a:t>
            </a:r>
            <a:r>
              <a:rPr lang="ru-RU" sz="1800" dirty="0"/>
              <a:t>, ось </a:t>
            </a:r>
            <a:r>
              <a:rPr lang="ru-RU" sz="1800" dirty="0" err="1"/>
              <a:t>типовий</a:t>
            </a:r>
            <a:r>
              <a:rPr lang="ru-RU" sz="1800" dirty="0"/>
              <a:t> заголовок </a:t>
            </a:r>
            <a:r>
              <a:rPr lang="ru-RU" sz="1800" dirty="0" err="1"/>
              <a:t>запиту</a:t>
            </a:r>
            <a:r>
              <a:rPr lang="ru-RU" sz="1800" dirty="0"/>
              <a:t>, </a:t>
            </a:r>
            <a:r>
              <a:rPr lang="ru-RU" sz="1800" dirty="0" err="1"/>
              <a:t>який</a:t>
            </a:r>
            <a:r>
              <a:rPr lang="ru-RU" sz="1800" dirty="0"/>
              <a:t> </a:t>
            </a:r>
            <a:r>
              <a:rPr lang="ru-RU" sz="1800" dirty="0" err="1"/>
              <a:t>ви</a:t>
            </a:r>
            <a:r>
              <a:rPr lang="ru-RU" sz="1800" dirty="0"/>
              <a:t> можете </a:t>
            </a:r>
            <a:r>
              <a:rPr lang="ru-RU" sz="1800" dirty="0" err="1"/>
              <a:t>знайти</a:t>
            </a:r>
            <a:r>
              <a:rPr lang="ru-RU" sz="1800" dirty="0"/>
              <a:t> для </a:t>
            </a:r>
            <a:r>
              <a:rPr lang="ru-RU" sz="1800" dirty="0" err="1"/>
              <a:t>запиту</a:t>
            </a:r>
            <a:r>
              <a:rPr lang="ru-RU" sz="1800" dirty="0"/>
              <a:t> REST API: </a:t>
            </a:r>
            <a:endParaRPr lang="en-US" sz="1800" dirty="0"/>
          </a:p>
          <a:p>
            <a:pPr marL="0" indent="0">
              <a:buNone/>
            </a:pPr>
            <a:endParaRPr lang="uk-UA" sz="1800" b="1" dirty="0">
              <a:effectLst/>
            </a:endParaRPr>
          </a:p>
          <a:p>
            <a:pPr marL="0" indent="0">
              <a:buNone/>
            </a:pPr>
            <a:endParaRPr lang="uk-UA" sz="1800" b="1" dirty="0"/>
          </a:p>
          <a:p>
            <a:pPr marL="0" indent="0">
              <a:buNone/>
            </a:pPr>
            <a:endParaRPr lang="uk-UA" sz="1800" b="1" dirty="0">
              <a:effectLst/>
            </a:endParaRPr>
          </a:p>
          <a:p>
            <a:pPr marL="0" indent="0">
              <a:buNone/>
            </a:pPr>
            <a:endParaRPr lang="uk-UA" sz="1800" b="1" dirty="0"/>
          </a:p>
          <a:p>
            <a:pPr marL="0" indent="0">
              <a:buNone/>
            </a:pPr>
            <a:r>
              <a:rPr lang="uk-UA" sz="1800" b="1" dirty="0">
                <a:effectLst/>
              </a:rPr>
              <a:t>Заголовки сутностей (</a:t>
            </a:r>
            <a:r>
              <a:rPr lang="en-US" sz="1800" b="1" dirty="0">
                <a:effectLst/>
              </a:rPr>
              <a:t>Entity headers</a:t>
            </a:r>
            <a:r>
              <a:rPr lang="uk-UA" sz="1800" b="1" dirty="0">
                <a:effectLst/>
              </a:rPr>
              <a:t>)</a:t>
            </a:r>
            <a:endParaRPr lang="en-US" sz="1800" dirty="0">
              <a:effectLst/>
            </a:endParaRPr>
          </a:p>
          <a:p>
            <a:pPr marL="0" indent="0">
              <a:buNone/>
            </a:pPr>
            <a:r>
              <a:rPr lang="ru-RU" sz="1800" dirty="0"/>
              <a:t>Заголовки сутностей — це додаткова інформація, яка описує зміст тіла повідомлення. Ось типовий заголовок сутності, який ви можете знайти для запиту REST API: </a:t>
            </a:r>
          </a:p>
          <a:p>
            <a:pPr marL="0" indent="0">
              <a:buNone/>
            </a:pPr>
            <a:endParaRPr lang="en-US" sz="1800" dirty="0"/>
          </a:p>
          <a:p>
            <a:pPr marL="0" indent="0">
              <a:buNone/>
            </a:pPr>
            <a:endParaRPr lang="en-US" sz="1800" dirty="0">
              <a:effectLst/>
            </a:endParaRPr>
          </a:p>
          <a:p>
            <a:pPr marL="0" indent="0">
              <a:buNone/>
            </a:pPr>
            <a:endParaRPr lang="en-US" sz="1800" dirty="0"/>
          </a:p>
          <a:p>
            <a:pPr marL="0" indent="0">
              <a:buNone/>
            </a:pPr>
            <a:endParaRPr lang="en-US" sz="1800" dirty="0">
              <a:effectLst/>
            </a:endParaRPr>
          </a:p>
          <a:p>
            <a:pPr marL="0" indent="0">
              <a:buNone/>
            </a:pPr>
            <a:endParaRPr lang="uk-UA" sz="1800" b="1" dirty="0">
              <a:effectLst/>
            </a:endParaRPr>
          </a:p>
          <a:p>
            <a:pPr marL="0" indent="0">
              <a:buNone/>
            </a:pPr>
            <a:endParaRPr lang="uk-UA" sz="1800" b="1" dirty="0">
              <a:effectLst/>
            </a:endParaRPr>
          </a:p>
        </p:txBody>
      </p:sp>
      <p:graphicFrame>
        <p:nvGraphicFramePr>
          <p:cNvPr id="5" name="Table 1"/>
          <p:cNvGraphicFramePr>
            <a:graphicFrameLocks noGrp="1"/>
          </p:cNvGraphicFramePr>
          <p:nvPr>
            <p:extLst>
              <p:ext uri="{D42A27DB-BD31-4B8C-83A1-F6EECF244321}">
                <p14:modId xmlns:p14="http://schemas.microsoft.com/office/powerpoint/2010/main" val="1289712392"/>
              </p:ext>
            </p:extLst>
          </p:nvPr>
        </p:nvGraphicFramePr>
        <p:xfrm>
          <a:off x="1151084" y="5426362"/>
          <a:ext cx="9252755" cy="1116522"/>
        </p:xfrm>
        <a:graphic>
          <a:graphicData uri="http://schemas.openxmlformats.org/drawingml/2006/table">
            <a:tbl>
              <a:tblPr firstRow="1">
                <a:tableStyleId>{08FB837D-C827-4EFA-A057-4D05807E0F7C}</a:tableStyleId>
              </a:tblPr>
              <a:tblGrid>
                <a:gridCol w="2653783">
                  <a:extLst>
                    <a:ext uri="{9D8B030D-6E8A-4147-A177-3AD203B41FA5}">
                      <a16:colId xmlns:a16="http://schemas.microsoft.com/office/drawing/2014/main" val="20000"/>
                    </a:ext>
                  </a:extLst>
                </a:gridCol>
                <a:gridCol w="2813475">
                  <a:extLst>
                    <a:ext uri="{9D8B030D-6E8A-4147-A177-3AD203B41FA5}">
                      <a16:colId xmlns:a16="http://schemas.microsoft.com/office/drawing/2014/main" val="20001"/>
                    </a:ext>
                  </a:extLst>
                </a:gridCol>
                <a:gridCol w="3785497">
                  <a:extLst>
                    <a:ext uri="{9D8B030D-6E8A-4147-A177-3AD203B41FA5}">
                      <a16:colId xmlns:a16="http://schemas.microsoft.com/office/drawing/2014/main" val="20002"/>
                    </a:ext>
                  </a:extLst>
                </a:gridCol>
              </a:tblGrid>
              <a:tr h="406007">
                <a:tc>
                  <a:txBody>
                    <a:bodyPr/>
                    <a:lstStyle/>
                    <a:p>
                      <a:r>
                        <a:rPr lang="uk-UA" sz="1800" dirty="0">
                          <a:effectLst/>
                        </a:rPr>
                        <a:t>Ключ</a:t>
                      </a:r>
                      <a:endParaRPr lang="en-US" dirty="0">
                        <a:effectLst/>
                      </a:endParaRPr>
                    </a:p>
                  </a:txBody>
                  <a:tcPr anchor="ctr"/>
                </a:tc>
                <a:tc>
                  <a:txBody>
                    <a:bodyPr/>
                    <a:lstStyle/>
                    <a:p>
                      <a:pPr algn="l"/>
                      <a:r>
                        <a:rPr lang="uk-UA" sz="1800" dirty="0">
                          <a:effectLst/>
                        </a:rPr>
                        <a:t>Приклад значення</a:t>
                      </a:r>
                      <a:endParaRPr lang="en-US" sz="1800" dirty="0">
                        <a:effectLst/>
                      </a:endParaRPr>
                    </a:p>
                  </a:txBody>
                  <a:tcPr anchor="ctr"/>
                </a:tc>
                <a:tc>
                  <a:txBody>
                    <a:bodyPr/>
                    <a:lstStyle/>
                    <a:p>
                      <a:r>
                        <a:rPr lang="uk-UA" sz="1800" dirty="0"/>
                        <a:t>Опис</a:t>
                      </a:r>
                      <a:endParaRPr lang="en-US" dirty="0"/>
                    </a:p>
                  </a:txBody>
                  <a:tcPr anchor="ctr"/>
                </a:tc>
                <a:extLst>
                  <a:ext uri="{0D108BD9-81ED-4DB2-BD59-A6C34878D82A}">
                    <a16:rowId xmlns:a16="http://schemas.microsoft.com/office/drawing/2014/main" val="10000"/>
                  </a:ext>
                </a:extLst>
              </a:tr>
              <a:tr h="710515">
                <a:tc>
                  <a:txBody>
                    <a:bodyPr/>
                    <a:lstStyle/>
                    <a:p>
                      <a:r>
                        <a:rPr lang="en-US" dirty="0"/>
                        <a:t>Content-Type</a:t>
                      </a:r>
                    </a:p>
                  </a:txBody>
                  <a:tcPr anchor="ctr"/>
                </a:tc>
                <a:tc>
                  <a:txBody>
                    <a:bodyPr/>
                    <a:lstStyle/>
                    <a:p>
                      <a:r>
                        <a:rPr lang="en-US"/>
                        <a:t>application/json</a:t>
                      </a:r>
                    </a:p>
                  </a:txBody>
                  <a:tcPr anchor="ctr"/>
                </a:tc>
                <a:tc>
                  <a:txBody>
                    <a:bodyPr/>
                    <a:lstStyle/>
                    <a:p>
                      <a:r>
                        <a:rPr lang="uk-UA" dirty="0"/>
                        <a:t>Уточнює формат даних у</a:t>
                      </a:r>
                      <a:r>
                        <a:rPr lang="en-US" dirty="0"/>
                        <a:t> </a:t>
                      </a:r>
                      <a:r>
                        <a:rPr lang="uk-UA" dirty="0"/>
                        <a:t>тілі (</a:t>
                      </a:r>
                      <a:r>
                        <a:rPr lang="en-US" dirty="0"/>
                        <a:t>body</a:t>
                      </a:r>
                      <a:r>
                        <a:rPr lang="uk-UA" dirty="0"/>
                        <a:t>)</a:t>
                      </a:r>
                      <a:endParaRPr lang="en-US" dirty="0"/>
                    </a:p>
                  </a:txBody>
                  <a:tcPr anchor="ctr"/>
                </a:tc>
                <a:extLst>
                  <a:ext uri="{0D108BD9-81ED-4DB2-BD59-A6C34878D82A}">
                    <a16:rowId xmlns:a16="http://schemas.microsoft.com/office/drawing/2014/main" val="10001"/>
                  </a:ext>
                </a:extLst>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3261924499"/>
              </p:ext>
            </p:extLst>
          </p:nvPr>
        </p:nvGraphicFramePr>
        <p:xfrm>
          <a:off x="1151085" y="2870739"/>
          <a:ext cx="9252755" cy="1116522"/>
        </p:xfrm>
        <a:graphic>
          <a:graphicData uri="http://schemas.openxmlformats.org/drawingml/2006/table">
            <a:tbl>
              <a:tblPr firstRow="1">
                <a:tableStyleId>{08FB837D-C827-4EFA-A057-4D05807E0F7C}</a:tableStyleId>
              </a:tblPr>
              <a:tblGrid>
                <a:gridCol w="1913700">
                  <a:extLst>
                    <a:ext uri="{9D8B030D-6E8A-4147-A177-3AD203B41FA5}">
                      <a16:colId xmlns:a16="http://schemas.microsoft.com/office/drawing/2014/main" val="20000"/>
                    </a:ext>
                  </a:extLst>
                </a:gridCol>
                <a:gridCol w="3598580">
                  <a:extLst>
                    <a:ext uri="{9D8B030D-6E8A-4147-A177-3AD203B41FA5}">
                      <a16:colId xmlns:a16="http://schemas.microsoft.com/office/drawing/2014/main" val="20001"/>
                    </a:ext>
                  </a:extLst>
                </a:gridCol>
                <a:gridCol w="3740475">
                  <a:extLst>
                    <a:ext uri="{9D8B030D-6E8A-4147-A177-3AD203B41FA5}">
                      <a16:colId xmlns:a16="http://schemas.microsoft.com/office/drawing/2014/main" val="20002"/>
                    </a:ext>
                  </a:extLst>
                </a:gridCol>
              </a:tblGrid>
              <a:tr h="317805">
                <a:tc>
                  <a:txBody>
                    <a:bodyPr/>
                    <a:lstStyle/>
                    <a:p>
                      <a:pPr algn="l"/>
                      <a:r>
                        <a:rPr lang="uk-UA" sz="1700" dirty="0">
                          <a:effectLst/>
                        </a:rPr>
                        <a:t>Ключ</a:t>
                      </a:r>
                      <a:endParaRPr lang="en-US" sz="1700" dirty="0">
                        <a:effectLst/>
                      </a:endParaRPr>
                    </a:p>
                  </a:txBody>
                  <a:tcPr marL="87027" marR="87027" marT="43513" marB="43513" anchor="ctr"/>
                </a:tc>
                <a:tc>
                  <a:txBody>
                    <a:bodyPr/>
                    <a:lstStyle/>
                    <a:p>
                      <a:pPr algn="l"/>
                      <a:r>
                        <a:rPr lang="uk-UA" sz="1700" dirty="0">
                          <a:effectLst/>
                        </a:rPr>
                        <a:t>Приклад значення</a:t>
                      </a:r>
                      <a:endParaRPr lang="en-US" sz="1700" dirty="0">
                        <a:effectLst/>
                      </a:endParaRPr>
                    </a:p>
                  </a:txBody>
                  <a:tcPr marL="87027" marR="87027" marT="43513" marB="43513" anchor="ctr"/>
                </a:tc>
                <a:tc>
                  <a:txBody>
                    <a:bodyPr/>
                    <a:lstStyle/>
                    <a:p>
                      <a:pPr algn="l"/>
                      <a:r>
                        <a:rPr lang="uk-UA" sz="1700" dirty="0"/>
                        <a:t>Опис</a:t>
                      </a:r>
                      <a:endParaRPr lang="en-US" sz="1700" dirty="0"/>
                    </a:p>
                  </a:txBody>
                  <a:tcPr marL="87027" marR="87027" marT="43513" marB="43513" anchor="ctr"/>
                </a:tc>
                <a:extLst>
                  <a:ext uri="{0D108BD9-81ED-4DB2-BD59-A6C34878D82A}">
                    <a16:rowId xmlns:a16="http://schemas.microsoft.com/office/drawing/2014/main" val="10000"/>
                  </a:ext>
                </a:extLst>
              </a:tr>
              <a:tr h="770416">
                <a:tc>
                  <a:txBody>
                    <a:bodyPr/>
                    <a:lstStyle/>
                    <a:p>
                      <a:r>
                        <a:rPr lang="en-US" sz="1700" dirty="0"/>
                        <a:t>Authorization</a:t>
                      </a:r>
                    </a:p>
                  </a:txBody>
                  <a:tcPr marL="87027" marR="87027" marT="43513" marB="43513" anchor="ctr"/>
                </a:tc>
                <a:tc>
                  <a:txBody>
                    <a:bodyPr/>
                    <a:lstStyle/>
                    <a:p>
                      <a:r>
                        <a:rPr lang="en-US" sz="1700" dirty="0"/>
                        <a:t>Basic dmFncmFudDp2YWdyYW50</a:t>
                      </a:r>
                    </a:p>
                  </a:txBody>
                  <a:tcPr marL="87027" marR="87027" marT="43513" marB="43513" anchor="ctr"/>
                </a:tc>
                <a:tc>
                  <a:txBody>
                    <a:bodyPr/>
                    <a:lstStyle/>
                    <a:p>
                      <a:r>
                        <a:rPr lang="ru-RU" sz="1600" dirty="0"/>
                        <a:t>Надає облікові дані для авторизації запиту </a:t>
                      </a:r>
                      <a:endParaRPr lang="en-US" sz="1700" dirty="0"/>
                    </a:p>
                  </a:txBody>
                  <a:tcPr marL="87027" marR="87027" marT="43513" marB="43513"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913213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D9380E45-FE64-0490-E87F-46075B5DC44A}"/>
              </a:ext>
            </a:extLst>
          </p:cNvPr>
          <p:cNvSpPr>
            <a:spLocks noGrp="1"/>
          </p:cNvSpPr>
          <p:nvPr>
            <p:ph type="title"/>
          </p:nvPr>
        </p:nvSpPr>
        <p:spPr>
          <a:xfrm>
            <a:off x="2895600" y="764373"/>
            <a:ext cx="8610600" cy="1094907"/>
          </a:xfrm>
        </p:spPr>
        <p:txBody>
          <a:bodyPr>
            <a:normAutofit fontScale="90000"/>
          </a:bodyPr>
          <a:lstStyle/>
          <a:p>
            <a:r>
              <a:rPr lang="en-US" sz="4000" b="1" dirty="0">
                <a:effectLst/>
              </a:rPr>
              <a:t>REST API Requests</a:t>
            </a:r>
            <a:br>
              <a:rPr lang="uk-UA" sz="4000" b="1" dirty="0">
                <a:effectLst/>
              </a:rPr>
            </a:br>
            <a:endParaRPr lang="uk-UA" dirty="0"/>
          </a:p>
        </p:txBody>
      </p:sp>
      <p:sp>
        <p:nvSpPr>
          <p:cNvPr id="3" name="Content Placeholder 2"/>
          <p:cNvSpPr>
            <a:spLocks noGrp="1"/>
          </p:cNvSpPr>
          <p:nvPr>
            <p:ph idx="1"/>
          </p:nvPr>
        </p:nvSpPr>
        <p:spPr>
          <a:xfrm>
            <a:off x="429260" y="1391920"/>
            <a:ext cx="11333480" cy="5283200"/>
          </a:xfrm>
        </p:spPr>
        <p:txBody>
          <a:bodyPr>
            <a:normAutofit lnSpcReduction="10000"/>
          </a:bodyPr>
          <a:lstStyle/>
          <a:p>
            <a:pPr marL="0" indent="0">
              <a:buNone/>
            </a:pPr>
            <a:r>
              <a:rPr lang="uk-UA" sz="1200" b="1" dirty="0">
                <a:solidFill>
                  <a:srgbClr val="0070C0"/>
                </a:solidFill>
                <a:effectLst/>
              </a:rPr>
              <a:t>Тіло (</a:t>
            </a:r>
            <a:r>
              <a:rPr lang="en-US" sz="1200" b="1" dirty="0">
                <a:solidFill>
                  <a:srgbClr val="0070C0"/>
                </a:solidFill>
                <a:effectLst/>
              </a:rPr>
              <a:t>Body</a:t>
            </a:r>
            <a:r>
              <a:rPr lang="uk-UA" sz="1200" b="1" dirty="0">
                <a:solidFill>
                  <a:srgbClr val="0070C0"/>
                </a:solidFill>
                <a:effectLst/>
              </a:rPr>
              <a:t>)</a:t>
            </a:r>
            <a:endParaRPr lang="en-US" sz="1200" b="1" dirty="0">
              <a:solidFill>
                <a:srgbClr val="0070C0"/>
              </a:solidFill>
              <a:effectLst/>
            </a:endParaRPr>
          </a:p>
          <a:p>
            <a:pPr marL="0" indent="0">
              <a:buNone/>
            </a:pPr>
            <a:r>
              <a:rPr lang="uk-UA" sz="1200" dirty="0"/>
              <a:t>Тіло запиту </a:t>
            </a:r>
            <a:r>
              <a:rPr lang="en-US" sz="1200" dirty="0"/>
              <a:t>REST API </a:t>
            </a:r>
            <a:r>
              <a:rPr lang="uk-UA" sz="1200" dirty="0"/>
              <a:t>містить дані, що стосуються ресурсу, яким клієнт хоче маніпулювати. Запити </a:t>
            </a:r>
            <a:r>
              <a:rPr lang="en-US" sz="1200" dirty="0"/>
              <a:t>REST API, </a:t>
            </a:r>
            <a:r>
              <a:rPr lang="uk-UA" sz="1200" dirty="0"/>
              <a:t>які використовують метод </a:t>
            </a:r>
            <a:r>
              <a:rPr lang="en-US" sz="1200" dirty="0"/>
              <a:t>HTTP POST, PUT </a:t>
            </a:r>
            <a:r>
              <a:rPr lang="uk-UA" sz="1200" dirty="0"/>
              <a:t>і </a:t>
            </a:r>
            <a:r>
              <a:rPr lang="en-US" sz="1200" dirty="0"/>
              <a:t>PATCH, </a:t>
            </a:r>
            <a:r>
              <a:rPr lang="uk-UA" sz="1200" dirty="0"/>
              <a:t>зазвичай містять тіло. Залежно від методу </a:t>
            </a:r>
            <a:r>
              <a:rPr lang="en-US" sz="1200" dirty="0"/>
              <a:t>HTTP, </a:t>
            </a:r>
            <a:r>
              <a:rPr lang="uk-UA" sz="1200" dirty="0"/>
              <a:t>тіло є необов’язковим, але якщо дані надаються в тілі, тип даних необхідно вказати в заголовку за допомогою ключа </a:t>
            </a:r>
            <a:r>
              <a:rPr lang="en-US" sz="1200" dirty="0"/>
              <a:t>Content-Type. </a:t>
            </a:r>
            <a:r>
              <a:rPr lang="uk-UA" sz="1200" dirty="0"/>
              <a:t>Деякі </a:t>
            </a:r>
            <a:r>
              <a:rPr lang="en-US" sz="1200" dirty="0"/>
              <a:t>API </a:t>
            </a:r>
            <a:r>
              <a:rPr lang="uk-UA" sz="1200" dirty="0"/>
              <a:t>створені для прийому кількох типів даних у запиті. </a:t>
            </a:r>
            <a:endParaRPr lang="uk-UA" sz="1200" b="1" dirty="0">
              <a:effectLst/>
            </a:endParaRPr>
          </a:p>
          <a:p>
            <a:pPr marL="0" indent="0">
              <a:buNone/>
            </a:pPr>
            <a:r>
              <a:rPr lang="en-US" sz="1200" b="1" dirty="0">
                <a:solidFill>
                  <a:srgbClr val="0070C0"/>
                </a:solidFill>
                <a:effectLst/>
              </a:rPr>
              <a:t>REST API Responses</a:t>
            </a:r>
          </a:p>
          <a:p>
            <a:pPr marL="0" indent="0">
              <a:buNone/>
            </a:pPr>
            <a:r>
              <a:rPr lang="uk-UA" sz="1200" dirty="0"/>
              <a:t>Відповіді </a:t>
            </a:r>
            <a:r>
              <a:rPr lang="en-US" sz="1200" dirty="0"/>
              <a:t>REST</a:t>
            </a:r>
            <a:r>
              <a:rPr lang="uk-UA" sz="1200" dirty="0"/>
              <a:t> </a:t>
            </a:r>
            <a:r>
              <a:rPr lang="en-US" sz="1200" dirty="0"/>
              <a:t>API</a:t>
            </a:r>
            <a:r>
              <a:rPr lang="uk-UA" sz="1200" dirty="0"/>
              <a:t> (</a:t>
            </a:r>
            <a:r>
              <a:rPr lang="en-US" sz="1200" dirty="0"/>
              <a:t>REST API Responses</a:t>
            </a:r>
            <a:r>
              <a:rPr lang="uk-UA" sz="1200" dirty="0"/>
              <a:t>)</a:t>
            </a:r>
            <a:r>
              <a:rPr lang="en-US" sz="1200" dirty="0"/>
              <a:t> </a:t>
            </a:r>
            <a:r>
              <a:rPr lang="uk-UA" sz="1200" dirty="0"/>
              <a:t>по суті є відповідями </a:t>
            </a:r>
            <a:r>
              <a:rPr lang="en-US" sz="1200" dirty="0"/>
              <a:t>HTTP. </a:t>
            </a:r>
            <a:r>
              <a:rPr lang="uk-UA" sz="1200" dirty="0"/>
              <a:t>Ці відповіді передають результати </a:t>
            </a:r>
            <a:r>
              <a:rPr lang="en-US" sz="1200" dirty="0"/>
              <a:t>HTTP-</a:t>
            </a:r>
            <a:r>
              <a:rPr lang="uk-UA" sz="1200" dirty="0"/>
              <a:t>запиту клієнта. Відповідь може містити дані, означати, що сервер отримав його запит, або навіть повідомляти клієнту про проблему з його запитом. </a:t>
            </a:r>
          </a:p>
          <a:p>
            <a:pPr marL="0" indent="0">
              <a:buNone/>
            </a:pPr>
            <a:r>
              <a:rPr lang="uk-UA" sz="1200" dirty="0"/>
              <a:t>Відповіді </a:t>
            </a:r>
            <a:r>
              <a:rPr lang="en-US" sz="1200" dirty="0"/>
              <a:t>REST</a:t>
            </a:r>
            <a:r>
              <a:rPr lang="uk-UA" sz="1200" dirty="0"/>
              <a:t> </a:t>
            </a:r>
            <a:r>
              <a:rPr lang="en-US" sz="1200" dirty="0"/>
              <a:t>API </a:t>
            </a:r>
            <a:r>
              <a:rPr lang="uk-UA" sz="1200" dirty="0"/>
              <a:t>подібні до запитів, але складаються з трьох основних компонентів: </a:t>
            </a:r>
          </a:p>
          <a:p>
            <a:r>
              <a:rPr lang="en-US" sz="1200" dirty="0">
                <a:effectLst/>
              </a:rPr>
              <a:t>HTTP Status</a:t>
            </a:r>
          </a:p>
          <a:p>
            <a:r>
              <a:rPr lang="en-US" sz="1200" dirty="0">
                <a:effectLst/>
              </a:rPr>
              <a:t>Header</a:t>
            </a:r>
          </a:p>
          <a:p>
            <a:r>
              <a:rPr lang="en-US" sz="1200" dirty="0">
                <a:effectLst/>
              </a:rPr>
              <a:t>Body</a:t>
            </a:r>
          </a:p>
          <a:p>
            <a:pPr marL="0" indent="0">
              <a:buNone/>
            </a:pPr>
            <a:r>
              <a:rPr lang="en-US" sz="1200" b="1" dirty="0">
                <a:solidFill>
                  <a:srgbClr val="0070C0"/>
                </a:solidFill>
                <a:effectLst/>
              </a:rPr>
              <a:t>HTTP status</a:t>
            </a:r>
            <a:endParaRPr lang="en-US" sz="1200" dirty="0">
              <a:solidFill>
                <a:srgbClr val="0070C0"/>
              </a:solidFill>
              <a:effectLst/>
            </a:endParaRPr>
          </a:p>
          <a:p>
            <a:pPr marL="0" indent="0">
              <a:buNone/>
            </a:pPr>
            <a:r>
              <a:rPr lang="en-US" sz="1200" dirty="0"/>
              <a:t>API REST </a:t>
            </a:r>
            <a:r>
              <a:rPr lang="uk-UA" sz="1200" dirty="0"/>
              <a:t>використовують стандартні коди статусу </a:t>
            </a:r>
            <a:r>
              <a:rPr lang="en-US" sz="1200" dirty="0"/>
              <a:t>HTTP </a:t>
            </a:r>
            <a:r>
              <a:rPr lang="uk-UA" sz="1200" dirty="0"/>
              <a:t>у відповіді, щоб повідомити клієнта, чи був запит успішним чи невдалим. Сам код статусу </a:t>
            </a:r>
            <a:r>
              <a:rPr lang="en-US" sz="1200" dirty="0"/>
              <a:t>HTTP </a:t>
            </a:r>
            <a:r>
              <a:rPr lang="uk-UA" sz="1200" dirty="0"/>
              <a:t>може допомогти клієнту визначити причину помилки, а іноді може надати пропозиції щодо вирішення проблеми. Коди статусу </a:t>
            </a:r>
            <a:r>
              <a:rPr lang="en-US" sz="1200" dirty="0"/>
              <a:t>HTTP </a:t>
            </a:r>
            <a:r>
              <a:rPr lang="uk-UA" sz="1200" dirty="0"/>
              <a:t>завжди тризначні. Перша цифра — це категорія відповіді. Дві інші цифри не мають значення, але зазвичай призначаються по порядку. </a:t>
            </a:r>
          </a:p>
          <a:p>
            <a:pPr marL="0" indent="0">
              <a:buNone/>
            </a:pPr>
            <a:r>
              <a:rPr lang="uk-UA" sz="1200" dirty="0"/>
              <a:t>Існує п'ять різних категорій: </a:t>
            </a:r>
          </a:p>
          <a:p>
            <a:pPr marL="0" indent="0">
              <a:buNone/>
            </a:pPr>
            <a:r>
              <a:rPr lang="en-US" sz="1200" b="1" dirty="0">
                <a:effectLst/>
              </a:rPr>
              <a:t>1xx</a:t>
            </a:r>
            <a:r>
              <a:rPr lang="en-US" sz="1200" dirty="0">
                <a:effectLst/>
              </a:rPr>
              <a:t> - Informational</a:t>
            </a:r>
          </a:p>
          <a:p>
            <a:pPr marL="0" indent="0">
              <a:buNone/>
            </a:pPr>
            <a:r>
              <a:rPr lang="en-US" sz="1200" b="1" dirty="0">
                <a:effectLst/>
              </a:rPr>
              <a:t>2xx</a:t>
            </a:r>
            <a:r>
              <a:rPr lang="en-US" sz="1200" dirty="0">
                <a:effectLst/>
              </a:rPr>
              <a:t> - Success</a:t>
            </a:r>
          </a:p>
          <a:p>
            <a:pPr marL="0" indent="0">
              <a:buNone/>
            </a:pPr>
            <a:r>
              <a:rPr lang="en-US" sz="1200" b="1" dirty="0">
                <a:effectLst/>
              </a:rPr>
              <a:t>3xx</a:t>
            </a:r>
            <a:r>
              <a:rPr lang="en-US" sz="1200" dirty="0">
                <a:effectLst/>
              </a:rPr>
              <a:t> - Redirection</a:t>
            </a:r>
          </a:p>
          <a:p>
            <a:pPr marL="0" indent="0">
              <a:buNone/>
            </a:pPr>
            <a:r>
              <a:rPr lang="en-US" sz="1200" b="1" dirty="0">
                <a:effectLst/>
              </a:rPr>
              <a:t>4xx</a:t>
            </a:r>
            <a:r>
              <a:rPr lang="en-US" sz="1200" dirty="0">
                <a:effectLst/>
              </a:rPr>
              <a:t> - Client Error</a:t>
            </a:r>
          </a:p>
          <a:p>
            <a:pPr marL="0" indent="0">
              <a:buNone/>
            </a:pPr>
            <a:r>
              <a:rPr lang="en-US" sz="1200" b="1" dirty="0">
                <a:effectLst/>
              </a:rPr>
              <a:t>5xx</a:t>
            </a:r>
            <a:r>
              <a:rPr lang="en-US" sz="1200" dirty="0">
                <a:effectLst/>
              </a:rPr>
              <a:t> - Server Error</a:t>
            </a:r>
          </a:p>
        </p:txBody>
      </p:sp>
    </p:spTree>
    <p:extLst>
      <p:ext uri="{BB962C8B-B14F-4D97-AF65-F5344CB8AC3E}">
        <p14:creationId xmlns:p14="http://schemas.microsoft.com/office/powerpoint/2010/main" val="32281633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894C3D-6DCC-30F1-ADA1-E30D33826D0E}"/>
              </a:ext>
            </a:extLst>
          </p:cNvPr>
          <p:cNvSpPr>
            <a:spLocks noGrp="1"/>
          </p:cNvSpPr>
          <p:nvPr>
            <p:ph type="title"/>
          </p:nvPr>
        </p:nvSpPr>
        <p:spPr>
          <a:xfrm>
            <a:off x="2895600" y="764373"/>
            <a:ext cx="8610600" cy="871387"/>
          </a:xfrm>
        </p:spPr>
        <p:txBody>
          <a:bodyPr>
            <a:normAutofit fontScale="90000"/>
          </a:bodyPr>
          <a:lstStyle/>
          <a:p>
            <a:r>
              <a:rPr lang="en-US" sz="4000" b="1" dirty="0">
                <a:effectLst/>
              </a:rPr>
              <a:t>REST API Requests</a:t>
            </a:r>
            <a:br>
              <a:rPr lang="uk-UA" sz="4000" b="1" dirty="0">
                <a:effectLst/>
              </a:rPr>
            </a:br>
            <a:endParaRPr lang="uk-UA" dirty="0"/>
          </a:p>
        </p:txBody>
      </p:sp>
      <p:sp>
        <p:nvSpPr>
          <p:cNvPr id="3" name="Content Placeholder 2"/>
          <p:cNvSpPr>
            <a:spLocks noGrp="1"/>
          </p:cNvSpPr>
          <p:nvPr>
            <p:ph idx="1"/>
          </p:nvPr>
        </p:nvSpPr>
        <p:spPr>
          <a:xfrm>
            <a:off x="518160" y="1635760"/>
            <a:ext cx="10988040" cy="4582925"/>
          </a:xfrm>
        </p:spPr>
        <p:txBody>
          <a:bodyPr>
            <a:normAutofit fontScale="85000" lnSpcReduction="10000"/>
          </a:bodyPr>
          <a:lstStyle/>
          <a:p>
            <a:pPr marL="0" indent="0">
              <a:buNone/>
            </a:pPr>
            <a:r>
              <a:rPr lang="en-US" sz="1800" b="1" dirty="0">
                <a:solidFill>
                  <a:srgbClr val="0070C0"/>
                </a:solidFill>
                <a:effectLst/>
              </a:rPr>
              <a:t>1xx - informational</a:t>
            </a:r>
            <a:endParaRPr lang="en-US" sz="1800" dirty="0">
              <a:solidFill>
                <a:srgbClr val="0070C0"/>
              </a:solidFill>
              <a:effectLst/>
            </a:endParaRPr>
          </a:p>
          <a:p>
            <a:pPr marL="0" indent="0">
              <a:buNone/>
            </a:pPr>
            <a:r>
              <a:rPr lang="uk-UA" sz="1800" dirty="0"/>
              <a:t>Відповіді з кодом 1</a:t>
            </a:r>
            <a:r>
              <a:rPr lang="en-US" sz="1800" dirty="0"/>
              <a:t>xx </a:t>
            </a:r>
            <a:r>
              <a:rPr lang="uk-UA" sz="1800" dirty="0"/>
              <a:t>призначені для інформаційних цілей, що вказують на те, що сервер отримав запит, але не закінчив його обробку. Клієнт повинен очікувати повної відповіді пізніше. Ці відповіді зазвичай не містять тіла. </a:t>
            </a:r>
          </a:p>
          <a:p>
            <a:pPr marL="0" indent="0">
              <a:buNone/>
            </a:pPr>
            <a:r>
              <a:rPr lang="en-US" sz="1800" b="1" dirty="0">
                <a:solidFill>
                  <a:srgbClr val="0070C0"/>
                </a:solidFill>
                <a:effectLst/>
              </a:rPr>
              <a:t>2xx - success</a:t>
            </a:r>
            <a:endParaRPr lang="en-US" sz="1800" dirty="0">
              <a:solidFill>
                <a:srgbClr val="0070C0"/>
              </a:solidFill>
              <a:effectLst/>
            </a:endParaRPr>
          </a:p>
          <a:p>
            <a:pPr marL="0" indent="0">
              <a:buNone/>
            </a:pPr>
            <a:r>
              <a:rPr lang="uk-UA" sz="1800" dirty="0"/>
              <a:t>Відповіді з кодом 2</a:t>
            </a:r>
            <a:r>
              <a:rPr lang="en-US" sz="1800" dirty="0"/>
              <a:t>xx </a:t>
            </a:r>
            <a:r>
              <a:rPr lang="uk-UA" sz="1800" dirty="0"/>
              <a:t>означають, що сервер отримав та прийняв запит. Для синхронних </a:t>
            </a:r>
            <a:r>
              <a:rPr lang="en-US" sz="1800" dirty="0"/>
              <a:t>API </a:t>
            </a:r>
            <a:r>
              <a:rPr lang="uk-UA" sz="1800" dirty="0"/>
              <a:t>ці відповіді містять запитані дані в тілі (якщо є). Для асинхронних </a:t>
            </a:r>
            <a:r>
              <a:rPr lang="en-US" sz="1800" dirty="0"/>
              <a:t>API </a:t>
            </a:r>
            <a:r>
              <a:rPr lang="uk-UA" sz="1800" dirty="0"/>
              <a:t>відповіді зазвичай не містять тіла, а код статусу 2</a:t>
            </a:r>
            <a:r>
              <a:rPr lang="en-US" sz="1800" dirty="0"/>
              <a:t>xx </a:t>
            </a:r>
            <a:r>
              <a:rPr lang="uk-UA" sz="1800" dirty="0"/>
              <a:t>є підтвердженням того, що запит отримано, але його все ще потрібно виконати. </a:t>
            </a:r>
          </a:p>
          <a:p>
            <a:pPr marL="0" indent="0">
              <a:buNone/>
            </a:pPr>
            <a:r>
              <a:rPr lang="en-US" sz="1800" b="1" dirty="0">
                <a:solidFill>
                  <a:srgbClr val="0070C0"/>
                </a:solidFill>
                <a:effectLst/>
              </a:rPr>
              <a:t>3xx - redirection</a:t>
            </a:r>
            <a:endParaRPr lang="en-US" sz="1800" dirty="0">
              <a:solidFill>
                <a:srgbClr val="0070C0"/>
              </a:solidFill>
              <a:effectLst/>
            </a:endParaRPr>
          </a:p>
          <a:p>
            <a:pPr marL="0" indent="0">
              <a:buNone/>
            </a:pPr>
            <a:r>
              <a:rPr lang="uk-UA" sz="1800" dirty="0"/>
              <a:t>Відповіді з кодом 3</a:t>
            </a:r>
            <a:r>
              <a:rPr lang="en-US" sz="1800" dirty="0"/>
              <a:t>xx </a:t>
            </a:r>
            <a:r>
              <a:rPr lang="uk-UA" sz="1800" dirty="0"/>
              <a:t>означають, що клієнт повинен виконати додаткову дію, щоб запит було виконано. У більшості випадків потрібно використовувати іншу </a:t>
            </a:r>
            <a:r>
              <a:rPr lang="en-US" sz="1800" dirty="0"/>
              <a:t>URL-</a:t>
            </a:r>
            <a:r>
              <a:rPr lang="uk-UA" sz="1800" dirty="0"/>
              <a:t>адресу. Залежно від того, як було викликано </a:t>
            </a:r>
            <a:r>
              <a:rPr lang="en-US" sz="1800" dirty="0"/>
              <a:t>REST API, </a:t>
            </a:r>
            <a:r>
              <a:rPr lang="uk-UA" sz="1800" dirty="0"/>
              <a:t>користувач може бути автоматично перенаправлений без будь-яких дій вручну. </a:t>
            </a:r>
          </a:p>
          <a:p>
            <a:pPr marL="0" indent="0">
              <a:buNone/>
            </a:pPr>
            <a:r>
              <a:rPr lang="en-US" sz="1800" b="1" dirty="0">
                <a:solidFill>
                  <a:srgbClr val="0070C0"/>
                </a:solidFill>
                <a:effectLst/>
              </a:rPr>
              <a:t>4xx - client error</a:t>
            </a:r>
            <a:endParaRPr lang="en-US" sz="1800" dirty="0">
              <a:solidFill>
                <a:srgbClr val="0070C0"/>
              </a:solidFill>
              <a:effectLst/>
            </a:endParaRPr>
          </a:p>
          <a:p>
            <a:pPr marL="0" indent="0">
              <a:buNone/>
            </a:pPr>
            <a:r>
              <a:rPr lang="uk-UA" sz="1800" dirty="0"/>
              <a:t>Відповіді з кодом 4</a:t>
            </a:r>
            <a:r>
              <a:rPr lang="en-US" sz="1800" dirty="0"/>
              <a:t>xx </a:t>
            </a:r>
            <a:r>
              <a:rPr lang="uk-UA" sz="1800" dirty="0"/>
              <a:t>означають, що запит містить помилку, таку як неправильний синтаксис або неправильне введення, що перешкоджає виконанню запиту. Клієнт повинен вжити заходів для вирішення цих проблем, перш ніж повторно надіслати запит. </a:t>
            </a:r>
          </a:p>
          <a:p>
            <a:pPr marL="0" indent="0">
              <a:buNone/>
            </a:pPr>
            <a:r>
              <a:rPr lang="en-US" sz="1800" b="1" dirty="0">
                <a:solidFill>
                  <a:srgbClr val="0070C0"/>
                </a:solidFill>
                <a:effectLst/>
              </a:rPr>
              <a:t>5xx - server error</a:t>
            </a:r>
            <a:endParaRPr lang="en-US" sz="1800" dirty="0">
              <a:solidFill>
                <a:srgbClr val="0070C0"/>
              </a:solidFill>
              <a:effectLst/>
            </a:endParaRPr>
          </a:p>
          <a:p>
            <a:pPr marL="0" indent="0">
              <a:buNone/>
            </a:pPr>
            <a:r>
              <a:rPr lang="ru-RU" sz="1800" dirty="0"/>
              <a:t>Відповіді з кодом 5xx означають, що сервер не може виконати запит, навіть якщо сам запит є дійсним. Залежно від того, який саме код статусу 5xx, клієнт може повторити запит пізніше. </a:t>
            </a:r>
            <a:endParaRPr lang="uk-UA" sz="1800" dirty="0"/>
          </a:p>
        </p:txBody>
      </p:sp>
    </p:spTree>
    <p:extLst>
      <p:ext uri="{BB962C8B-B14F-4D97-AF65-F5344CB8AC3E}">
        <p14:creationId xmlns:p14="http://schemas.microsoft.com/office/powerpoint/2010/main" val="42113152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968DC5A7-466E-038F-B43C-888E2AED3FA3}"/>
              </a:ext>
            </a:extLst>
          </p:cNvPr>
          <p:cNvSpPr>
            <a:spLocks noGrp="1"/>
          </p:cNvSpPr>
          <p:nvPr>
            <p:ph type="title"/>
          </p:nvPr>
        </p:nvSpPr>
        <p:spPr>
          <a:xfrm>
            <a:off x="2895600" y="764373"/>
            <a:ext cx="8610600" cy="983147"/>
          </a:xfrm>
        </p:spPr>
        <p:txBody>
          <a:bodyPr>
            <a:normAutofit fontScale="90000"/>
          </a:bodyPr>
          <a:lstStyle/>
          <a:p>
            <a:r>
              <a:rPr lang="en-US" sz="4000" b="1" dirty="0">
                <a:effectLst/>
              </a:rPr>
              <a:t>REST API Requests</a:t>
            </a:r>
            <a:br>
              <a:rPr lang="uk-UA" sz="4000" b="1" dirty="0">
                <a:effectLst/>
              </a:rPr>
            </a:br>
            <a:endParaRPr lang="uk-UA" dirty="0"/>
          </a:p>
        </p:txBody>
      </p:sp>
      <p:sp>
        <p:nvSpPr>
          <p:cNvPr id="3" name="Content Placeholder 2"/>
          <p:cNvSpPr>
            <a:spLocks noGrp="1"/>
          </p:cNvSpPr>
          <p:nvPr>
            <p:ph idx="1"/>
          </p:nvPr>
        </p:nvSpPr>
        <p:spPr>
          <a:xfrm>
            <a:off x="499449" y="1416937"/>
            <a:ext cx="10820400" cy="4024125"/>
          </a:xfrm>
        </p:spPr>
        <p:txBody>
          <a:bodyPr>
            <a:normAutofit/>
          </a:bodyPr>
          <a:lstStyle/>
          <a:p>
            <a:pPr marL="0" indent="0">
              <a:buNone/>
            </a:pPr>
            <a:r>
              <a:rPr lang="uk-UA" sz="1800" b="1" dirty="0"/>
              <a:t>Поширені коди статусу </a:t>
            </a:r>
            <a:r>
              <a:rPr lang="en-US" sz="1800" b="1" dirty="0"/>
              <a:t>HTTP </a:t>
            </a:r>
            <a:endParaRPr lang="uk-UA" sz="1800" b="1" dirty="0"/>
          </a:p>
        </p:txBody>
      </p:sp>
      <p:graphicFrame>
        <p:nvGraphicFramePr>
          <p:cNvPr id="2" name="Table 1"/>
          <p:cNvGraphicFramePr>
            <a:graphicFrameLocks noGrp="1"/>
          </p:cNvGraphicFramePr>
          <p:nvPr>
            <p:extLst>
              <p:ext uri="{D42A27DB-BD31-4B8C-83A1-F6EECF244321}">
                <p14:modId xmlns:p14="http://schemas.microsoft.com/office/powerpoint/2010/main" val="724418742"/>
              </p:ext>
            </p:extLst>
          </p:nvPr>
        </p:nvGraphicFramePr>
        <p:xfrm>
          <a:off x="685799" y="1747520"/>
          <a:ext cx="10447699" cy="4876772"/>
        </p:xfrm>
        <a:graphic>
          <a:graphicData uri="http://schemas.openxmlformats.org/drawingml/2006/table">
            <a:tbl>
              <a:tblPr firstRow="1">
                <a:tableStyleId>{08FB837D-C827-4EFA-A057-4D05807E0F7C}</a:tableStyleId>
              </a:tblPr>
              <a:tblGrid>
                <a:gridCol w="2027976">
                  <a:extLst>
                    <a:ext uri="{9D8B030D-6E8A-4147-A177-3AD203B41FA5}">
                      <a16:colId xmlns:a16="http://schemas.microsoft.com/office/drawing/2014/main" val="20000"/>
                    </a:ext>
                  </a:extLst>
                </a:gridCol>
                <a:gridCol w="2190939">
                  <a:extLst>
                    <a:ext uri="{9D8B030D-6E8A-4147-A177-3AD203B41FA5}">
                      <a16:colId xmlns:a16="http://schemas.microsoft.com/office/drawing/2014/main" val="20001"/>
                    </a:ext>
                  </a:extLst>
                </a:gridCol>
                <a:gridCol w="6228784">
                  <a:extLst>
                    <a:ext uri="{9D8B030D-6E8A-4147-A177-3AD203B41FA5}">
                      <a16:colId xmlns:a16="http://schemas.microsoft.com/office/drawing/2014/main" val="20002"/>
                    </a:ext>
                  </a:extLst>
                </a:gridCol>
              </a:tblGrid>
              <a:tr h="645971">
                <a:tc>
                  <a:txBody>
                    <a:bodyPr/>
                    <a:lstStyle/>
                    <a:p>
                      <a:pPr algn="ctr"/>
                      <a:r>
                        <a:rPr lang="en-US" sz="1400" dirty="0">
                          <a:effectLst/>
                        </a:rPr>
                        <a:t>HTTP Status Code</a:t>
                      </a:r>
                    </a:p>
                  </a:txBody>
                  <a:tcPr marL="12054" marR="12054" marT="6027" marB="6027" anchor="ctr"/>
                </a:tc>
                <a:tc>
                  <a:txBody>
                    <a:bodyPr/>
                    <a:lstStyle/>
                    <a:p>
                      <a:pPr algn="ctr"/>
                      <a:r>
                        <a:rPr lang="en-US" sz="1400" dirty="0">
                          <a:effectLst/>
                        </a:rPr>
                        <a:t>Status Message</a:t>
                      </a:r>
                    </a:p>
                  </a:txBody>
                  <a:tcPr marL="12054" marR="12054" marT="6027" marB="6027" anchor="ctr"/>
                </a:tc>
                <a:tc>
                  <a:txBody>
                    <a:bodyPr/>
                    <a:lstStyle/>
                    <a:p>
                      <a:pPr algn="ctr"/>
                      <a:r>
                        <a:rPr lang="uk-UA" sz="1400" dirty="0"/>
                        <a:t>Описання</a:t>
                      </a:r>
                      <a:endParaRPr lang="en-US" sz="1400" dirty="0"/>
                    </a:p>
                  </a:txBody>
                  <a:tcPr marL="12054" marR="12054" marT="6027" marB="6027" anchor="ctr"/>
                </a:tc>
                <a:extLst>
                  <a:ext uri="{0D108BD9-81ED-4DB2-BD59-A6C34878D82A}">
                    <a16:rowId xmlns:a16="http://schemas.microsoft.com/office/drawing/2014/main" val="10000"/>
                  </a:ext>
                </a:extLst>
              </a:tr>
              <a:tr h="445982">
                <a:tc>
                  <a:txBody>
                    <a:bodyPr/>
                    <a:lstStyle/>
                    <a:p>
                      <a:pPr algn="ctr"/>
                      <a:r>
                        <a:rPr lang="ru-RU" sz="1400" dirty="0"/>
                        <a:t>200</a:t>
                      </a:r>
                    </a:p>
                  </a:txBody>
                  <a:tcPr marL="12054" marR="12054" marT="6027" marB="6027" anchor="ctr"/>
                </a:tc>
                <a:tc>
                  <a:txBody>
                    <a:bodyPr/>
                    <a:lstStyle/>
                    <a:p>
                      <a:pPr algn="ctr"/>
                      <a:r>
                        <a:rPr lang="en-US" sz="1400" dirty="0"/>
                        <a:t>OK</a:t>
                      </a:r>
                    </a:p>
                  </a:txBody>
                  <a:tcPr marL="12054" marR="12054" marT="6027" marB="6027" anchor="ctr"/>
                </a:tc>
                <a:tc>
                  <a:txBody>
                    <a:bodyPr/>
                    <a:lstStyle/>
                    <a:p>
                      <a:r>
                        <a:rPr lang="ru-RU" sz="1400" dirty="0"/>
                        <a:t>Запит був успішним і зазвичай містить корисне навантаження (тіло) </a:t>
                      </a:r>
                      <a:endParaRPr lang="en-US" sz="1400" dirty="0"/>
                    </a:p>
                  </a:txBody>
                  <a:tcPr marL="12054" marR="12054" marT="6027" marB="6027" anchor="ctr"/>
                </a:tc>
                <a:extLst>
                  <a:ext uri="{0D108BD9-81ED-4DB2-BD59-A6C34878D82A}">
                    <a16:rowId xmlns:a16="http://schemas.microsoft.com/office/drawing/2014/main" val="10001"/>
                  </a:ext>
                </a:extLst>
              </a:tr>
              <a:tr h="409821">
                <a:tc>
                  <a:txBody>
                    <a:bodyPr/>
                    <a:lstStyle/>
                    <a:p>
                      <a:pPr algn="ctr"/>
                      <a:r>
                        <a:rPr lang="ru-RU" sz="1400" dirty="0"/>
                        <a:t>201</a:t>
                      </a:r>
                    </a:p>
                  </a:txBody>
                  <a:tcPr marL="12054" marR="12054" marT="6027" marB="6027" anchor="ctr"/>
                </a:tc>
                <a:tc>
                  <a:txBody>
                    <a:bodyPr/>
                    <a:lstStyle/>
                    <a:p>
                      <a:pPr algn="ctr"/>
                      <a:r>
                        <a:rPr lang="en-US" sz="1400"/>
                        <a:t>Created</a:t>
                      </a:r>
                    </a:p>
                  </a:txBody>
                  <a:tcPr marL="12054" marR="12054" marT="6027" marB="6027" anchor="ctr"/>
                </a:tc>
                <a:tc>
                  <a:txBody>
                    <a:bodyPr/>
                    <a:lstStyle/>
                    <a:p>
                      <a:r>
                        <a:rPr lang="ru-RU" sz="1400" dirty="0"/>
                        <a:t>Запит виконано, і запитуваний ресурс створено </a:t>
                      </a:r>
                      <a:endParaRPr lang="en-US" sz="1400" dirty="0"/>
                    </a:p>
                  </a:txBody>
                  <a:tcPr marL="12054" marR="12054" marT="6027" marB="6027" anchor="ctr"/>
                </a:tc>
                <a:extLst>
                  <a:ext uri="{0D108BD9-81ED-4DB2-BD59-A6C34878D82A}">
                    <a16:rowId xmlns:a16="http://schemas.microsoft.com/office/drawing/2014/main" val="10002"/>
                  </a:ext>
                </a:extLst>
              </a:tr>
              <a:tr h="409821">
                <a:tc>
                  <a:txBody>
                    <a:bodyPr/>
                    <a:lstStyle/>
                    <a:p>
                      <a:pPr algn="ctr"/>
                      <a:r>
                        <a:rPr lang="ru-RU" sz="1400" dirty="0"/>
                        <a:t>202</a:t>
                      </a:r>
                    </a:p>
                  </a:txBody>
                  <a:tcPr marL="12054" marR="12054" marT="6027" marB="6027" anchor="ctr"/>
                </a:tc>
                <a:tc>
                  <a:txBody>
                    <a:bodyPr/>
                    <a:lstStyle/>
                    <a:p>
                      <a:pPr algn="ctr"/>
                      <a:r>
                        <a:rPr lang="en-US" sz="1400"/>
                        <a:t>Accepted</a:t>
                      </a:r>
                    </a:p>
                  </a:txBody>
                  <a:tcPr marL="12054" marR="12054" marT="6027" marB="6027" anchor="ctr"/>
                </a:tc>
                <a:tc>
                  <a:txBody>
                    <a:bodyPr/>
                    <a:lstStyle/>
                    <a:p>
                      <a:r>
                        <a:rPr lang="ru-RU" sz="1400" dirty="0"/>
                        <a:t>Запит прийнято до обробки та обробляється </a:t>
                      </a:r>
                      <a:endParaRPr lang="en-US" sz="1400" dirty="0"/>
                    </a:p>
                  </a:txBody>
                  <a:tcPr marL="12054" marR="12054" marT="6027" marB="6027" anchor="ctr"/>
                </a:tc>
                <a:extLst>
                  <a:ext uri="{0D108BD9-81ED-4DB2-BD59-A6C34878D82A}">
                    <a16:rowId xmlns:a16="http://schemas.microsoft.com/office/drawing/2014/main" val="10003"/>
                  </a:ext>
                </a:extLst>
              </a:tr>
              <a:tr h="445982">
                <a:tc>
                  <a:txBody>
                    <a:bodyPr/>
                    <a:lstStyle/>
                    <a:p>
                      <a:pPr algn="ctr"/>
                      <a:r>
                        <a:rPr lang="ru-RU" sz="1400"/>
                        <a:t>400</a:t>
                      </a:r>
                    </a:p>
                  </a:txBody>
                  <a:tcPr marL="12054" marR="12054" marT="6027" marB="6027" anchor="ctr"/>
                </a:tc>
                <a:tc>
                  <a:txBody>
                    <a:bodyPr/>
                    <a:lstStyle/>
                    <a:p>
                      <a:pPr algn="ctr"/>
                      <a:r>
                        <a:rPr lang="en-US" sz="1400" dirty="0"/>
                        <a:t>Bad Request</a:t>
                      </a:r>
                    </a:p>
                  </a:txBody>
                  <a:tcPr marL="12054" marR="12054" marT="6027" marB="6027" anchor="ctr"/>
                </a:tc>
                <a:tc>
                  <a:txBody>
                    <a:bodyPr/>
                    <a:lstStyle/>
                    <a:p>
                      <a:r>
                        <a:rPr lang="ru-RU" sz="1400" dirty="0"/>
                        <a:t>Запит не буде оброблено через помилку із запитом </a:t>
                      </a:r>
                      <a:endParaRPr lang="en-US" sz="1400" dirty="0"/>
                    </a:p>
                  </a:txBody>
                  <a:tcPr marL="12054" marR="12054" marT="6027" marB="6027" anchor="ctr"/>
                </a:tc>
                <a:extLst>
                  <a:ext uri="{0D108BD9-81ED-4DB2-BD59-A6C34878D82A}">
                    <a16:rowId xmlns:a16="http://schemas.microsoft.com/office/drawing/2014/main" val="10004"/>
                  </a:ext>
                </a:extLst>
              </a:tr>
              <a:tr h="518303">
                <a:tc>
                  <a:txBody>
                    <a:bodyPr/>
                    <a:lstStyle/>
                    <a:p>
                      <a:pPr algn="ctr"/>
                      <a:r>
                        <a:rPr lang="ru-RU" sz="1400"/>
                        <a:t>401</a:t>
                      </a:r>
                    </a:p>
                  </a:txBody>
                  <a:tcPr marL="12054" marR="12054" marT="6027" marB="6027" anchor="ctr"/>
                </a:tc>
                <a:tc>
                  <a:txBody>
                    <a:bodyPr/>
                    <a:lstStyle/>
                    <a:p>
                      <a:pPr algn="ctr"/>
                      <a:r>
                        <a:rPr lang="en-US" sz="1400" dirty="0"/>
                        <a:t>Unauthorized</a:t>
                      </a:r>
                    </a:p>
                  </a:txBody>
                  <a:tcPr marL="12054" marR="12054" marT="6027" marB="6027" anchor="ctr"/>
                </a:tc>
                <a:tc>
                  <a:txBody>
                    <a:bodyPr/>
                    <a:lstStyle/>
                    <a:p>
                      <a:r>
                        <a:rPr lang="ru-RU" sz="1400" dirty="0"/>
                        <a:t>Запит не має дійсних облікових даних автентифікації для виконання запиту </a:t>
                      </a:r>
                      <a:endParaRPr lang="en-US" sz="1400" dirty="0"/>
                    </a:p>
                  </a:txBody>
                  <a:tcPr marL="12054" marR="12054" marT="6027" marB="6027" anchor="ctr"/>
                </a:tc>
                <a:extLst>
                  <a:ext uri="{0D108BD9-81ED-4DB2-BD59-A6C34878D82A}">
                    <a16:rowId xmlns:a16="http://schemas.microsoft.com/office/drawing/2014/main" val="10005"/>
                  </a:ext>
                </a:extLst>
              </a:tr>
              <a:tr h="409821">
                <a:tc>
                  <a:txBody>
                    <a:bodyPr/>
                    <a:lstStyle/>
                    <a:p>
                      <a:pPr algn="ctr"/>
                      <a:r>
                        <a:rPr lang="ru-RU" sz="1400"/>
                        <a:t>403</a:t>
                      </a:r>
                    </a:p>
                  </a:txBody>
                  <a:tcPr marL="12054" marR="12054" marT="6027" marB="6027" anchor="ctr"/>
                </a:tc>
                <a:tc>
                  <a:txBody>
                    <a:bodyPr/>
                    <a:lstStyle/>
                    <a:p>
                      <a:pPr algn="ctr"/>
                      <a:r>
                        <a:rPr lang="en-US" sz="1400" dirty="0"/>
                        <a:t>Forbidden</a:t>
                      </a:r>
                    </a:p>
                  </a:txBody>
                  <a:tcPr marL="12054" marR="12054" marT="6027" marB="6027" anchor="ctr"/>
                </a:tc>
                <a:tc>
                  <a:txBody>
                    <a:bodyPr/>
                    <a:lstStyle/>
                    <a:p>
                      <a:r>
                        <a:rPr lang="ru-RU" sz="1400" dirty="0"/>
                        <a:t>Запит зрозумлий, але сервер відхилив його </a:t>
                      </a:r>
                      <a:endParaRPr lang="en-US" sz="1400" dirty="0"/>
                    </a:p>
                  </a:txBody>
                  <a:tcPr marL="12054" marR="12054" marT="6027" marB="6027" anchor="ctr"/>
                </a:tc>
                <a:extLst>
                  <a:ext uri="{0D108BD9-81ED-4DB2-BD59-A6C34878D82A}">
                    <a16:rowId xmlns:a16="http://schemas.microsoft.com/office/drawing/2014/main" val="10006"/>
                  </a:ext>
                </a:extLst>
              </a:tr>
              <a:tr h="662946">
                <a:tc>
                  <a:txBody>
                    <a:bodyPr/>
                    <a:lstStyle/>
                    <a:p>
                      <a:pPr algn="ctr"/>
                      <a:r>
                        <a:rPr lang="ru-RU" sz="1400"/>
                        <a:t>404</a:t>
                      </a:r>
                    </a:p>
                  </a:txBody>
                  <a:tcPr marL="12054" marR="12054" marT="6027" marB="6027" anchor="ctr"/>
                </a:tc>
                <a:tc>
                  <a:txBody>
                    <a:bodyPr/>
                    <a:lstStyle/>
                    <a:p>
                      <a:pPr algn="ctr"/>
                      <a:r>
                        <a:rPr lang="en-US" sz="1400" dirty="0"/>
                        <a:t>Not Found</a:t>
                      </a:r>
                    </a:p>
                  </a:txBody>
                  <a:tcPr marL="12054" marR="12054" marT="6027" marB="6027" anchor="ctr"/>
                </a:tc>
                <a:tc>
                  <a:txBody>
                    <a:bodyPr/>
                    <a:lstStyle/>
                    <a:p>
                      <a:r>
                        <a:rPr lang="ru-RU" sz="1400" dirty="0"/>
                        <a:t>Запит не може бути виконаний, оскільки на сервері не знайдено шлях до ресурсу запиту </a:t>
                      </a:r>
                      <a:endParaRPr lang="en-US" sz="1400" dirty="0"/>
                    </a:p>
                  </a:txBody>
                  <a:tcPr marL="12054" marR="12054" marT="6027" marB="6027" anchor="ctr"/>
                </a:tc>
                <a:extLst>
                  <a:ext uri="{0D108BD9-81ED-4DB2-BD59-A6C34878D82A}">
                    <a16:rowId xmlns:a16="http://schemas.microsoft.com/office/drawing/2014/main" val="10007"/>
                  </a:ext>
                </a:extLst>
              </a:tr>
              <a:tr h="337500">
                <a:tc>
                  <a:txBody>
                    <a:bodyPr/>
                    <a:lstStyle/>
                    <a:p>
                      <a:pPr algn="ctr"/>
                      <a:r>
                        <a:rPr lang="ru-RU" sz="1400"/>
                        <a:t>500</a:t>
                      </a:r>
                    </a:p>
                  </a:txBody>
                  <a:tcPr marL="12054" marR="12054" marT="6027" marB="6027" anchor="ctr"/>
                </a:tc>
                <a:tc>
                  <a:txBody>
                    <a:bodyPr/>
                    <a:lstStyle/>
                    <a:p>
                      <a:pPr algn="ctr"/>
                      <a:r>
                        <a:rPr lang="en-US" sz="1400" dirty="0"/>
                        <a:t>Internal Server Error</a:t>
                      </a:r>
                    </a:p>
                  </a:txBody>
                  <a:tcPr marL="12054" marR="12054" marT="6027" marB="6027" anchor="ctr"/>
                </a:tc>
                <a:tc>
                  <a:txBody>
                    <a:bodyPr/>
                    <a:lstStyle/>
                    <a:p>
                      <a:r>
                        <a:rPr lang="ru-RU" sz="1400" dirty="0"/>
                        <a:t>Запит не може бути виконаний через помилку сервера </a:t>
                      </a:r>
                      <a:endParaRPr lang="en-US" sz="1400" dirty="0"/>
                    </a:p>
                  </a:txBody>
                  <a:tcPr marL="12054" marR="12054" marT="6027" marB="6027" anchor="ctr"/>
                </a:tc>
                <a:extLst>
                  <a:ext uri="{0D108BD9-81ED-4DB2-BD59-A6C34878D82A}">
                    <a16:rowId xmlns:a16="http://schemas.microsoft.com/office/drawing/2014/main" val="10008"/>
                  </a:ext>
                </a:extLst>
              </a:tr>
              <a:tr h="590625">
                <a:tc>
                  <a:txBody>
                    <a:bodyPr/>
                    <a:lstStyle/>
                    <a:p>
                      <a:pPr algn="ctr"/>
                      <a:r>
                        <a:rPr lang="ru-RU" sz="1400"/>
                        <a:t>503</a:t>
                      </a:r>
                    </a:p>
                  </a:txBody>
                  <a:tcPr marL="12054" marR="12054" marT="6027" marB="6027" anchor="ctr"/>
                </a:tc>
                <a:tc>
                  <a:txBody>
                    <a:bodyPr/>
                    <a:lstStyle/>
                    <a:p>
                      <a:pPr algn="ctr"/>
                      <a:r>
                        <a:rPr lang="en-US" sz="1400" dirty="0"/>
                        <a:t>Service Unavailable</a:t>
                      </a:r>
                    </a:p>
                  </a:txBody>
                  <a:tcPr marL="12054" marR="12054" marT="6027" marB="6027" anchor="ctr"/>
                </a:tc>
                <a:tc>
                  <a:txBody>
                    <a:bodyPr/>
                    <a:lstStyle/>
                    <a:p>
                      <a:r>
                        <a:rPr lang="ru-RU" sz="1400" dirty="0"/>
                        <a:t>Запит не може бути виконаний, оскільки наразі сервер не може обробити запит </a:t>
                      </a:r>
                      <a:endParaRPr lang="en-US" sz="1400" dirty="0"/>
                    </a:p>
                  </a:txBody>
                  <a:tcPr marL="12054" marR="12054" marT="6027" marB="6027"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1732290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A9D51B2A-466E-1A90-0187-4BCF38DE91CE}"/>
              </a:ext>
            </a:extLst>
          </p:cNvPr>
          <p:cNvSpPr>
            <a:spLocks noGrp="1"/>
          </p:cNvSpPr>
          <p:nvPr>
            <p:ph type="title"/>
          </p:nvPr>
        </p:nvSpPr>
        <p:spPr>
          <a:xfrm>
            <a:off x="2895600" y="764373"/>
            <a:ext cx="8610600" cy="1023787"/>
          </a:xfrm>
        </p:spPr>
        <p:txBody>
          <a:bodyPr>
            <a:normAutofit fontScale="90000"/>
          </a:bodyPr>
          <a:lstStyle/>
          <a:p>
            <a:r>
              <a:rPr lang="en-US" sz="4000" b="1" dirty="0">
                <a:effectLst/>
              </a:rPr>
              <a:t>REST API Requests</a:t>
            </a:r>
            <a:br>
              <a:rPr lang="uk-UA" sz="4000" b="1" dirty="0">
                <a:effectLst/>
              </a:rPr>
            </a:br>
            <a:endParaRPr lang="uk-UA" dirty="0"/>
          </a:p>
        </p:txBody>
      </p:sp>
      <p:sp>
        <p:nvSpPr>
          <p:cNvPr id="3" name="Content Placeholder 2"/>
          <p:cNvSpPr>
            <a:spLocks noGrp="1"/>
          </p:cNvSpPr>
          <p:nvPr>
            <p:ph idx="1"/>
          </p:nvPr>
        </p:nvSpPr>
        <p:spPr>
          <a:xfrm>
            <a:off x="546227" y="1416937"/>
            <a:ext cx="10820400" cy="3124583"/>
          </a:xfrm>
        </p:spPr>
        <p:txBody>
          <a:bodyPr>
            <a:normAutofit/>
          </a:bodyPr>
          <a:lstStyle/>
          <a:p>
            <a:pPr marL="0" indent="0">
              <a:buNone/>
            </a:pPr>
            <a:r>
              <a:rPr lang="uk-UA" sz="1800" b="1" dirty="0">
                <a:solidFill>
                  <a:srgbClr val="0070C0"/>
                </a:solidFill>
              </a:rPr>
              <a:t>Заголовок</a:t>
            </a:r>
            <a:r>
              <a:rPr lang="uk-UA" sz="1800" b="1" dirty="0"/>
              <a:t> </a:t>
            </a:r>
          </a:p>
          <a:p>
            <a:pPr marL="0" indent="0">
              <a:buNone/>
            </a:pPr>
            <a:r>
              <a:rPr lang="uk-UA" sz="1800" dirty="0"/>
              <a:t>Так само, як і запит, заголовок відповіді також використовує стандартний формат заголовка </a:t>
            </a:r>
            <a:r>
              <a:rPr lang="en-US" sz="1800" dirty="0"/>
              <a:t>HTTP </a:t>
            </a:r>
            <a:r>
              <a:rPr lang="uk-UA" sz="1800" dirty="0"/>
              <a:t>і також є необов'язковим. Заголовок у відповіді має надати додаткову інформацію між сервером і клієнтом у форматі пари ім’я-значення, що розділяється двокрапкою (</a:t>
            </a:r>
            <a:r>
              <a:rPr lang="uk-UA" sz="1800" b="1" dirty="0"/>
              <a:t>:</a:t>
            </a:r>
            <a:r>
              <a:rPr lang="uk-UA" sz="1800" dirty="0"/>
              <a:t>), </a:t>
            </a:r>
            <a:r>
              <a:rPr lang="uk-UA" sz="1800" b="1" dirty="0"/>
              <a:t>[ім’я]:[значення]</a:t>
            </a:r>
            <a:r>
              <a:rPr lang="uk-UA" sz="1800" dirty="0"/>
              <a:t>.</a:t>
            </a:r>
            <a:r>
              <a:rPr lang="uk-UA" sz="1800" b="1" dirty="0"/>
              <a:t> </a:t>
            </a:r>
            <a:endParaRPr lang="uk-UA" sz="1800" dirty="0"/>
          </a:p>
          <a:p>
            <a:pPr marL="0" indent="0">
              <a:buNone/>
            </a:pPr>
            <a:r>
              <a:rPr lang="uk-UA" sz="1800" dirty="0"/>
              <a:t>Існує два типи заголовків: заголовки відповіді та заголовки об’єктів. </a:t>
            </a:r>
            <a:endParaRPr lang="uk-UA" sz="1800" b="1" dirty="0"/>
          </a:p>
          <a:p>
            <a:pPr marL="0" indent="0">
              <a:buNone/>
            </a:pPr>
            <a:r>
              <a:rPr lang="uk-UA" sz="1800" b="1" dirty="0">
                <a:solidFill>
                  <a:srgbClr val="0070C0"/>
                </a:solidFill>
              </a:rPr>
              <a:t>Заголовки відповідей </a:t>
            </a:r>
          </a:p>
          <a:p>
            <a:pPr marL="0" indent="0">
              <a:buNone/>
            </a:pPr>
            <a:r>
              <a:rPr lang="uk-UA" sz="1800" dirty="0"/>
              <a:t>Заголовки відповіді містять додаткову інформацію, яка не стосується змісту повідомлення. </a:t>
            </a:r>
          </a:p>
          <a:p>
            <a:pPr marL="0" indent="0">
              <a:buNone/>
            </a:pPr>
            <a:r>
              <a:rPr lang="uk-UA" sz="1800" dirty="0"/>
              <a:t>Деякі типові заголовки відповіді, які ви можете знайти для запиту </a:t>
            </a:r>
            <a:r>
              <a:rPr lang="en-US" sz="1800" dirty="0"/>
              <a:t>REST API, </a:t>
            </a:r>
            <a:r>
              <a:rPr lang="uk-UA" sz="1800" dirty="0"/>
              <a:t>включають: </a:t>
            </a:r>
            <a:endParaRPr lang="en-US" sz="1800" dirty="0"/>
          </a:p>
        </p:txBody>
      </p:sp>
      <p:graphicFrame>
        <p:nvGraphicFramePr>
          <p:cNvPr id="2" name="Table 1"/>
          <p:cNvGraphicFramePr>
            <a:graphicFrameLocks noGrp="1"/>
          </p:cNvGraphicFramePr>
          <p:nvPr>
            <p:extLst>
              <p:ext uri="{D42A27DB-BD31-4B8C-83A1-F6EECF244321}">
                <p14:modId xmlns:p14="http://schemas.microsoft.com/office/powerpoint/2010/main" val="2293586872"/>
              </p:ext>
            </p:extLst>
          </p:nvPr>
        </p:nvGraphicFramePr>
        <p:xfrm>
          <a:off x="546227" y="4541520"/>
          <a:ext cx="11099546" cy="1910280"/>
        </p:xfrm>
        <a:graphic>
          <a:graphicData uri="http://schemas.openxmlformats.org/drawingml/2006/table">
            <a:tbl>
              <a:tblPr firstRow="1">
                <a:tableStyleId>{08FB837D-C827-4EFA-A057-4D05807E0F7C}</a:tableStyleId>
              </a:tblPr>
              <a:tblGrid>
                <a:gridCol w="3183465">
                  <a:extLst>
                    <a:ext uri="{9D8B030D-6E8A-4147-A177-3AD203B41FA5}">
                      <a16:colId xmlns:a16="http://schemas.microsoft.com/office/drawing/2014/main" val="20000"/>
                    </a:ext>
                  </a:extLst>
                </a:gridCol>
                <a:gridCol w="3860129">
                  <a:extLst>
                    <a:ext uri="{9D8B030D-6E8A-4147-A177-3AD203B41FA5}">
                      <a16:colId xmlns:a16="http://schemas.microsoft.com/office/drawing/2014/main" val="20001"/>
                    </a:ext>
                  </a:extLst>
                </a:gridCol>
                <a:gridCol w="4055952">
                  <a:extLst>
                    <a:ext uri="{9D8B030D-6E8A-4147-A177-3AD203B41FA5}">
                      <a16:colId xmlns:a16="http://schemas.microsoft.com/office/drawing/2014/main" val="20002"/>
                    </a:ext>
                  </a:extLst>
                </a:gridCol>
              </a:tblGrid>
              <a:tr h="506993">
                <a:tc>
                  <a:txBody>
                    <a:bodyPr/>
                    <a:lstStyle/>
                    <a:p>
                      <a:pPr algn="ctr"/>
                      <a:r>
                        <a:rPr lang="uk-UA" sz="1400" dirty="0">
                          <a:effectLst/>
                        </a:rPr>
                        <a:t>Ключ</a:t>
                      </a:r>
                      <a:endParaRPr lang="en-US" sz="1400" dirty="0">
                        <a:effectLst/>
                      </a:endParaRPr>
                    </a:p>
                  </a:txBody>
                  <a:tcPr marL="40290" marR="40290" marT="20145" marB="20145" anchor="ctr"/>
                </a:tc>
                <a:tc>
                  <a:txBody>
                    <a:bodyPr/>
                    <a:lstStyle/>
                    <a:p>
                      <a:pPr algn="ctr"/>
                      <a:r>
                        <a:rPr lang="uk-UA" sz="1400" dirty="0">
                          <a:effectLst/>
                        </a:rPr>
                        <a:t>Приклад</a:t>
                      </a:r>
                      <a:endParaRPr lang="en-US" sz="1400" dirty="0">
                        <a:effectLst/>
                      </a:endParaRPr>
                    </a:p>
                  </a:txBody>
                  <a:tcPr marL="40290" marR="40290" marT="20145" marB="20145" anchor="ctr"/>
                </a:tc>
                <a:tc>
                  <a:txBody>
                    <a:bodyPr/>
                    <a:lstStyle/>
                    <a:p>
                      <a:pPr algn="ctr"/>
                      <a:r>
                        <a:rPr lang="uk-UA" sz="1400" dirty="0"/>
                        <a:t>Опис</a:t>
                      </a:r>
                      <a:endParaRPr lang="en-US" sz="1400" dirty="0"/>
                    </a:p>
                  </a:txBody>
                  <a:tcPr marL="40290" marR="40290" marT="20145" marB="20145" anchor="ctr"/>
                </a:tc>
                <a:extLst>
                  <a:ext uri="{0D108BD9-81ED-4DB2-BD59-A6C34878D82A}">
                    <a16:rowId xmlns:a16="http://schemas.microsoft.com/office/drawing/2014/main" val="10000"/>
                  </a:ext>
                </a:extLst>
              </a:tr>
              <a:tr h="561315">
                <a:tc>
                  <a:txBody>
                    <a:bodyPr/>
                    <a:lstStyle/>
                    <a:p>
                      <a:pPr algn="ctr"/>
                      <a:r>
                        <a:rPr lang="en-US" sz="1400" dirty="0"/>
                        <a:t>Set-Cookie</a:t>
                      </a:r>
                    </a:p>
                  </a:txBody>
                  <a:tcPr marL="40290" marR="40290" marT="20145" marB="20145" anchor="ctr"/>
                </a:tc>
                <a:tc>
                  <a:txBody>
                    <a:bodyPr/>
                    <a:lstStyle/>
                    <a:p>
                      <a:pPr algn="ctr"/>
                      <a:r>
                        <a:rPr lang="en-US" sz="1400" dirty="0"/>
                        <a:t>JSESSIONID=30A9DN810FQ428P; Path=/</a:t>
                      </a:r>
                    </a:p>
                  </a:txBody>
                  <a:tcPr marL="40290" marR="40290" marT="20145" marB="20145" anchor="ctr"/>
                </a:tc>
                <a:tc>
                  <a:txBody>
                    <a:bodyPr/>
                    <a:lstStyle/>
                    <a:p>
                      <a:r>
                        <a:rPr lang="ru-RU" sz="1400" dirty="0"/>
                        <a:t>Використовується для надсилання файлів cookie з сервера </a:t>
                      </a:r>
                      <a:endParaRPr lang="en-US" sz="1400" dirty="0"/>
                    </a:p>
                  </a:txBody>
                  <a:tcPr marL="40290" marR="40290" marT="20145" marB="20145" anchor="ctr"/>
                </a:tc>
                <a:extLst>
                  <a:ext uri="{0D108BD9-81ED-4DB2-BD59-A6C34878D82A}">
                    <a16:rowId xmlns:a16="http://schemas.microsoft.com/office/drawing/2014/main" val="10001"/>
                  </a:ext>
                </a:extLst>
              </a:tr>
              <a:tr h="841972">
                <a:tc>
                  <a:txBody>
                    <a:bodyPr/>
                    <a:lstStyle/>
                    <a:p>
                      <a:pPr algn="ctr"/>
                      <a:r>
                        <a:rPr lang="en-US" sz="1400"/>
                        <a:t>Cache-Control</a:t>
                      </a:r>
                    </a:p>
                  </a:txBody>
                  <a:tcPr marL="40290" marR="40290" marT="20145" marB="20145" anchor="ctr"/>
                </a:tc>
                <a:tc>
                  <a:txBody>
                    <a:bodyPr/>
                    <a:lstStyle/>
                    <a:p>
                      <a:pPr algn="ctr"/>
                      <a:r>
                        <a:rPr lang="en-US" sz="1400" dirty="0"/>
                        <a:t>Cache-Control: max-age=3600, public</a:t>
                      </a:r>
                    </a:p>
                  </a:txBody>
                  <a:tcPr marL="40290" marR="40290" marT="20145" marB="20145" anchor="ctr"/>
                </a:tc>
                <a:tc>
                  <a:txBody>
                    <a:bodyPr/>
                    <a:lstStyle/>
                    <a:p>
                      <a:r>
                        <a:rPr lang="ru-RU" sz="1400" dirty="0"/>
                        <a:t>Вказує директиви, яким ПОВИННІ підкорятися всі механізми кешування </a:t>
                      </a:r>
                      <a:endParaRPr lang="en-US" sz="1400" dirty="0"/>
                    </a:p>
                  </a:txBody>
                  <a:tcPr marL="40290" marR="40290" marT="20145" marB="20145"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595596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77C53150-6783-8A06-505A-ED6636811F1B}"/>
              </a:ext>
            </a:extLst>
          </p:cNvPr>
          <p:cNvSpPr>
            <a:spLocks noGrp="1"/>
          </p:cNvSpPr>
          <p:nvPr>
            <p:ph type="title"/>
          </p:nvPr>
        </p:nvSpPr>
        <p:spPr>
          <a:xfrm>
            <a:off x="2895600" y="764373"/>
            <a:ext cx="8610600" cy="725942"/>
          </a:xfrm>
        </p:spPr>
        <p:txBody>
          <a:bodyPr>
            <a:normAutofit fontScale="90000"/>
          </a:bodyPr>
          <a:lstStyle/>
          <a:p>
            <a:r>
              <a:rPr lang="en-US" sz="4000" b="1" dirty="0">
                <a:effectLst/>
              </a:rPr>
              <a:t>REST API Requests</a:t>
            </a:r>
            <a:br>
              <a:rPr lang="uk-UA" sz="4000" b="1" dirty="0">
                <a:effectLst/>
              </a:rPr>
            </a:br>
            <a:endParaRPr lang="uk-UA" dirty="0"/>
          </a:p>
        </p:txBody>
      </p:sp>
      <p:sp>
        <p:nvSpPr>
          <p:cNvPr id="3" name="Content Placeholder 2"/>
          <p:cNvSpPr>
            <a:spLocks noGrp="1"/>
          </p:cNvSpPr>
          <p:nvPr>
            <p:ph idx="1"/>
          </p:nvPr>
        </p:nvSpPr>
        <p:spPr>
          <a:xfrm>
            <a:off x="685800" y="1150605"/>
            <a:ext cx="10820400" cy="882272"/>
          </a:xfrm>
        </p:spPr>
        <p:txBody>
          <a:bodyPr>
            <a:normAutofit fontScale="85000" lnSpcReduction="20000"/>
          </a:bodyPr>
          <a:lstStyle/>
          <a:p>
            <a:pPr marL="0" indent="0">
              <a:buNone/>
            </a:pPr>
            <a:r>
              <a:rPr lang="ru-RU" sz="1800" b="1" dirty="0">
                <a:solidFill>
                  <a:srgbClr val="0070C0"/>
                </a:solidFill>
              </a:rPr>
              <a:t>Заголовки сутностей </a:t>
            </a:r>
          </a:p>
          <a:p>
            <a:pPr marL="0" indent="0">
              <a:buNone/>
            </a:pPr>
            <a:r>
              <a:rPr lang="ru-RU" sz="1800" dirty="0"/>
              <a:t>Заголовки сутностей — це додаткова інформація, яка описує зміст тіла повідомлення. </a:t>
            </a:r>
          </a:p>
          <a:p>
            <a:pPr marL="0" indent="0">
              <a:buNone/>
            </a:pPr>
            <a:r>
              <a:rPr lang="ru-RU" sz="1800" dirty="0"/>
              <a:t>Один загальний заголовок сутності визначає тип даних, які повертаються: </a:t>
            </a:r>
          </a:p>
          <a:p>
            <a:pPr marL="0" indent="0">
              <a:buNone/>
            </a:pPr>
            <a:endParaRPr lang="ru-RU" sz="1800" dirty="0">
              <a:effectLst/>
            </a:endParaRPr>
          </a:p>
        </p:txBody>
      </p:sp>
      <p:graphicFrame>
        <p:nvGraphicFramePr>
          <p:cNvPr id="2" name="Table 1"/>
          <p:cNvGraphicFramePr>
            <a:graphicFrameLocks noGrp="1"/>
          </p:cNvGraphicFramePr>
          <p:nvPr>
            <p:extLst>
              <p:ext uri="{D42A27DB-BD31-4B8C-83A1-F6EECF244321}">
                <p14:modId xmlns:p14="http://schemas.microsoft.com/office/powerpoint/2010/main" val="740621824"/>
              </p:ext>
            </p:extLst>
          </p:nvPr>
        </p:nvGraphicFramePr>
        <p:xfrm>
          <a:off x="685800" y="2053349"/>
          <a:ext cx="10284735" cy="731520"/>
        </p:xfrm>
        <a:graphic>
          <a:graphicData uri="http://schemas.openxmlformats.org/drawingml/2006/table">
            <a:tbl>
              <a:tblPr firstRow="1">
                <a:tableStyleId>{08FB837D-C827-4EFA-A057-4D05807E0F7C}</a:tableStyleId>
              </a:tblPr>
              <a:tblGrid>
                <a:gridCol w="2949765">
                  <a:extLst>
                    <a:ext uri="{9D8B030D-6E8A-4147-A177-3AD203B41FA5}">
                      <a16:colId xmlns:a16="http://schemas.microsoft.com/office/drawing/2014/main" val="20000"/>
                    </a:ext>
                  </a:extLst>
                </a:gridCol>
                <a:gridCol w="3206591">
                  <a:extLst>
                    <a:ext uri="{9D8B030D-6E8A-4147-A177-3AD203B41FA5}">
                      <a16:colId xmlns:a16="http://schemas.microsoft.com/office/drawing/2014/main" val="20001"/>
                    </a:ext>
                  </a:extLst>
                </a:gridCol>
                <a:gridCol w="4128379">
                  <a:extLst>
                    <a:ext uri="{9D8B030D-6E8A-4147-A177-3AD203B41FA5}">
                      <a16:colId xmlns:a16="http://schemas.microsoft.com/office/drawing/2014/main" val="20002"/>
                    </a:ext>
                  </a:extLst>
                </a:gridCol>
              </a:tblGrid>
              <a:tr h="0">
                <a:tc>
                  <a:txBody>
                    <a:bodyPr/>
                    <a:lstStyle/>
                    <a:p>
                      <a:r>
                        <a:rPr lang="uk-UA" dirty="0">
                          <a:effectLst/>
                        </a:rPr>
                        <a:t>Ключ</a:t>
                      </a:r>
                      <a:endParaRPr lang="en-US" dirty="0">
                        <a:effectLst/>
                      </a:endParaRPr>
                    </a:p>
                  </a:txBody>
                  <a:tcPr anchor="ctr"/>
                </a:tc>
                <a:tc>
                  <a:txBody>
                    <a:bodyPr/>
                    <a:lstStyle/>
                    <a:p>
                      <a:r>
                        <a:rPr lang="uk-UA" dirty="0">
                          <a:effectLst/>
                        </a:rPr>
                        <a:t>Приклад</a:t>
                      </a:r>
                      <a:endParaRPr lang="en-US" dirty="0">
                        <a:effectLst/>
                      </a:endParaRPr>
                    </a:p>
                  </a:txBody>
                  <a:tcPr anchor="ctr"/>
                </a:tc>
                <a:tc>
                  <a:txBody>
                    <a:bodyPr/>
                    <a:lstStyle/>
                    <a:p>
                      <a:r>
                        <a:rPr lang="uk-UA" dirty="0"/>
                        <a:t>Опис</a:t>
                      </a:r>
                      <a:endParaRPr lang="en-US" dirty="0"/>
                    </a:p>
                  </a:txBody>
                  <a:tcPr anchor="ctr"/>
                </a:tc>
                <a:extLst>
                  <a:ext uri="{0D108BD9-81ED-4DB2-BD59-A6C34878D82A}">
                    <a16:rowId xmlns:a16="http://schemas.microsoft.com/office/drawing/2014/main" val="10000"/>
                  </a:ext>
                </a:extLst>
              </a:tr>
              <a:tr h="0">
                <a:tc>
                  <a:txBody>
                    <a:bodyPr/>
                    <a:lstStyle/>
                    <a:p>
                      <a:r>
                        <a:rPr lang="en-US" dirty="0"/>
                        <a:t>Content-Type</a:t>
                      </a:r>
                    </a:p>
                  </a:txBody>
                  <a:tcPr anchor="ctr"/>
                </a:tc>
                <a:tc>
                  <a:txBody>
                    <a:bodyPr/>
                    <a:lstStyle/>
                    <a:p>
                      <a:r>
                        <a:rPr lang="en-US" dirty="0"/>
                        <a:t>application/</a:t>
                      </a:r>
                      <a:r>
                        <a:rPr lang="en-US" dirty="0" err="1"/>
                        <a:t>json</a:t>
                      </a:r>
                      <a:endParaRPr lang="en-US" dirty="0"/>
                    </a:p>
                  </a:txBody>
                  <a:tcPr anchor="ctr"/>
                </a:tc>
                <a:tc>
                  <a:txBody>
                    <a:bodyPr/>
                    <a:lstStyle/>
                    <a:p>
                      <a:r>
                        <a:rPr lang="ru-RU" dirty="0"/>
                        <a:t>Вказує формат даних у тілі </a:t>
                      </a:r>
                      <a:endParaRPr lang="en-US" dirty="0"/>
                    </a:p>
                  </a:txBody>
                  <a:tcPr anchor="ctr"/>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FA80387B-6F7C-A936-2C0B-BB925EF1ED92}"/>
              </a:ext>
            </a:extLst>
          </p:cNvPr>
          <p:cNvSpPr txBox="1"/>
          <p:nvPr/>
        </p:nvSpPr>
        <p:spPr>
          <a:xfrm>
            <a:off x="685800" y="2951775"/>
            <a:ext cx="11069320" cy="3539430"/>
          </a:xfrm>
          <a:prstGeom prst="rect">
            <a:avLst/>
          </a:prstGeom>
          <a:noFill/>
        </p:spPr>
        <p:txBody>
          <a:bodyPr wrap="square">
            <a:spAutoFit/>
          </a:bodyPr>
          <a:lstStyle/>
          <a:p>
            <a:pPr marL="0" indent="0">
              <a:buNone/>
            </a:pPr>
            <a:r>
              <a:rPr lang="en-US" sz="1600" b="1" dirty="0">
                <a:solidFill>
                  <a:srgbClr val="0070C0"/>
                </a:solidFill>
              </a:rPr>
              <a:t>Body</a:t>
            </a:r>
            <a:endParaRPr lang="en-US" sz="1600" dirty="0">
              <a:solidFill>
                <a:srgbClr val="0070C0"/>
              </a:solidFill>
            </a:endParaRPr>
          </a:p>
          <a:p>
            <a:pPr marL="0" indent="0">
              <a:buNone/>
            </a:pPr>
            <a:r>
              <a:rPr lang="uk-UA" sz="1600" dirty="0"/>
              <a:t>Тілом відповіді </a:t>
            </a:r>
            <a:r>
              <a:rPr lang="en-US" sz="1600" dirty="0"/>
              <a:t>REST API </a:t>
            </a:r>
            <a:r>
              <a:rPr lang="uk-UA" sz="1600" dirty="0"/>
              <a:t>є дані, які клієнт запитав у запиті </a:t>
            </a:r>
            <a:r>
              <a:rPr lang="en-US" sz="1600" dirty="0"/>
              <a:t>REST API. </a:t>
            </a:r>
            <a:r>
              <a:rPr lang="uk-UA" sz="1600" dirty="0"/>
              <a:t>Тіло є необов’язковим, але якщо дані вказано в тілі, тип даних вказується в заголовку за допомогою ключа </a:t>
            </a:r>
            <a:r>
              <a:rPr lang="en-US" sz="1600" dirty="0"/>
              <a:t>Content-type. </a:t>
            </a:r>
            <a:r>
              <a:rPr lang="uk-UA" sz="1600" dirty="0"/>
              <a:t>Якщо запит </a:t>
            </a:r>
            <a:r>
              <a:rPr lang="en-US" sz="1600" dirty="0"/>
              <a:t>REST API </a:t>
            </a:r>
            <a:r>
              <a:rPr lang="uk-UA" sz="1600" dirty="0"/>
              <a:t>був невдалим, сервер може надати додаткову інформацію про проблему або дії, які необхідно виконати, щоб запит був успішним. </a:t>
            </a:r>
          </a:p>
          <a:p>
            <a:pPr marL="0" indent="0">
              <a:buNone/>
            </a:pPr>
            <a:endParaRPr lang="uk-UA" sz="1600" b="1" dirty="0"/>
          </a:p>
          <a:p>
            <a:pPr marL="0" indent="0">
              <a:buNone/>
            </a:pPr>
            <a:r>
              <a:rPr lang="uk-UA" sz="1600" b="1" dirty="0">
                <a:solidFill>
                  <a:srgbClr val="0070C0"/>
                </a:solidFill>
              </a:rPr>
              <a:t>Пагінація відповідей </a:t>
            </a:r>
          </a:p>
          <a:p>
            <a:pPr marL="0" indent="0">
              <a:buNone/>
            </a:pPr>
            <a:r>
              <a:rPr lang="uk-UA" sz="1600" dirty="0"/>
              <a:t>Деякі </a:t>
            </a:r>
            <a:r>
              <a:rPr lang="en-US" sz="1600" dirty="0"/>
              <a:t>API, </a:t>
            </a:r>
            <a:r>
              <a:rPr lang="uk-UA" sz="1600" dirty="0"/>
              <a:t>наприклад </a:t>
            </a:r>
            <a:r>
              <a:rPr lang="en-US" sz="1600" dirty="0"/>
              <a:t>API </a:t>
            </a:r>
            <a:r>
              <a:rPr lang="uk-UA" sz="1600" dirty="0"/>
              <a:t>пошуку, можуть вимагати надсилання великої кількості даних у відповіді. Для зменшення використання пропускної здатності в мережі, ці </a:t>
            </a:r>
            <a:r>
              <a:rPr lang="en-US" sz="1600" dirty="0"/>
              <a:t>API </a:t>
            </a:r>
            <a:r>
              <a:rPr lang="uk-UA" sz="1600" dirty="0"/>
              <a:t>розбиватимуть дані відповіді на сторінки. Пагінація відповіді дозволяє розбити дані на частини. Більшість </a:t>
            </a:r>
            <a:r>
              <a:rPr lang="en-US" sz="1600" dirty="0"/>
              <a:t>API, </a:t>
            </a:r>
            <a:r>
              <a:rPr lang="uk-UA" sz="1600" dirty="0"/>
              <a:t>які реалізують розбивку на сторінки, дозволять запитувачу вказати, скільки елементів він хоче у відповіді. </a:t>
            </a:r>
          </a:p>
          <a:p>
            <a:pPr marL="0" indent="0">
              <a:buNone/>
            </a:pPr>
            <a:r>
              <a:rPr lang="uk-UA" sz="1600" dirty="0"/>
              <a:t>Оскільки є кілька фрагментів, </a:t>
            </a:r>
            <a:r>
              <a:rPr lang="en-US" sz="1600" dirty="0"/>
              <a:t>API </a:t>
            </a:r>
            <a:r>
              <a:rPr lang="uk-UA" sz="1600" dirty="0"/>
              <a:t>також повинен дозволити запитувачу вказати, який фрагмент він хоче. Для </a:t>
            </a:r>
            <a:r>
              <a:rPr lang="en-US" sz="1600" dirty="0"/>
              <a:t>API </a:t>
            </a:r>
            <a:r>
              <a:rPr lang="uk-UA" sz="1600" dirty="0"/>
              <a:t>не існує стандартного способу реалізації розбиття на сторінки, але більшість реалізацій використовують параметр запиту, щоб вказати, яку сторінку повертати у відповіді. </a:t>
            </a:r>
            <a:endParaRPr lang="en-US" sz="1600" dirty="0">
              <a:effectLst/>
            </a:endParaRPr>
          </a:p>
        </p:txBody>
      </p:sp>
    </p:spTree>
    <p:extLst>
      <p:ext uri="{BB962C8B-B14F-4D97-AF65-F5344CB8AC3E}">
        <p14:creationId xmlns:p14="http://schemas.microsoft.com/office/powerpoint/2010/main" val="1112199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F83938-A0C1-7134-1D09-932CEE787DC3}"/>
              </a:ext>
            </a:extLst>
          </p:cNvPr>
          <p:cNvSpPr>
            <a:spLocks noGrp="1"/>
          </p:cNvSpPr>
          <p:nvPr>
            <p:ph type="title"/>
          </p:nvPr>
        </p:nvSpPr>
        <p:spPr>
          <a:xfrm>
            <a:off x="2895600" y="764373"/>
            <a:ext cx="8610600" cy="617387"/>
          </a:xfrm>
        </p:spPr>
        <p:txBody>
          <a:bodyPr>
            <a:normAutofit fontScale="90000"/>
          </a:bodyPr>
          <a:lstStyle/>
          <a:p>
            <a:r>
              <a:rPr lang="en-US" sz="4000" b="1" dirty="0">
                <a:effectLst/>
              </a:rPr>
              <a:t>REST API Requests</a:t>
            </a:r>
            <a:br>
              <a:rPr lang="uk-UA" sz="4000" b="1" dirty="0">
                <a:effectLst/>
              </a:rPr>
            </a:br>
            <a:endParaRPr lang="uk-UA" dirty="0"/>
          </a:p>
        </p:txBody>
      </p:sp>
      <p:sp>
        <p:nvSpPr>
          <p:cNvPr id="3" name="Content Placeholder 2"/>
          <p:cNvSpPr>
            <a:spLocks noGrp="1"/>
          </p:cNvSpPr>
          <p:nvPr>
            <p:ph idx="1"/>
          </p:nvPr>
        </p:nvSpPr>
        <p:spPr>
          <a:xfrm>
            <a:off x="594360" y="1416936"/>
            <a:ext cx="10820400" cy="5034663"/>
          </a:xfrm>
        </p:spPr>
        <p:txBody>
          <a:bodyPr>
            <a:normAutofit fontScale="92500" lnSpcReduction="10000"/>
          </a:bodyPr>
          <a:lstStyle/>
          <a:p>
            <a:pPr marL="0" indent="0">
              <a:buNone/>
            </a:pPr>
            <a:r>
              <a:rPr lang="uk-UA" sz="1800" b="1" dirty="0">
                <a:solidFill>
                  <a:srgbClr val="0070C0"/>
                </a:solidFill>
              </a:rPr>
              <a:t>Стислі дані відповіді </a:t>
            </a:r>
          </a:p>
          <a:p>
            <a:pPr marL="0" indent="0">
              <a:buNone/>
            </a:pPr>
            <a:r>
              <a:rPr lang="ru-RU" sz="1800" dirty="0"/>
              <a:t>Коли серверу потрібно надіслати дуже великі обсяги даних, які неможливо розбити на сторінки, стислі дані є ще одним способом зменшити навантаження  на пропускну здатність. Це стиснення даних може бути запитано клієнтом через сам запит API. Щоб запитати стиснення даних, запит має додати поле </a:t>
            </a:r>
            <a:r>
              <a:rPr lang="ru-RU" sz="1800" b="1" i="1" dirty="0"/>
              <a:t>Accept-Encoding</a:t>
            </a:r>
            <a:r>
              <a:rPr lang="ru-RU" sz="1800" dirty="0"/>
              <a:t> до заголовка запиту. </a:t>
            </a:r>
          </a:p>
          <a:p>
            <a:pPr marL="0" indent="0">
              <a:buNone/>
            </a:pPr>
            <a:r>
              <a:rPr lang="ru-RU" sz="1800" dirty="0"/>
              <a:t>Прийняті значення: </a:t>
            </a:r>
          </a:p>
          <a:p>
            <a:r>
              <a:rPr lang="en-US" sz="1800" dirty="0" err="1"/>
              <a:t>gzip</a:t>
            </a:r>
            <a:endParaRPr lang="en-US" sz="1800" dirty="0"/>
          </a:p>
          <a:p>
            <a:r>
              <a:rPr lang="en-US" sz="1800" dirty="0"/>
              <a:t>compress</a:t>
            </a:r>
          </a:p>
          <a:p>
            <a:r>
              <a:rPr lang="en-US" sz="1800" dirty="0"/>
              <a:t>deflate</a:t>
            </a:r>
          </a:p>
          <a:p>
            <a:r>
              <a:rPr lang="en-US" sz="1800" dirty="0" err="1"/>
              <a:t>br</a:t>
            </a:r>
            <a:endParaRPr lang="en-US" sz="1800" dirty="0"/>
          </a:p>
          <a:p>
            <a:r>
              <a:rPr lang="en-US" sz="1800" dirty="0"/>
              <a:t>identity</a:t>
            </a:r>
          </a:p>
          <a:p>
            <a:r>
              <a:rPr lang="en-US" sz="1800" dirty="0"/>
              <a:t>*</a:t>
            </a:r>
            <a:endParaRPr lang="uk-UA" sz="1800" dirty="0"/>
          </a:p>
          <a:p>
            <a:pPr marL="0" indent="0">
              <a:buNone/>
            </a:pPr>
            <a:r>
              <a:rPr lang="uk-UA" sz="1800" dirty="0"/>
              <a:t>Якщо сервер не може надати жоден із запитуваних типів стиснення, він надішле відповідь із кодом статусу 406 – Неприйнятно </a:t>
            </a:r>
          </a:p>
          <a:p>
            <a:pPr marL="0" indent="0">
              <a:buNone/>
            </a:pPr>
            <a:r>
              <a:rPr lang="uk-UA" sz="1800" dirty="0"/>
              <a:t>Якщо сервер виконує стиснення, він надішле відповідь зі стисненими даними і додасть поле </a:t>
            </a:r>
            <a:r>
              <a:rPr lang="en-US" sz="1800" b="1" i="1" dirty="0"/>
              <a:t>Content-Encoding</a:t>
            </a:r>
            <a:r>
              <a:rPr lang="en-US" sz="1800" dirty="0"/>
              <a:t> </a:t>
            </a:r>
            <a:r>
              <a:rPr lang="uk-UA" sz="1800" dirty="0"/>
              <a:t>до заголовка відповіді. Значення </a:t>
            </a:r>
            <a:r>
              <a:rPr lang="en-US" sz="1800" dirty="0"/>
              <a:t>Content-Encoding — </a:t>
            </a:r>
            <a:r>
              <a:rPr lang="uk-UA" sz="1800" dirty="0"/>
              <a:t>це тип стиснення, який використовувався, що дозволяє клієнту належним чином розпакувати дані. </a:t>
            </a:r>
          </a:p>
        </p:txBody>
      </p:sp>
    </p:spTree>
    <p:extLst>
      <p:ext uri="{BB962C8B-B14F-4D97-AF65-F5344CB8AC3E}">
        <p14:creationId xmlns:p14="http://schemas.microsoft.com/office/powerpoint/2010/main" val="4790422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409BF9-5A8E-F8DF-A4C8-DE16B89FA809}"/>
              </a:ext>
            </a:extLst>
          </p:cNvPr>
          <p:cNvSpPr>
            <a:spLocks noGrp="1"/>
          </p:cNvSpPr>
          <p:nvPr>
            <p:ph type="title"/>
          </p:nvPr>
        </p:nvSpPr>
        <p:spPr>
          <a:xfrm>
            <a:off x="2895600" y="764373"/>
            <a:ext cx="8610600" cy="688507"/>
          </a:xfrm>
        </p:spPr>
        <p:txBody>
          <a:bodyPr>
            <a:normAutofit fontScale="90000"/>
          </a:bodyPr>
          <a:lstStyle/>
          <a:p>
            <a:r>
              <a:rPr lang="en-US" sz="4000" b="1" dirty="0">
                <a:effectLst/>
              </a:rPr>
              <a:t>REST API Requests</a:t>
            </a:r>
            <a:br>
              <a:rPr lang="uk-UA" sz="4000" b="1" dirty="0">
                <a:effectLst/>
              </a:rPr>
            </a:br>
            <a:endParaRPr lang="uk-UA" dirty="0"/>
          </a:p>
        </p:txBody>
      </p:sp>
      <p:sp>
        <p:nvSpPr>
          <p:cNvPr id="3" name="Content Placeholder 2"/>
          <p:cNvSpPr>
            <a:spLocks noGrp="1"/>
          </p:cNvSpPr>
          <p:nvPr>
            <p:ph idx="1"/>
          </p:nvPr>
        </p:nvSpPr>
        <p:spPr>
          <a:xfrm>
            <a:off x="685800" y="1249680"/>
            <a:ext cx="10820400" cy="5394960"/>
          </a:xfrm>
        </p:spPr>
        <p:txBody>
          <a:bodyPr>
            <a:normAutofit fontScale="85000" lnSpcReduction="10000"/>
          </a:bodyPr>
          <a:lstStyle/>
          <a:p>
            <a:pPr marL="0" indent="0">
              <a:buNone/>
            </a:pPr>
            <a:r>
              <a:rPr lang="uk-UA" sz="1800" b="1" dirty="0">
                <a:solidFill>
                  <a:srgbClr val="0070C0"/>
                </a:solidFill>
              </a:rPr>
              <a:t>Використання діаграм послідовності з </a:t>
            </a:r>
            <a:r>
              <a:rPr lang="en-US" sz="1800" b="1" dirty="0">
                <a:solidFill>
                  <a:srgbClr val="0070C0"/>
                </a:solidFill>
                <a:effectLst/>
              </a:rPr>
              <a:t>REST API</a:t>
            </a:r>
          </a:p>
          <a:p>
            <a:pPr marL="0" indent="0">
              <a:buNone/>
            </a:pPr>
            <a:r>
              <a:rPr lang="uk-UA" sz="1800" dirty="0"/>
              <a:t>Діаграми послідовності використовуються для пояснення послідовності обмінів або подій. Вони забезпечують сценарій упорядкованого набору подій. Їх також називають </a:t>
            </a:r>
            <a:r>
              <a:rPr lang="uk-UA" sz="1800" u="sng" dirty="0">
                <a:solidFill>
                  <a:srgbClr val="0070C0"/>
                </a:solidFill>
              </a:rPr>
              <a:t>діаграмами подій</a:t>
            </a:r>
            <a:r>
              <a:rPr lang="uk-UA" sz="1800" dirty="0"/>
              <a:t>. Хоча один запит </a:t>
            </a:r>
            <a:r>
              <a:rPr lang="en-US" sz="1800" dirty="0"/>
              <a:t>REST API </a:t>
            </a:r>
            <a:r>
              <a:rPr lang="uk-UA" sz="1800" dirty="0"/>
              <a:t>може служити для отримання інформації або для ініціювання змін у системі, частіше взаємодія з певною службою </a:t>
            </a:r>
            <a:r>
              <a:rPr lang="en-US" sz="1800" dirty="0"/>
              <a:t>REST API </a:t>
            </a:r>
            <a:r>
              <a:rPr lang="uk-UA" sz="1800" dirty="0"/>
              <a:t>буде послідовністю запитів. Тому діаграми послідовності часто використовуються для пояснення запитів/відповідей в </a:t>
            </a:r>
            <a:r>
              <a:rPr lang="en-US" sz="1800" dirty="0"/>
              <a:t>REST API </a:t>
            </a:r>
            <a:r>
              <a:rPr lang="uk-UA" sz="1800" dirty="0"/>
              <a:t>та асинхронної діяльності. </a:t>
            </a:r>
          </a:p>
          <a:p>
            <a:pPr marL="0" indent="0">
              <a:buNone/>
            </a:pPr>
            <a:r>
              <a:rPr lang="uk-UA" sz="1800" dirty="0"/>
              <a:t>Формалізовані діаграми послідовності тісно пов’язані та вважаються підмножиною стандартизованої системи моделювання, відомої як </a:t>
            </a:r>
            <a:r>
              <a:rPr lang="en-US" sz="1800" dirty="0"/>
              <a:t>Unified Modeling Language (UML). UML </a:t>
            </a:r>
            <a:r>
              <a:rPr lang="uk-UA" sz="1800" dirty="0"/>
              <a:t>включає стандартизовані підходи до інших аспектів статичних ресурсів і процесів, включаючи стандартизовані способи побудови діаграм і пояснення користувацьких інтерфейсів, визначення класів і об’єктів, а також поведінку взаємодії. Діаграми послідовності є одним із способів діаграми поведінки взаємодії. </a:t>
            </a:r>
          </a:p>
          <a:p>
            <a:pPr marL="0" indent="0">
              <a:buNone/>
            </a:pPr>
            <a:r>
              <a:rPr lang="uk-UA" sz="1800" dirty="0"/>
              <a:t>У стандартній діаграмі послідовності, вісь </a:t>
            </a:r>
            <a:r>
              <a:rPr lang="en-US" sz="1800" dirty="0"/>
              <a:t>Y </a:t>
            </a:r>
            <a:r>
              <a:rPr lang="uk-UA" sz="1800" dirty="0"/>
              <a:t>є впорядкованим і немасштабованим часом, з нульовим часом</a:t>
            </a:r>
            <a:r>
              <a:rPr lang="en-US" sz="1800" dirty="0"/>
              <a:t> </a:t>
            </a:r>
            <a:r>
              <a:rPr lang="uk-UA" sz="1800" dirty="0"/>
              <a:t>угорі і часом, що зростає до низу. </a:t>
            </a:r>
          </a:p>
          <a:p>
            <a:pPr marL="0" indent="0">
              <a:buNone/>
            </a:pPr>
            <a:r>
              <a:rPr lang="uk-UA" sz="1800" dirty="0"/>
              <a:t>Вісь </a:t>
            </a:r>
            <a:r>
              <a:rPr lang="en-US" sz="1800" dirty="0"/>
              <a:t>X </a:t>
            </a:r>
            <a:r>
              <a:rPr lang="uk-UA" sz="1800" dirty="0"/>
              <a:t>складається з ліній подій, представлених вертикальними лініями із заголовком, і обмінів або повідомлень, представлених горизонтальними стрілками. Лінія події — це будь-який елемент, який може взаємодіяти, одержуючи або генеруючи повідомлення. За умовою, інтерфейсні ініціатори послідовності, такі як користувач, клієнт або веб-браузер, розміщуються в лівій частині діаграми. Такі елементи, як файлові системи, бази даних, постійне сховище тощо, розміщуються праворуч. Проміжні служби, такі як веб-сервер або кінцеві точки </a:t>
            </a:r>
            <a:r>
              <a:rPr lang="en-US" sz="1800" dirty="0"/>
              <a:t>API, </a:t>
            </a:r>
            <a:r>
              <a:rPr lang="uk-UA" sz="1800" dirty="0"/>
              <a:t>розташовані посередині.</a:t>
            </a:r>
          </a:p>
          <a:p>
            <a:pPr marL="0" indent="0">
              <a:buNone/>
            </a:pPr>
            <a:r>
              <a:rPr lang="uk-UA" sz="1800" dirty="0"/>
              <a:t> Одним із корисних аспектів діаграм послідовності є те, що користувачі діаграм можуть зосередитися на взаємодії лише двох елементів лінії події. Наприклад, хоча інша частина діаграми може допомогти встановити контекст, користувачі </a:t>
            </a:r>
            <a:r>
              <a:rPr lang="en-US" sz="1800" dirty="0"/>
              <a:t>REST API </a:t>
            </a:r>
            <a:r>
              <a:rPr lang="uk-UA" sz="1800" dirty="0"/>
              <a:t>можуть зосередитися на взаємодії між клієнтом і інтерфейсом або, як показано нижче, обробником кінцевої точки </a:t>
            </a:r>
            <a:r>
              <a:rPr lang="en-US" sz="1800" dirty="0"/>
              <a:t>API </a:t>
            </a:r>
            <a:r>
              <a:rPr lang="uk-UA" sz="1800" dirty="0"/>
              <a:t>служби </a:t>
            </a:r>
            <a:r>
              <a:rPr lang="en-US" sz="1800" dirty="0"/>
              <a:t>HTTP/S </a:t>
            </a:r>
            <a:r>
              <a:rPr lang="uk-UA" sz="1800" dirty="0"/>
              <a:t>хосту. </a:t>
            </a:r>
          </a:p>
        </p:txBody>
      </p:sp>
    </p:spTree>
    <p:extLst>
      <p:ext uri="{BB962C8B-B14F-4D97-AF65-F5344CB8AC3E}">
        <p14:creationId xmlns:p14="http://schemas.microsoft.com/office/powerpoint/2010/main" val="11390799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DB5FB316-6C31-3EDF-1800-B56883BD3B26}"/>
              </a:ext>
            </a:extLst>
          </p:cNvPr>
          <p:cNvSpPr>
            <a:spLocks noGrp="1"/>
          </p:cNvSpPr>
          <p:nvPr>
            <p:ph type="title"/>
          </p:nvPr>
        </p:nvSpPr>
        <p:spPr>
          <a:xfrm>
            <a:off x="-111760" y="-97300"/>
            <a:ext cx="5882640" cy="1293028"/>
          </a:xfrm>
        </p:spPr>
        <p:txBody>
          <a:bodyPr/>
          <a:lstStyle/>
          <a:p>
            <a:pPr algn="l"/>
            <a:r>
              <a:rPr lang="en-US" sz="4000" b="1" dirty="0">
                <a:effectLst/>
              </a:rPr>
              <a:t>REST API Requests</a:t>
            </a:r>
            <a:br>
              <a:rPr lang="uk-UA" sz="4000" b="1" dirty="0">
                <a:effectLst/>
              </a:rPr>
            </a:br>
            <a:endParaRPr lang="uk-UA" dirty="0"/>
          </a:p>
        </p:txBody>
      </p:sp>
      <p:pic>
        <p:nvPicPr>
          <p:cNvPr id="2" name="Content Placeholder 1"/>
          <p:cNvPicPr>
            <a:picLocks noGrp="1" noChangeAspect="1"/>
          </p:cNvPicPr>
          <p:nvPr>
            <p:ph idx="1"/>
          </p:nvPr>
        </p:nvPicPr>
        <p:blipFill>
          <a:blip r:embed="rId2"/>
          <a:stretch>
            <a:fillRect/>
          </a:stretch>
        </p:blipFill>
        <p:spPr>
          <a:xfrm>
            <a:off x="85066" y="862965"/>
            <a:ext cx="6941554" cy="5336208"/>
          </a:xfrm>
          <a:prstGeom prst="rect">
            <a:avLst/>
          </a:prstGeom>
        </p:spPr>
      </p:pic>
      <p:sp>
        <p:nvSpPr>
          <p:cNvPr id="3" name="Rectangle 2"/>
          <p:cNvSpPr/>
          <p:nvPr/>
        </p:nvSpPr>
        <p:spPr>
          <a:xfrm>
            <a:off x="7223446" y="197531"/>
            <a:ext cx="4673914" cy="6294031"/>
          </a:xfrm>
          <a:prstGeom prst="rect">
            <a:avLst/>
          </a:prstGeom>
        </p:spPr>
        <p:txBody>
          <a:bodyPr wrap="square">
            <a:spAutoFit/>
          </a:bodyPr>
          <a:lstStyle/>
          <a:p>
            <a:r>
              <a:rPr lang="uk-UA" sz="1550" dirty="0"/>
              <a:t>Клієнтом</a:t>
            </a:r>
            <a:r>
              <a:rPr lang="en-US" sz="1550" dirty="0"/>
              <a:t> </a:t>
            </a:r>
            <a:r>
              <a:rPr lang="en-US" sz="1550" b="1" dirty="0">
                <a:solidFill>
                  <a:srgbClr val="0070C0"/>
                </a:solidFill>
              </a:rPr>
              <a:t>Client</a:t>
            </a:r>
            <a:r>
              <a:rPr lang="uk-UA" sz="1550" dirty="0"/>
              <a:t> зліва може бути програма зі сценарієм </a:t>
            </a:r>
            <a:r>
              <a:rPr lang="en-US" sz="1550" dirty="0"/>
              <a:t>Python, </a:t>
            </a:r>
            <a:r>
              <a:rPr lang="uk-UA" sz="1550" dirty="0"/>
              <a:t>тестове середовище </a:t>
            </a:r>
            <a:r>
              <a:rPr lang="en-US" sz="1550" dirty="0"/>
              <a:t>POSTMAN </a:t>
            </a:r>
            <a:r>
              <a:rPr lang="uk-UA" sz="1550" dirty="0"/>
              <a:t>або будь-який інший генератор запитів </a:t>
            </a:r>
            <a:r>
              <a:rPr lang="en-US" sz="1550" dirty="0"/>
              <a:t>API. </a:t>
            </a:r>
            <a:r>
              <a:rPr lang="uk-UA" sz="1550" dirty="0"/>
              <a:t>Клієнт надішле запит у форматі </a:t>
            </a:r>
            <a:r>
              <a:rPr lang="en-US" sz="1550" dirty="0"/>
              <a:t>HTTPS </a:t>
            </a:r>
            <a:r>
              <a:rPr lang="uk-UA" sz="1550" dirty="0"/>
              <a:t>до інтерфейсу сервера під назвою </a:t>
            </a:r>
            <a:r>
              <a:rPr lang="en-US" sz="1550" b="1" dirty="0">
                <a:solidFill>
                  <a:srgbClr val="0070C0"/>
                </a:solidFill>
              </a:rPr>
              <a:t>Host HTTP/S Service API</a:t>
            </a:r>
            <a:r>
              <a:rPr lang="en-US" sz="1550" b="1" dirty="0"/>
              <a:t> </a:t>
            </a:r>
            <a:r>
              <a:rPr lang="uk-UA" sz="1550" dirty="0"/>
              <a:t>кінцевої точки обробки. Цей компонент зазвичай передає запит відповідному обробнику </a:t>
            </a:r>
            <a:r>
              <a:rPr lang="en-US" sz="1550" dirty="0"/>
              <a:t>API, </a:t>
            </a:r>
            <a:r>
              <a:rPr lang="uk-UA" sz="1550" dirty="0"/>
              <a:t>який називається </a:t>
            </a:r>
            <a:r>
              <a:rPr lang="en-US" sz="1550" b="1" dirty="0">
                <a:solidFill>
                  <a:srgbClr val="0070C0"/>
                </a:solidFill>
              </a:rPr>
              <a:t>API Services</a:t>
            </a:r>
            <a:r>
              <a:rPr lang="en-US" sz="1550" dirty="0"/>
              <a:t>. </a:t>
            </a:r>
            <a:r>
              <a:rPr lang="uk-UA" sz="1550" dirty="0"/>
              <a:t>Праворуч від </a:t>
            </a:r>
            <a:r>
              <a:rPr lang="en-US" sz="1550" dirty="0"/>
              <a:t>API Services </a:t>
            </a:r>
            <a:r>
              <a:rPr lang="uk-UA" sz="1550" dirty="0"/>
              <a:t>розташований елемент із простою назвою </a:t>
            </a:r>
            <a:r>
              <a:rPr lang="en-US" sz="1550" b="1" dirty="0"/>
              <a:t>Core</a:t>
            </a:r>
            <a:r>
              <a:rPr lang="en-US" sz="1550" dirty="0"/>
              <a:t>, </a:t>
            </a:r>
            <a:r>
              <a:rPr lang="uk-UA" sz="1550" dirty="0"/>
              <a:t>який є універсальним елементом для логіки або платформи первинної обробки. </a:t>
            </a:r>
          </a:p>
          <a:p>
            <a:endParaRPr lang="uk-UA" sz="1550" dirty="0"/>
          </a:p>
          <a:p>
            <a:r>
              <a:rPr lang="uk-UA" sz="1550" dirty="0"/>
              <a:t>Служби </a:t>
            </a:r>
            <a:r>
              <a:rPr lang="en-US" sz="1550" dirty="0"/>
              <a:t>API </a:t>
            </a:r>
            <a:r>
              <a:rPr lang="uk-UA" sz="1550" dirty="0"/>
              <a:t>можуть обробляти деякі запити безпосередньо або можуть інтерпретувати, а потім пересилати деякі або всі запити в </a:t>
            </a:r>
            <a:r>
              <a:rPr lang="en-US" sz="1550" b="1" dirty="0">
                <a:solidFill>
                  <a:srgbClr val="0070C0"/>
                </a:solidFill>
              </a:rPr>
              <a:t>Core</a:t>
            </a:r>
            <a:r>
              <a:rPr lang="en-US" sz="1550" dirty="0"/>
              <a:t>. </a:t>
            </a:r>
            <a:r>
              <a:rPr lang="uk-UA" sz="1550" dirty="0"/>
              <a:t>Крайній правий стовпець, показаний тут як </a:t>
            </a:r>
            <a:r>
              <a:rPr lang="en-US" sz="1550" b="1" dirty="0">
                <a:solidFill>
                  <a:srgbClr val="0070C0"/>
                </a:solidFill>
              </a:rPr>
              <a:t>Configuration Database</a:t>
            </a:r>
            <a:r>
              <a:rPr lang="uk-UA" sz="1550" dirty="0"/>
              <a:t>, може бути будь-яким постійним сховищем або навіть процесом обміну повідомленнями чи чергою для зв’язку з іншою системою. </a:t>
            </a:r>
          </a:p>
          <a:p>
            <a:endParaRPr lang="uk-UA" sz="1550" dirty="0"/>
          </a:p>
          <a:p>
            <a:r>
              <a:rPr lang="uk-UA" sz="1550" dirty="0"/>
              <a:t>У цьому прикладі показано три окремі послідовності: створити сеанс, отримати пристрої та створити пристрій. </a:t>
            </a:r>
          </a:p>
        </p:txBody>
      </p:sp>
    </p:spTree>
    <p:extLst>
      <p:ext uri="{BB962C8B-B14F-4D97-AF65-F5344CB8AC3E}">
        <p14:creationId xmlns:p14="http://schemas.microsoft.com/office/powerpoint/2010/main" val="6774081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8584D3-EB96-2542-F607-C4D001F7124C}"/>
              </a:ext>
            </a:extLst>
          </p:cNvPr>
          <p:cNvSpPr>
            <a:spLocks noGrp="1"/>
          </p:cNvSpPr>
          <p:nvPr>
            <p:ph type="title"/>
          </p:nvPr>
        </p:nvSpPr>
        <p:spPr/>
        <p:txBody>
          <a:bodyPr/>
          <a:lstStyle/>
          <a:p>
            <a:r>
              <a:rPr lang="en-US" sz="4000" b="1" dirty="0">
                <a:effectLst/>
              </a:rPr>
              <a:t>REST API Requests</a:t>
            </a:r>
            <a:br>
              <a:rPr lang="uk-UA" sz="4000" b="1" dirty="0">
                <a:effectLst/>
              </a:rPr>
            </a:br>
            <a:endParaRPr lang="uk-UA" dirty="0"/>
          </a:p>
        </p:txBody>
      </p:sp>
      <p:sp>
        <p:nvSpPr>
          <p:cNvPr id="3" name="Content Placeholder 2"/>
          <p:cNvSpPr>
            <a:spLocks noGrp="1"/>
          </p:cNvSpPr>
          <p:nvPr>
            <p:ph idx="1"/>
          </p:nvPr>
        </p:nvSpPr>
        <p:spPr/>
        <p:txBody>
          <a:bodyPr>
            <a:normAutofit/>
          </a:bodyPr>
          <a:lstStyle/>
          <a:p>
            <a:pPr marL="0" indent="0">
              <a:buNone/>
            </a:pPr>
            <a:r>
              <a:rPr lang="uk-UA" sz="1800" dirty="0"/>
              <a:t>Розглянемо послідовності з прикладу по-черзі. </a:t>
            </a:r>
            <a:endParaRPr lang="en-US" sz="1800" dirty="0">
              <a:effectLst/>
            </a:endParaRPr>
          </a:p>
          <a:p>
            <a:pPr marL="0" indent="0">
              <a:buNone/>
            </a:pPr>
            <a:r>
              <a:rPr lang="en-US" sz="1800" b="1" dirty="0">
                <a:solidFill>
                  <a:srgbClr val="0070C0"/>
                </a:solidFill>
                <a:effectLst/>
              </a:rPr>
              <a:t>Create Session</a:t>
            </a:r>
            <a:r>
              <a:rPr lang="en-US" sz="1800" dirty="0">
                <a:effectLst/>
              </a:rPr>
              <a:t>: </a:t>
            </a:r>
            <a:r>
              <a:rPr lang="uk-UA" sz="1800" dirty="0">
                <a:effectLst/>
              </a:rPr>
              <a:t>Початковий запит позначено як </a:t>
            </a:r>
            <a:r>
              <a:rPr lang="en-US" sz="1800" b="1" dirty="0">
                <a:effectLst/>
              </a:rPr>
              <a:t>HTTPS: Create Session w/credentials</a:t>
            </a:r>
            <a:r>
              <a:rPr lang="en-US" sz="1800" dirty="0">
                <a:effectLst/>
              </a:rPr>
              <a:t>. </a:t>
            </a:r>
            <a:r>
              <a:rPr lang="uk-UA" sz="1800" dirty="0"/>
              <a:t>Тут логіка створення сеансу </a:t>
            </a:r>
            <a:r>
              <a:rPr lang="en-US" sz="1800" dirty="0"/>
              <a:t>HTTPS </a:t>
            </a:r>
            <a:r>
              <a:rPr lang="uk-UA" sz="1800" dirty="0"/>
              <a:t>знаходиться у інтерфейсі обробника кінцевої точки </a:t>
            </a:r>
            <a:r>
              <a:rPr lang="en-US" sz="1800" dirty="0"/>
              <a:t>API Host HTTP/S Service. (</a:t>
            </a:r>
            <a:r>
              <a:rPr lang="uk-UA" sz="1800" dirty="0"/>
              <a:t>Це показано графічно за допомогою стрілки, яка повертається назад.) </a:t>
            </a:r>
          </a:p>
          <a:p>
            <a:pPr marL="0" indent="0">
              <a:buNone/>
            </a:pPr>
            <a:endParaRPr lang="uk-UA" sz="1800" dirty="0"/>
          </a:p>
          <a:p>
            <a:pPr marL="0" indent="0">
              <a:buNone/>
            </a:pPr>
            <a:r>
              <a:rPr lang="en-US" sz="1800" b="1" dirty="0">
                <a:solidFill>
                  <a:srgbClr val="0070C0"/>
                </a:solidFill>
                <a:effectLst/>
              </a:rPr>
              <a:t>Get Devices</a:t>
            </a:r>
            <a:r>
              <a:rPr lang="en-US" sz="1800" dirty="0">
                <a:effectLst/>
              </a:rPr>
              <a:t>: </a:t>
            </a:r>
            <a:r>
              <a:rPr lang="uk-UA" sz="1800" dirty="0"/>
              <a:t>Другий запит від клієнта — запит на список пристроїв з платформи. У цій послідовності запит пересилається до модуля </a:t>
            </a:r>
            <a:r>
              <a:rPr lang="en-US" sz="1800" dirty="0"/>
              <a:t>API Services, </a:t>
            </a:r>
            <a:r>
              <a:rPr lang="uk-UA" sz="1800" dirty="0"/>
              <a:t>який потім містить логіку для безпосереднього запиту бази даних конфігурації, отримання списку пристроїв і повернення списку обробнику кінцевої точки. Потім обробник обертає вміст у відповідь </a:t>
            </a:r>
            <a:r>
              <a:rPr lang="en-US" sz="1800" dirty="0"/>
              <a:t>HTTPS </a:t>
            </a:r>
            <a:r>
              <a:rPr lang="uk-UA" sz="1800" dirty="0"/>
              <a:t>і повертає його клієнту разом з кодом статусу </a:t>
            </a:r>
            <a:r>
              <a:rPr lang="en-US" sz="1800" dirty="0"/>
              <a:t>HTTP, </a:t>
            </a:r>
            <a:r>
              <a:rPr lang="uk-UA" sz="1800" dirty="0"/>
              <a:t>що вказує на успіх </a:t>
            </a:r>
            <a:r>
              <a:rPr lang="en-US" sz="1800" dirty="0">
                <a:effectLst/>
              </a:rPr>
              <a:t>.</a:t>
            </a:r>
          </a:p>
          <a:p>
            <a:pPr marL="0" indent="0">
              <a:buNone/>
            </a:pPr>
            <a:r>
              <a:rPr lang="uk-UA" sz="1800" dirty="0"/>
              <a:t>Ці перші дві послідовності демонструють синхронний обмін, у якому після запиту слідує відповідь, а завдання повністю завершується з успіхом або невдачею. </a:t>
            </a:r>
          </a:p>
        </p:txBody>
      </p:sp>
    </p:spTree>
    <p:extLst>
      <p:ext uri="{BB962C8B-B14F-4D97-AF65-F5344CB8AC3E}">
        <p14:creationId xmlns:p14="http://schemas.microsoft.com/office/powerpoint/2010/main" val="39542108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F24AA-C58B-3BC9-3AA7-E9862A6DA09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A67B14-46BF-0F3D-1AAB-C869FF0C9793}"/>
              </a:ext>
            </a:extLst>
          </p:cNvPr>
          <p:cNvSpPr>
            <a:spLocks noGrp="1"/>
          </p:cNvSpPr>
          <p:nvPr>
            <p:ph type="title"/>
          </p:nvPr>
        </p:nvSpPr>
        <p:spPr/>
        <p:txBody>
          <a:bodyPr/>
          <a:lstStyle/>
          <a:p>
            <a:r>
              <a:rPr lang="en-US" sz="4000" b="1" dirty="0">
                <a:effectLst/>
              </a:rPr>
              <a:t>REST API Requests</a:t>
            </a:r>
            <a:br>
              <a:rPr lang="uk-UA" sz="4000" b="1" dirty="0">
                <a:effectLst/>
              </a:rPr>
            </a:br>
            <a:endParaRPr lang="uk-UA" dirty="0"/>
          </a:p>
        </p:txBody>
      </p:sp>
      <p:sp>
        <p:nvSpPr>
          <p:cNvPr id="3" name="Content Placeholder 2">
            <a:extLst>
              <a:ext uri="{FF2B5EF4-FFF2-40B4-BE49-F238E27FC236}">
                <a16:creationId xmlns:a16="http://schemas.microsoft.com/office/drawing/2014/main" id="{5772A7AE-2601-AF26-2886-B9A59DCFEBBA}"/>
              </a:ext>
            </a:extLst>
          </p:cNvPr>
          <p:cNvSpPr>
            <a:spLocks noGrp="1"/>
          </p:cNvSpPr>
          <p:nvPr>
            <p:ph idx="1"/>
          </p:nvPr>
        </p:nvSpPr>
        <p:spPr/>
        <p:txBody>
          <a:bodyPr>
            <a:normAutofit/>
          </a:bodyPr>
          <a:lstStyle/>
          <a:p>
            <a:pPr marL="0" indent="0">
              <a:buNone/>
            </a:pPr>
            <a:r>
              <a:rPr lang="en-US" sz="1800" b="1" dirty="0">
                <a:solidFill>
                  <a:srgbClr val="0070C0"/>
                </a:solidFill>
                <a:effectLst/>
              </a:rPr>
              <a:t>Create Device</a:t>
            </a:r>
            <a:r>
              <a:rPr lang="en-US" sz="1800" dirty="0">
                <a:effectLst/>
              </a:rPr>
              <a:t>: </a:t>
            </a:r>
            <a:r>
              <a:rPr lang="uk-UA" sz="1800" dirty="0"/>
              <a:t>Третя послідовність починається із запиту </a:t>
            </a:r>
            <a:r>
              <a:rPr lang="en-US" sz="1800" dirty="0"/>
              <a:t>POST </a:t>
            </a:r>
            <a:r>
              <a:rPr lang="uk-UA" sz="1800" dirty="0"/>
              <a:t>на створення пристрою. У цьому випадку запит переміщується до служб </a:t>
            </a:r>
            <a:r>
              <a:rPr lang="en-US" sz="1800" dirty="0"/>
              <a:t>API, </a:t>
            </a:r>
            <a:r>
              <a:rPr lang="uk-UA" sz="1800" dirty="0"/>
              <a:t>які потім пересилають запит до основної логіки, яка потім починає працювати над запитом. Служби </a:t>
            </a:r>
            <a:r>
              <a:rPr lang="en-US" sz="1800" dirty="0"/>
              <a:t>API </a:t>
            </a:r>
            <a:r>
              <a:rPr lang="uk-UA" sz="1800" dirty="0"/>
              <a:t>чекають лише повідомлення від ядра, що підтверджує, що процес створення пристрою почався. </a:t>
            </a:r>
            <a:r>
              <a:rPr lang="en-US" sz="1800" dirty="0"/>
              <a:t>Core </a:t>
            </a:r>
            <a:r>
              <a:rPr lang="uk-UA" sz="1800" dirty="0"/>
              <a:t>надає дескриптор (</a:t>
            </a:r>
            <a:r>
              <a:rPr lang="en-US" sz="1800" dirty="0" err="1"/>
              <a:t>TaskId</a:t>
            </a:r>
            <a:r>
              <a:rPr lang="en-US" sz="1800" dirty="0"/>
              <a:t>), </a:t>
            </a:r>
            <a:r>
              <a:rPr lang="uk-UA" sz="1800" dirty="0"/>
              <a:t>який ідентифікує роботу та дозволяє відстежувати, чи була робота завершена. Значення </a:t>
            </a:r>
            <a:r>
              <a:rPr lang="en-US" sz="1800" dirty="0" err="1"/>
              <a:t>TaskId</a:t>
            </a:r>
            <a:r>
              <a:rPr lang="en-US" sz="1800" dirty="0"/>
              <a:t> </a:t>
            </a:r>
            <a:r>
              <a:rPr lang="uk-UA" sz="1800" dirty="0"/>
              <a:t>поширюється у відповідь клієнту. Відповідь </a:t>
            </a:r>
            <a:r>
              <a:rPr lang="en-US" sz="1800" dirty="0"/>
              <a:t>HTTP </a:t>
            </a:r>
            <a:r>
              <a:rPr lang="uk-UA" sz="1800" dirty="0"/>
              <a:t>повідомляє клієнту лише дескриптор (</a:t>
            </a:r>
            <a:r>
              <a:rPr lang="en-US" sz="1800" dirty="0" err="1"/>
              <a:t>TaskId</a:t>
            </a:r>
            <a:r>
              <a:rPr lang="en-US" sz="1800" dirty="0"/>
              <a:t>) </a:t>
            </a:r>
            <a:r>
              <a:rPr lang="uk-UA" sz="1800" dirty="0"/>
              <a:t>і що запит було ініційовано з кодом відповіді 202 (Прийнято). Це свідчить про те, що запит прийнято, і що робота зараз триває. </a:t>
            </a:r>
          </a:p>
          <a:p>
            <a:pPr marL="0" indent="0">
              <a:buNone/>
            </a:pPr>
            <a:r>
              <a:rPr lang="uk-UA" sz="1800" dirty="0"/>
              <a:t>Основна логіка продовжує виконуватися. Він оновлює базу даних конфігурації, а потім повідомляє служби </a:t>
            </a:r>
            <a:r>
              <a:rPr lang="en-US" sz="1800" dirty="0"/>
              <a:t>API, </a:t>
            </a:r>
            <a:r>
              <a:rPr lang="uk-UA" sz="1800" dirty="0"/>
              <a:t>коли це буде завершено. Через деякий час клієнт може підтвердити, що завдання виконано. Клієнт робить це за допомогою запиту Статус завдання. Служби </a:t>
            </a:r>
            <a:r>
              <a:rPr lang="en-US" sz="1800" dirty="0"/>
              <a:t>API </a:t>
            </a:r>
            <a:r>
              <a:rPr lang="uk-UA" sz="1800" dirty="0"/>
              <a:t>потім можуть відповісти інформацією про статус завершення та статус успіху чи невдачі для цього завдання. Оскільки фактична запитувана робота не була виконана до отримання відповіді клієнту, ця взаємодія вважається асинхронною. </a:t>
            </a:r>
          </a:p>
        </p:txBody>
      </p:sp>
    </p:spTree>
    <p:extLst>
      <p:ext uri="{BB962C8B-B14F-4D97-AF65-F5344CB8AC3E}">
        <p14:creationId xmlns:p14="http://schemas.microsoft.com/office/powerpoint/2010/main" val="25761595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0BF1E5-71D9-5700-E376-919D9FF133AD}"/>
              </a:ext>
            </a:extLst>
          </p:cNvPr>
          <p:cNvSpPr>
            <a:spLocks noGrp="1"/>
          </p:cNvSpPr>
          <p:nvPr>
            <p:ph type="title"/>
          </p:nvPr>
        </p:nvSpPr>
        <p:spPr/>
        <p:txBody>
          <a:bodyPr/>
          <a:lstStyle/>
          <a:p>
            <a:r>
              <a:rPr lang="uk-UA" sz="4000" b="1" dirty="0"/>
              <a:t>Аутентифікація </a:t>
            </a:r>
            <a:r>
              <a:rPr lang="en-US" sz="4000" b="1" dirty="0"/>
              <a:t>REST API</a:t>
            </a:r>
            <a:endParaRPr lang="uk-UA" dirty="0"/>
          </a:p>
        </p:txBody>
      </p:sp>
      <p:sp>
        <p:nvSpPr>
          <p:cNvPr id="3" name="Content Placeholder 2"/>
          <p:cNvSpPr>
            <a:spLocks noGrp="1"/>
          </p:cNvSpPr>
          <p:nvPr>
            <p:ph idx="1"/>
          </p:nvPr>
        </p:nvSpPr>
        <p:spPr/>
        <p:txBody>
          <a:bodyPr>
            <a:normAutofit/>
          </a:bodyPr>
          <a:lstStyle/>
          <a:p>
            <a:pPr marL="0" indent="0" algn="ctr">
              <a:buNone/>
            </a:pPr>
            <a:r>
              <a:rPr lang="en-US" sz="1800" b="1" dirty="0"/>
              <a:t> </a:t>
            </a:r>
          </a:p>
          <a:p>
            <a:pPr marL="0" indent="0">
              <a:buNone/>
            </a:pPr>
            <a:r>
              <a:rPr lang="uk-UA" sz="1800" dirty="0"/>
              <a:t>З міркувань безпеки більшість </a:t>
            </a:r>
            <a:r>
              <a:rPr lang="en-US" sz="1800" dirty="0"/>
              <a:t>API REST </a:t>
            </a:r>
            <a:r>
              <a:rPr lang="uk-UA" sz="1800" dirty="0"/>
              <a:t>вимагає аутентифікації, щоб випадкові користувачі не могли створювати, оновлювати або видаляти інформацію неправильно або зловмисно, а також отримати доступ до інформації, яка не повинна бути загальнодоступною. </a:t>
            </a:r>
          </a:p>
          <a:p>
            <a:pPr marL="0" indent="0">
              <a:buNone/>
            </a:pPr>
            <a:endParaRPr lang="uk-UA" sz="1800" dirty="0"/>
          </a:p>
          <a:p>
            <a:pPr marL="0" indent="0">
              <a:buNone/>
            </a:pPr>
            <a:r>
              <a:rPr lang="uk-UA" sz="1800" dirty="0"/>
              <a:t>Без автентифікації </a:t>
            </a:r>
            <a:r>
              <a:rPr lang="en-US" sz="1800" dirty="0"/>
              <a:t>REST API </a:t>
            </a:r>
            <a:r>
              <a:rPr lang="uk-UA" sz="1800" dirty="0"/>
              <a:t>дозволяє будь-кому отримати доступ до функцій і системних служб, які були відкриті через інтерфейс. Вимагання автентифікації — це те саме поняття, що й вимога введення імені користувача/паролю для доступу до сторінки адміністрування програми. Деякі </a:t>
            </a:r>
            <a:r>
              <a:rPr lang="en-US" sz="1800" dirty="0"/>
              <a:t>API </a:t>
            </a:r>
            <a:r>
              <a:rPr lang="uk-UA" sz="1800" dirty="0"/>
              <a:t>не вимагають аутентифікації. </a:t>
            </a:r>
            <a:endParaRPr lang="en-US" sz="1800" dirty="0"/>
          </a:p>
          <a:p>
            <a:pPr marL="0" indent="0">
              <a:buNone/>
            </a:pPr>
            <a:r>
              <a:rPr lang="uk-UA" sz="1800" dirty="0"/>
              <a:t>Ці </a:t>
            </a:r>
            <a:r>
              <a:rPr lang="en-US" sz="1800" dirty="0"/>
              <a:t>API </a:t>
            </a:r>
            <a:r>
              <a:rPr lang="uk-UA" sz="1800" dirty="0"/>
              <a:t>зазвичай доступні лише для читання і не містять критичної чи конфіденційної інформації. </a:t>
            </a:r>
          </a:p>
        </p:txBody>
      </p:sp>
    </p:spTree>
    <p:extLst>
      <p:ext uri="{BB962C8B-B14F-4D97-AF65-F5344CB8AC3E}">
        <p14:creationId xmlns:p14="http://schemas.microsoft.com/office/powerpoint/2010/main" val="10414644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DFF7A35F-BE45-DB0E-7BE2-79FFBA6FF525}"/>
              </a:ext>
            </a:extLst>
          </p:cNvPr>
          <p:cNvSpPr>
            <a:spLocks noGrp="1"/>
          </p:cNvSpPr>
          <p:nvPr>
            <p:ph type="title"/>
          </p:nvPr>
        </p:nvSpPr>
        <p:spPr/>
        <p:txBody>
          <a:bodyPr/>
          <a:lstStyle/>
          <a:p>
            <a:r>
              <a:rPr lang="uk-UA" sz="4000" b="1" dirty="0"/>
              <a:t>Аутентифікація </a:t>
            </a:r>
            <a:r>
              <a:rPr lang="en-US" sz="4000" b="1" dirty="0"/>
              <a:t>REST API</a:t>
            </a:r>
            <a:endParaRPr lang="uk-UA" dirty="0"/>
          </a:p>
        </p:txBody>
      </p:sp>
      <p:sp>
        <p:nvSpPr>
          <p:cNvPr id="3" name="Content Placeholder 2"/>
          <p:cNvSpPr>
            <a:spLocks noGrp="1"/>
          </p:cNvSpPr>
          <p:nvPr>
            <p:ph idx="1"/>
          </p:nvPr>
        </p:nvSpPr>
        <p:spPr>
          <a:xfrm>
            <a:off x="518965" y="1869440"/>
            <a:ext cx="10820400" cy="4024125"/>
          </a:xfrm>
        </p:spPr>
        <p:txBody>
          <a:bodyPr>
            <a:normAutofit/>
          </a:bodyPr>
          <a:lstStyle/>
          <a:p>
            <a:pPr marL="0" indent="0">
              <a:buNone/>
            </a:pPr>
            <a:r>
              <a:rPr lang="en-US" sz="1800" b="1" dirty="0">
                <a:solidFill>
                  <a:srgbClr val="0070C0"/>
                </a:solidFill>
                <a:effectLst/>
              </a:rPr>
              <a:t>Authentication vs Authorization</a:t>
            </a:r>
          </a:p>
          <a:p>
            <a:pPr marL="0" indent="0">
              <a:buNone/>
            </a:pPr>
            <a:r>
              <a:rPr lang="uk-UA" sz="1800" dirty="0"/>
              <a:t>Важливо розуміти різницю між аутентифікацією та авторизацією під час роботи з </a:t>
            </a:r>
            <a:r>
              <a:rPr lang="en-US" sz="1800" dirty="0"/>
              <a:t>REST API, </a:t>
            </a:r>
            <a:r>
              <a:rPr lang="uk-UA" sz="1800" dirty="0"/>
              <a:t>оскільки ці два терміни часто використовуються як взаємозамінні або неправильно. Знання різниці допоможе усунути будь-які проблеми, пов’язані з безпекою запиту </a:t>
            </a:r>
            <a:r>
              <a:rPr lang="en-US" sz="1800" dirty="0"/>
              <a:t>REST API. </a:t>
            </a:r>
            <a:endParaRPr lang="uk-UA" sz="1800" dirty="0"/>
          </a:p>
          <a:p>
            <a:pPr marL="0" indent="0">
              <a:buNone/>
            </a:pPr>
            <a:r>
              <a:rPr lang="en-US" sz="1800" b="1" dirty="0">
                <a:effectLst/>
              </a:rPr>
              <a:t>Authentication</a:t>
            </a:r>
            <a:endParaRPr lang="en-US" sz="1800" dirty="0">
              <a:effectLst/>
            </a:endParaRPr>
          </a:p>
          <a:p>
            <a:pPr marL="0" indent="0">
              <a:buNone/>
            </a:pPr>
            <a:endParaRPr lang="uk-UA" sz="1800" dirty="0"/>
          </a:p>
        </p:txBody>
      </p:sp>
      <p:pic>
        <p:nvPicPr>
          <p:cNvPr id="2" name="Picture 1"/>
          <p:cNvPicPr>
            <a:picLocks noChangeAspect="1"/>
          </p:cNvPicPr>
          <p:nvPr/>
        </p:nvPicPr>
        <p:blipFill>
          <a:blip r:embed="rId2"/>
          <a:stretch>
            <a:fillRect/>
          </a:stretch>
        </p:blipFill>
        <p:spPr>
          <a:xfrm>
            <a:off x="7437120" y="3152501"/>
            <a:ext cx="3350386" cy="2859468"/>
          </a:xfrm>
          <a:prstGeom prst="rect">
            <a:avLst/>
          </a:prstGeom>
        </p:spPr>
      </p:pic>
      <p:sp>
        <p:nvSpPr>
          <p:cNvPr id="4" name="Rectangle 3"/>
          <p:cNvSpPr/>
          <p:nvPr/>
        </p:nvSpPr>
        <p:spPr>
          <a:xfrm>
            <a:off x="518965" y="3546443"/>
            <a:ext cx="6096000" cy="2031325"/>
          </a:xfrm>
          <a:prstGeom prst="rect">
            <a:avLst/>
          </a:prstGeom>
        </p:spPr>
        <p:txBody>
          <a:bodyPr>
            <a:spAutoFit/>
          </a:bodyPr>
          <a:lstStyle/>
          <a:p>
            <a:r>
              <a:rPr lang="uk-UA" dirty="0">
                <a:solidFill>
                  <a:srgbClr val="0070C0"/>
                </a:solidFill>
              </a:rPr>
              <a:t>Аутентифікація</a:t>
            </a:r>
            <a:r>
              <a:rPr lang="uk-UA" dirty="0"/>
              <a:t> - це акт перевірки особистості користувача. Користувач доводить, що він є тим, за кого себе видає. </a:t>
            </a:r>
            <a:r>
              <a:rPr lang="uk-UA" i="1" dirty="0"/>
              <a:t>Наприклад, коли ви йдете в аеропорт, ви повинні пред’явити своє державне посвідчення особи або використовувати біометричні дані, щоб підтвердити, що ви є особою, за яку ви себе видаєте. </a:t>
            </a:r>
          </a:p>
        </p:txBody>
      </p:sp>
    </p:spTree>
    <p:extLst>
      <p:ext uri="{BB962C8B-B14F-4D97-AF65-F5344CB8AC3E}">
        <p14:creationId xmlns:p14="http://schemas.microsoft.com/office/powerpoint/2010/main" val="26233955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131CE119-7957-6EE8-D4F9-634524622EB0}"/>
              </a:ext>
            </a:extLst>
          </p:cNvPr>
          <p:cNvSpPr>
            <a:spLocks noGrp="1"/>
          </p:cNvSpPr>
          <p:nvPr>
            <p:ph type="title"/>
          </p:nvPr>
        </p:nvSpPr>
        <p:spPr/>
        <p:txBody>
          <a:bodyPr/>
          <a:lstStyle/>
          <a:p>
            <a:r>
              <a:rPr lang="uk-UA" sz="4000" b="1" dirty="0"/>
              <a:t>Авторизація </a:t>
            </a:r>
            <a:r>
              <a:rPr lang="en-US" sz="4000" b="1" dirty="0"/>
              <a:t>REST API</a:t>
            </a:r>
            <a:endParaRPr lang="uk-UA" dirty="0"/>
          </a:p>
        </p:txBody>
      </p:sp>
      <p:sp>
        <p:nvSpPr>
          <p:cNvPr id="3" name="Content Placeholder 2"/>
          <p:cNvSpPr>
            <a:spLocks noGrp="1"/>
          </p:cNvSpPr>
          <p:nvPr>
            <p:ph idx="1"/>
          </p:nvPr>
        </p:nvSpPr>
        <p:spPr/>
        <p:txBody>
          <a:bodyPr>
            <a:normAutofit/>
          </a:bodyPr>
          <a:lstStyle/>
          <a:p>
            <a:pPr marL="0" indent="0">
              <a:buNone/>
            </a:pPr>
            <a:r>
              <a:rPr lang="en-US" sz="1800" b="1" dirty="0">
                <a:solidFill>
                  <a:srgbClr val="0070C0"/>
                </a:solidFill>
              </a:rPr>
              <a:t>Authorization</a:t>
            </a:r>
            <a:endParaRPr lang="uk-UA" sz="1800" dirty="0">
              <a:solidFill>
                <a:srgbClr val="0070C0"/>
              </a:solidFill>
            </a:endParaRPr>
          </a:p>
        </p:txBody>
      </p:sp>
      <p:pic>
        <p:nvPicPr>
          <p:cNvPr id="2" name="Picture 1"/>
          <p:cNvPicPr>
            <a:picLocks noChangeAspect="1"/>
          </p:cNvPicPr>
          <p:nvPr/>
        </p:nvPicPr>
        <p:blipFill>
          <a:blip r:embed="rId2"/>
          <a:stretch>
            <a:fillRect/>
          </a:stretch>
        </p:blipFill>
        <p:spPr>
          <a:xfrm>
            <a:off x="6781800" y="1908206"/>
            <a:ext cx="4614250" cy="4104658"/>
          </a:xfrm>
          <a:prstGeom prst="rect">
            <a:avLst/>
          </a:prstGeom>
        </p:spPr>
      </p:pic>
      <p:sp>
        <p:nvSpPr>
          <p:cNvPr id="4" name="Rectangle 3"/>
          <p:cNvSpPr/>
          <p:nvPr/>
        </p:nvSpPr>
        <p:spPr>
          <a:xfrm>
            <a:off x="685800" y="2551837"/>
            <a:ext cx="6096000" cy="1754326"/>
          </a:xfrm>
          <a:prstGeom prst="rect">
            <a:avLst/>
          </a:prstGeom>
        </p:spPr>
        <p:txBody>
          <a:bodyPr>
            <a:spAutoFit/>
          </a:bodyPr>
          <a:lstStyle/>
          <a:p>
            <a:r>
              <a:rPr lang="ru-RU" dirty="0">
                <a:solidFill>
                  <a:srgbClr val="0070C0"/>
                </a:solidFill>
              </a:rPr>
              <a:t>Авторизація</a:t>
            </a:r>
            <a:r>
              <a:rPr lang="ru-RU" dirty="0"/>
              <a:t> — це користувач, який підтверджує, що він має права виконувати запитувану дію на цьому ресурсі. </a:t>
            </a:r>
            <a:r>
              <a:rPr lang="ru-RU" i="1" dirty="0"/>
              <a:t>Наприклад, коли ви йдете на концерт, вам потрібно лише показати квиток, щоб підтвердити, що вас пускають. Вам не обов’язково підтверджувати свою особу. </a:t>
            </a:r>
            <a:endParaRPr lang="uk-UA" i="1" dirty="0"/>
          </a:p>
        </p:txBody>
      </p:sp>
    </p:spTree>
    <p:extLst>
      <p:ext uri="{BB962C8B-B14F-4D97-AF65-F5344CB8AC3E}">
        <p14:creationId xmlns:p14="http://schemas.microsoft.com/office/powerpoint/2010/main" val="4367875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C7A3F2-14C7-39E4-808C-852D5D06BFF8}"/>
              </a:ext>
            </a:extLst>
          </p:cNvPr>
          <p:cNvSpPr>
            <a:spLocks noGrp="1"/>
          </p:cNvSpPr>
          <p:nvPr>
            <p:ph type="title"/>
          </p:nvPr>
        </p:nvSpPr>
        <p:spPr>
          <a:xfrm>
            <a:off x="2326640" y="236053"/>
            <a:ext cx="9525503" cy="1293028"/>
          </a:xfrm>
        </p:spPr>
        <p:txBody>
          <a:bodyPr/>
          <a:lstStyle/>
          <a:p>
            <a:r>
              <a:rPr lang="uk-UA" sz="4000" b="1" dirty="0"/>
              <a:t>Механізми Аутентифікації </a:t>
            </a:r>
            <a:r>
              <a:rPr lang="en-US" sz="4000" b="1" dirty="0"/>
              <a:t>REST API</a:t>
            </a:r>
            <a:endParaRPr lang="uk-UA" dirty="0"/>
          </a:p>
        </p:txBody>
      </p:sp>
      <p:sp>
        <p:nvSpPr>
          <p:cNvPr id="3" name="Content Placeholder 2"/>
          <p:cNvSpPr>
            <a:spLocks noGrp="1"/>
          </p:cNvSpPr>
          <p:nvPr>
            <p:ph idx="1"/>
          </p:nvPr>
        </p:nvSpPr>
        <p:spPr>
          <a:xfrm>
            <a:off x="685800" y="1366015"/>
            <a:ext cx="11049000" cy="4715509"/>
          </a:xfrm>
        </p:spPr>
        <p:txBody>
          <a:bodyPr>
            <a:normAutofit fontScale="85000" lnSpcReduction="20000"/>
          </a:bodyPr>
          <a:lstStyle/>
          <a:p>
            <a:pPr marL="0" indent="0">
              <a:buNone/>
            </a:pPr>
            <a:r>
              <a:rPr lang="uk-UA" sz="1800" dirty="0"/>
              <a:t>Поширені типи механізмів аутентифікації включають базовий, носій і ключ </a:t>
            </a:r>
            <a:r>
              <a:rPr lang="en-US" sz="1800" dirty="0"/>
              <a:t>API. </a:t>
            </a:r>
            <a:r>
              <a:rPr lang="uk-UA" sz="1800" dirty="0"/>
              <a:t>Основна аутентифікація </a:t>
            </a:r>
            <a:endParaRPr lang="en-US" sz="1800" dirty="0"/>
          </a:p>
          <a:p>
            <a:pPr marL="0" indent="0">
              <a:buNone/>
            </a:pPr>
            <a:r>
              <a:rPr lang="uk-UA" sz="1800" b="1" dirty="0">
                <a:solidFill>
                  <a:srgbClr val="0070C0"/>
                </a:solidFill>
              </a:rPr>
              <a:t>Базова</a:t>
            </a:r>
            <a:r>
              <a:rPr lang="uk-UA" sz="1800" b="1" dirty="0"/>
              <a:t> </a:t>
            </a:r>
            <a:r>
              <a:rPr lang="uk-UA" sz="1800" b="1" dirty="0">
                <a:solidFill>
                  <a:srgbClr val="0070C0"/>
                </a:solidFill>
              </a:rPr>
              <a:t>автентифікація</a:t>
            </a:r>
            <a:r>
              <a:rPr lang="uk-UA" sz="1800" dirty="0"/>
              <a:t> використовує стандартну базову схему аутентифікації </a:t>
            </a:r>
            <a:r>
              <a:rPr lang="en-US" sz="1800" dirty="0"/>
              <a:t>HTTP. Basic </a:t>
            </a:r>
            <a:r>
              <a:rPr lang="en-US" sz="1800" dirty="0" err="1"/>
              <a:t>Auth</a:t>
            </a:r>
            <a:r>
              <a:rPr lang="en-US" sz="1800" dirty="0"/>
              <a:t> </a:t>
            </a:r>
            <a:r>
              <a:rPr lang="uk-UA" sz="1800" dirty="0"/>
              <a:t>передає облікові дані як пари ім’я користувача/пароль, розділені двокрапкою (</a:t>
            </a:r>
            <a:r>
              <a:rPr lang="uk-UA" sz="1800" b="1" dirty="0"/>
              <a:t>:</a:t>
            </a:r>
            <a:r>
              <a:rPr lang="uk-UA" sz="1800" dirty="0"/>
              <a:t>) і закодовані за допомогою </a:t>
            </a:r>
            <a:r>
              <a:rPr lang="en-US" sz="1800" dirty="0"/>
              <a:t>Base64. </a:t>
            </a:r>
          </a:p>
          <a:p>
            <a:pPr marL="0" indent="0">
              <a:buNone/>
            </a:pPr>
            <a:r>
              <a:rPr lang="uk-UA" sz="1800" dirty="0"/>
              <a:t>У запиті </a:t>
            </a:r>
            <a:r>
              <a:rPr lang="en-US" sz="1800" dirty="0"/>
              <a:t>REST API </a:t>
            </a:r>
            <a:r>
              <a:rPr lang="uk-UA" sz="1800" dirty="0"/>
              <a:t>основна інформація про автентифікацію буде надана в заголовку: </a:t>
            </a:r>
            <a:endParaRPr lang="en-US" sz="1800" dirty="0"/>
          </a:p>
          <a:p>
            <a:pPr marL="0" indent="0">
              <a:buNone/>
            </a:pPr>
            <a:endParaRPr lang="en-US" sz="1800" dirty="0"/>
          </a:p>
          <a:p>
            <a:pPr marL="0" indent="0">
              <a:buNone/>
            </a:pPr>
            <a:endParaRPr lang="uk-UA" sz="1800" dirty="0"/>
          </a:p>
          <a:p>
            <a:pPr marL="0" indent="0">
              <a:buNone/>
            </a:pPr>
            <a:r>
              <a:rPr lang="en-US" sz="1800" dirty="0"/>
              <a:t>Basic </a:t>
            </a:r>
            <a:r>
              <a:rPr lang="en-US" sz="1800" dirty="0" err="1"/>
              <a:t>Auth</a:t>
            </a:r>
            <a:r>
              <a:rPr lang="en-US" sz="1800" dirty="0"/>
              <a:t> </a:t>
            </a:r>
            <a:r>
              <a:rPr lang="uk-UA" sz="1800" dirty="0"/>
              <a:t>є найпростішим механізмом аутентифікації. Це надзвичайно небезпечно, якщо він не поєднується із запитами, які використовують </a:t>
            </a:r>
            <a:r>
              <a:rPr lang="en-US" sz="1800" dirty="0"/>
              <a:t>HTTPS, </a:t>
            </a:r>
            <a:r>
              <a:rPr lang="uk-UA" sz="1800" dirty="0"/>
              <a:t>а не </a:t>
            </a:r>
            <a:r>
              <a:rPr lang="en-US" sz="1800" dirty="0"/>
              <a:t>HTTP. </a:t>
            </a:r>
            <a:r>
              <a:rPr lang="uk-UA" sz="1800" dirty="0"/>
              <a:t>Хоча облікові дані закодовані, вони не зашифровані. Розшифрувати облікові дані та отримати пару ім’я користувача/пароль легко. </a:t>
            </a:r>
          </a:p>
          <a:p>
            <a:pPr marL="0" indent="0">
              <a:buNone/>
            </a:pPr>
            <a:r>
              <a:rPr lang="uk-UA" sz="1800" b="1" dirty="0">
                <a:solidFill>
                  <a:srgbClr val="0070C0"/>
                </a:solidFill>
              </a:rPr>
              <a:t>Аутентифікація носія (</a:t>
            </a:r>
            <a:r>
              <a:rPr lang="en-US" sz="1800" b="1" dirty="0">
                <a:solidFill>
                  <a:srgbClr val="0070C0"/>
                </a:solidFill>
              </a:rPr>
              <a:t>Bearer authentication</a:t>
            </a:r>
            <a:r>
              <a:rPr lang="uk-UA" sz="1800" b="1" dirty="0">
                <a:solidFill>
                  <a:srgbClr val="0070C0"/>
                </a:solidFill>
              </a:rPr>
              <a:t>)</a:t>
            </a:r>
            <a:endParaRPr lang="en-US" sz="1800" b="1" dirty="0">
              <a:solidFill>
                <a:srgbClr val="0070C0"/>
              </a:solidFill>
            </a:endParaRPr>
          </a:p>
          <a:p>
            <a:pPr marL="0" indent="0">
              <a:buNone/>
            </a:pPr>
            <a:r>
              <a:rPr lang="uk-UA" sz="1800" dirty="0"/>
              <a:t>Аутентифікація носія, також відома як аутентифікація за маркером, використовує стандартну схему автентифікації переносника </a:t>
            </a:r>
            <a:r>
              <a:rPr lang="en-US" sz="1800" dirty="0"/>
              <a:t>HTTP. </a:t>
            </a:r>
            <a:r>
              <a:rPr lang="uk-UA" sz="1800" dirty="0"/>
              <a:t>Він є більш безпечним, ніж базова автентифікація, і зазвичай використовується з </a:t>
            </a:r>
            <a:r>
              <a:rPr lang="en-US" sz="1800" dirty="0" err="1"/>
              <a:t>OAuth</a:t>
            </a:r>
            <a:r>
              <a:rPr lang="en-US" sz="1800" dirty="0"/>
              <a:t> </a:t>
            </a:r>
            <a:r>
              <a:rPr lang="uk-UA" sz="1800" dirty="0"/>
              <a:t>і єдиним входом (</a:t>
            </a:r>
            <a:r>
              <a:rPr lang="en-US" sz="1800" dirty="0"/>
              <a:t>Single Sign-On</a:t>
            </a:r>
            <a:r>
              <a:rPr lang="uk-UA" sz="1800" dirty="0"/>
              <a:t>  -   </a:t>
            </a:r>
            <a:r>
              <a:rPr lang="en-US" sz="1800" dirty="0"/>
              <a:t>SSO). </a:t>
            </a:r>
            <a:r>
              <a:rPr lang="uk-UA" sz="1800" dirty="0"/>
              <a:t>Аутентифікація носія використовує маркер носія, який є рядком, згенерованим сервером аутентифікації, таким як служба ідентифікації (</a:t>
            </a:r>
            <a:r>
              <a:rPr lang="en-US" sz="1800" dirty="0" err="1"/>
              <a:t>IdS</a:t>
            </a:r>
            <a:r>
              <a:rPr lang="en-US" sz="1800" dirty="0"/>
              <a:t>). </a:t>
            </a:r>
            <a:endParaRPr lang="uk-UA" sz="1800" dirty="0"/>
          </a:p>
          <a:p>
            <a:pPr marL="0" indent="0">
              <a:buNone/>
            </a:pPr>
            <a:r>
              <a:rPr lang="uk-UA" sz="1800" dirty="0"/>
              <a:t>У запиті </a:t>
            </a:r>
            <a:r>
              <a:rPr lang="en-US" sz="1800" dirty="0"/>
              <a:t>REST API </a:t>
            </a:r>
            <a:r>
              <a:rPr lang="uk-UA" sz="1800" dirty="0"/>
              <a:t>інформація </a:t>
            </a:r>
            <a:r>
              <a:rPr lang="en-US" sz="1800" dirty="0"/>
              <a:t>Bearer </a:t>
            </a:r>
            <a:r>
              <a:rPr lang="en-US" sz="1800" dirty="0" err="1"/>
              <a:t>Auth</a:t>
            </a:r>
            <a:r>
              <a:rPr lang="en-US" sz="1800" dirty="0"/>
              <a:t> </a:t>
            </a:r>
            <a:r>
              <a:rPr lang="uk-UA" sz="1800" dirty="0"/>
              <a:t>буде надана в заголовку: </a:t>
            </a:r>
          </a:p>
          <a:p>
            <a:pPr marL="0" indent="0">
              <a:buNone/>
            </a:pPr>
            <a:endParaRPr lang="uk-UA" sz="1800" dirty="0"/>
          </a:p>
          <a:p>
            <a:pPr marL="0" indent="0">
              <a:buNone/>
            </a:pPr>
            <a:endParaRPr lang="en-US" sz="1800" dirty="0"/>
          </a:p>
          <a:p>
            <a:pPr marL="0" indent="0">
              <a:buNone/>
            </a:pPr>
            <a:r>
              <a:rPr lang="ru-RU" sz="1800" dirty="0"/>
              <a:t>Так само, як і базова автентифікація, аутентифікація на носії повинна використовуватися з HTTPS.</a:t>
            </a:r>
            <a:endParaRPr lang="en-US" sz="1800" dirty="0"/>
          </a:p>
        </p:txBody>
      </p:sp>
      <p:pic>
        <p:nvPicPr>
          <p:cNvPr id="4" name="Picture 3"/>
          <p:cNvPicPr>
            <a:picLocks noChangeAspect="1"/>
          </p:cNvPicPr>
          <p:nvPr/>
        </p:nvPicPr>
        <p:blipFill>
          <a:blip r:embed="rId2"/>
          <a:srcRect l="2250" t="32160" r="2618" b="18062"/>
          <a:stretch/>
        </p:blipFill>
        <p:spPr>
          <a:xfrm>
            <a:off x="2854960" y="2384723"/>
            <a:ext cx="5547360" cy="274320"/>
          </a:xfrm>
          <a:prstGeom prst="rect">
            <a:avLst/>
          </a:prstGeom>
        </p:spPr>
      </p:pic>
      <p:pic>
        <p:nvPicPr>
          <p:cNvPr id="5" name="Picture 4"/>
          <p:cNvPicPr>
            <a:picLocks noChangeAspect="1"/>
          </p:cNvPicPr>
          <p:nvPr/>
        </p:nvPicPr>
        <p:blipFill>
          <a:blip r:embed="rId3"/>
          <a:srcRect l="2766" t="21428" r="7813" b="30051"/>
          <a:stretch/>
        </p:blipFill>
        <p:spPr>
          <a:xfrm>
            <a:off x="3342639" y="5029964"/>
            <a:ext cx="4572001" cy="274321"/>
          </a:xfrm>
          <a:prstGeom prst="rect">
            <a:avLst/>
          </a:prstGeom>
        </p:spPr>
      </p:pic>
    </p:spTree>
    <p:extLst>
      <p:ext uri="{BB962C8B-B14F-4D97-AF65-F5344CB8AC3E}">
        <p14:creationId xmlns:p14="http://schemas.microsoft.com/office/powerpoint/2010/main" val="19476527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612609B-0656-7BDF-793E-4EC05345E9EF}"/>
              </a:ext>
            </a:extLst>
          </p:cNvPr>
          <p:cNvSpPr>
            <a:spLocks noGrp="1"/>
          </p:cNvSpPr>
          <p:nvPr>
            <p:ph type="title"/>
          </p:nvPr>
        </p:nvSpPr>
        <p:spPr>
          <a:xfrm>
            <a:off x="2895600" y="256373"/>
            <a:ext cx="8610600" cy="1293028"/>
          </a:xfrm>
        </p:spPr>
        <p:txBody>
          <a:bodyPr/>
          <a:lstStyle/>
          <a:p>
            <a:r>
              <a:rPr lang="en-US" sz="4000" b="1" dirty="0"/>
              <a:t>API key</a:t>
            </a:r>
            <a:br>
              <a:rPr lang="en-US" sz="4000" dirty="0"/>
            </a:br>
            <a:endParaRPr lang="uk-UA" dirty="0"/>
          </a:p>
        </p:txBody>
      </p:sp>
      <p:sp>
        <p:nvSpPr>
          <p:cNvPr id="3" name="Content Placeholder 2"/>
          <p:cNvSpPr>
            <a:spLocks noGrp="1"/>
          </p:cNvSpPr>
          <p:nvPr>
            <p:ph idx="1"/>
          </p:nvPr>
        </p:nvSpPr>
        <p:spPr>
          <a:xfrm>
            <a:off x="685800" y="1416937"/>
            <a:ext cx="10820400" cy="4963543"/>
          </a:xfrm>
        </p:spPr>
        <p:txBody>
          <a:bodyPr>
            <a:normAutofit fontScale="92500" lnSpcReduction="20000"/>
          </a:bodyPr>
          <a:lstStyle/>
          <a:p>
            <a:pPr marL="0" indent="0">
              <a:buNone/>
            </a:pPr>
            <a:r>
              <a:rPr lang="uk-UA" sz="1800" dirty="0">
                <a:solidFill>
                  <a:srgbClr val="0070C0"/>
                </a:solidFill>
              </a:rPr>
              <a:t>Ключ </a:t>
            </a:r>
            <a:r>
              <a:rPr lang="en-US" sz="1800" dirty="0">
                <a:solidFill>
                  <a:srgbClr val="0070C0"/>
                </a:solidFill>
              </a:rPr>
              <a:t>API</a:t>
            </a:r>
            <a:r>
              <a:rPr lang="en-US" sz="1800" dirty="0"/>
              <a:t>, </a:t>
            </a:r>
            <a:r>
              <a:rPr lang="uk-UA" sz="1800" dirty="0"/>
              <a:t>також званий маркером </a:t>
            </a:r>
            <a:r>
              <a:rPr lang="en-US" sz="1800" dirty="0"/>
              <a:t>API, — </a:t>
            </a:r>
            <a:r>
              <a:rPr lang="uk-UA" sz="1800" dirty="0"/>
              <a:t>це </a:t>
            </a:r>
            <a:r>
              <a:rPr lang="uk-UA" sz="1800" i="1" dirty="0"/>
              <a:t>унікальний буквено-цифровий рядок, який генерується сервером і призначається користувачеві</a:t>
            </a:r>
            <a:r>
              <a:rPr lang="uk-UA" sz="1800" dirty="0"/>
              <a:t>. Щоб отримати унікальний ключ </a:t>
            </a:r>
            <a:r>
              <a:rPr lang="en-US" sz="1800" dirty="0"/>
              <a:t>API, </a:t>
            </a:r>
            <a:r>
              <a:rPr lang="uk-UA" sz="1800" dirty="0"/>
              <a:t>користувач зазвичай входить на портал, використовуючи свої облікові дані. Цей ключ зазвичай призначається один раз і не буде генеруватися повторно. Усі запити </a:t>
            </a:r>
            <a:r>
              <a:rPr lang="en-US" sz="1800" dirty="0"/>
              <a:t>REST API </a:t>
            </a:r>
            <a:r>
              <a:rPr lang="uk-UA" sz="1800" dirty="0"/>
              <a:t>для цього користувача мають надавати призначений ключ </a:t>
            </a:r>
            <a:r>
              <a:rPr lang="en-US" sz="1800" dirty="0"/>
              <a:t>API </a:t>
            </a:r>
            <a:r>
              <a:rPr lang="uk-UA" sz="1800" dirty="0"/>
              <a:t>як форму аутентифікації. Так само, як і інші типи аутентифікації, </a:t>
            </a:r>
            <a:r>
              <a:rPr lang="uk-UA" sz="1800" dirty="0">
                <a:solidFill>
                  <a:srgbClr val="FF0000"/>
                </a:solidFill>
              </a:rPr>
              <a:t>ключі </a:t>
            </a:r>
            <a:r>
              <a:rPr lang="en-US" sz="1800" dirty="0">
                <a:solidFill>
                  <a:srgbClr val="FF0000"/>
                </a:solidFill>
              </a:rPr>
              <a:t>API </a:t>
            </a:r>
            <a:r>
              <a:rPr lang="uk-UA" sz="1800" dirty="0">
                <a:solidFill>
                  <a:srgbClr val="FF0000"/>
                </a:solidFill>
              </a:rPr>
              <a:t>безпечні лише тоді, коли використовуються з </a:t>
            </a:r>
            <a:r>
              <a:rPr lang="en-US" sz="1800" dirty="0">
                <a:solidFill>
                  <a:srgbClr val="FF0000"/>
                </a:solidFill>
              </a:rPr>
              <a:t>HTTPS</a:t>
            </a:r>
            <a:r>
              <a:rPr lang="en-US" sz="1800" dirty="0"/>
              <a:t>. </a:t>
            </a:r>
            <a:r>
              <a:rPr lang="uk-UA" sz="1800" dirty="0"/>
              <a:t>Ключі </a:t>
            </a:r>
            <a:r>
              <a:rPr lang="en-US" sz="1800" dirty="0"/>
              <a:t>API </a:t>
            </a:r>
            <a:r>
              <a:rPr lang="uk-UA" sz="1800" dirty="0"/>
              <a:t>призначені як механізм аутентифікації, але зазвичай використовуються неправильно як механізм авторизації. </a:t>
            </a:r>
          </a:p>
          <a:p>
            <a:pPr marL="0" indent="0">
              <a:buNone/>
            </a:pPr>
            <a:r>
              <a:rPr lang="uk-UA" sz="1800" dirty="0"/>
              <a:t>Існує два типи ключів </a:t>
            </a:r>
            <a:r>
              <a:rPr lang="en-US" sz="1800" dirty="0"/>
              <a:t>API</a:t>
            </a:r>
            <a:r>
              <a:rPr lang="uk-UA" sz="1800" dirty="0"/>
              <a:t>: відкритим та приватні. </a:t>
            </a:r>
          </a:p>
          <a:p>
            <a:pPr marL="0" indent="0">
              <a:buNone/>
            </a:pPr>
            <a:r>
              <a:rPr lang="uk-UA" sz="1800" b="1" dirty="0">
                <a:solidFill>
                  <a:srgbClr val="0070C0"/>
                </a:solidFill>
              </a:rPr>
              <a:t>Відкритий </a:t>
            </a:r>
            <a:r>
              <a:rPr lang="en-US" sz="1800" b="1" dirty="0">
                <a:solidFill>
                  <a:srgbClr val="0070C0"/>
                </a:solidFill>
              </a:rPr>
              <a:t>(public) </a:t>
            </a:r>
            <a:r>
              <a:rPr lang="uk-UA" sz="1800" b="1" dirty="0">
                <a:solidFill>
                  <a:srgbClr val="0070C0"/>
                </a:solidFill>
              </a:rPr>
              <a:t>ключ </a:t>
            </a:r>
            <a:r>
              <a:rPr lang="en-US" sz="1800" b="1" dirty="0">
                <a:solidFill>
                  <a:srgbClr val="0070C0"/>
                </a:solidFill>
              </a:rPr>
              <a:t>API </a:t>
            </a:r>
            <a:r>
              <a:rPr lang="uk-UA" sz="1800" dirty="0"/>
              <a:t>може бути спільний, що дає цьому користувачеві доступ до підмножини даних і </a:t>
            </a:r>
            <a:r>
              <a:rPr lang="en-US" sz="1800" dirty="0"/>
              <a:t>API. </a:t>
            </a:r>
            <a:r>
              <a:rPr lang="uk-UA" sz="1800" dirty="0"/>
              <a:t>Не надавайте</a:t>
            </a:r>
            <a:r>
              <a:rPr lang="ru-RU" sz="1800" dirty="0"/>
              <a:t> </a:t>
            </a:r>
            <a:r>
              <a:rPr lang="uk-UA" sz="1800" dirty="0"/>
              <a:t>стороннім </a:t>
            </a:r>
            <a:r>
              <a:rPr lang="uk-UA" sz="1800" b="1" dirty="0">
                <a:solidFill>
                  <a:srgbClr val="0070C0"/>
                </a:solidFill>
              </a:rPr>
              <a:t>приватний ключ</a:t>
            </a:r>
            <a:r>
              <a:rPr lang="uk-UA" sz="1800" dirty="0"/>
              <a:t>, оскільки він може бути засобом ідентифікації. Термін дії більшості ключів </a:t>
            </a:r>
            <a:r>
              <a:rPr lang="en-US" sz="1800" dirty="0"/>
              <a:t>API </a:t>
            </a:r>
            <a:r>
              <a:rPr lang="uk-UA" sz="1800" dirty="0"/>
              <a:t>не закінчується, і якщо ключ не може бути відкликаний або повторно створений, якщо він розповсюджений або зламаний, будь-хто, хто має цей ключ, може отримати необмежений доступ до системи, як і ви. </a:t>
            </a:r>
            <a:endParaRPr lang="en-US" sz="1800" dirty="0"/>
          </a:p>
          <a:p>
            <a:pPr marL="0" indent="0">
              <a:buNone/>
            </a:pPr>
            <a:r>
              <a:rPr lang="uk-UA" sz="1800" dirty="0"/>
              <a:t>Запит </a:t>
            </a:r>
            <a:r>
              <a:rPr lang="en-US" sz="1800" dirty="0"/>
              <a:t>REST API </a:t>
            </a:r>
            <a:r>
              <a:rPr lang="uk-UA" sz="1800" dirty="0"/>
              <a:t>може надати ключ </a:t>
            </a:r>
            <a:r>
              <a:rPr lang="en-US" sz="1800" dirty="0"/>
              <a:t>API </a:t>
            </a:r>
            <a:r>
              <a:rPr lang="uk-UA" sz="1800" dirty="0"/>
              <a:t>кількома різними способами: </a:t>
            </a:r>
          </a:p>
          <a:p>
            <a:pPr marL="0" indent="0">
              <a:buNone/>
            </a:pPr>
            <a:r>
              <a:rPr lang="en-US" sz="1800" dirty="0"/>
              <a:t> </a:t>
            </a:r>
            <a:r>
              <a:rPr lang="ru-RU" sz="1800" dirty="0"/>
              <a:t>Рядок запиту (</a:t>
            </a:r>
            <a:r>
              <a:rPr lang="en-US" sz="1800" dirty="0"/>
              <a:t>Query string</a:t>
            </a:r>
            <a:r>
              <a:rPr lang="uk-UA" sz="1800" dirty="0"/>
              <a:t>)</a:t>
            </a:r>
            <a:r>
              <a:rPr lang="ru-RU" sz="1800" dirty="0"/>
              <a:t>: рекомендовано лише для відкритих ключів API </a:t>
            </a:r>
          </a:p>
          <a:p>
            <a:r>
              <a:rPr lang="uk-UA" sz="1800" dirty="0"/>
              <a:t>Заголовок: використовує ключ авторизації або спеціальний </a:t>
            </a:r>
            <a:r>
              <a:rPr lang="en-US" sz="1800" i="1" dirty="0"/>
              <a:t>Authorization: &lt;API Key&gt; </a:t>
            </a:r>
            <a:r>
              <a:rPr lang="uk-UA" sz="1800" i="1" dirty="0"/>
              <a:t>або </a:t>
            </a:r>
            <a:r>
              <a:rPr lang="en-US" sz="1800" i="1" dirty="0"/>
              <a:t>Authorization: </a:t>
            </a:r>
            <a:r>
              <a:rPr lang="en-US" sz="1800" i="1" dirty="0" err="1"/>
              <a:t>APIkey</a:t>
            </a:r>
            <a:r>
              <a:rPr lang="en-US" sz="1800" i="1" dirty="0"/>
              <a:t> &lt;API Key&gt;</a:t>
            </a:r>
            <a:r>
              <a:rPr lang="en-US" sz="1800" dirty="0"/>
              <a:t> </a:t>
            </a:r>
            <a:r>
              <a:rPr lang="uk-UA" sz="1800" dirty="0"/>
              <a:t>або </a:t>
            </a:r>
            <a:r>
              <a:rPr lang="en-US" sz="1800" i="1" dirty="0" err="1"/>
              <a:t>APIkey</a:t>
            </a:r>
            <a:r>
              <a:rPr lang="en-US" sz="1800" i="1" dirty="0"/>
              <a:t>: &lt;API Key&gt;</a:t>
            </a:r>
            <a:endParaRPr lang="uk-UA" sz="1800" i="1" dirty="0"/>
          </a:p>
          <a:p>
            <a:r>
              <a:rPr lang="uk-UA" sz="1800" dirty="0"/>
              <a:t>Основні дані: використовує унікальний ключ як ідентифікатор </a:t>
            </a:r>
            <a:r>
              <a:rPr lang="en-US" sz="1800" i="1" dirty="0"/>
              <a:t>Content-Type: application/</a:t>
            </a:r>
            <a:r>
              <a:rPr lang="en-US" sz="1800" i="1" dirty="0" err="1"/>
              <a:t>json</a:t>
            </a:r>
            <a:r>
              <a:rPr lang="en-US" sz="1800" dirty="0"/>
              <a:t>   </a:t>
            </a:r>
            <a:endParaRPr lang="uk-UA" sz="1800" dirty="0"/>
          </a:p>
          <a:p>
            <a:r>
              <a:rPr lang="uk-UA" sz="1800" dirty="0"/>
              <a:t>Cookie: використовує унікальний ключ як ідентифікатор </a:t>
            </a:r>
            <a:r>
              <a:rPr lang="uk-UA" sz="1800" i="1" dirty="0"/>
              <a:t>Cookie</a:t>
            </a:r>
            <a:r>
              <a:rPr lang="en-US" sz="1800" i="1" dirty="0"/>
              <a:t>: API_KEY=&lt;API Key&gt;</a:t>
            </a:r>
            <a:endParaRPr lang="uk-UA" sz="1800" i="1" dirty="0"/>
          </a:p>
        </p:txBody>
      </p:sp>
    </p:spTree>
    <p:extLst>
      <p:ext uri="{BB962C8B-B14F-4D97-AF65-F5344CB8AC3E}">
        <p14:creationId xmlns:p14="http://schemas.microsoft.com/office/powerpoint/2010/main" val="29753601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6D0ACD-E196-0E60-2911-3B3D05DC5F6D}"/>
              </a:ext>
            </a:extLst>
          </p:cNvPr>
          <p:cNvSpPr>
            <a:spLocks noGrp="1"/>
          </p:cNvSpPr>
          <p:nvPr>
            <p:ph type="title"/>
          </p:nvPr>
        </p:nvSpPr>
        <p:spPr>
          <a:xfrm>
            <a:off x="3007360" y="337653"/>
            <a:ext cx="8610600" cy="1293028"/>
          </a:xfrm>
        </p:spPr>
        <p:txBody>
          <a:bodyPr/>
          <a:lstStyle/>
          <a:p>
            <a:r>
              <a:rPr lang="uk-UA" sz="4000" b="1" dirty="0"/>
              <a:t>Механізми авторизації </a:t>
            </a:r>
            <a:br>
              <a:rPr lang="uk-UA" sz="4000" b="1" dirty="0"/>
            </a:br>
            <a:endParaRPr lang="uk-UA" dirty="0"/>
          </a:p>
        </p:txBody>
      </p:sp>
      <p:sp>
        <p:nvSpPr>
          <p:cNvPr id="3" name="Content Placeholder 2"/>
          <p:cNvSpPr>
            <a:spLocks noGrp="1"/>
          </p:cNvSpPr>
          <p:nvPr>
            <p:ph idx="1"/>
          </p:nvPr>
        </p:nvSpPr>
        <p:spPr>
          <a:xfrm>
            <a:off x="574040" y="1534160"/>
            <a:ext cx="10820400" cy="4754880"/>
          </a:xfrm>
        </p:spPr>
        <p:txBody>
          <a:bodyPr>
            <a:normAutofit fontScale="92500" lnSpcReduction="10000"/>
          </a:bodyPr>
          <a:lstStyle/>
          <a:p>
            <a:pPr marL="0" indent="0">
              <a:buNone/>
            </a:pPr>
            <a:r>
              <a:rPr lang="uk-UA" sz="1800" b="1" dirty="0">
                <a:solidFill>
                  <a:srgbClr val="0070C0"/>
                </a:solidFill>
              </a:rPr>
              <a:t>Відкрита авторизація</a:t>
            </a:r>
            <a:r>
              <a:rPr lang="uk-UA" sz="1800" b="1" dirty="0"/>
              <a:t>,</a:t>
            </a:r>
            <a:r>
              <a:rPr lang="uk-UA" sz="1800" dirty="0"/>
              <a:t> також відома як </a:t>
            </a:r>
            <a:r>
              <a:rPr lang="uk-UA" sz="1800" b="1" dirty="0"/>
              <a:t>OAuth</a:t>
            </a:r>
            <a:r>
              <a:rPr lang="uk-UA" sz="1800" dirty="0"/>
              <a:t>, поєднує автентифікацію з авторизацією. OAuth був розроблений як рішення для незахищених механізмів аутентифікації. З підвищеною безпекою порівняно з іншими варіантами, зазвичай це рекомендована форма аутентифікації/авторизації для API REST. </a:t>
            </a:r>
          </a:p>
          <a:p>
            <a:pPr marL="0" indent="0">
              <a:buNone/>
            </a:pPr>
            <a:r>
              <a:rPr lang="uk-UA" sz="1800" dirty="0"/>
              <a:t>Існує дві версії OAuth, які називаються просто </a:t>
            </a:r>
            <a:r>
              <a:rPr lang="uk-UA" sz="1800" b="1" dirty="0"/>
              <a:t>OAuth 1.0</a:t>
            </a:r>
            <a:r>
              <a:rPr lang="uk-UA" sz="1800" dirty="0"/>
              <a:t> і </a:t>
            </a:r>
            <a:r>
              <a:rPr lang="uk-UA" sz="1800" b="1" dirty="0"/>
              <a:t>OAuth 2.0</a:t>
            </a:r>
            <a:r>
              <a:rPr lang="uk-UA" sz="1800" dirty="0"/>
              <a:t>. Більшість сучасних API REST реалізують OAuth 2.0. </a:t>
            </a:r>
            <a:r>
              <a:rPr lang="uk-UA" sz="1800" i="1" dirty="0"/>
              <a:t>OAuth 2.0 не має зворотної сумісності</a:t>
            </a:r>
            <a:r>
              <a:rPr lang="uk-UA" sz="1800" dirty="0"/>
              <a:t>. </a:t>
            </a:r>
          </a:p>
          <a:p>
            <a:pPr marL="0" indent="0">
              <a:buNone/>
            </a:pPr>
            <a:r>
              <a:rPr lang="uk-UA" sz="1800" dirty="0"/>
              <a:t>В платформі авторизації вмзначається </a:t>
            </a:r>
            <a:r>
              <a:rPr lang="en-US" sz="1800" dirty="0" err="1"/>
              <a:t>OAuth</a:t>
            </a:r>
            <a:r>
              <a:rPr lang="en-US" sz="1800" dirty="0"/>
              <a:t> 2.0,</a:t>
            </a:r>
            <a:r>
              <a:rPr lang="uk-UA" sz="1800" dirty="0"/>
              <a:t> що</a:t>
            </a:r>
            <a:r>
              <a:rPr lang="en-US" sz="1800" dirty="0"/>
              <a:t> «</a:t>
            </a:r>
            <a:r>
              <a:rPr lang="uk-UA" sz="1800" dirty="0"/>
              <a:t>фреймворк авторизації </a:t>
            </a:r>
            <a:r>
              <a:rPr lang="en-US" sz="1800" dirty="0" err="1"/>
              <a:t>OAuth</a:t>
            </a:r>
            <a:r>
              <a:rPr lang="en-US" sz="1800" dirty="0"/>
              <a:t> 2.0 </a:t>
            </a:r>
            <a:r>
              <a:rPr lang="uk-UA" sz="1800" dirty="0"/>
              <a:t>дає змогу програмі сторонніх розробників отримувати обмежений доступ до служби </a:t>
            </a:r>
            <a:r>
              <a:rPr lang="en-US" sz="1800" dirty="0"/>
              <a:t>HTTP </a:t>
            </a:r>
            <a:r>
              <a:rPr lang="uk-UA" sz="1800" dirty="0"/>
              <a:t>від ​​імені власника ресурсу шляхом організації взаємодії власника ресурсу та служби </a:t>
            </a:r>
            <a:r>
              <a:rPr lang="en-US" sz="1800" dirty="0"/>
              <a:t>HTTP, </a:t>
            </a:r>
            <a:r>
              <a:rPr lang="uk-UA" sz="1800" dirty="0"/>
              <a:t>або дозволивши програмі третьої сторони отримати доступ від свого імені». </a:t>
            </a:r>
          </a:p>
          <a:p>
            <a:pPr marL="0" indent="0">
              <a:buNone/>
            </a:pPr>
            <a:r>
              <a:rPr lang="uk-UA" sz="1800" dirty="0"/>
              <a:t>По суті, </a:t>
            </a:r>
            <a:r>
              <a:rPr lang="en-US" sz="1800" u="sng" dirty="0" err="1"/>
              <a:t>OAuth</a:t>
            </a:r>
            <a:r>
              <a:rPr lang="en-US" sz="1800" u="sng" dirty="0"/>
              <a:t> 2.0 </a:t>
            </a:r>
            <a:r>
              <a:rPr lang="uk-UA" sz="1800" u="sng" dirty="0"/>
              <a:t>дає змогу попередньо зареєстрованим програмам отримувати авторизацію для виконання запитів </a:t>
            </a:r>
            <a:r>
              <a:rPr lang="en-US" sz="1800" u="sng" dirty="0"/>
              <a:t>REST API </a:t>
            </a:r>
            <a:r>
              <a:rPr lang="uk-UA" sz="1800" u="sng" dirty="0"/>
              <a:t>від імені користувача без необхідності передавати свої облікові дані самій програмі</a:t>
            </a:r>
            <a:r>
              <a:rPr lang="uk-UA" sz="1800" dirty="0"/>
              <a:t>. </a:t>
            </a:r>
            <a:r>
              <a:rPr lang="en-US" sz="1800" dirty="0" err="1"/>
              <a:t>OAuth</a:t>
            </a:r>
            <a:r>
              <a:rPr lang="en-US" sz="1800" dirty="0"/>
              <a:t> </a:t>
            </a:r>
            <a:r>
              <a:rPr lang="uk-UA" sz="1800" dirty="0"/>
              <a:t>дозволяє користувачеві надавати облікові дані безпосередньо серверу авторизації, як правило, постачальнику ідентифікації (</a:t>
            </a:r>
            <a:r>
              <a:rPr lang="en-US" sz="1800" dirty="0" err="1"/>
              <a:t>IdP</a:t>
            </a:r>
            <a:r>
              <a:rPr lang="en-US" sz="1800" dirty="0"/>
              <a:t>) </a:t>
            </a:r>
            <a:r>
              <a:rPr lang="uk-UA" sz="1800" dirty="0"/>
              <a:t>або службі ідентифікації (</a:t>
            </a:r>
            <a:r>
              <a:rPr lang="en-US" sz="1800" dirty="0" err="1"/>
              <a:t>IdS</a:t>
            </a:r>
            <a:r>
              <a:rPr lang="en-US" sz="1800" dirty="0"/>
              <a:t>), </a:t>
            </a:r>
            <a:r>
              <a:rPr lang="uk-UA" sz="1800" dirty="0"/>
              <a:t>щоб отримати маркер доступу, який можна спільно використовувати з програмою. </a:t>
            </a:r>
          </a:p>
          <a:p>
            <a:pPr marL="0" indent="0">
              <a:buNone/>
            </a:pPr>
            <a:r>
              <a:rPr lang="uk-UA" sz="1800" dirty="0"/>
              <a:t>Цей </a:t>
            </a:r>
            <a:r>
              <a:rPr lang="uk-UA" sz="1800" u="sng" dirty="0"/>
              <a:t>процес отримання токена називається потоком</a:t>
            </a:r>
            <a:r>
              <a:rPr lang="uk-UA" sz="1800" dirty="0"/>
              <a:t>. Потім програма використовує цей маркер в </a:t>
            </a:r>
            <a:r>
              <a:rPr lang="en-US" sz="1800" dirty="0"/>
              <a:t>REST API </a:t>
            </a:r>
            <a:r>
              <a:rPr lang="uk-UA" sz="1800" dirty="0"/>
              <a:t>як аутентифікацію носія. Потім веб-сервіс для </a:t>
            </a:r>
            <a:r>
              <a:rPr lang="en-US" sz="1800" dirty="0"/>
              <a:t>REST API </a:t>
            </a:r>
            <a:r>
              <a:rPr lang="uk-UA" sz="1800" dirty="0"/>
              <a:t>перевіряє сервер авторизації, щоб переконатися, що маркер дійсний, а запитувач уповноважений виконувати запит. </a:t>
            </a:r>
          </a:p>
        </p:txBody>
      </p:sp>
    </p:spTree>
    <p:extLst>
      <p:ext uri="{BB962C8B-B14F-4D97-AF65-F5344CB8AC3E}">
        <p14:creationId xmlns:p14="http://schemas.microsoft.com/office/powerpoint/2010/main" val="9059373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357068-B6F1-2D75-3289-7DCB561EF601}"/>
              </a:ext>
            </a:extLst>
          </p:cNvPr>
          <p:cNvSpPr>
            <a:spLocks noGrp="1"/>
          </p:cNvSpPr>
          <p:nvPr>
            <p:ph type="title"/>
          </p:nvPr>
        </p:nvSpPr>
        <p:spPr>
          <a:xfrm>
            <a:off x="1534160" y="764373"/>
            <a:ext cx="9972040" cy="1293028"/>
          </a:xfrm>
        </p:spPr>
        <p:txBody>
          <a:bodyPr/>
          <a:lstStyle/>
          <a:p>
            <a:r>
              <a:rPr lang="uk-UA" dirty="0"/>
              <a:t>Обмеження швидкості </a:t>
            </a:r>
            <a:r>
              <a:rPr lang="uk-UA" sz="4000" b="1" dirty="0">
                <a:effectLst/>
              </a:rPr>
              <a:t>(</a:t>
            </a:r>
            <a:r>
              <a:rPr lang="en-US" sz="4000" b="1" dirty="0">
                <a:effectLst/>
              </a:rPr>
              <a:t>Rate Limits</a:t>
            </a:r>
            <a:r>
              <a:rPr lang="uk-UA" sz="4000" b="1" dirty="0">
                <a:effectLst/>
              </a:rPr>
              <a:t>)</a:t>
            </a:r>
            <a:endParaRPr lang="uk-UA" dirty="0"/>
          </a:p>
        </p:txBody>
      </p:sp>
      <p:sp>
        <p:nvSpPr>
          <p:cNvPr id="3" name="Content Placeholder 2"/>
          <p:cNvSpPr>
            <a:spLocks noGrp="1"/>
          </p:cNvSpPr>
          <p:nvPr>
            <p:ph idx="1"/>
          </p:nvPr>
        </p:nvSpPr>
        <p:spPr/>
        <p:txBody>
          <a:bodyPr>
            <a:normAutofit lnSpcReduction="10000"/>
          </a:bodyPr>
          <a:lstStyle/>
          <a:p>
            <a:pPr marL="0" indent="0">
              <a:buNone/>
            </a:pPr>
            <a:r>
              <a:rPr lang="en-US" sz="1800" dirty="0"/>
              <a:t>API REST </a:t>
            </a:r>
            <a:r>
              <a:rPr lang="uk-UA" sz="1800" dirty="0"/>
              <a:t>дають змогу будувати складні взаємодії. Використання обмеження швидкості </a:t>
            </a:r>
            <a:r>
              <a:rPr lang="en-US" sz="1800" dirty="0"/>
              <a:t>API — </a:t>
            </a:r>
            <a:r>
              <a:rPr lang="uk-UA" sz="1800" dirty="0"/>
              <a:t>це спосіб веб-сервісу контролювати кількість запитів, які користувач або програма може зробити за певну одиницю часу. Запровадження обмежень швидкості є найкращою практикою для загальнодоступних і необмежених </a:t>
            </a:r>
            <a:r>
              <a:rPr lang="en-US" sz="1800" dirty="0"/>
              <a:t>API. </a:t>
            </a:r>
            <a:endParaRPr lang="uk-UA" sz="1800" dirty="0"/>
          </a:p>
          <a:p>
            <a:pPr marL="0" indent="0">
              <a:buNone/>
            </a:pPr>
            <a:endParaRPr lang="uk-UA" sz="1800" dirty="0"/>
          </a:p>
          <a:p>
            <a:pPr marL="0" indent="0">
              <a:buNone/>
            </a:pPr>
            <a:r>
              <a:rPr lang="uk-UA" sz="1800" dirty="0"/>
              <a:t>Обмеження швидкості допомагає: </a:t>
            </a:r>
          </a:p>
          <a:p>
            <a:r>
              <a:rPr lang="uk-UA" sz="1800" dirty="0"/>
              <a:t>уникнути перевантаження сервера від занадто великої кількості запитів одночасно </a:t>
            </a:r>
          </a:p>
          <a:p>
            <a:r>
              <a:rPr lang="uk-UA" sz="1800" dirty="0"/>
              <a:t>забезпечити краще обслуговування та час відповіді всім користувачам</a:t>
            </a:r>
          </a:p>
          <a:p>
            <a:r>
              <a:rPr lang="uk-UA" sz="1800" dirty="0"/>
              <a:t>захист від атаки відмови в обслуговуванні (</a:t>
            </a:r>
            <a:r>
              <a:rPr lang="en-US" sz="1800" dirty="0" err="1"/>
              <a:t>DoS</a:t>
            </a:r>
            <a:r>
              <a:rPr lang="en-US" sz="1800" dirty="0"/>
              <a:t>). </a:t>
            </a:r>
            <a:endParaRPr lang="uk-UA" sz="1800" dirty="0"/>
          </a:p>
          <a:p>
            <a:pPr marL="0" indent="0">
              <a:buNone/>
            </a:pPr>
            <a:endParaRPr lang="uk-UA" sz="1800" dirty="0"/>
          </a:p>
          <a:p>
            <a:pPr marL="0" indent="0">
              <a:buNone/>
            </a:pPr>
            <a:r>
              <a:rPr lang="uk-UA" sz="1800" dirty="0"/>
              <a:t>Користувачі </a:t>
            </a:r>
            <a:r>
              <a:rPr lang="en-US" sz="1800" dirty="0"/>
              <a:t>API </a:t>
            </a:r>
            <a:r>
              <a:rPr lang="uk-UA" sz="1800" dirty="0"/>
              <a:t>повинні розуміти різні реалізації алгоритму обмеження швидкості, щоб уникнути перевищення меж, але програми також повинні аккуратно обробляти ситуації, коли ці обмеження перевищуються. </a:t>
            </a:r>
          </a:p>
        </p:txBody>
      </p:sp>
    </p:spTree>
    <p:extLst>
      <p:ext uri="{BB962C8B-B14F-4D97-AF65-F5344CB8AC3E}">
        <p14:creationId xmlns:p14="http://schemas.microsoft.com/office/powerpoint/2010/main" val="33048701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F6E2B207-A1F9-9C43-5567-7167A069C195}"/>
              </a:ext>
            </a:extLst>
          </p:cNvPr>
          <p:cNvSpPr>
            <a:spLocks noGrp="1"/>
          </p:cNvSpPr>
          <p:nvPr>
            <p:ph type="title"/>
          </p:nvPr>
        </p:nvSpPr>
        <p:spPr>
          <a:xfrm>
            <a:off x="2651760" y="375719"/>
            <a:ext cx="9372600" cy="1293028"/>
          </a:xfrm>
        </p:spPr>
        <p:txBody>
          <a:bodyPr>
            <a:normAutofit fontScale="90000"/>
          </a:bodyPr>
          <a:lstStyle/>
          <a:p>
            <a:r>
              <a:rPr lang="uk-UA" sz="4000" b="1" dirty="0"/>
              <a:t>Алгоритми обмеження швидкості </a:t>
            </a:r>
            <a:br>
              <a:rPr lang="uk-UA" sz="4000" b="1" dirty="0"/>
            </a:br>
            <a:endParaRPr lang="uk-UA" dirty="0"/>
          </a:p>
        </p:txBody>
      </p:sp>
      <p:sp>
        <p:nvSpPr>
          <p:cNvPr id="3" name="Content Placeholder 2"/>
          <p:cNvSpPr>
            <a:spLocks noGrp="1"/>
          </p:cNvSpPr>
          <p:nvPr>
            <p:ph idx="1"/>
          </p:nvPr>
        </p:nvSpPr>
        <p:spPr>
          <a:xfrm>
            <a:off x="238760" y="1229360"/>
            <a:ext cx="10820400" cy="4024125"/>
          </a:xfrm>
        </p:spPr>
        <p:txBody>
          <a:bodyPr>
            <a:normAutofit/>
          </a:bodyPr>
          <a:lstStyle/>
          <a:p>
            <a:pPr marL="0" indent="0">
              <a:buNone/>
            </a:pPr>
            <a:r>
              <a:rPr lang="uk-UA" sz="1800" dirty="0"/>
              <a:t>Стандартного способу застосування обмеження швидкості не існує, але загальні алгоритми включають: </a:t>
            </a:r>
          </a:p>
          <a:p>
            <a:r>
              <a:rPr lang="uk-UA" sz="1800" dirty="0">
                <a:effectLst/>
              </a:rPr>
              <a:t>«Діряве відро» (</a:t>
            </a:r>
            <a:r>
              <a:rPr lang="en-US" sz="1800" dirty="0">
                <a:effectLst/>
              </a:rPr>
              <a:t>Leaky bucket</a:t>
            </a:r>
            <a:r>
              <a:rPr lang="uk-UA" sz="1800" dirty="0">
                <a:effectLst/>
              </a:rPr>
              <a:t>)</a:t>
            </a:r>
            <a:endParaRPr lang="en-US" sz="1800" dirty="0">
              <a:effectLst/>
            </a:endParaRPr>
          </a:p>
          <a:p>
            <a:r>
              <a:rPr lang="uk-UA" sz="1800" dirty="0">
                <a:effectLst/>
              </a:rPr>
              <a:t>«Відро токенів» (</a:t>
            </a:r>
            <a:r>
              <a:rPr lang="en-US" sz="1800" dirty="0">
                <a:effectLst/>
              </a:rPr>
              <a:t>Token bucket</a:t>
            </a:r>
            <a:r>
              <a:rPr lang="uk-UA" sz="1800" dirty="0">
                <a:effectLst/>
              </a:rPr>
              <a:t>)</a:t>
            </a:r>
            <a:endParaRPr lang="en-US" sz="1800" dirty="0">
              <a:effectLst/>
            </a:endParaRPr>
          </a:p>
          <a:p>
            <a:r>
              <a:rPr lang="uk-UA" sz="1800" dirty="0">
                <a:effectLst/>
              </a:rPr>
              <a:t>Фіксований лічильник вікна (</a:t>
            </a:r>
            <a:r>
              <a:rPr lang="en-US" sz="1800" dirty="0">
                <a:effectLst/>
              </a:rPr>
              <a:t>Fixed window counter</a:t>
            </a:r>
            <a:r>
              <a:rPr lang="uk-UA" sz="1800" dirty="0">
                <a:effectLst/>
              </a:rPr>
              <a:t>)</a:t>
            </a:r>
            <a:endParaRPr lang="en-US" sz="1800" dirty="0">
              <a:effectLst/>
            </a:endParaRPr>
          </a:p>
          <a:p>
            <a:r>
              <a:rPr lang="uk-UA" sz="1800" dirty="0">
                <a:effectLst/>
              </a:rPr>
              <a:t>Ковзаючий лічильник вікна (</a:t>
            </a:r>
            <a:r>
              <a:rPr lang="en-US" sz="1800" dirty="0">
                <a:effectLst/>
              </a:rPr>
              <a:t>Sliding window counter</a:t>
            </a:r>
            <a:r>
              <a:rPr lang="uk-UA" sz="1800" dirty="0">
                <a:effectLst/>
              </a:rPr>
              <a:t>)</a:t>
            </a:r>
            <a:endParaRPr lang="en-US" sz="1800" dirty="0">
              <a:effectLst/>
            </a:endParaRPr>
          </a:p>
          <a:p>
            <a:pPr marL="0" indent="0">
              <a:buNone/>
            </a:pPr>
            <a:r>
              <a:rPr lang="uk-UA" sz="1800" b="1" dirty="0">
                <a:solidFill>
                  <a:srgbClr val="0070C0"/>
                </a:solidFill>
              </a:rPr>
              <a:t>«Діряве відро»</a:t>
            </a:r>
          </a:p>
        </p:txBody>
      </p:sp>
      <p:pic>
        <p:nvPicPr>
          <p:cNvPr id="2" name="Picture 1"/>
          <p:cNvPicPr>
            <a:picLocks noChangeAspect="1"/>
          </p:cNvPicPr>
          <p:nvPr/>
        </p:nvPicPr>
        <p:blipFill>
          <a:blip r:embed="rId2"/>
          <a:stretch>
            <a:fillRect/>
          </a:stretch>
        </p:blipFill>
        <p:spPr>
          <a:xfrm>
            <a:off x="523751" y="3675319"/>
            <a:ext cx="2946400" cy="2806961"/>
          </a:xfrm>
          <a:prstGeom prst="rect">
            <a:avLst/>
          </a:prstGeom>
        </p:spPr>
      </p:pic>
      <p:pic>
        <p:nvPicPr>
          <p:cNvPr id="4" name="Picture 3"/>
          <p:cNvPicPr>
            <a:picLocks noChangeAspect="1"/>
          </p:cNvPicPr>
          <p:nvPr/>
        </p:nvPicPr>
        <p:blipFill>
          <a:blip r:embed="rId3"/>
          <a:stretch>
            <a:fillRect/>
          </a:stretch>
        </p:blipFill>
        <p:spPr>
          <a:xfrm>
            <a:off x="4013759" y="3650412"/>
            <a:ext cx="2946400" cy="2838535"/>
          </a:xfrm>
          <a:prstGeom prst="rect">
            <a:avLst/>
          </a:prstGeom>
        </p:spPr>
      </p:pic>
      <p:sp>
        <p:nvSpPr>
          <p:cNvPr id="5" name="Rectangle 4"/>
          <p:cNvSpPr/>
          <p:nvPr/>
        </p:nvSpPr>
        <p:spPr>
          <a:xfrm>
            <a:off x="7925359" y="2079099"/>
            <a:ext cx="3651422" cy="3416320"/>
          </a:xfrm>
          <a:prstGeom prst="rect">
            <a:avLst/>
          </a:prstGeom>
        </p:spPr>
        <p:txBody>
          <a:bodyPr wrap="square">
            <a:spAutoFit/>
          </a:bodyPr>
          <a:lstStyle/>
          <a:p>
            <a:r>
              <a:rPr lang="uk-UA" dirty="0"/>
              <a:t>Алгоритм «діряве відро» поміщає всі вхідні запити в чергу запитів у тому порядку, в якому вони були отримані. Вхідні запити можуть надходити будь-якою швидкістю, але сервер оброблятиме запити з черги з фіксованою швидкістю. Якщо черга запитів заповнена, запит відхиляється. За допомогою цього алгоритму клієнт повинен бути готовий до затримки відповідей або відхилення запитів</a:t>
            </a:r>
            <a:r>
              <a:rPr lang="en-US" dirty="0"/>
              <a:t>.</a:t>
            </a:r>
          </a:p>
        </p:txBody>
      </p:sp>
    </p:spTree>
    <p:extLst>
      <p:ext uri="{BB962C8B-B14F-4D97-AF65-F5344CB8AC3E}">
        <p14:creationId xmlns:p14="http://schemas.microsoft.com/office/powerpoint/2010/main" val="8359803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5925" y="1452880"/>
            <a:ext cx="11497901" cy="5192967"/>
          </a:xfrm>
        </p:spPr>
        <p:txBody>
          <a:bodyPr>
            <a:normAutofit/>
          </a:bodyPr>
          <a:lstStyle/>
          <a:p>
            <a:pPr marL="0" indent="0">
              <a:buNone/>
            </a:pPr>
            <a:r>
              <a:rPr lang="uk-UA" sz="1800" b="1" dirty="0">
                <a:solidFill>
                  <a:srgbClr val="0070C0"/>
                </a:solidFill>
              </a:rPr>
              <a:t>«Відро токенів»</a:t>
            </a:r>
            <a:endParaRPr lang="uk-UA" sz="1800" dirty="0">
              <a:solidFill>
                <a:srgbClr val="0070C0"/>
              </a:solidFill>
            </a:endParaRPr>
          </a:p>
        </p:txBody>
      </p:sp>
      <p:pic>
        <p:nvPicPr>
          <p:cNvPr id="2" name="Picture 1"/>
          <p:cNvPicPr>
            <a:picLocks noChangeAspect="1"/>
          </p:cNvPicPr>
          <p:nvPr/>
        </p:nvPicPr>
        <p:blipFill>
          <a:blip r:embed="rId2"/>
          <a:stretch>
            <a:fillRect/>
          </a:stretch>
        </p:blipFill>
        <p:spPr>
          <a:xfrm>
            <a:off x="368174" y="1786832"/>
            <a:ext cx="5412866" cy="1918152"/>
          </a:xfrm>
          <a:prstGeom prst="rect">
            <a:avLst/>
          </a:prstGeom>
        </p:spPr>
      </p:pic>
      <p:pic>
        <p:nvPicPr>
          <p:cNvPr id="4" name="Picture 3"/>
          <p:cNvPicPr>
            <a:picLocks noChangeAspect="1"/>
          </p:cNvPicPr>
          <p:nvPr/>
        </p:nvPicPr>
        <p:blipFill>
          <a:blip r:embed="rId3"/>
          <a:stretch>
            <a:fillRect/>
          </a:stretch>
        </p:blipFill>
        <p:spPr>
          <a:xfrm>
            <a:off x="7034174" y="1740940"/>
            <a:ext cx="4112048" cy="1964044"/>
          </a:xfrm>
          <a:prstGeom prst="rect">
            <a:avLst/>
          </a:prstGeom>
        </p:spPr>
      </p:pic>
      <p:sp>
        <p:nvSpPr>
          <p:cNvPr id="5" name="Rectangle 4"/>
          <p:cNvSpPr/>
          <p:nvPr/>
        </p:nvSpPr>
        <p:spPr>
          <a:xfrm>
            <a:off x="368174" y="3816428"/>
            <a:ext cx="10778048" cy="3046988"/>
          </a:xfrm>
          <a:prstGeom prst="rect">
            <a:avLst/>
          </a:prstGeom>
        </p:spPr>
        <p:txBody>
          <a:bodyPr wrap="square">
            <a:spAutoFit/>
          </a:bodyPr>
          <a:lstStyle/>
          <a:p>
            <a:r>
              <a:rPr lang="uk-UA" sz="1600" dirty="0"/>
              <a:t>Алгоритм «Відра токенів» дає кожному користувачеві певну кількість токенів, які вони можуть використовувати протягом певного проміжку часу, і ці токени накопичуються, доки не будуть використані. Коли клієнт робить запит, сервер перевіряє сегмент, щоб переконатися, що він містить принаймні один токен. Якщо так, він видаляє цей токен і обробляє запит. Якщо токен недоступний, він відхиляє запит. Усі запити, зроблені до поповнення токена, будуть відхилені. Після поповнення токенів користувач може знову робити запити. Наприклад, </a:t>
            </a:r>
            <a:r>
              <a:rPr lang="en-US" sz="1600" dirty="0"/>
              <a:t>API, </a:t>
            </a:r>
            <a:r>
              <a:rPr lang="uk-UA" sz="1600" dirty="0"/>
              <a:t>що використовує алгоритм </a:t>
            </a:r>
            <a:r>
              <a:rPr lang="en-US" sz="1600" dirty="0"/>
              <a:t>Token Bucket, </a:t>
            </a:r>
            <a:r>
              <a:rPr lang="uk-UA" sz="1600" dirty="0"/>
              <a:t>встановлює обмеження швидкості в 10 запитів на клієнта на годину. Якщо клієнт зробить 11 запитів протягом години, 11 запит буде відхилено, оскільки не залишилося токенів. З іншого боку, якщо клієнт не робить жодних запитів протягом 6 годин, він може зробити 60 запитів одночасно, оскільки ці токени накопичилися. За допомогою цього алгоритму клієнт повинен обчислити, скільки токенів він має на даний момент, щоб уникнути відхилених запитів. Він також повинен обробляти потенційні відхилені запити, вбудовуючи механізм повторних спроб, коли токени поповнюються. </a:t>
            </a:r>
            <a:endParaRPr lang="en-US" sz="1600" dirty="0"/>
          </a:p>
        </p:txBody>
      </p:sp>
      <p:sp>
        <p:nvSpPr>
          <p:cNvPr id="8" name="Заголовок 5">
            <a:extLst>
              <a:ext uri="{FF2B5EF4-FFF2-40B4-BE49-F238E27FC236}">
                <a16:creationId xmlns:a16="http://schemas.microsoft.com/office/drawing/2014/main" id="{BDDBA10A-30C5-277E-9BFB-7735B75D5A4D}"/>
              </a:ext>
            </a:extLst>
          </p:cNvPr>
          <p:cNvSpPr>
            <a:spLocks noGrp="1"/>
          </p:cNvSpPr>
          <p:nvPr>
            <p:ph type="title"/>
          </p:nvPr>
        </p:nvSpPr>
        <p:spPr>
          <a:xfrm>
            <a:off x="2661920" y="321571"/>
            <a:ext cx="9372600" cy="1293028"/>
          </a:xfrm>
        </p:spPr>
        <p:txBody>
          <a:bodyPr>
            <a:normAutofit fontScale="90000"/>
          </a:bodyPr>
          <a:lstStyle/>
          <a:p>
            <a:r>
              <a:rPr lang="uk-UA" sz="4000" b="1" dirty="0"/>
              <a:t>Алгоритми обмеження швидкості </a:t>
            </a:r>
            <a:br>
              <a:rPr lang="uk-UA" sz="4000" b="1" dirty="0"/>
            </a:br>
            <a:endParaRPr lang="uk-UA" dirty="0"/>
          </a:p>
        </p:txBody>
      </p:sp>
    </p:spTree>
    <p:extLst>
      <p:ext uri="{BB962C8B-B14F-4D97-AF65-F5344CB8AC3E}">
        <p14:creationId xmlns:p14="http://schemas.microsoft.com/office/powerpoint/2010/main" val="7923394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096000" y="1219200"/>
            <a:ext cx="4968661" cy="2209800"/>
          </a:xfrm>
          <a:prstGeom prst="rect">
            <a:avLst/>
          </a:prstGeom>
        </p:spPr>
      </p:pic>
      <p:sp>
        <p:nvSpPr>
          <p:cNvPr id="4" name="Rectangle 3"/>
          <p:cNvSpPr/>
          <p:nvPr/>
        </p:nvSpPr>
        <p:spPr>
          <a:xfrm>
            <a:off x="141837" y="3429000"/>
            <a:ext cx="11866075" cy="2800767"/>
          </a:xfrm>
          <a:prstGeom prst="rect">
            <a:avLst/>
          </a:prstGeom>
        </p:spPr>
        <p:txBody>
          <a:bodyPr wrap="square">
            <a:spAutoFit/>
          </a:bodyPr>
          <a:lstStyle/>
          <a:p>
            <a:r>
              <a:rPr lang="ru-RU" sz="1600" dirty="0"/>
              <a:t>Для цього алгоритму фіксованому вікну часу призначається лічильник, який відображає, скільки запитів можна обробити за цей період. Коли сервер отримує запит, лічильник поточного періоду часу перевіряється, щоб переконатися, що він не дорівнює нулю. Коли запит оброблено, лічильник знімається. Якщо обмеження для цього періоду часу буде дотримано, усі наступні запити протягом цього періоду часу будуть відхилені. Коли почнеться наступне вікно часу, лічильник буде повернуто до попередньо визначеного лічильника, і запити можна буде обробляти знову. Щоб повернутися до нашого попереднього прикладу з 10 запитами на годину з використанням цього алгоритму, 11-й запит за годину все одно буде відхилено, але після 6 годин без жодних запитів клієнт все ще може зробити лише 10 запитів за одну годину, тому що вони " невикористані» запити не накопичувалися. За допомогою цього алгоритму клієнт повинен знати, коли вікно часу починається і закінчується, щоб він знав, скільки запитів можна зробити за цей проміжок часу. Подібно до алгоритму «в</a:t>
            </a:r>
            <a:r>
              <a:rPr lang="uk-UA" sz="1600" dirty="0"/>
              <a:t>ідра токенів»</a:t>
            </a:r>
            <a:r>
              <a:rPr lang="ru-RU" sz="1600" dirty="0"/>
              <a:t>, клієнт повинен побудувати механізм повторних спроб, щоб він міг повторити запити, коли почнеться наступне вікно часу. </a:t>
            </a:r>
            <a:endParaRPr lang="en-US" sz="1600" dirty="0"/>
          </a:p>
        </p:txBody>
      </p:sp>
      <p:sp>
        <p:nvSpPr>
          <p:cNvPr id="5" name="Rectangle 4"/>
          <p:cNvSpPr/>
          <p:nvPr/>
        </p:nvSpPr>
        <p:spPr>
          <a:xfrm>
            <a:off x="488888" y="1517313"/>
            <a:ext cx="5054852" cy="1754326"/>
          </a:xfrm>
          <a:prstGeom prst="rect">
            <a:avLst/>
          </a:prstGeom>
        </p:spPr>
        <p:txBody>
          <a:bodyPr wrap="square">
            <a:spAutoFit/>
          </a:bodyPr>
          <a:lstStyle/>
          <a:p>
            <a:r>
              <a:rPr lang="uk-UA" dirty="0"/>
              <a:t>Алгоритм </a:t>
            </a:r>
            <a:r>
              <a:rPr lang="uk-UA" b="1" dirty="0">
                <a:solidFill>
                  <a:srgbClr val="0070C0"/>
                </a:solidFill>
              </a:rPr>
              <a:t>лічильника фіксованого вікна </a:t>
            </a:r>
            <a:r>
              <a:rPr lang="uk-UA" dirty="0"/>
              <a:t>подібний до сегмента маркерів, за винятком двох основних відмінностей: </a:t>
            </a:r>
          </a:p>
          <a:p>
            <a:pPr marL="285750" indent="-285750">
              <a:buFont typeface="Arial" panose="020B0604020202020204" pitchFamily="34" charset="0"/>
              <a:buChar char="•"/>
            </a:pPr>
            <a:r>
              <a:rPr lang="uk-UA" dirty="0"/>
              <a:t>Він використовує лічильник, а не колекцію маркерів. </a:t>
            </a:r>
          </a:p>
          <a:p>
            <a:pPr marL="285750" indent="-285750">
              <a:buFont typeface="Arial" panose="020B0604020202020204" pitchFamily="34" charset="0"/>
              <a:buChar char="•"/>
            </a:pPr>
            <a:r>
              <a:rPr lang="uk-UA" dirty="0"/>
              <a:t>Лічильник не може бути накопичений.</a:t>
            </a:r>
            <a:endParaRPr lang="en-US" dirty="0"/>
          </a:p>
        </p:txBody>
      </p:sp>
      <p:sp>
        <p:nvSpPr>
          <p:cNvPr id="6" name="Заголовок 5">
            <a:extLst>
              <a:ext uri="{FF2B5EF4-FFF2-40B4-BE49-F238E27FC236}">
                <a16:creationId xmlns:a16="http://schemas.microsoft.com/office/drawing/2014/main" id="{D40F2206-B65F-B2C4-F0FA-D07CF7D26A7F}"/>
              </a:ext>
            </a:extLst>
          </p:cNvPr>
          <p:cNvSpPr>
            <a:spLocks noGrp="1"/>
          </p:cNvSpPr>
          <p:nvPr>
            <p:ph type="title"/>
          </p:nvPr>
        </p:nvSpPr>
        <p:spPr>
          <a:xfrm>
            <a:off x="2651760" y="375719"/>
            <a:ext cx="9372600" cy="1293028"/>
          </a:xfrm>
        </p:spPr>
        <p:txBody>
          <a:bodyPr>
            <a:normAutofit fontScale="90000"/>
          </a:bodyPr>
          <a:lstStyle/>
          <a:p>
            <a:r>
              <a:rPr lang="uk-UA" sz="4000" b="1" dirty="0"/>
              <a:t>Алгоритми обмеження швидкості </a:t>
            </a:r>
            <a:br>
              <a:rPr lang="uk-UA" sz="4000" b="1" dirty="0"/>
            </a:br>
            <a:endParaRPr lang="uk-UA" dirty="0"/>
          </a:p>
        </p:txBody>
      </p:sp>
    </p:spTree>
    <p:extLst>
      <p:ext uri="{BB962C8B-B14F-4D97-AF65-F5344CB8AC3E}">
        <p14:creationId xmlns:p14="http://schemas.microsoft.com/office/powerpoint/2010/main" val="40385462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840390" y="1269958"/>
            <a:ext cx="5629096" cy="2538154"/>
          </a:xfrm>
          <a:prstGeom prst="rect">
            <a:avLst/>
          </a:prstGeom>
        </p:spPr>
      </p:pic>
      <p:sp>
        <p:nvSpPr>
          <p:cNvPr id="4" name="Rectangle 3"/>
          <p:cNvSpPr/>
          <p:nvPr/>
        </p:nvSpPr>
        <p:spPr>
          <a:xfrm>
            <a:off x="211293" y="3878875"/>
            <a:ext cx="11875081" cy="2308324"/>
          </a:xfrm>
          <a:prstGeom prst="rect">
            <a:avLst/>
          </a:prstGeom>
        </p:spPr>
        <p:txBody>
          <a:bodyPr wrap="square">
            <a:spAutoFit/>
          </a:bodyPr>
          <a:lstStyle/>
          <a:p>
            <a:r>
              <a:rPr lang="uk-UA" dirty="0"/>
              <a:t>Коли зроблено новий запит, сервер підраховує, скільки запитів вже було зроблено від початку вікна до поточного часу, щоб визначити, чи слід обробити запит чи відхилити. Наприклад, якщо швидкість становить п’ять запитів на хвилину, коли сервер отримує новий запит, він перевіряє, скільки запитів було зроблено за останні 60 секунд. Якщо вже подано п’ять запитів, то новий запит буде відхилено. </a:t>
            </a:r>
          </a:p>
          <a:p>
            <a:r>
              <a:rPr lang="uk-UA" dirty="0"/>
              <a:t>За допомогою цього алгоритму клієнту не потрібно знати, коли починається і закінчується вікно часу. Потрібно лише переконатися, що ліміт ставки не було перевищено на момент запиту. Клієнт також повинен розробити спосіб затримки запитів, якщо це необхідно, щоб вона не перевищувала дозволену швидкість, і, звичайно, врахувати відхилені запити. </a:t>
            </a:r>
            <a:endParaRPr lang="en-US" dirty="0">
              <a:effectLst/>
            </a:endParaRPr>
          </a:p>
        </p:txBody>
      </p:sp>
      <p:sp>
        <p:nvSpPr>
          <p:cNvPr id="5" name="Заголовок 5">
            <a:extLst>
              <a:ext uri="{FF2B5EF4-FFF2-40B4-BE49-F238E27FC236}">
                <a16:creationId xmlns:a16="http://schemas.microsoft.com/office/drawing/2014/main" id="{F98D8206-EB2A-3C66-D0A8-25DEEAFEF93B}"/>
              </a:ext>
            </a:extLst>
          </p:cNvPr>
          <p:cNvSpPr>
            <a:spLocks noGrp="1"/>
          </p:cNvSpPr>
          <p:nvPr>
            <p:ph type="title"/>
          </p:nvPr>
        </p:nvSpPr>
        <p:spPr>
          <a:xfrm>
            <a:off x="2651760" y="375719"/>
            <a:ext cx="9372600" cy="1293028"/>
          </a:xfrm>
        </p:spPr>
        <p:txBody>
          <a:bodyPr>
            <a:normAutofit fontScale="90000"/>
          </a:bodyPr>
          <a:lstStyle/>
          <a:p>
            <a:r>
              <a:rPr lang="uk-UA" sz="4000" b="1" dirty="0"/>
              <a:t>Алгоритми обмеження швидкості </a:t>
            </a:r>
            <a:br>
              <a:rPr lang="uk-UA" sz="4000" b="1" dirty="0"/>
            </a:br>
            <a:endParaRPr lang="uk-UA" dirty="0"/>
          </a:p>
        </p:txBody>
      </p:sp>
      <p:sp>
        <p:nvSpPr>
          <p:cNvPr id="7" name="TextBox 6">
            <a:extLst>
              <a:ext uri="{FF2B5EF4-FFF2-40B4-BE49-F238E27FC236}">
                <a16:creationId xmlns:a16="http://schemas.microsoft.com/office/drawing/2014/main" id="{3D25185A-92BB-3FED-CDE2-EA37E682C82B}"/>
              </a:ext>
            </a:extLst>
          </p:cNvPr>
          <p:cNvSpPr txBox="1"/>
          <p:nvPr/>
        </p:nvSpPr>
        <p:spPr>
          <a:xfrm>
            <a:off x="211294" y="1414147"/>
            <a:ext cx="5629096" cy="2031325"/>
          </a:xfrm>
          <a:prstGeom prst="rect">
            <a:avLst/>
          </a:prstGeom>
          <a:noFill/>
        </p:spPr>
        <p:txBody>
          <a:bodyPr wrap="square">
            <a:spAutoFit/>
          </a:bodyPr>
          <a:lstStyle/>
          <a:p>
            <a:r>
              <a:rPr lang="uk-UA" dirty="0"/>
              <a:t>Алгоритм </a:t>
            </a:r>
            <a:r>
              <a:rPr lang="uk-UA" b="1" dirty="0">
                <a:solidFill>
                  <a:srgbClr val="0070C0"/>
                </a:solidFill>
              </a:rPr>
              <a:t>лічильника </a:t>
            </a:r>
            <a:r>
              <a:rPr lang="uk-UA" b="1" dirty="0" err="1">
                <a:solidFill>
                  <a:srgbClr val="0070C0"/>
                </a:solidFill>
              </a:rPr>
              <a:t>ковзаючого</a:t>
            </a:r>
            <a:r>
              <a:rPr lang="uk-UA" b="1" dirty="0">
                <a:solidFill>
                  <a:srgbClr val="0070C0"/>
                </a:solidFill>
              </a:rPr>
              <a:t> вікна</a:t>
            </a:r>
            <a:r>
              <a:rPr lang="uk-UA" dirty="0"/>
              <a:t> дозволяє виконувати фіксовану кількість запитів за встановлену тривалість часу. Цей період часу не є фіксованим вікном, і лічильник не поповнюється, коли вікно починається знову. У цьому алгоритмі сервер зберігає мітку часу, коли зроблено запит.</a:t>
            </a:r>
          </a:p>
        </p:txBody>
      </p:sp>
    </p:spTree>
    <p:extLst>
      <p:ext uri="{BB962C8B-B14F-4D97-AF65-F5344CB8AC3E}">
        <p14:creationId xmlns:p14="http://schemas.microsoft.com/office/powerpoint/2010/main" val="19169503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7049" y="1605280"/>
            <a:ext cx="11497901" cy="4836160"/>
          </a:xfrm>
        </p:spPr>
        <p:txBody>
          <a:bodyPr>
            <a:normAutofit fontScale="92500" lnSpcReduction="20000"/>
          </a:bodyPr>
          <a:lstStyle/>
          <a:p>
            <a:pPr marL="0" indent="0">
              <a:buNone/>
            </a:pPr>
            <a:r>
              <a:rPr lang="uk-UA" sz="1800" b="1" dirty="0">
                <a:effectLst/>
              </a:rPr>
              <a:t>Як дізнатись який ліміт швидкості використовується?</a:t>
            </a:r>
            <a:endParaRPr lang="en-US" sz="1800" b="1" dirty="0">
              <a:effectLst/>
            </a:endParaRPr>
          </a:p>
          <a:p>
            <a:pPr marL="0" indent="0">
              <a:buNone/>
            </a:pPr>
            <a:r>
              <a:rPr lang="uk-UA" sz="1800" dirty="0"/>
              <a:t>Документація </a:t>
            </a:r>
            <a:r>
              <a:rPr lang="en-US" sz="1800" dirty="0"/>
              <a:t>API </a:t>
            </a:r>
            <a:r>
              <a:rPr lang="uk-UA" sz="1800" dirty="0"/>
              <a:t>зазвичай містить деталі обмеження швидкості та одиниці часу. Крім того, багато </a:t>
            </a:r>
            <a:r>
              <a:rPr lang="en-US" sz="1800" dirty="0"/>
              <a:t>API </a:t>
            </a:r>
            <a:r>
              <a:rPr lang="uk-UA" sz="1800" dirty="0"/>
              <a:t>додають деталі про обмеження швидкості в заголовок відповіді. Оскільки стандарту немає, пара ключ-значення, що використовується в заголовку, може відрізнятися між </a:t>
            </a:r>
            <a:r>
              <a:rPr lang="en-US" sz="1800" dirty="0"/>
              <a:t>API. </a:t>
            </a:r>
            <a:endParaRPr lang="ru-RU" sz="1800" dirty="0"/>
          </a:p>
          <a:p>
            <a:pPr marL="0" indent="0">
              <a:buNone/>
            </a:pPr>
            <a:r>
              <a:rPr lang="uk-UA" sz="1800" dirty="0"/>
              <a:t>Деякі часто використовувані ключі включають: </a:t>
            </a:r>
          </a:p>
          <a:p>
            <a:pPr marL="0" indent="0">
              <a:buNone/>
            </a:pPr>
            <a:r>
              <a:rPr lang="en-US" sz="1800" b="1" dirty="0">
                <a:solidFill>
                  <a:srgbClr val="0070C0"/>
                </a:solidFill>
              </a:rPr>
              <a:t>X-</a:t>
            </a:r>
            <a:r>
              <a:rPr lang="en-US" sz="1800" b="1" dirty="0" err="1">
                <a:solidFill>
                  <a:srgbClr val="0070C0"/>
                </a:solidFill>
              </a:rPr>
              <a:t>RateLimit</a:t>
            </a:r>
            <a:r>
              <a:rPr lang="en-US" sz="1800" b="1" dirty="0">
                <a:solidFill>
                  <a:srgbClr val="0070C0"/>
                </a:solidFill>
              </a:rPr>
              <a:t>-Limit</a:t>
            </a:r>
            <a:r>
              <a:rPr lang="en-US" sz="1800" dirty="0"/>
              <a:t>: </a:t>
            </a:r>
            <a:r>
              <a:rPr lang="uk-UA" sz="1800" dirty="0"/>
              <a:t>максимальна кількість запитів, які можна зробити за певну одиницю часу </a:t>
            </a:r>
          </a:p>
          <a:p>
            <a:pPr marL="0" indent="0">
              <a:buNone/>
            </a:pPr>
            <a:r>
              <a:rPr lang="en-US" sz="1800" b="1" dirty="0">
                <a:solidFill>
                  <a:srgbClr val="0070C0"/>
                </a:solidFill>
              </a:rPr>
              <a:t>X-</a:t>
            </a:r>
            <a:r>
              <a:rPr lang="en-US" sz="1800" b="1" dirty="0" err="1">
                <a:solidFill>
                  <a:srgbClr val="0070C0"/>
                </a:solidFill>
              </a:rPr>
              <a:t>RateLimit</a:t>
            </a:r>
            <a:r>
              <a:rPr lang="en-US" sz="1800" b="1" dirty="0">
                <a:solidFill>
                  <a:srgbClr val="0070C0"/>
                </a:solidFill>
              </a:rPr>
              <a:t>-Remaining</a:t>
            </a:r>
            <a:r>
              <a:rPr lang="en-US" sz="1800" dirty="0"/>
              <a:t>: </a:t>
            </a:r>
            <a:r>
              <a:rPr lang="uk-UA" sz="1800" dirty="0"/>
              <a:t>кількість запитів, що залишилися, які запитувач може зробити у поточному вікні обмеження швидкості </a:t>
            </a:r>
          </a:p>
          <a:p>
            <a:pPr marL="0" indent="0">
              <a:buNone/>
            </a:pPr>
            <a:r>
              <a:rPr lang="en-US" sz="1800" b="1" dirty="0">
                <a:solidFill>
                  <a:srgbClr val="0070C0"/>
                </a:solidFill>
              </a:rPr>
              <a:t>X-</a:t>
            </a:r>
            <a:r>
              <a:rPr lang="en-US" sz="1800" b="1" dirty="0" err="1">
                <a:solidFill>
                  <a:srgbClr val="0070C0"/>
                </a:solidFill>
              </a:rPr>
              <a:t>RateLimit</a:t>
            </a:r>
            <a:r>
              <a:rPr lang="en-US" sz="1800" b="1" dirty="0">
                <a:solidFill>
                  <a:srgbClr val="0070C0"/>
                </a:solidFill>
              </a:rPr>
              <a:t>-Reset</a:t>
            </a:r>
            <a:r>
              <a:rPr lang="en-US" sz="1800" dirty="0"/>
              <a:t>: </a:t>
            </a:r>
            <a:r>
              <a:rPr lang="uk-UA" sz="1800" dirty="0"/>
              <a:t>час скидання вікна обмеження швидкості Клієнт може використовувати цю інформацію, щоб відстежувати, скільки ще запитів </a:t>
            </a:r>
            <a:r>
              <a:rPr lang="en-US" sz="1800" dirty="0"/>
              <a:t>API </a:t>
            </a:r>
            <a:r>
              <a:rPr lang="uk-UA" sz="1800" dirty="0"/>
              <a:t>він може зробити у поточному вікні, допомагаючи клієнту уникнути перевищення ліміту швидкості. </a:t>
            </a:r>
            <a:endParaRPr lang="ru-RU" sz="1800" dirty="0"/>
          </a:p>
          <a:p>
            <a:pPr marL="0" indent="0">
              <a:buNone/>
            </a:pPr>
            <a:endParaRPr lang="uk-UA" sz="1800" b="1" dirty="0"/>
          </a:p>
          <a:p>
            <a:pPr marL="0" indent="0">
              <a:buNone/>
            </a:pPr>
            <a:r>
              <a:rPr lang="uk-UA" sz="1800" b="1" dirty="0"/>
              <a:t>Перевищення ліміту швидкості </a:t>
            </a:r>
          </a:p>
          <a:p>
            <a:pPr marL="0" indent="0">
              <a:buNone/>
            </a:pPr>
            <a:r>
              <a:rPr lang="uk-UA" sz="1800" dirty="0"/>
              <a:t>Коли ліміт швидкості перевищено, сервер автоматично відхиляє запит і надсилає відповідь </a:t>
            </a:r>
            <a:r>
              <a:rPr lang="en-US" sz="1800" dirty="0"/>
              <a:t>HTTP, </a:t>
            </a:r>
            <a:r>
              <a:rPr lang="uk-UA" sz="1800" dirty="0"/>
              <a:t>інформуючи користувача. Крім того, зазвичай відповідь, що містить помилку «перевищено межу швидкості», також містить змістовний код статусу </a:t>
            </a:r>
            <a:r>
              <a:rPr lang="en-US" sz="1800" dirty="0"/>
              <a:t>HTTP. </a:t>
            </a:r>
            <a:endParaRPr lang="uk-UA" sz="1800" dirty="0"/>
          </a:p>
          <a:p>
            <a:pPr marL="0" indent="0">
              <a:buNone/>
            </a:pPr>
            <a:r>
              <a:rPr lang="uk-UA" sz="1800" dirty="0"/>
              <a:t>На жаль, оскільки для цієї взаємодії не існує стандарту, сервер може вибрати, який код статусу надіслати. Найбільш часто використовувані коди статусу </a:t>
            </a:r>
            <a:r>
              <a:rPr lang="en-US" sz="1800" dirty="0"/>
              <a:t>HTTP: 429: </a:t>
            </a:r>
            <a:r>
              <a:rPr lang="uk-UA" sz="1800" dirty="0"/>
              <a:t>Забагато запитів або 403: Заборонено. </a:t>
            </a:r>
          </a:p>
        </p:txBody>
      </p:sp>
      <p:sp>
        <p:nvSpPr>
          <p:cNvPr id="2" name="Заголовок 1">
            <a:extLst>
              <a:ext uri="{FF2B5EF4-FFF2-40B4-BE49-F238E27FC236}">
                <a16:creationId xmlns:a16="http://schemas.microsoft.com/office/drawing/2014/main" id="{C66DF2DC-C9A5-210D-2A35-40F7690983B8}"/>
              </a:ext>
            </a:extLst>
          </p:cNvPr>
          <p:cNvSpPr>
            <a:spLocks noGrp="1"/>
          </p:cNvSpPr>
          <p:nvPr>
            <p:ph type="title"/>
          </p:nvPr>
        </p:nvSpPr>
        <p:spPr>
          <a:xfrm>
            <a:off x="1676400" y="239917"/>
            <a:ext cx="9972040" cy="1293028"/>
          </a:xfrm>
        </p:spPr>
        <p:txBody>
          <a:bodyPr/>
          <a:lstStyle/>
          <a:p>
            <a:r>
              <a:rPr lang="uk-UA" dirty="0"/>
              <a:t>Обмеження швидкості </a:t>
            </a:r>
            <a:r>
              <a:rPr lang="uk-UA" sz="4000" b="1" dirty="0">
                <a:effectLst/>
              </a:rPr>
              <a:t>(</a:t>
            </a:r>
            <a:r>
              <a:rPr lang="en-US" sz="4000" b="1" dirty="0">
                <a:effectLst/>
              </a:rPr>
              <a:t>Rate Limits</a:t>
            </a:r>
            <a:r>
              <a:rPr lang="uk-UA" sz="4000" b="1" dirty="0">
                <a:effectLst/>
              </a:rPr>
              <a:t>)</a:t>
            </a:r>
            <a:endParaRPr lang="uk-UA" dirty="0"/>
          </a:p>
        </p:txBody>
      </p:sp>
    </p:spTree>
    <p:extLst>
      <p:ext uri="{BB962C8B-B14F-4D97-AF65-F5344CB8AC3E}">
        <p14:creationId xmlns:p14="http://schemas.microsoft.com/office/powerpoint/2010/main" val="23308758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654007E-0ACF-BB20-96B5-8DCC0FC53860}"/>
              </a:ext>
            </a:extLst>
          </p:cNvPr>
          <p:cNvSpPr>
            <a:spLocks noGrp="1"/>
          </p:cNvSpPr>
          <p:nvPr>
            <p:ph type="title"/>
          </p:nvPr>
        </p:nvSpPr>
        <p:spPr>
          <a:xfrm>
            <a:off x="2895600" y="236053"/>
            <a:ext cx="8610600" cy="1293028"/>
          </a:xfrm>
        </p:spPr>
        <p:txBody>
          <a:bodyPr/>
          <a:lstStyle/>
          <a:p>
            <a:r>
              <a:rPr lang="en-US" dirty="0"/>
              <a:t>webhook</a:t>
            </a:r>
            <a:endParaRPr lang="uk-UA" dirty="0"/>
          </a:p>
        </p:txBody>
      </p:sp>
      <p:sp>
        <p:nvSpPr>
          <p:cNvPr id="3" name="Content Placeholder 2"/>
          <p:cNvSpPr>
            <a:spLocks noGrp="1"/>
          </p:cNvSpPr>
          <p:nvPr>
            <p:ph idx="1"/>
          </p:nvPr>
        </p:nvSpPr>
        <p:spPr>
          <a:xfrm>
            <a:off x="563880" y="1529081"/>
            <a:ext cx="11181080" cy="5092866"/>
          </a:xfrm>
        </p:spPr>
        <p:txBody>
          <a:bodyPr>
            <a:normAutofit fontScale="92500" lnSpcReduction="20000"/>
          </a:bodyPr>
          <a:lstStyle/>
          <a:p>
            <a:pPr marL="0" indent="0">
              <a:buNone/>
            </a:pPr>
            <a:r>
              <a:rPr lang="en-US" sz="1800" b="1" dirty="0">
                <a:solidFill>
                  <a:srgbClr val="0070C0"/>
                </a:solidFill>
              </a:rPr>
              <a:t>Webhook</a:t>
            </a:r>
            <a:r>
              <a:rPr lang="uk-UA" sz="1800" dirty="0"/>
              <a:t> — це зворотний виклик </a:t>
            </a:r>
            <a:r>
              <a:rPr lang="en-US" sz="1800" dirty="0"/>
              <a:t>HTTP </a:t>
            </a:r>
            <a:r>
              <a:rPr lang="uk-UA" sz="1800" dirty="0"/>
              <a:t>або </a:t>
            </a:r>
            <a:r>
              <a:rPr lang="en-US" sz="1800" dirty="0"/>
              <a:t>HTTP POST </a:t>
            </a:r>
            <a:r>
              <a:rPr lang="uk-UA" sz="1800" dirty="0"/>
              <a:t>до вказаної </a:t>
            </a:r>
            <a:r>
              <a:rPr lang="en-US" sz="1800" dirty="0"/>
              <a:t>URL-</a:t>
            </a:r>
            <a:r>
              <a:rPr lang="uk-UA" sz="1800" dirty="0"/>
              <a:t>адреси, яка сповіщає вашу програму про те, що в одному з ваших ресурсів на платформі відбулася певна активність або «подія». Концепція проста. Подумайте про те, щоб запитати когось «негайно скажи мені, якщо </a:t>
            </a:r>
            <a:r>
              <a:rPr lang="en-US" sz="1800" dirty="0"/>
              <a:t>X </a:t>
            </a:r>
            <a:r>
              <a:rPr lang="uk-UA" sz="1800" dirty="0"/>
              <a:t>станеться». Цей «хтось» є постачальником вебхуку, а ви – програмою. Веб-хуки дозволяють програмам отримувати дані в режимі реального часу, оскільки вони ініціюються певними діями або подіями. </a:t>
            </a:r>
            <a:endParaRPr lang="en-US" sz="1800" dirty="0"/>
          </a:p>
          <a:p>
            <a:pPr marL="0" indent="0">
              <a:buNone/>
            </a:pPr>
            <a:r>
              <a:rPr lang="uk-UA" sz="1800" dirty="0"/>
              <a:t>За допомогою вебхуків програми є більш ефективними, оскільки їм більше не потрібно мати механізм опитування. </a:t>
            </a:r>
            <a:endParaRPr lang="en-US" sz="1800" dirty="0"/>
          </a:p>
          <a:p>
            <a:pPr marL="0" indent="0">
              <a:buNone/>
            </a:pPr>
            <a:r>
              <a:rPr lang="uk-UA" sz="1800" dirty="0"/>
              <a:t>Механізм опитування – це спосіб багаторазового запиту інформації від служби, доки не буде виконана умова. Уявіть, що вам потрібно запитати когось знову і знову: «Чи вже відбувся Х? Дратує, правда? Це опитування. Опитування погіршує продуктивність як клієнта, так і сервера через багаторазову обробку запитів і відповідей. Крім того, опитування не відбувається в режимі реального часу, оскільки опитування відбуваються через фіксовані проміжки часу. Якщо подія відбувається відразу після останнього опитування, ваша програма не дізнається про змінений статус, доки не закінчиться інтервал опитування та не відбудеться наступне опитування. </a:t>
            </a:r>
            <a:endParaRPr lang="en-US" sz="1800" dirty="0"/>
          </a:p>
          <a:p>
            <a:pPr marL="0" indent="0">
              <a:buNone/>
            </a:pPr>
            <a:r>
              <a:rPr lang="uk-UA" sz="1800" dirty="0"/>
              <a:t>Вебхуки також відомі як зворотні </a:t>
            </a:r>
            <a:r>
              <a:rPr lang="en-US" sz="1800" dirty="0"/>
              <a:t>API, </a:t>
            </a:r>
            <a:r>
              <a:rPr lang="uk-UA" sz="1800" dirty="0"/>
              <a:t>оскільки програми підписуються на сервер веб-хуку, реєструючись у постачальника вебхуку. Під час цього процесу реєстрації програма надає </a:t>
            </a:r>
            <a:r>
              <a:rPr lang="en-US" sz="1800" dirty="0"/>
              <a:t>URI </a:t>
            </a:r>
            <a:r>
              <a:rPr lang="uk-UA" sz="1800" dirty="0"/>
              <a:t>для виклику сервером, коли відбувається цільова активність або подія. Цей </a:t>
            </a:r>
            <a:r>
              <a:rPr lang="en-US" sz="1800" dirty="0"/>
              <a:t>URI </a:t>
            </a:r>
            <a:r>
              <a:rPr lang="uk-UA" sz="1800" dirty="0"/>
              <a:t>зазвичай є </a:t>
            </a:r>
            <a:r>
              <a:rPr lang="en-US" sz="1800" dirty="0"/>
              <a:t>API </a:t>
            </a:r>
            <a:r>
              <a:rPr lang="uk-UA" sz="1800" dirty="0"/>
              <a:t>на стороні програми, яку сервер викликає, коли запускається вебхук. </a:t>
            </a:r>
            <a:endParaRPr lang="en-US" sz="1800" dirty="0"/>
          </a:p>
          <a:p>
            <a:pPr marL="0" indent="0">
              <a:buNone/>
            </a:pPr>
            <a:r>
              <a:rPr lang="uk-UA" sz="1800" dirty="0"/>
              <a:t>Коли спрацьовує вебхук, сервер надсилає сповіщення, стаючи абонентом, і робить запит до наданого </a:t>
            </a:r>
            <a:r>
              <a:rPr lang="en-US" sz="1800" dirty="0"/>
              <a:t>URI. </a:t>
            </a:r>
            <a:r>
              <a:rPr lang="uk-UA" sz="1800" dirty="0"/>
              <a:t>Цей </a:t>
            </a:r>
            <a:r>
              <a:rPr lang="en-US" sz="1800" dirty="0"/>
              <a:t>URI </a:t>
            </a:r>
            <a:r>
              <a:rPr lang="uk-UA" sz="1800" dirty="0"/>
              <a:t>представляє </a:t>
            </a:r>
            <a:r>
              <a:rPr lang="en-US" sz="1800" dirty="0"/>
              <a:t>API </a:t>
            </a:r>
            <a:r>
              <a:rPr lang="uk-UA" sz="1800" dirty="0"/>
              <a:t>для програми, і програма стає викликаним і споживає запит. В результаті для вебхуків ролі змінюються; сервер стає клієнтом, а клієнт стає сервером. Кілька програм можуть підписатися на один сервер </a:t>
            </a:r>
            <a:r>
              <a:rPr lang="en-US" sz="1800" dirty="0" err="1"/>
              <a:t>webhook</a:t>
            </a:r>
            <a:r>
              <a:rPr lang="en-US" sz="1800" dirty="0"/>
              <a:t>. </a:t>
            </a:r>
            <a:endParaRPr lang="uk-UA" sz="1800" dirty="0"/>
          </a:p>
        </p:txBody>
      </p:sp>
    </p:spTree>
    <p:extLst>
      <p:ext uri="{BB962C8B-B14F-4D97-AF65-F5344CB8AC3E}">
        <p14:creationId xmlns:p14="http://schemas.microsoft.com/office/powerpoint/2010/main" val="32194377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5925" y="1615440"/>
            <a:ext cx="11497901" cy="5002643"/>
          </a:xfrm>
        </p:spPr>
        <p:txBody>
          <a:bodyPr>
            <a:normAutofit/>
          </a:bodyPr>
          <a:lstStyle/>
          <a:p>
            <a:pPr marL="0" indent="0">
              <a:buNone/>
            </a:pPr>
            <a:r>
              <a:rPr lang="uk-UA" sz="1800" b="1" dirty="0">
                <a:solidFill>
                  <a:srgbClr val="0070C0"/>
                </a:solidFill>
              </a:rPr>
              <a:t>Приклад:</a:t>
            </a:r>
            <a:endParaRPr lang="en-US" sz="1800" dirty="0">
              <a:solidFill>
                <a:srgbClr val="0070C0"/>
              </a:solidFill>
            </a:endParaRPr>
          </a:p>
          <a:p>
            <a:pPr marL="0" indent="0">
              <a:buNone/>
            </a:pPr>
            <a:r>
              <a:rPr lang="uk-UA" sz="1800" dirty="0"/>
              <a:t>Платформа </a:t>
            </a:r>
            <a:r>
              <a:rPr lang="en-US" sz="1800" dirty="0"/>
              <a:t>Cisco DNA Center </a:t>
            </a:r>
            <a:r>
              <a:rPr lang="uk-UA" sz="1800" dirty="0"/>
              <a:t>надає веб-хуки, які дозволяють стороннім програмам отримувати дані мережі, коли відбуваються певні події. Ви можете зареєструвати свою програму за допомогою певного </a:t>
            </a:r>
            <a:r>
              <a:rPr lang="en-US" sz="1800" dirty="0"/>
              <a:t>URI </a:t>
            </a:r>
            <a:r>
              <a:rPr lang="uk-UA" sz="1800" dirty="0"/>
              <a:t>кінцев</a:t>
            </a:r>
            <a:r>
              <a:rPr lang="en-US" sz="1800" dirty="0"/>
              <a:t>e</a:t>
            </a:r>
            <a:r>
              <a:rPr lang="uk-UA" sz="1800" dirty="0"/>
              <a:t> точк</a:t>
            </a:r>
            <a:r>
              <a:rPr lang="en-US" sz="1800" dirty="0"/>
              <a:t>e</a:t>
            </a:r>
            <a:r>
              <a:rPr lang="uk-UA" sz="1800" dirty="0"/>
              <a:t> </a:t>
            </a:r>
            <a:r>
              <a:rPr lang="en-US" sz="1800" dirty="0"/>
              <a:t>REST, </a:t>
            </a:r>
            <a:r>
              <a:rPr lang="uk-UA" sz="1800" dirty="0"/>
              <a:t>як</a:t>
            </a:r>
            <a:r>
              <a:rPr lang="en-US" sz="1800" dirty="0"/>
              <a:t>f</a:t>
            </a:r>
            <a:r>
              <a:rPr lang="uk-UA" sz="1800" dirty="0"/>
              <a:t> отримує повідомлення від </a:t>
            </a:r>
            <a:r>
              <a:rPr lang="en-US" sz="1800" dirty="0"/>
              <a:t>Cisco DNAC, </a:t>
            </a:r>
            <a:r>
              <a:rPr lang="uk-UA" sz="1800" dirty="0"/>
              <a:t>коли відбувається певна подія. </a:t>
            </a:r>
            <a:endParaRPr lang="en-US" sz="1800" dirty="0"/>
          </a:p>
          <a:p>
            <a:pPr marL="0" indent="0">
              <a:buNone/>
            </a:pPr>
            <a:r>
              <a:rPr lang="uk-UA" sz="1800" dirty="0"/>
              <a:t>Наприклад, якщо мережевий пристрій стає недоступним, вебхук </a:t>
            </a:r>
            <a:r>
              <a:rPr lang="en-US" sz="1800" dirty="0"/>
              <a:t>Cisco DNAC </a:t>
            </a:r>
            <a:r>
              <a:rPr lang="uk-UA" sz="1800" dirty="0"/>
              <a:t>може надіслати </a:t>
            </a:r>
            <a:r>
              <a:rPr lang="en-US" sz="1800" dirty="0"/>
              <a:t>HTTP POST </a:t>
            </a:r>
            <a:r>
              <a:rPr lang="uk-UA" sz="1800" dirty="0"/>
              <a:t>до </a:t>
            </a:r>
            <a:r>
              <a:rPr lang="en-US" sz="1800" dirty="0"/>
              <a:t>URI, </a:t>
            </a:r>
            <a:r>
              <a:rPr lang="uk-UA" sz="1800" dirty="0"/>
              <a:t>який ваша програма зареєструвала в </a:t>
            </a:r>
            <a:r>
              <a:rPr lang="en-US" sz="1800" dirty="0"/>
              <a:t>Cisco DNAC. </a:t>
            </a:r>
            <a:r>
              <a:rPr lang="uk-UA" sz="1800" dirty="0"/>
              <a:t>Потім ваша програма отримує всі деталі збою в об’єкті </a:t>
            </a:r>
            <a:r>
              <a:rPr lang="en-US" sz="1800" dirty="0"/>
              <a:t>JSON </a:t>
            </a:r>
            <a:r>
              <a:rPr lang="uk-UA" sz="1800" dirty="0"/>
              <a:t>з цього </a:t>
            </a:r>
            <a:r>
              <a:rPr lang="en-US" sz="1800" dirty="0"/>
              <a:t>HTTP POST, </a:t>
            </a:r>
            <a:r>
              <a:rPr lang="uk-UA" sz="1800" dirty="0"/>
              <a:t>щоб вона могла вжити відповідних заходів. У цьому випадку </a:t>
            </a:r>
            <a:r>
              <a:rPr lang="en-US" sz="1800" dirty="0"/>
              <a:t>Cisco DNAC </a:t>
            </a:r>
            <a:r>
              <a:rPr lang="uk-UA" sz="1800" dirty="0"/>
              <a:t>є постачальником вебхуку. </a:t>
            </a:r>
          </a:p>
          <a:p>
            <a:pPr marL="0" indent="0">
              <a:buNone/>
            </a:pPr>
            <a:r>
              <a:rPr lang="uk-UA" sz="1800" dirty="0"/>
              <a:t>Ви можете створити веб-хук, щоб </a:t>
            </a:r>
            <a:r>
              <a:rPr lang="en-US" sz="1800" dirty="0"/>
              <a:t>Cisco </a:t>
            </a:r>
            <a:r>
              <a:rPr lang="en-US" sz="1800" dirty="0" err="1"/>
              <a:t>Webex</a:t>
            </a:r>
            <a:r>
              <a:rPr lang="en-US" sz="1800" dirty="0"/>
              <a:t> Teams </a:t>
            </a:r>
            <a:r>
              <a:rPr lang="uk-UA" sz="1800" dirty="0"/>
              <a:t>сповіщати вас щоразу, коли нові повідомлення публікуються в певній кімнаті. Таким чином, замість того, щоб ваша програма повторювала виклики </a:t>
            </a:r>
            <a:r>
              <a:rPr lang="en-US" sz="1800" dirty="0"/>
              <a:t>API Teams, </a:t>
            </a:r>
            <a:r>
              <a:rPr lang="uk-UA" sz="1800" dirty="0"/>
              <a:t>щоб визначити, чи було опубліковано нове повідомлення, вебхук автоматично сповіщає вас про кожне повідомлення. У цьому випадку постачальником вебхуку є </a:t>
            </a:r>
            <a:r>
              <a:rPr lang="en-US" sz="1800" dirty="0"/>
              <a:t>Cisco </a:t>
            </a:r>
            <a:r>
              <a:rPr lang="en-US" sz="1800" dirty="0" err="1"/>
              <a:t>Webex</a:t>
            </a:r>
            <a:r>
              <a:rPr lang="en-US" sz="1800" dirty="0"/>
              <a:t> Teams. </a:t>
            </a:r>
          </a:p>
        </p:txBody>
      </p:sp>
      <p:sp>
        <p:nvSpPr>
          <p:cNvPr id="2" name="Заголовок 1">
            <a:extLst>
              <a:ext uri="{FF2B5EF4-FFF2-40B4-BE49-F238E27FC236}">
                <a16:creationId xmlns:a16="http://schemas.microsoft.com/office/drawing/2014/main" id="{9CD44D7D-185A-2819-6632-57170C5175D9}"/>
              </a:ext>
            </a:extLst>
          </p:cNvPr>
          <p:cNvSpPr>
            <a:spLocks noGrp="1"/>
          </p:cNvSpPr>
          <p:nvPr>
            <p:ph type="title"/>
          </p:nvPr>
        </p:nvSpPr>
        <p:spPr>
          <a:xfrm>
            <a:off x="2631440" y="164933"/>
            <a:ext cx="8610600" cy="1293028"/>
          </a:xfrm>
        </p:spPr>
        <p:txBody>
          <a:bodyPr/>
          <a:lstStyle/>
          <a:p>
            <a:r>
              <a:rPr lang="en-US" dirty="0"/>
              <a:t>webhook</a:t>
            </a:r>
            <a:endParaRPr lang="uk-UA" dirty="0"/>
          </a:p>
        </p:txBody>
      </p:sp>
    </p:spTree>
    <p:extLst>
      <p:ext uri="{BB962C8B-B14F-4D97-AF65-F5344CB8AC3E}">
        <p14:creationId xmlns:p14="http://schemas.microsoft.com/office/powerpoint/2010/main" val="32566897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5925" y="1859280"/>
            <a:ext cx="11497901" cy="4758803"/>
          </a:xfrm>
        </p:spPr>
        <p:txBody>
          <a:bodyPr>
            <a:normAutofit/>
          </a:bodyPr>
          <a:lstStyle/>
          <a:p>
            <a:pPr marL="0" indent="0">
              <a:buNone/>
            </a:pPr>
            <a:r>
              <a:rPr lang="uk-UA" sz="1800" b="1" dirty="0">
                <a:effectLst/>
              </a:rPr>
              <a:t>Сповіщення через </a:t>
            </a:r>
            <a:r>
              <a:rPr lang="en-US" sz="1800" b="1" dirty="0" err="1">
                <a:effectLst/>
              </a:rPr>
              <a:t>Webhook</a:t>
            </a:r>
            <a:endParaRPr lang="en-US" sz="1800" b="1" dirty="0">
              <a:effectLst/>
            </a:endParaRPr>
          </a:p>
          <a:p>
            <a:pPr marL="0" indent="0">
              <a:buNone/>
            </a:pPr>
            <a:r>
              <a:rPr lang="uk-UA" sz="1800" dirty="0"/>
              <a:t>Щоб отримати сповіщення від постачальника вебхуку, програма має відповідати певним вимогам: Щоб отримувати </a:t>
            </a:r>
            <a:r>
              <a:rPr lang="en-US" sz="1800" dirty="0"/>
              <a:t>HTTP-</a:t>
            </a:r>
            <a:r>
              <a:rPr lang="uk-UA" sz="1800" dirty="0"/>
              <a:t>запити </a:t>
            </a:r>
            <a:r>
              <a:rPr lang="en-US" sz="1800" dirty="0"/>
              <a:t>POST, </a:t>
            </a:r>
            <a:r>
              <a:rPr lang="uk-UA" sz="1800" dirty="0"/>
              <a:t>програма має працювати постійно. Програма повинна зареєструвати </a:t>
            </a:r>
            <a:r>
              <a:rPr lang="en-US" sz="1800" dirty="0"/>
              <a:t>URI </a:t>
            </a:r>
            <a:r>
              <a:rPr lang="uk-UA" sz="1800" dirty="0"/>
              <a:t>на постачальнику вебхуку, щоб постачальник знав, куди надіслати сповіщення, коли відбуваються цільові події. На додаток до цих двох вимог, програма повинна обробляти вхідні сповіщення від сервера </a:t>
            </a:r>
            <a:r>
              <a:rPr lang="en-US" sz="1800" dirty="0" err="1"/>
              <a:t>webhook</a:t>
            </a:r>
            <a:r>
              <a:rPr lang="en-US" sz="1800" dirty="0"/>
              <a:t>. </a:t>
            </a:r>
            <a:r>
              <a:rPr lang="uk-UA" sz="1800" dirty="0"/>
              <a:t>Оскільки до роботи з вебхуками залучаються треті сторони, іноді може бути складно переконатися, що все працює належним чином. Існує багато безкоштовних онлайн-інструментів, які гарантують, що ваша програма може отримувати сповіщення від вебхука. Багато з них також можуть надати вам попередній перегляд вмісту, наданого в сповіщенні вебхуку. Ці інструменти можна знайти за допомогою пошуку «тестер веб-хуку» і можуть бути корисними під час розробки та впровадження вашої програми. </a:t>
            </a:r>
          </a:p>
          <a:p>
            <a:pPr marL="0" indent="0">
              <a:buNone/>
            </a:pPr>
            <a:endParaRPr lang="ru-RU" sz="1800" dirty="0"/>
          </a:p>
          <a:p>
            <a:pPr marL="0" indent="0">
              <a:buNone/>
            </a:pPr>
            <a:endParaRPr lang="ru-RU" sz="1800" dirty="0"/>
          </a:p>
          <a:p>
            <a:pPr marL="0" indent="0">
              <a:buNone/>
            </a:pPr>
            <a:endParaRPr lang="uk-UA" sz="1800" dirty="0"/>
          </a:p>
        </p:txBody>
      </p:sp>
      <p:sp>
        <p:nvSpPr>
          <p:cNvPr id="2" name="Заголовок 1">
            <a:extLst>
              <a:ext uri="{FF2B5EF4-FFF2-40B4-BE49-F238E27FC236}">
                <a16:creationId xmlns:a16="http://schemas.microsoft.com/office/drawing/2014/main" id="{4018B14B-BA86-C928-599F-DAC08897FCAA}"/>
              </a:ext>
            </a:extLst>
          </p:cNvPr>
          <p:cNvSpPr>
            <a:spLocks noGrp="1"/>
          </p:cNvSpPr>
          <p:nvPr>
            <p:ph type="title"/>
          </p:nvPr>
        </p:nvSpPr>
        <p:spPr>
          <a:xfrm>
            <a:off x="2895600" y="236053"/>
            <a:ext cx="8610600" cy="1293028"/>
          </a:xfrm>
        </p:spPr>
        <p:txBody>
          <a:bodyPr/>
          <a:lstStyle/>
          <a:p>
            <a:r>
              <a:rPr lang="en-US" dirty="0"/>
              <a:t>webhook</a:t>
            </a:r>
            <a:endParaRPr lang="uk-UA" dirty="0"/>
          </a:p>
        </p:txBody>
      </p:sp>
    </p:spTree>
    <p:extLst>
      <p:ext uri="{BB962C8B-B14F-4D97-AF65-F5344CB8AC3E}">
        <p14:creationId xmlns:p14="http://schemas.microsoft.com/office/powerpoint/2010/main" val="38427532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F84BD2-8367-5CD8-98A6-ED510807B35F}"/>
              </a:ext>
            </a:extLst>
          </p:cNvPr>
          <p:cNvSpPr>
            <a:spLocks noGrp="1"/>
          </p:cNvSpPr>
          <p:nvPr>
            <p:ph type="title"/>
          </p:nvPr>
        </p:nvSpPr>
        <p:spPr>
          <a:xfrm>
            <a:off x="3200400" y="459573"/>
            <a:ext cx="8610600" cy="1293028"/>
          </a:xfrm>
        </p:spPr>
        <p:txBody>
          <a:bodyPr>
            <a:normAutofit fontScale="90000"/>
          </a:bodyPr>
          <a:lstStyle/>
          <a:p>
            <a:r>
              <a:rPr lang="uk-UA" sz="4000" b="1" dirty="0"/>
              <a:t>Виправлення помилок у</a:t>
            </a:r>
            <a:r>
              <a:rPr lang="en-US" sz="4000" b="1" dirty="0"/>
              <a:t> REST API </a:t>
            </a:r>
            <a:r>
              <a:rPr lang="uk-UA" sz="4000" b="1" dirty="0"/>
              <a:t>запитах</a:t>
            </a:r>
            <a:br>
              <a:rPr lang="en-US" sz="4000" b="1" dirty="0"/>
            </a:br>
            <a:endParaRPr lang="uk-UA" dirty="0"/>
          </a:p>
        </p:txBody>
      </p:sp>
      <p:sp>
        <p:nvSpPr>
          <p:cNvPr id="3" name="Content Placeholder 2"/>
          <p:cNvSpPr>
            <a:spLocks noGrp="1"/>
          </p:cNvSpPr>
          <p:nvPr>
            <p:ph idx="1"/>
          </p:nvPr>
        </p:nvSpPr>
        <p:spPr>
          <a:xfrm>
            <a:off x="787400" y="1574800"/>
            <a:ext cx="10820400" cy="4734560"/>
          </a:xfrm>
        </p:spPr>
        <p:txBody>
          <a:bodyPr>
            <a:normAutofit fontScale="92500" lnSpcReduction="20000"/>
          </a:bodyPr>
          <a:lstStyle/>
          <a:p>
            <a:pPr marL="0" indent="0">
              <a:buNone/>
            </a:pPr>
            <a:endParaRPr lang="uk-UA" sz="1800" b="1" dirty="0">
              <a:effectLst/>
            </a:endParaRPr>
          </a:p>
          <a:p>
            <a:pPr marL="0" indent="0">
              <a:buNone/>
            </a:pPr>
            <a:r>
              <a:rPr lang="uk-UA" sz="1800" b="1" dirty="0">
                <a:solidFill>
                  <a:srgbClr val="0070C0"/>
                </a:solidFill>
                <a:effectLst/>
              </a:rPr>
              <a:t>Відсутня відповідь і </a:t>
            </a:r>
            <a:r>
              <a:rPr lang="en-US" sz="1800" b="1" dirty="0">
                <a:solidFill>
                  <a:srgbClr val="0070C0"/>
                </a:solidFill>
                <a:effectLst/>
              </a:rPr>
              <a:t>HTTP Status Code </a:t>
            </a:r>
            <a:r>
              <a:rPr lang="uk-UA" sz="1800" b="1" dirty="0">
                <a:solidFill>
                  <a:srgbClr val="0070C0"/>
                </a:solidFill>
                <a:effectLst/>
              </a:rPr>
              <a:t>від </a:t>
            </a:r>
            <a:r>
              <a:rPr lang="en-US" sz="1800" b="1" dirty="0">
                <a:solidFill>
                  <a:srgbClr val="0070C0"/>
                </a:solidFill>
                <a:effectLst/>
              </a:rPr>
              <a:t>API server</a:t>
            </a:r>
          </a:p>
          <a:p>
            <a:pPr marL="0" indent="0">
              <a:buNone/>
            </a:pPr>
            <a:r>
              <a:rPr lang="ru-RU" sz="1800" dirty="0"/>
              <a:t>Почнемо з простого запитання: </a:t>
            </a:r>
            <a:r>
              <a:rPr lang="ru-RU" sz="1800" dirty="0" err="1"/>
              <a:t>Чи</a:t>
            </a:r>
            <a:r>
              <a:rPr lang="ru-RU" sz="1800" dirty="0"/>
              <a:t> правда, </a:t>
            </a:r>
            <a:r>
              <a:rPr lang="ru-RU" sz="1800" dirty="0" err="1"/>
              <a:t>що</a:t>
            </a:r>
            <a:r>
              <a:rPr lang="ru-RU" sz="1800" dirty="0"/>
              <a:t> </a:t>
            </a:r>
            <a:r>
              <a:rPr lang="ru-RU" sz="1800" dirty="0" err="1"/>
              <a:t>кожен</a:t>
            </a:r>
            <a:r>
              <a:rPr lang="ru-RU" sz="1800" dirty="0"/>
              <a:t> запит, надісланий на сервер REST API, повертатиме відповідь із кодом стану? Відповідь хибна. Хоча можна очікувати завжди отримувати код статусу HTTP, такий як 2xx, 4xx і 5xx, є багато випадків, коли сервер API не може бути досягнутий або не відповідає. У таких випадках ви не отримаєте код статусу HTTP, оскільки сервер API не може надіслати відповідь. Хоча сервер, що не відповідає, може бути великою проблемою, першопричину невідповідності можна легко визначити. Зазвичай ви можете визначити, що пішло не так, за повідомленнями про помилки, отриманими в результаті запиту. Давайте розглянемо деякі поради щодо усунення несправностей, які допоможуть вам налагодити, чому сервер API не надіслав відповідь і код статусу HTTP, а також деякі потенційні способи вирішення проблеми. </a:t>
            </a:r>
            <a:endParaRPr lang="uk-UA" sz="1800" b="1" dirty="0">
              <a:effectLst/>
            </a:endParaRPr>
          </a:p>
          <a:p>
            <a:pPr marL="0" indent="0">
              <a:buNone/>
            </a:pPr>
            <a:r>
              <a:rPr lang="uk-UA" sz="1800" b="1" dirty="0">
                <a:solidFill>
                  <a:srgbClr val="0070C0"/>
                </a:solidFill>
                <a:effectLst/>
              </a:rPr>
              <a:t>Помилка на боці клієнта</a:t>
            </a:r>
            <a:endParaRPr lang="en-US" sz="1800" dirty="0">
              <a:solidFill>
                <a:srgbClr val="0070C0"/>
              </a:solidFill>
              <a:effectLst/>
            </a:endParaRPr>
          </a:p>
          <a:p>
            <a:pPr marL="0" indent="0">
              <a:buNone/>
            </a:pPr>
            <a:r>
              <a:rPr lang="ru-RU" sz="1800" dirty="0"/>
              <a:t>Перше, що потрібно перевірити, це чи є у вас помилка на стороні клієнта; саме тут ви маєте більше контролю щодо вирішення проблеми. </a:t>
            </a:r>
            <a:endParaRPr lang="uk-UA" sz="1800" b="1" dirty="0">
              <a:effectLst/>
            </a:endParaRPr>
          </a:p>
          <a:p>
            <a:pPr marL="0" indent="0">
              <a:buNone/>
            </a:pPr>
            <a:r>
              <a:rPr lang="uk-UA" sz="1800" b="1" dirty="0">
                <a:solidFill>
                  <a:srgbClr val="0070C0"/>
                </a:solidFill>
                <a:effectLst/>
              </a:rPr>
              <a:t>Чи є помилка від користувача</a:t>
            </a:r>
            <a:r>
              <a:rPr lang="en-US" sz="1800" b="1" dirty="0">
                <a:solidFill>
                  <a:srgbClr val="0070C0"/>
                </a:solidFill>
                <a:effectLst/>
              </a:rPr>
              <a:t>?</a:t>
            </a:r>
            <a:endParaRPr lang="en-US" sz="1800" dirty="0">
              <a:solidFill>
                <a:srgbClr val="0070C0"/>
              </a:solidFill>
              <a:effectLst/>
            </a:endParaRPr>
          </a:p>
          <a:p>
            <a:pPr marL="0" indent="0">
              <a:buNone/>
            </a:pPr>
            <a:r>
              <a:rPr lang="uk-UA" sz="1800" dirty="0"/>
              <a:t>Деякі запитання, які потрібно задати, щоб ізолювати помилки від користувача, включають: Чи правильний URI? Чи працював цей запит раніше? Під час першого використання REST API часто трапляється помилковий введення URI. Перевірте довідковий посібник API для цього конкретного API, щоб переконатися, що URI запиту правильний</a:t>
            </a:r>
            <a:r>
              <a:rPr lang="en-US" sz="1800" dirty="0">
                <a:effectLst/>
              </a:rPr>
              <a:t>.</a:t>
            </a:r>
          </a:p>
          <a:p>
            <a:pPr marL="0" indent="0">
              <a:buNone/>
            </a:pPr>
            <a:endParaRPr lang="uk-UA" sz="1800" dirty="0"/>
          </a:p>
        </p:txBody>
      </p:sp>
    </p:spTree>
    <p:extLst>
      <p:ext uri="{BB962C8B-B14F-4D97-AF65-F5344CB8AC3E}">
        <p14:creationId xmlns:p14="http://schemas.microsoft.com/office/powerpoint/2010/main" val="19709681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5925" y="932413"/>
            <a:ext cx="11497901" cy="5685670"/>
          </a:xfrm>
        </p:spPr>
        <p:txBody>
          <a:bodyPr>
            <a:normAutofit/>
          </a:bodyPr>
          <a:lstStyle/>
          <a:p>
            <a:pPr marL="0" indent="0">
              <a:buNone/>
            </a:pPr>
            <a:r>
              <a:rPr lang="uk-UA" sz="1800" b="1" dirty="0"/>
              <a:t>Приклад неправильного</a:t>
            </a:r>
            <a:r>
              <a:rPr lang="en-US" sz="1800" b="1" dirty="0">
                <a:effectLst/>
              </a:rPr>
              <a:t> URI example</a:t>
            </a:r>
            <a:endParaRPr lang="en-US" sz="1800" dirty="0">
              <a:effectLst/>
            </a:endParaRPr>
          </a:p>
          <a:p>
            <a:pPr marL="0" indent="0">
              <a:buNone/>
            </a:pPr>
            <a:r>
              <a:rPr lang="uk-UA" sz="1800" dirty="0"/>
              <a:t>Щоб перевірити недійсну умову </a:t>
            </a:r>
            <a:r>
              <a:rPr lang="en-US" sz="1800" dirty="0"/>
              <a:t>URI, </a:t>
            </a:r>
            <a:r>
              <a:rPr lang="uk-UA" sz="1800" dirty="0"/>
              <a:t>запустіть такий сценарій, як цей, який просто робить запит до </a:t>
            </a:r>
            <a:r>
              <a:rPr lang="en-US" sz="1800" dirty="0"/>
              <a:t>URI, </a:t>
            </a:r>
            <a:r>
              <a:rPr lang="uk-UA" sz="1800" dirty="0"/>
              <a:t>у якому відсутня схема. Ви можете створити файл </a:t>
            </a:r>
            <a:r>
              <a:rPr lang="en-US" sz="1800" dirty="0"/>
              <a:t>Python </a:t>
            </a:r>
            <a:r>
              <a:rPr lang="uk-UA" sz="1800" dirty="0"/>
              <a:t>або запустити його безпосередньо в інтерпретаторі </a:t>
            </a:r>
            <a:r>
              <a:rPr lang="en-US" sz="1800" dirty="0"/>
              <a:t>Python. </a:t>
            </a:r>
            <a:endParaRPr lang="uk-UA" sz="1800" dirty="0"/>
          </a:p>
          <a:p>
            <a:pPr marL="0" indent="0">
              <a:buNone/>
            </a:pPr>
            <a:endParaRPr lang="ru-RU" sz="1800" dirty="0"/>
          </a:p>
          <a:p>
            <a:pPr marL="0" indent="0">
              <a:buNone/>
            </a:pPr>
            <a:endParaRPr lang="ru-RU" sz="1800" dirty="0">
              <a:effectLst/>
            </a:endParaRPr>
          </a:p>
          <a:p>
            <a:pPr marL="0" indent="0">
              <a:buNone/>
            </a:pPr>
            <a:endParaRPr lang="ru-RU" sz="1800" dirty="0"/>
          </a:p>
          <a:p>
            <a:pPr marL="0" indent="0">
              <a:buNone/>
            </a:pPr>
            <a:r>
              <a:rPr lang="en-US" sz="1800" dirty="0"/>
              <a:t>Traceback </a:t>
            </a:r>
            <a:r>
              <a:rPr lang="uk-UA" sz="1800" dirty="0"/>
              <a:t>видасть наступну відповідь</a:t>
            </a:r>
            <a:r>
              <a:rPr lang="en-US" sz="1800" dirty="0"/>
              <a:t>:</a:t>
            </a:r>
            <a:endParaRPr lang="ru-RU" sz="1800" dirty="0"/>
          </a:p>
          <a:p>
            <a:pPr marL="0" indent="0">
              <a:buNone/>
            </a:pPr>
            <a:endParaRPr lang="ru-RU" sz="1800" dirty="0">
              <a:effectLst/>
            </a:endParaRPr>
          </a:p>
          <a:p>
            <a:pPr marL="0" indent="0">
              <a:buNone/>
            </a:pPr>
            <a:endParaRPr lang="ru-RU" sz="1800" dirty="0"/>
          </a:p>
          <a:p>
            <a:pPr marL="0" indent="0">
              <a:buNone/>
            </a:pPr>
            <a:r>
              <a:rPr lang="uk-UA" sz="1800" b="1" dirty="0">
                <a:effectLst/>
              </a:rPr>
              <a:t>Приклад неправильного </a:t>
            </a:r>
            <a:r>
              <a:rPr lang="en-US" sz="1800" b="1" dirty="0">
                <a:effectLst/>
              </a:rPr>
              <a:t>domain name </a:t>
            </a:r>
            <a:endParaRPr lang="uk-UA" sz="1800" b="1" dirty="0">
              <a:effectLst/>
            </a:endParaRPr>
          </a:p>
          <a:p>
            <a:pPr marL="0" indent="0">
              <a:buNone/>
            </a:pPr>
            <a:r>
              <a:rPr lang="uk-UA" sz="1800" dirty="0"/>
              <a:t>Щоб перевірити неправильну умову доменного імені, запустіть такий сценарій, як цей, який просто робить запит до URI з неправильним ім’ям домену.</a:t>
            </a:r>
            <a:endParaRPr lang="en-US" sz="1800" dirty="0">
              <a:effectLst/>
            </a:endParaRPr>
          </a:p>
          <a:p>
            <a:pPr marL="0" indent="0">
              <a:buNone/>
            </a:pPr>
            <a:endParaRPr lang="ru-RU" sz="1800" dirty="0">
              <a:effectLst/>
            </a:endParaRPr>
          </a:p>
          <a:p>
            <a:pPr marL="0" indent="0">
              <a:buNone/>
            </a:pPr>
            <a:endParaRPr lang="en-US" sz="1800" dirty="0">
              <a:effectLst/>
            </a:endParaRPr>
          </a:p>
          <a:p>
            <a:pPr marL="0" indent="0">
              <a:buNone/>
            </a:pPr>
            <a:endParaRPr lang="uk-UA" sz="1800" dirty="0"/>
          </a:p>
        </p:txBody>
      </p:sp>
      <p:pic>
        <p:nvPicPr>
          <p:cNvPr id="2" name="Picture 1"/>
          <p:cNvPicPr>
            <a:picLocks noChangeAspect="1"/>
          </p:cNvPicPr>
          <p:nvPr/>
        </p:nvPicPr>
        <p:blipFill>
          <a:blip r:embed="rId2"/>
          <a:srcRect l="2236" t="13064" r="1526" b="6454"/>
          <a:stretch/>
        </p:blipFill>
        <p:spPr>
          <a:xfrm>
            <a:off x="870755" y="2225441"/>
            <a:ext cx="9368325" cy="781919"/>
          </a:xfrm>
          <a:prstGeom prst="rect">
            <a:avLst/>
          </a:prstGeom>
        </p:spPr>
      </p:pic>
      <p:pic>
        <p:nvPicPr>
          <p:cNvPr id="4" name="Picture 3"/>
          <p:cNvPicPr>
            <a:picLocks noChangeAspect="1"/>
          </p:cNvPicPr>
          <p:nvPr/>
        </p:nvPicPr>
        <p:blipFill>
          <a:blip r:embed="rId3"/>
          <a:srcRect l="747" t="10297" r="1924" b="9222"/>
          <a:stretch/>
        </p:blipFill>
        <p:spPr>
          <a:xfrm>
            <a:off x="870755" y="3604143"/>
            <a:ext cx="9437370" cy="781919"/>
          </a:xfrm>
          <a:prstGeom prst="rect">
            <a:avLst/>
          </a:prstGeom>
        </p:spPr>
      </p:pic>
      <p:pic>
        <p:nvPicPr>
          <p:cNvPr id="5" name="Picture 4"/>
          <p:cNvPicPr>
            <a:picLocks noChangeAspect="1"/>
          </p:cNvPicPr>
          <p:nvPr/>
        </p:nvPicPr>
        <p:blipFill>
          <a:blip r:embed="rId4"/>
          <a:srcRect l="1526" t="8739" r="1526" b="13816"/>
          <a:stretch/>
        </p:blipFill>
        <p:spPr>
          <a:xfrm>
            <a:off x="870755" y="5474761"/>
            <a:ext cx="9437370" cy="781919"/>
          </a:xfrm>
          <a:prstGeom prst="rect">
            <a:avLst/>
          </a:prstGeom>
        </p:spPr>
      </p:pic>
      <p:sp>
        <p:nvSpPr>
          <p:cNvPr id="8" name="Заголовок 1">
            <a:extLst>
              <a:ext uri="{FF2B5EF4-FFF2-40B4-BE49-F238E27FC236}">
                <a16:creationId xmlns:a16="http://schemas.microsoft.com/office/drawing/2014/main" id="{704457C0-12C6-03FB-C14F-8E106D73AD1F}"/>
              </a:ext>
            </a:extLst>
          </p:cNvPr>
          <p:cNvSpPr>
            <a:spLocks noGrp="1"/>
          </p:cNvSpPr>
          <p:nvPr>
            <p:ph type="title"/>
          </p:nvPr>
        </p:nvSpPr>
        <p:spPr>
          <a:xfrm>
            <a:off x="2280115" y="412324"/>
            <a:ext cx="9585960" cy="1293028"/>
          </a:xfrm>
        </p:spPr>
        <p:txBody>
          <a:bodyPr>
            <a:normAutofit fontScale="90000"/>
          </a:bodyPr>
          <a:lstStyle/>
          <a:p>
            <a:r>
              <a:rPr lang="uk-UA" sz="4000" b="1" dirty="0"/>
              <a:t>Виправлення помилок у</a:t>
            </a:r>
            <a:r>
              <a:rPr lang="en-US" sz="4000" b="1" dirty="0"/>
              <a:t> REST API </a:t>
            </a:r>
            <a:r>
              <a:rPr lang="uk-UA" sz="4000" b="1" dirty="0"/>
              <a:t>запитах</a:t>
            </a:r>
            <a:br>
              <a:rPr lang="en-US" sz="4000" b="1" dirty="0"/>
            </a:br>
            <a:endParaRPr lang="uk-UA" dirty="0"/>
          </a:p>
        </p:txBody>
      </p:sp>
    </p:spTree>
    <p:extLst>
      <p:ext uri="{BB962C8B-B14F-4D97-AF65-F5344CB8AC3E}">
        <p14:creationId xmlns:p14="http://schemas.microsoft.com/office/powerpoint/2010/main" val="5371992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5925" y="1381760"/>
            <a:ext cx="11497901" cy="5236323"/>
          </a:xfrm>
        </p:spPr>
        <p:txBody>
          <a:bodyPr>
            <a:normAutofit fontScale="92500" lnSpcReduction="10000"/>
          </a:bodyPr>
          <a:lstStyle/>
          <a:p>
            <a:pPr marL="0" indent="0">
              <a:buNone/>
            </a:pPr>
            <a:r>
              <a:rPr lang="en-US" sz="1800" dirty="0" err="1"/>
              <a:t>traceback</a:t>
            </a:r>
            <a:r>
              <a:rPr lang="en-US" sz="1800" dirty="0"/>
              <a:t> </a:t>
            </a:r>
            <a:r>
              <a:rPr lang="uk-UA" sz="1800" dirty="0"/>
              <a:t>видасть наступну відповідь</a:t>
            </a:r>
            <a:r>
              <a:rPr lang="en-US" sz="1800" dirty="0"/>
              <a:t>:</a:t>
            </a:r>
            <a:endParaRPr lang="ru-RU" sz="1800" dirty="0"/>
          </a:p>
          <a:p>
            <a:pPr marL="0" indent="0">
              <a:buNone/>
            </a:pPr>
            <a:endParaRPr lang="ru-RU" sz="1800" dirty="0"/>
          </a:p>
          <a:p>
            <a:pPr marL="0" indent="0">
              <a:buNone/>
            </a:pPr>
            <a:endParaRPr lang="ru-RU" sz="1800" dirty="0"/>
          </a:p>
          <a:p>
            <a:pPr marL="0" indent="0">
              <a:buNone/>
            </a:pPr>
            <a:endParaRPr lang="ru-RU" sz="1800" dirty="0"/>
          </a:p>
          <a:p>
            <a:pPr marL="0" indent="0">
              <a:buNone/>
            </a:pPr>
            <a:endParaRPr lang="ru-RU" sz="1800" dirty="0"/>
          </a:p>
          <a:p>
            <a:pPr marL="0" indent="0">
              <a:buNone/>
            </a:pPr>
            <a:r>
              <a:rPr lang="ru-RU" sz="1800" b="1" dirty="0"/>
              <a:t>Чи є проблема з підключенням? </a:t>
            </a:r>
          </a:p>
          <a:p>
            <a:pPr marL="0" indent="0">
              <a:buNone/>
            </a:pPr>
            <a:r>
              <a:rPr lang="ru-RU" sz="1800" dirty="0"/>
              <a:t>Якщо URI правильний, він все ще може бути недоступним. Задайте ці запитання: </a:t>
            </a:r>
          </a:p>
          <a:p>
            <a:r>
              <a:rPr lang="ru-RU" sz="1800" dirty="0"/>
              <a:t>Чи є проблеми з проксі-сервером, брандмауером або VPN? </a:t>
            </a:r>
          </a:p>
          <a:p>
            <a:r>
              <a:rPr lang="ru-RU" sz="1800" dirty="0"/>
              <a:t>Чи є помилка SSL? </a:t>
            </a:r>
          </a:p>
          <a:p>
            <a:pPr marL="0" indent="0">
              <a:buNone/>
            </a:pPr>
            <a:endParaRPr lang="ru-RU" sz="1800" b="1" dirty="0"/>
          </a:p>
          <a:p>
            <a:pPr marL="0" indent="0">
              <a:buNone/>
            </a:pPr>
            <a:r>
              <a:rPr lang="en-US" sz="1800" b="1" dirty="0"/>
              <a:t>Invalid certificate example</a:t>
            </a:r>
            <a:endParaRPr lang="en-US" sz="1800" dirty="0"/>
          </a:p>
          <a:p>
            <a:pPr marL="0" indent="0">
              <a:buNone/>
            </a:pPr>
            <a:r>
              <a:rPr lang="uk-UA" sz="1800" dirty="0"/>
              <a:t>Ця проблема може виникнути лише у випадку, якщо </a:t>
            </a:r>
            <a:r>
              <a:rPr lang="en-US" sz="1800" dirty="0"/>
              <a:t>URI REST API </a:t>
            </a:r>
            <a:r>
              <a:rPr lang="uk-UA" sz="1800" dirty="0"/>
              <a:t>використовує захищене з'єднання (</a:t>
            </a:r>
            <a:r>
              <a:rPr lang="en-US" sz="1800" dirty="0"/>
              <a:t>HTTPS).</a:t>
            </a:r>
            <a:r>
              <a:rPr lang="uk-UA" sz="1800" dirty="0"/>
              <a:t>Коли схема </a:t>
            </a:r>
            <a:r>
              <a:rPr lang="en-US" sz="1800" dirty="0"/>
              <a:t>URI – HTTPS, </a:t>
            </a:r>
            <a:r>
              <a:rPr lang="uk-UA" sz="1800" dirty="0"/>
              <a:t>з'єднання виконує </a:t>
            </a:r>
            <a:r>
              <a:rPr lang="en-US" sz="1800" dirty="0"/>
              <a:t>SSL-</a:t>
            </a:r>
            <a:r>
              <a:rPr lang="uk-UA" sz="1800" dirty="0"/>
              <a:t>рукостискання між клієнтом і сервером для їхньої взаємної автентифікації. Це рукостискання має пройти успішно, перш ніж запит </a:t>
            </a:r>
            <a:r>
              <a:rPr lang="en-US" sz="1800" dirty="0"/>
              <a:t>REST API </a:t>
            </a:r>
            <a:r>
              <a:rPr lang="uk-UA" sz="1800" dirty="0"/>
              <a:t>буде надісланий на сервер </a:t>
            </a:r>
            <a:r>
              <a:rPr lang="en-US" sz="1800" dirty="0"/>
              <a:t>API.</a:t>
            </a:r>
            <a:endParaRPr lang="uk-UA" sz="1800" dirty="0"/>
          </a:p>
          <a:p>
            <a:pPr marL="0" indent="0">
              <a:buNone/>
            </a:pPr>
            <a:r>
              <a:rPr lang="uk-UA" sz="1800" dirty="0"/>
              <a:t>Якщо використовувати бібліотеку </a:t>
            </a:r>
            <a:r>
              <a:rPr lang="en-US" sz="1800" dirty="0"/>
              <a:t>requests </a:t>
            </a:r>
            <a:r>
              <a:rPr lang="uk-UA" sz="1800" dirty="0"/>
              <a:t>у </a:t>
            </a:r>
            <a:r>
              <a:rPr lang="en-US" sz="1800" dirty="0"/>
              <a:t>Python </a:t>
            </a:r>
            <a:r>
              <a:rPr lang="uk-UA" sz="1800" dirty="0"/>
              <a:t>для виконання запиту </a:t>
            </a:r>
            <a:r>
              <a:rPr lang="en-US" sz="1800" dirty="0"/>
              <a:t>REST API </a:t>
            </a:r>
            <a:r>
              <a:rPr lang="uk-UA" sz="1800" dirty="0"/>
              <a:t>і </a:t>
            </a:r>
            <a:r>
              <a:rPr lang="en-US" sz="1800" dirty="0"/>
              <a:t>SSL-</a:t>
            </a:r>
            <a:r>
              <a:rPr lang="uk-UA" sz="1800" dirty="0"/>
              <a:t>рукостискання не вдається, у трасуванні помилки (</a:t>
            </a:r>
            <a:r>
              <a:rPr lang="en-US" sz="1800" dirty="0"/>
              <a:t>traceback) </a:t>
            </a:r>
            <a:r>
              <a:rPr lang="uk-UA" sz="1800" dirty="0"/>
              <a:t>буде міститися </a:t>
            </a:r>
            <a:r>
              <a:rPr lang="en-US" sz="1800" dirty="0" err="1"/>
              <a:t>requests.exceptions.SSLError</a:t>
            </a:r>
            <a:r>
              <a:rPr lang="en-US" sz="1800" dirty="0"/>
              <a:t>.</a:t>
            </a:r>
          </a:p>
        </p:txBody>
      </p:sp>
      <p:pic>
        <p:nvPicPr>
          <p:cNvPr id="2" name="Picture 1"/>
          <p:cNvPicPr>
            <a:picLocks noChangeAspect="1"/>
          </p:cNvPicPr>
          <p:nvPr/>
        </p:nvPicPr>
        <p:blipFill>
          <a:blip r:embed="rId2"/>
          <a:srcRect l="1156" t="10101" r="1092" b="9091"/>
          <a:stretch/>
        </p:blipFill>
        <p:spPr>
          <a:xfrm>
            <a:off x="381000" y="1752601"/>
            <a:ext cx="9469120" cy="1016001"/>
          </a:xfrm>
          <a:prstGeom prst="rect">
            <a:avLst/>
          </a:prstGeom>
        </p:spPr>
      </p:pic>
      <p:sp>
        <p:nvSpPr>
          <p:cNvPr id="4" name="Заголовок 1">
            <a:extLst>
              <a:ext uri="{FF2B5EF4-FFF2-40B4-BE49-F238E27FC236}">
                <a16:creationId xmlns:a16="http://schemas.microsoft.com/office/drawing/2014/main" id="{67954895-1EA7-CD5B-C06C-E2D3FB31754F}"/>
              </a:ext>
            </a:extLst>
          </p:cNvPr>
          <p:cNvSpPr>
            <a:spLocks noGrp="1"/>
          </p:cNvSpPr>
          <p:nvPr>
            <p:ph type="title"/>
          </p:nvPr>
        </p:nvSpPr>
        <p:spPr>
          <a:xfrm>
            <a:off x="3200400" y="459573"/>
            <a:ext cx="8610600" cy="1293028"/>
          </a:xfrm>
        </p:spPr>
        <p:txBody>
          <a:bodyPr>
            <a:normAutofit fontScale="90000"/>
          </a:bodyPr>
          <a:lstStyle/>
          <a:p>
            <a:r>
              <a:rPr lang="uk-UA" sz="4000" b="1" dirty="0"/>
              <a:t>Виправлення помилок у</a:t>
            </a:r>
            <a:r>
              <a:rPr lang="en-US" sz="4000" b="1" dirty="0"/>
              <a:t> REST API </a:t>
            </a:r>
            <a:r>
              <a:rPr lang="uk-UA" sz="4000" b="1" dirty="0"/>
              <a:t>запитах</a:t>
            </a:r>
            <a:br>
              <a:rPr lang="en-US" sz="4000" b="1" dirty="0"/>
            </a:br>
            <a:endParaRPr lang="uk-UA" dirty="0"/>
          </a:p>
        </p:txBody>
      </p:sp>
    </p:spTree>
    <p:extLst>
      <p:ext uri="{BB962C8B-B14F-4D97-AF65-F5344CB8AC3E}">
        <p14:creationId xmlns:p14="http://schemas.microsoft.com/office/powerpoint/2010/main" val="16436958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7290" y="1440004"/>
            <a:ext cx="11642756" cy="5214796"/>
          </a:xfrm>
        </p:spPr>
        <p:txBody>
          <a:bodyPr>
            <a:normAutofit/>
          </a:bodyPr>
          <a:lstStyle/>
          <a:p>
            <a:pPr marL="0" indent="0">
              <a:buNone/>
            </a:pPr>
            <a:r>
              <a:rPr lang="uk-UA" sz="1800" dirty="0"/>
              <a:t>Наприклад, якщо SSL </a:t>
            </a:r>
            <a:r>
              <a:rPr lang="en-US" sz="1800" dirty="0"/>
              <a:t>handshake </a:t>
            </a:r>
            <a:r>
              <a:rPr lang="uk-UA" sz="1800" dirty="0"/>
              <a:t>не вдається через помилку перевірки сертифіката</a:t>
            </a:r>
            <a:r>
              <a:rPr lang="en-US" sz="1800" dirty="0"/>
              <a:t>, </a:t>
            </a:r>
            <a:r>
              <a:rPr lang="uk-UA" sz="1800" dirty="0"/>
              <a:t>то</a:t>
            </a:r>
            <a:r>
              <a:rPr lang="en-US" sz="1800" dirty="0"/>
              <a:t> </a:t>
            </a:r>
            <a:r>
              <a:rPr lang="en-US" sz="1800" dirty="0" err="1"/>
              <a:t>traceback</a:t>
            </a:r>
            <a:r>
              <a:rPr lang="en-US" sz="1800" dirty="0"/>
              <a:t> </a:t>
            </a:r>
            <a:r>
              <a:rPr lang="uk-UA" sz="1800" dirty="0"/>
              <a:t>видасть наступне</a:t>
            </a:r>
            <a:r>
              <a:rPr lang="en-US" sz="1800" dirty="0"/>
              <a:t>:</a:t>
            </a:r>
          </a:p>
          <a:p>
            <a:pPr marL="0" indent="0">
              <a:buNone/>
            </a:pPr>
            <a:endParaRPr lang="en-US" sz="1800" dirty="0"/>
          </a:p>
          <a:p>
            <a:pPr marL="0" indent="0">
              <a:buNone/>
            </a:pPr>
            <a:endParaRPr lang="en-US" sz="1800" dirty="0"/>
          </a:p>
          <a:p>
            <a:pPr marL="0" indent="0">
              <a:buNone/>
            </a:pPr>
            <a:endParaRPr lang="en-US" sz="1800" dirty="0"/>
          </a:p>
          <a:p>
            <a:pPr marL="0" indent="0">
              <a:buNone/>
            </a:pPr>
            <a:endParaRPr lang="uk-UA" sz="1800" dirty="0"/>
          </a:p>
          <a:p>
            <a:pPr marL="0" indent="0">
              <a:buNone/>
            </a:pPr>
            <a:r>
              <a:rPr lang="uk-UA" sz="1800" dirty="0"/>
              <a:t>У цій ситуації необхідно виправити недійсний сертифікат. Але якщо ви працюєте в лабораторному середовищі, де сертифікати ще не дійсні, ви можете вимкнути параметр перевірки сертифіката. </a:t>
            </a:r>
          </a:p>
          <a:p>
            <a:pPr marL="0" indent="0">
              <a:buNone/>
            </a:pPr>
            <a:r>
              <a:rPr lang="uk-UA" sz="1800" dirty="0"/>
              <a:t>Щоб вимкнути його для бібліотеки </a:t>
            </a:r>
            <a:r>
              <a:rPr lang="en-US" sz="1800" dirty="0"/>
              <a:t>requests </a:t>
            </a:r>
            <a:r>
              <a:rPr lang="ru-RU" sz="1800" dirty="0"/>
              <a:t>в </a:t>
            </a:r>
            <a:r>
              <a:rPr lang="en-US" sz="1800" dirty="0"/>
              <a:t>Python, </a:t>
            </a:r>
            <a:r>
              <a:rPr lang="uk-UA" sz="1800" dirty="0"/>
              <a:t>додайте параметр </a:t>
            </a:r>
            <a:r>
              <a:rPr lang="en-US" sz="1800" dirty="0"/>
              <a:t>verify </a:t>
            </a:r>
            <a:r>
              <a:rPr lang="uk-UA" sz="1800" dirty="0"/>
              <a:t>до запиту. </a:t>
            </a:r>
            <a:endParaRPr lang="ru-RU" sz="1800" b="1" dirty="0"/>
          </a:p>
          <a:p>
            <a:pPr marL="0" indent="0">
              <a:buNone/>
            </a:pPr>
            <a:endParaRPr lang="ru-RU" sz="1800" b="1" dirty="0"/>
          </a:p>
          <a:p>
            <a:pPr marL="0" indent="0">
              <a:buNone/>
            </a:pPr>
            <a:endParaRPr lang="ru-RU" sz="1800" b="1" dirty="0"/>
          </a:p>
          <a:p>
            <a:pPr marL="0" indent="0">
              <a:buNone/>
            </a:pPr>
            <a:r>
              <a:rPr lang="ru-RU" sz="1800" b="1" dirty="0"/>
              <a:t>Вирішення</a:t>
            </a:r>
            <a:r>
              <a:rPr lang="ru-RU" sz="1800" dirty="0"/>
              <a:t>: помилки клієнта зазвичай легко виправити, особливо коли повідомлення про помилки в зворотному відстеженні вказують, що може бути не так і можливе рішення. Уважно проаналізуйте логи на предмет першопричини. </a:t>
            </a:r>
          </a:p>
          <a:p>
            <a:pPr marL="0" indent="0">
              <a:buNone/>
            </a:pPr>
            <a:endParaRPr lang="en-US" sz="1800" dirty="0">
              <a:effectLst/>
            </a:endParaRPr>
          </a:p>
          <a:p>
            <a:pPr marL="0" indent="0">
              <a:buNone/>
            </a:pPr>
            <a:endParaRPr lang="en-US" sz="1800" dirty="0"/>
          </a:p>
          <a:p>
            <a:pPr marL="0" indent="0">
              <a:buNone/>
            </a:pPr>
            <a:endParaRPr lang="uk-UA" sz="1800" dirty="0"/>
          </a:p>
        </p:txBody>
      </p:sp>
      <p:pic>
        <p:nvPicPr>
          <p:cNvPr id="2" name="Picture 1"/>
          <p:cNvPicPr>
            <a:picLocks noChangeAspect="1"/>
          </p:cNvPicPr>
          <p:nvPr/>
        </p:nvPicPr>
        <p:blipFill>
          <a:blip r:embed="rId2"/>
          <a:srcRect l="652" t="10196" r="2197" b="12642"/>
          <a:stretch/>
        </p:blipFill>
        <p:spPr>
          <a:xfrm>
            <a:off x="609601" y="2377439"/>
            <a:ext cx="8991600" cy="883921"/>
          </a:xfrm>
          <a:prstGeom prst="rect">
            <a:avLst/>
          </a:prstGeom>
        </p:spPr>
      </p:pic>
      <p:pic>
        <p:nvPicPr>
          <p:cNvPr id="4" name="Picture 3"/>
          <p:cNvPicPr>
            <a:picLocks noChangeAspect="1"/>
          </p:cNvPicPr>
          <p:nvPr/>
        </p:nvPicPr>
        <p:blipFill>
          <a:blip r:embed="rId3"/>
          <a:srcRect l="1011" t="23028" r="2981" b="20731"/>
          <a:stretch/>
        </p:blipFill>
        <p:spPr>
          <a:xfrm>
            <a:off x="609601" y="4947919"/>
            <a:ext cx="8006081" cy="264160"/>
          </a:xfrm>
          <a:prstGeom prst="rect">
            <a:avLst/>
          </a:prstGeom>
        </p:spPr>
      </p:pic>
      <p:sp>
        <p:nvSpPr>
          <p:cNvPr id="5" name="Заголовок 1">
            <a:extLst>
              <a:ext uri="{FF2B5EF4-FFF2-40B4-BE49-F238E27FC236}">
                <a16:creationId xmlns:a16="http://schemas.microsoft.com/office/drawing/2014/main" id="{E756378B-589E-0477-B993-27E4DBED786F}"/>
              </a:ext>
            </a:extLst>
          </p:cNvPr>
          <p:cNvSpPr>
            <a:spLocks noGrp="1"/>
          </p:cNvSpPr>
          <p:nvPr>
            <p:ph type="title"/>
          </p:nvPr>
        </p:nvSpPr>
        <p:spPr>
          <a:xfrm>
            <a:off x="3200400" y="459573"/>
            <a:ext cx="8610600" cy="1293028"/>
          </a:xfrm>
        </p:spPr>
        <p:txBody>
          <a:bodyPr>
            <a:normAutofit fontScale="90000"/>
          </a:bodyPr>
          <a:lstStyle/>
          <a:p>
            <a:r>
              <a:rPr lang="uk-UA" sz="4000" b="1" dirty="0"/>
              <a:t>Виправлення помилок у</a:t>
            </a:r>
            <a:r>
              <a:rPr lang="en-US" sz="4000" b="1" dirty="0"/>
              <a:t> REST API </a:t>
            </a:r>
            <a:r>
              <a:rPr lang="uk-UA" sz="4000" b="1" dirty="0"/>
              <a:t>запитах</a:t>
            </a:r>
            <a:br>
              <a:rPr lang="en-US" sz="4000" b="1" dirty="0"/>
            </a:br>
            <a:endParaRPr lang="uk-UA" dirty="0"/>
          </a:p>
        </p:txBody>
      </p:sp>
    </p:spTree>
    <p:extLst>
      <p:ext uri="{BB962C8B-B14F-4D97-AF65-F5344CB8AC3E}">
        <p14:creationId xmlns:p14="http://schemas.microsoft.com/office/powerpoint/2010/main" val="18014343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527" y="1832162"/>
            <a:ext cx="10750236" cy="4647603"/>
          </a:xfrm>
        </p:spPr>
        <p:txBody>
          <a:bodyPr>
            <a:normAutofit/>
          </a:bodyPr>
          <a:lstStyle/>
          <a:p>
            <a:pPr marL="0" indent="0">
              <a:buNone/>
            </a:pPr>
            <a:r>
              <a:rPr lang="uk-UA" sz="1800" b="1" dirty="0"/>
              <a:t>Помилка на боці сервера</a:t>
            </a:r>
            <a:endParaRPr lang="en-US" sz="1800" dirty="0"/>
          </a:p>
          <a:p>
            <a:pPr marL="0" indent="0">
              <a:buNone/>
            </a:pPr>
            <a:r>
              <a:rPr lang="uk-UA" sz="1800" dirty="0"/>
              <a:t>Після того, як ви переконаєтеся, що немає жодних помилок на стороні клієнта, наступне, що потрібно перевірити, це помилки на стороні сервера</a:t>
            </a:r>
          </a:p>
          <a:p>
            <a:pPr marL="0" indent="0">
              <a:buNone/>
            </a:pPr>
            <a:endParaRPr lang="ru-RU" sz="1800" b="1" dirty="0"/>
          </a:p>
          <a:p>
            <a:pPr marL="0" indent="0">
              <a:buNone/>
            </a:pPr>
            <a:r>
              <a:rPr lang="ru-RU" sz="1800" b="1" dirty="0"/>
              <a:t>Чи правює взагалі </a:t>
            </a:r>
            <a:r>
              <a:rPr lang="en-US" sz="1800" b="1" dirty="0"/>
              <a:t>API server?</a:t>
            </a:r>
            <a:endParaRPr lang="en-US" sz="1800" dirty="0"/>
          </a:p>
          <a:p>
            <a:pPr marL="0" indent="0">
              <a:buNone/>
            </a:pPr>
            <a:r>
              <a:rPr lang="ru-RU" sz="1800" dirty="0"/>
              <a:t>Найочевидніший момент для початку — переконатися, що сам сервер API функціонує належним чином. </a:t>
            </a:r>
          </a:p>
          <a:p>
            <a:pPr marL="0" indent="0">
              <a:buNone/>
            </a:pPr>
            <a:endParaRPr lang="ru-RU" sz="1800" dirty="0"/>
          </a:p>
          <a:p>
            <a:pPr marL="0" indent="0">
              <a:buNone/>
            </a:pPr>
            <a:r>
              <a:rPr lang="ru-RU" sz="1800" dirty="0"/>
              <a:t>Є кілька речей, які потрібно перевірити: </a:t>
            </a:r>
          </a:p>
          <a:p>
            <a:r>
              <a:rPr lang="ru-RU" sz="1800" dirty="0"/>
              <a:t>Чи ввімкнено живлення? </a:t>
            </a:r>
          </a:p>
          <a:p>
            <a:r>
              <a:rPr lang="ru-RU" sz="1800" dirty="0"/>
              <a:t>Чи немає проблем з кабелем? </a:t>
            </a:r>
          </a:p>
          <a:p>
            <a:r>
              <a:rPr lang="ru-RU" sz="1800" dirty="0"/>
              <a:t>Чи не змінилося доменне ім'я? </a:t>
            </a:r>
          </a:p>
          <a:p>
            <a:r>
              <a:rPr lang="ru-RU" sz="1800" dirty="0"/>
              <a:t>Мережа взагалі працює? </a:t>
            </a:r>
            <a:endParaRPr lang="uk-UA" sz="1600" dirty="0"/>
          </a:p>
        </p:txBody>
      </p:sp>
      <p:sp>
        <p:nvSpPr>
          <p:cNvPr id="2" name="Заголовок 1">
            <a:extLst>
              <a:ext uri="{FF2B5EF4-FFF2-40B4-BE49-F238E27FC236}">
                <a16:creationId xmlns:a16="http://schemas.microsoft.com/office/drawing/2014/main" id="{D92F2A43-2DAF-EA02-1760-B0E6ED192A57}"/>
              </a:ext>
            </a:extLst>
          </p:cNvPr>
          <p:cNvSpPr>
            <a:spLocks noGrp="1"/>
          </p:cNvSpPr>
          <p:nvPr>
            <p:ph type="title"/>
          </p:nvPr>
        </p:nvSpPr>
        <p:spPr>
          <a:xfrm>
            <a:off x="3200400" y="459573"/>
            <a:ext cx="8610600" cy="1293028"/>
          </a:xfrm>
        </p:spPr>
        <p:txBody>
          <a:bodyPr>
            <a:normAutofit fontScale="90000"/>
          </a:bodyPr>
          <a:lstStyle/>
          <a:p>
            <a:r>
              <a:rPr lang="uk-UA" sz="4000" b="1" dirty="0"/>
              <a:t>Виправлення помилок у</a:t>
            </a:r>
            <a:r>
              <a:rPr lang="en-US" sz="4000" b="1" dirty="0"/>
              <a:t> REST API </a:t>
            </a:r>
            <a:r>
              <a:rPr lang="uk-UA" sz="4000" b="1" dirty="0"/>
              <a:t>запитах</a:t>
            </a:r>
            <a:br>
              <a:rPr lang="en-US" sz="4000" b="1" dirty="0"/>
            </a:br>
            <a:endParaRPr lang="uk-UA" dirty="0"/>
          </a:p>
        </p:txBody>
      </p:sp>
    </p:spTree>
    <p:extLst>
      <p:ext uri="{BB962C8B-B14F-4D97-AF65-F5344CB8AC3E}">
        <p14:creationId xmlns:p14="http://schemas.microsoft.com/office/powerpoint/2010/main" val="42254178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2563" y="1762558"/>
            <a:ext cx="11497901" cy="3798230"/>
          </a:xfrm>
        </p:spPr>
        <p:txBody>
          <a:bodyPr>
            <a:normAutofit/>
          </a:bodyPr>
          <a:lstStyle/>
          <a:p>
            <a:pPr marL="0" indent="0">
              <a:buNone/>
            </a:pPr>
            <a:r>
              <a:rPr lang="uk-UA" sz="1700" dirty="0"/>
              <a:t>Щоб перевірити, чи доступна </a:t>
            </a:r>
            <a:r>
              <a:rPr lang="en-US" sz="1700" dirty="0"/>
              <a:t>IP-</a:t>
            </a:r>
            <a:r>
              <a:rPr lang="uk-UA" sz="1700" dirty="0"/>
              <a:t>адреса, запустіть такий сценарій, як цей, який просто робить запит до </a:t>
            </a:r>
            <a:r>
              <a:rPr lang="en-US" sz="1700" dirty="0"/>
              <a:t>URL-</a:t>
            </a:r>
            <a:r>
              <a:rPr lang="uk-UA" sz="1700" dirty="0"/>
              <a:t>адреси та чекає відповіді. **Попередження**: очікуйте велику затримку під час запуску цього сценарію. </a:t>
            </a:r>
          </a:p>
          <a:p>
            <a:pPr marL="0" indent="0">
              <a:buNone/>
            </a:pPr>
            <a:endParaRPr lang="uk-UA" sz="1700" dirty="0"/>
          </a:p>
          <a:p>
            <a:pPr marL="0" indent="0">
              <a:buNone/>
            </a:pPr>
            <a:endParaRPr lang="en-US" sz="1700" dirty="0"/>
          </a:p>
          <a:p>
            <a:pPr marL="0" indent="0">
              <a:buNone/>
            </a:pPr>
            <a:endParaRPr lang="en-US" sz="1800" dirty="0"/>
          </a:p>
          <a:p>
            <a:pPr marL="0" indent="0">
              <a:buNone/>
            </a:pPr>
            <a:endParaRPr lang="en-US" sz="1800" dirty="0"/>
          </a:p>
          <a:p>
            <a:pPr marL="0" indent="0">
              <a:buNone/>
            </a:pPr>
            <a:r>
              <a:rPr lang="uk-UA" sz="1800" b="1" dirty="0"/>
              <a:t>Примітка</a:t>
            </a:r>
            <a:r>
              <a:rPr lang="uk-UA" sz="1800" dirty="0"/>
              <a:t>: </a:t>
            </a:r>
            <a:r>
              <a:rPr lang="en-US" sz="1800" dirty="0"/>
              <a:t>IP-</a:t>
            </a:r>
            <a:r>
              <a:rPr lang="uk-UA" sz="1800" dirty="0"/>
              <a:t>адреса в цьому сценарії є фіктивною, але сценарій дає той самий результат, що й сервер, який недоступний. Якщо сервер </a:t>
            </a:r>
            <a:r>
              <a:rPr lang="en-US" sz="1800" dirty="0"/>
              <a:t>API </a:t>
            </a:r>
            <a:r>
              <a:rPr lang="uk-UA" sz="1800" dirty="0"/>
              <a:t>не функціонує, ви отримаєте довге мовчання, за яким слідує </a:t>
            </a:r>
            <a:r>
              <a:rPr lang="en-US" sz="1800" dirty="0" err="1"/>
              <a:t>traceback</a:t>
            </a:r>
            <a:r>
              <a:rPr lang="uk-UA" sz="1800" dirty="0"/>
              <a:t>, яке виглядає так: </a:t>
            </a:r>
            <a:endParaRPr lang="en-US" sz="1800" dirty="0">
              <a:effectLst/>
            </a:endParaRPr>
          </a:p>
          <a:p>
            <a:pPr marL="0" indent="0">
              <a:buNone/>
            </a:pPr>
            <a:endParaRPr lang="en-US" sz="1800" dirty="0"/>
          </a:p>
          <a:p>
            <a:pPr marL="0" indent="0">
              <a:buNone/>
            </a:pPr>
            <a:endParaRPr lang="en-US" sz="1800" b="1" dirty="0">
              <a:effectLst/>
            </a:endParaRPr>
          </a:p>
          <a:p>
            <a:pPr marL="0" indent="0">
              <a:buNone/>
            </a:pPr>
            <a:endParaRPr lang="en-US" sz="1800" b="1" dirty="0"/>
          </a:p>
        </p:txBody>
      </p:sp>
      <p:pic>
        <p:nvPicPr>
          <p:cNvPr id="2" name="Picture 1"/>
          <p:cNvPicPr>
            <a:picLocks noChangeAspect="1"/>
          </p:cNvPicPr>
          <p:nvPr/>
        </p:nvPicPr>
        <p:blipFill>
          <a:blip r:embed="rId2"/>
          <a:srcRect l="1256" t="7555" r="606" b="10876"/>
          <a:stretch/>
        </p:blipFill>
        <p:spPr>
          <a:xfrm>
            <a:off x="995680" y="2763519"/>
            <a:ext cx="9469120" cy="792481"/>
          </a:xfrm>
          <a:prstGeom prst="rect">
            <a:avLst/>
          </a:prstGeom>
        </p:spPr>
      </p:pic>
      <p:pic>
        <p:nvPicPr>
          <p:cNvPr id="5" name="Picture 4"/>
          <p:cNvPicPr>
            <a:picLocks noChangeAspect="1"/>
          </p:cNvPicPr>
          <p:nvPr/>
        </p:nvPicPr>
        <p:blipFill>
          <a:blip r:embed="rId3"/>
          <a:srcRect l="1119" t="11565" r="1338" b="8559"/>
          <a:stretch/>
        </p:blipFill>
        <p:spPr>
          <a:xfrm>
            <a:off x="995680" y="5237302"/>
            <a:ext cx="8371841" cy="883920"/>
          </a:xfrm>
          <a:prstGeom prst="rect">
            <a:avLst/>
          </a:prstGeom>
        </p:spPr>
      </p:pic>
      <p:sp>
        <p:nvSpPr>
          <p:cNvPr id="4" name="Заголовок 1">
            <a:extLst>
              <a:ext uri="{FF2B5EF4-FFF2-40B4-BE49-F238E27FC236}">
                <a16:creationId xmlns:a16="http://schemas.microsoft.com/office/drawing/2014/main" id="{B15EB471-E0AF-F474-8077-F32D5DEC3466}"/>
              </a:ext>
            </a:extLst>
          </p:cNvPr>
          <p:cNvSpPr>
            <a:spLocks noGrp="1"/>
          </p:cNvSpPr>
          <p:nvPr>
            <p:ph type="title"/>
          </p:nvPr>
        </p:nvSpPr>
        <p:spPr>
          <a:xfrm>
            <a:off x="3200400" y="459573"/>
            <a:ext cx="8610600" cy="1293028"/>
          </a:xfrm>
        </p:spPr>
        <p:txBody>
          <a:bodyPr>
            <a:normAutofit fontScale="90000"/>
          </a:bodyPr>
          <a:lstStyle/>
          <a:p>
            <a:r>
              <a:rPr lang="uk-UA" sz="4000" b="1" dirty="0"/>
              <a:t>Виправлення помилок у</a:t>
            </a:r>
            <a:r>
              <a:rPr lang="en-US" sz="4000" b="1" dirty="0"/>
              <a:t> REST API </a:t>
            </a:r>
            <a:r>
              <a:rPr lang="uk-UA" sz="4000" b="1" dirty="0"/>
              <a:t>запитах</a:t>
            </a:r>
            <a:br>
              <a:rPr lang="en-US" sz="4000" b="1" dirty="0"/>
            </a:br>
            <a:endParaRPr lang="uk-UA" dirty="0"/>
          </a:p>
        </p:txBody>
      </p:sp>
    </p:spTree>
    <p:extLst>
      <p:ext uri="{BB962C8B-B14F-4D97-AF65-F5344CB8AC3E}">
        <p14:creationId xmlns:p14="http://schemas.microsoft.com/office/powerpoint/2010/main" val="248220826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62B64-A519-8DC7-6D6C-BB237CBD0EC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4DD826-6401-B6B6-4C22-0C344D5BE4CB}"/>
              </a:ext>
            </a:extLst>
          </p:cNvPr>
          <p:cNvSpPr>
            <a:spLocks noGrp="1"/>
          </p:cNvSpPr>
          <p:nvPr>
            <p:ph idx="1"/>
          </p:nvPr>
        </p:nvSpPr>
        <p:spPr>
          <a:xfrm>
            <a:off x="381000" y="1605280"/>
            <a:ext cx="11497901" cy="5252720"/>
          </a:xfrm>
        </p:spPr>
        <p:txBody>
          <a:bodyPr>
            <a:normAutofit/>
          </a:bodyPr>
          <a:lstStyle/>
          <a:p>
            <a:pPr marL="0" indent="0">
              <a:buNone/>
            </a:pPr>
            <a:r>
              <a:rPr lang="uk-UA" sz="1800" b="1" dirty="0"/>
              <a:t>Чи є проблеми зі зв’язком між сервером </a:t>
            </a:r>
            <a:r>
              <a:rPr lang="en-US" sz="1800" b="1" dirty="0"/>
              <a:t>API </a:t>
            </a:r>
            <a:r>
              <a:rPr lang="uk-UA" sz="1800" b="1" dirty="0"/>
              <a:t>і клієнтом? </a:t>
            </a:r>
            <a:r>
              <a:rPr lang="uk-UA" sz="1800" dirty="0"/>
              <a:t>Якщо сервер функціонує належним чином, вам потрібно визначити, чи є причина, по якій клієнт не отримує відповідь. </a:t>
            </a:r>
            <a:endParaRPr lang="en-US" sz="1800" dirty="0"/>
          </a:p>
          <a:p>
            <a:pPr marL="0" indent="0">
              <a:buNone/>
            </a:pPr>
            <a:r>
              <a:rPr lang="uk-UA" sz="1800" dirty="0"/>
              <a:t>Потрібно дізнатись: </a:t>
            </a:r>
            <a:endParaRPr lang="en-US" sz="1800" dirty="0"/>
          </a:p>
          <a:p>
            <a:r>
              <a:rPr lang="uk-UA" sz="1800" dirty="0"/>
              <a:t>Чи доступні </a:t>
            </a:r>
            <a:r>
              <a:rPr lang="en-US" sz="1800" dirty="0"/>
              <a:t>IP-</a:t>
            </a:r>
            <a:r>
              <a:rPr lang="uk-UA" sz="1800" dirty="0"/>
              <a:t>адреса та доменне ім’я з місця розташування клієнта в мережі? </a:t>
            </a:r>
            <a:endParaRPr lang="en-US" sz="1800" dirty="0"/>
          </a:p>
          <a:p>
            <a:r>
              <a:rPr lang="uk-UA" sz="1800" dirty="0"/>
              <a:t>Сервер </a:t>
            </a:r>
            <a:r>
              <a:rPr lang="en-US" sz="1800" dirty="0"/>
              <a:t>API </a:t>
            </a:r>
            <a:r>
              <a:rPr lang="uk-UA" sz="1800" dirty="0"/>
              <a:t>надсилає відповідь, але клієнт її не отримує?</a:t>
            </a:r>
            <a:endParaRPr lang="en-US" sz="1800" dirty="0"/>
          </a:p>
          <a:p>
            <a:pPr marL="0" indent="0">
              <a:buNone/>
            </a:pPr>
            <a:r>
              <a:rPr lang="uk-UA" sz="1800" dirty="0"/>
              <a:t> Щоб перевірити цю умову, скористайтеся інструментом захоплення мережі, щоб побачити, чи не втрачається відповідь від сервера </a:t>
            </a:r>
            <a:r>
              <a:rPr lang="en-US" sz="1800" dirty="0"/>
              <a:t>API </a:t>
            </a:r>
            <a:r>
              <a:rPr lang="uk-UA" sz="1800" dirty="0"/>
              <a:t>під час зв’язку між сервером </a:t>
            </a:r>
            <a:r>
              <a:rPr lang="en-US" sz="1800" dirty="0"/>
              <a:t>API </a:t>
            </a:r>
            <a:r>
              <a:rPr lang="uk-UA" sz="1800" dirty="0"/>
              <a:t>і клієнтом. Якщо у вас є доступ, перегляньте журнали сервера </a:t>
            </a:r>
            <a:r>
              <a:rPr lang="en-US" sz="1800" dirty="0"/>
              <a:t>API, </a:t>
            </a:r>
            <a:r>
              <a:rPr lang="uk-UA" sz="1800" dirty="0"/>
              <a:t>щоб визначити, чи було отримано запит, чи було його оброблено та чи надіслано відповідь. </a:t>
            </a:r>
          </a:p>
          <a:p>
            <a:pPr marL="0" indent="0">
              <a:buNone/>
            </a:pPr>
            <a:r>
              <a:rPr lang="uk-UA" sz="1800" b="1" dirty="0"/>
              <a:t>Рішення: </a:t>
            </a:r>
            <a:r>
              <a:rPr lang="uk-UA" sz="1800" dirty="0"/>
              <a:t>проблеми на стороні сервера не можна вирішити на стороні клієнта </a:t>
            </a:r>
            <a:r>
              <a:rPr lang="en-US" sz="1800" dirty="0"/>
              <a:t>API. </a:t>
            </a:r>
            <a:r>
              <a:rPr lang="uk-UA" sz="1800" dirty="0"/>
              <a:t>Необхідно звернутися до адміністратора </a:t>
            </a:r>
            <a:r>
              <a:rPr lang="en-US" sz="1800" dirty="0"/>
              <a:t>API</a:t>
            </a:r>
            <a:r>
              <a:rPr lang="uk-UA" sz="1800" dirty="0"/>
              <a:t>-сервера</a:t>
            </a:r>
            <a:r>
              <a:rPr lang="en-US" sz="1800" dirty="0"/>
              <a:t>, </a:t>
            </a:r>
            <a:r>
              <a:rPr lang="uk-UA" sz="1800" dirty="0"/>
              <a:t>щоб вирішити цю проблему. </a:t>
            </a:r>
          </a:p>
        </p:txBody>
      </p:sp>
      <p:sp>
        <p:nvSpPr>
          <p:cNvPr id="4" name="Заголовок 1">
            <a:extLst>
              <a:ext uri="{FF2B5EF4-FFF2-40B4-BE49-F238E27FC236}">
                <a16:creationId xmlns:a16="http://schemas.microsoft.com/office/drawing/2014/main" id="{F1C15CC4-3A94-E6C7-B776-B65E2DD1D58F}"/>
              </a:ext>
            </a:extLst>
          </p:cNvPr>
          <p:cNvSpPr>
            <a:spLocks noGrp="1"/>
          </p:cNvSpPr>
          <p:nvPr>
            <p:ph type="title"/>
          </p:nvPr>
        </p:nvSpPr>
        <p:spPr>
          <a:xfrm>
            <a:off x="3200400" y="459573"/>
            <a:ext cx="8610600" cy="1293028"/>
          </a:xfrm>
        </p:spPr>
        <p:txBody>
          <a:bodyPr>
            <a:normAutofit fontScale="90000"/>
          </a:bodyPr>
          <a:lstStyle/>
          <a:p>
            <a:r>
              <a:rPr lang="uk-UA" sz="4000" b="1" dirty="0"/>
              <a:t>Виправлення помилок у</a:t>
            </a:r>
            <a:r>
              <a:rPr lang="en-US" sz="4000" b="1" dirty="0"/>
              <a:t> REST API </a:t>
            </a:r>
            <a:r>
              <a:rPr lang="uk-UA" sz="4000" b="1" dirty="0"/>
              <a:t>запитах</a:t>
            </a:r>
            <a:br>
              <a:rPr lang="en-US" sz="4000" b="1" dirty="0"/>
            </a:br>
            <a:endParaRPr lang="uk-UA" dirty="0"/>
          </a:p>
        </p:txBody>
      </p:sp>
    </p:spTree>
    <p:extLst>
      <p:ext uri="{BB962C8B-B14F-4D97-AF65-F5344CB8AC3E}">
        <p14:creationId xmlns:p14="http://schemas.microsoft.com/office/powerpoint/2010/main" val="25238929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D0D419-29A5-EF27-A76B-D9D131BB5B6F}"/>
              </a:ext>
            </a:extLst>
          </p:cNvPr>
          <p:cNvSpPr>
            <a:spLocks noGrp="1"/>
          </p:cNvSpPr>
          <p:nvPr>
            <p:ph type="title"/>
          </p:nvPr>
        </p:nvSpPr>
        <p:spPr>
          <a:xfrm>
            <a:off x="3119120" y="378293"/>
            <a:ext cx="8610600" cy="1074587"/>
          </a:xfrm>
        </p:spPr>
        <p:txBody>
          <a:bodyPr>
            <a:normAutofit fontScale="90000"/>
          </a:bodyPr>
          <a:lstStyle/>
          <a:p>
            <a:r>
              <a:rPr lang="uk-UA" sz="4000" b="1" dirty="0"/>
              <a:t>Інтерпретація кодів статусу</a:t>
            </a:r>
            <a:br>
              <a:rPr lang="uk-UA" sz="4000" b="1" dirty="0"/>
            </a:br>
            <a:endParaRPr lang="uk-UA" dirty="0"/>
          </a:p>
        </p:txBody>
      </p:sp>
      <p:sp>
        <p:nvSpPr>
          <p:cNvPr id="3" name="Content Placeholder 2"/>
          <p:cNvSpPr>
            <a:spLocks noGrp="1"/>
          </p:cNvSpPr>
          <p:nvPr>
            <p:ph idx="1"/>
          </p:nvPr>
        </p:nvSpPr>
        <p:spPr>
          <a:xfrm>
            <a:off x="365760" y="1452880"/>
            <a:ext cx="11633200" cy="4927600"/>
          </a:xfrm>
        </p:spPr>
        <p:txBody>
          <a:bodyPr>
            <a:normAutofit fontScale="85000" lnSpcReduction="10000"/>
          </a:bodyPr>
          <a:lstStyle/>
          <a:p>
            <a:pPr marL="0" indent="0">
              <a:buNone/>
            </a:pPr>
            <a:r>
              <a:rPr lang="uk-UA" sz="1800" dirty="0"/>
              <a:t>Оскільки </a:t>
            </a:r>
            <a:r>
              <a:rPr lang="en-US" sz="1800" dirty="0"/>
              <a:t>REST API </a:t>
            </a:r>
            <a:r>
              <a:rPr lang="uk-UA" sz="1800" dirty="0"/>
              <a:t>засновані на </a:t>
            </a:r>
            <a:r>
              <a:rPr lang="en-US" sz="1800" dirty="0"/>
              <a:t>http, </a:t>
            </a:r>
            <a:r>
              <a:rPr lang="uk-UA" sz="1800" dirty="0"/>
              <a:t>вони також використовують коди статусу </a:t>
            </a:r>
            <a:r>
              <a:rPr lang="en-US" sz="1800" dirty="0"/>
              <a:t>http </a:t>
            </a:r>
            <a:r>
              <a:rPr lang="uk-UA" sz="1800" dirty="0"/>
              <a:t>для сповіщення клієнтів </a:t>
            </a:r>
            <a:r>
              <a:rPr lang="en-US" sz="1800" dirty="0"/>
              <a:t>API </a:t>
            </a:r>
            <a:r>
              <a:rPr lang="uk-UA" sz="1800" dirty="0"/>
              <a:t>про результати запиту. Якщо не вказано інше, код статусу є частиною стандарту </a:t>
            </a:r>
            <a:r>
              <a:rPr lang="en-US" sz="1800" dirty="0"/>
              <a:t>HTTP/1.1 (RFC 7231), </a:t>
            </a:r>
            <a:r>
              <a:rPr lang="uk-UA" sz="1800" dirty="0"/>
              <a:t>що означає, що перша цифра коду стану визначає клас відповіді. (Останні дві цифри не мають ролі класу чи категоризації, але допомагають розрізняти результати.) </a:t>
            </a:r>
          </a:p>
          <a:p>
            <a:pPr marL="0" indent="0">
              <a:buNone/>
            </a:pPr>
            <a:r>
              <a:rPr lang="uk-UA" sz="1800" dirty="0"/>
              <a:t>Існує 5 таких категорій: </a:t>
            </a:r>
          </a:p>
          <a:p>
            <a:pPr marL="0" indent="0">
              <a:buNone/>
            </a:pPr>
            <a:r>
              <a:rPr lang="en-US" sz="1800" b="1" dirty="0">
                <a:effectLst/>
              </a:rPr>
              <a:t>1xx: Informational</a:t>
            </a:r>
            <a:r>
              <a:rPr lang="en-US" sz="1800" dirty="0">
                <a:effectLst/>
              </a:rPr>
              <a:t>: </a:t>
            </a:r>
            <a:r>
              <a:rPr lang="uk-UA" sz="1800" dirty="0"/>
              <a:t>Запит отримано, обробка триває. </a:t>
            </a:r>
          </a:p>
          <a:p>
            <a:pPr marL="0" indent="0">
              <a:buNone/>
            </a:pPr>
            <a:r>
              <a:rPr lang="en-US" sz="1800" b="1" dirty="0">
                <a:effectLst/>
              </a:rPr>
              <a:t>2xx: Success</a:t>
            </a:r>
            <a:r>
              <a:rPr lang="en-US" sz="1800" dirty="0">
                <a:effectLst/>
              </a:rPr>
              <a:t>: </a:t>
            </a:r>
            <a:r>
              <a:rPr lang="ru-RU" sz="1800" dirty="0"/>
              <a:t>Дія була успішно прийнята, зрозуміла та прийнята</a:t>
            </a:r>
            <a:r>
              <a:rPr lang="en-US" sz="1800" dirty="0">
                <a:effectLst/>
              </a:rPr>
              <a:t>.</a:t>
            </a:r>
          </a:p>
          <a:p>
            <a:pPr marL="0" indent="0">
              <a:buNone/>
            </a:pPr>
            <a:r>
              <a:rPr lang="en-US" sz="1800" b="1" dirty="0">
                <a:effectLst/>
              </a:rPr>
              <a:t>3xx: Redirection</a:t>
            </a:r>
            <a:r>
              <a:rPr lang="en-US" sz="1800" dirty="0">
                <a:effectLst/>
              </a:rPr>
              <a:t>: </a:t>
            </a:r>
            <a:r>
              <a:rPr lang="ru-RU" sz="1800" dirty="0"/>
              <a:t>Щоб завершити запит, необхідно вжити додаткових заходів</a:t>
            </a:r>
            <a:r>
              <a:rPr lang="en-US" sz="1800" dirty="0">
                <a:effectLst/>
              </a:rPr>
              <a:t>.</a:t>
            </a:r>
          </a:p>
          <a:p>
            <a:pPr marL="0" indent="0">
              <a:buNone/>
            </a:pPr>
            <a:r>
              <a:rPr lang="en-US" sz="1800" b="1" dirty="0">
                <a:effectLst/>
              </a:rPr>
              <a:t>4xx: Client Error</a:t>
            </a:r>
            <a:r>
              <a:rPr lang="en-US" sz="1800" dirty="0">
                <a:effectLst/>
              </a:rPr>
              <a:t>: </a:t>
            </a:r>
            <a:r>
              <a:rPr lang="ru-RU" sz="1800" dirty="0"/>
              <a:t>Запит містить неправильний синтаксис або не може бути виконаний</a:t>
            </a:r>
            <a:r>
              <a:rPr lang="en-US" sz="1800" dirty="0">
                <a:effectLst/>
              </a:rPr>
              <a:t>.</a:t>
            </a:r>
          </a:p>
          <a:p>
            <a:pPr marL="0" indent="0">
              <a:buNone/>
            </a:pPr>
            <a:r>
              <a:rPr lang="en-US" sz="1800" b="1" dirty="0">
                <a:effectLst/>
              </a:rPr>
              <a:t>5xx: Server Error</a:t>
            </a:r>
            <a:r>
              <a:rPr lang="en-US" sz="1800" dirty="0">
                <a:effectLst/>
              </a:rPr>
              <a:t>: </a:t>
            </a:r>
            <a:r>
              <a:rPr lang="uk-UA" sz="1800" dirty="0"/>
              <a:t>Сервер не зміг виконати начебто дійсний запит</a:t>
            </a:r>
            <a:r>
              <a:rPr lang="en-US" sz="1800" dirty="0">
                <a:effectLst/>
              </a:rPr>
              <a:t>.</a:t>
            </a:r>
          </a:p>
          <a:p>
            <a:pPr marL="0" indent="0">
              <a:buNone/>
            </a:pPr>
            <a:r>
              <a:rPr lang="uk-UA" sz="1800" dirty="0"/>
              <a:t>Зазвичай ми бачимо 2</a:t>
            </a:r>
            <a:r>
              <a:rPr lang="en-US" sz="1800" dirty="0"/>
              <a:t>xx, 4xx </a:t>
            </a:r>
            <a:r>
              <a:rPr lang="uk-UA" sz="1800" dirty="0"/>
              <a:t>і 5</a:t>
            </a:r>
            <a:r>
              <a:rPr lang="en-US" sz="1800" dirty="0"/>
              <a:t>xx </a:t>
            </a:r>
            <a:r>
              <a:rPr lang="uk-UA" sz="1800" dirty="0"/>
              <a:t>з сервера </a:t>
            </a:r>
            <a:r>
              <a:rPr lang="en-US" sz="1800" dirty="0"/>
              <a:t>REST API. </a:t>
            </a:r>
            <a:r>
              <a:rPr lang="uk-UA" sz="1800" dirty="0"/>
              <a:t>Зазвичай ви можете знайти першопричину помилки, коли зрозумієте значення кодів відповідей. Іноді сервер </a:t>
            </a:r>
            <a:r>
              <a:rPr lang="en-US" sz="1800" dirty="0"/>
              <a:t>API </a:t>
            </a:r>
            <a:r>
              <a:rPr lang="uk-UA" sz="1800" dirty="0"/>
              <a:t>також надає додаткову інформацію в тілі відповіді. </a:t>
            </a:r>
          </a:p>
          <a:p>
            <a:pPr marL="0" indent="0">
              <a:buNone/>
            </a:pPr>
            <a:r>
              <a:rPr lang="uk-UA" sz="1800" dirty="0"/>
              <a:t>Для всіх запитів, які мають код статусу повернення, виконайте такі </a:t>
            </a:r>
            <a:r>
              <a:rPr lang="uk-UA" sz="1800" b="1" dirty="0"/>
              <a:t>дії, щоб усунути помилки</a:t>
            </a:r>
            <a:r>
              <a:rPr lang="uk-UA" sz="1800" dirty="0"/>
              <a:t>: </a:t>
            </a:r>
          </a:p>
          <a:p>
            <a:pPr marL="0" indent="0">
              <a:buNone/>
            </a:pPr>
            <a:r>
              <a:rPr lang="uk-UA" sz="1800" dirty="0"/>
              <a:t>Крок 1. Перевірте код повернення. Це може допомогти вивести код повернення у вашому сценарії на етапі розробки. </a:t>
            </a:r>
          </a:p>
          <a:p>
            <a:pPr marL="0" indent="0">
              <a:buNone/>
            </a:pPr>
            <a:r>
              <a:rPr lang="uk-UA" sz="1800" dirty="0"/>
              <a:t>Крок 2: Перевірте тіло відповіді. Вивести тіло відповіді під час розробки; більшість часу ви можете знайти, що пішло не так, у повідомленні-відповіді, надісланому разом із кодом статусу. </a:t>
            </a:r>
          </a:p>
          <a:p>
            <a:pPr marL="0" indent="0">
              <a:buNone/>
            </a:pPr>
            <a:r>
              <a:rPr lang="uk-UA" sz="1800" dirty="0"/>
              <a:t>Крок 3. Якщо ви не можете вирішити проблему, використовуючи наведені вище два кроки, скористайтеся посиланням на код статусу, щоб зрозуміти визначення коду стану. </a:t>
            </a:r>
          </a:p>
        </p:txBody>
      </p:sp>
    </p:spTree>
    <p:extLst>
      <p:ext uri="{BB962C8B-B14F-4D97-AF65-F5344CB8AC3E}">
        <p14:creationId xmlns:p14="http://schemas.microsoft.com/office/powerpoint/2010/main" val="321702403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7049" y="915586"/>
            <a:ext cx="11497901" cy="6346479"/>
          </a:xfrm>
        </p:spPr>
        <p:txBody>
          <a:bodyPr>
            <a:normAutofit/>
          </a:bodyPr>
          <a:lstStyle/>
          <a:p>
            <a:pPr marL="0" indent="0" algn="ctr">
              <a:buNone/>
            </a:pPr>
            <a:r>
              <a:rPr lang="en-US" sz="1800" b="1" dirty="0">
                <a:solidFill>
                  <a:srgbClr val="0070C0"/>
                </a:solidFill>
                <a:effectLst/>
              </a:rPr>
              <a:t>2xx </a:t>
            </a:r>
            <a:r>
              <a:rPr lang="uk-UA" sz="1800" b="1" dirty="0">
                <a:solidFill>
                  <a:srgbClr val="0070C0"/>
                </a:solidFill>
                <a:effectLst/>
              </a:rPr>
              <a:t>і </a:t>
            </a:r>
            <a:r>
              <a:rPr lang="en-US" sz="1800" b="1" dirty="0">
                <a:solidFill>
                  <a:srgbClr val="0070C0"/>
                </a:solidFill>
                <a:effectLst/>
              </a:rPr>
              <a:t>4xx Status Codes</a:t>
            </a:r>
          </a:p>
          <a:p>
            <a:pPr marL="0" indent="0">
              <a:buNone/>
            </a:pPr>
            <a:r>
              <a:rPr lang="uk-UA" sz="1800" dirty="0">
                <a:effectLst/>
              </a:rPr>
              <a:t>Розглянемо ці коди більш детально</a:t>
            </a:r>
            <a:r>
              <a:rPr lang="en-US" sz="1800" dirty="0">
                <a:effectLst/>
              </a:rPr>
              <a:t>:</a:t>
            </a:r>
          </a:p>
          <a:p>
            <a:pPr marL="0" indent="0">
              <a:buNone/>
            </a:pPr>
            <a:r>
              <a:rPr lang="en-US" sz="1800" b="1" dirty="0">
                <a:effectLst/>
              </a:rPr>
              <a:t>2xx - Success</a:t>
            </a:r>
            <a:endParaRPr lang="en-US" sz="1800" dirty="0">
              <a:effectLst/>
            </a:endParaRPr>
          </a:p>
          <a:p>
            <a:pPr marL="0" indent="0">
              <a:buNone/>
            </a:pPr>
            <a:r>
              <a:rPr lang="uk-UA" sz="1800" dirty="0"/>
              <a:t>Коли клієнт отримує код відповіді 2xx, це означає, що запит клієнта успішно прийнято, зрозуміло та прийнято. Однак ви завжди повинні перевіряти, що відповідь вказує на успіх правильної дії і що сценарій робить те, що, на вашу думку, має.</a:t>
            </a:r>
          </a:p>
          <a:p>
            <a:pPr marL="0" indent="0">
              <a:buNone/>
            </a:pPr>
            <a:r>
              <a:rPr lang="en-US" sz="1800" b="1" dirty="0">
                <a:effectLst/>
              </a:rPr>
              <a:t>4xx - Client side error</a:t>
            </a:r>
            <a:endParaRPr lang="en-US" sz="1800" dirty="0">
              <a:effectLst/>
            </a:endParaRPr>
          </a:p>
          <a:p>
            <a:pPr marL="0" indent="0">
              <a:buNone/>
            </a:pPr>
            <a:r>
              <a:rPr lang="uk-UA" sz="1800" dirty="0"/>
              <a:t>Відповідь 4</a:t>
            </a:r>
            <a:r>
              <a:rPr lang="en-US" sz="1800" dirty="0"/>
              <a:t>xx </a:t>
            </a:r>
            <a:r>
              <a:rPr lang="uk-UA" sz="1800" dirty="0"/>
              <a:t>означає, що помилка на стороні клієнта. Деякі сервери можуть містити об’єкт, що містить пояснення помилки. Якщо ні, ось деякі загальні вказівки щодо усунення поширених помилок 4</a:t>
            </a:r>
            <a:r>
              <a:rPr lang="en-US" sz="1800" dirty="0"/>
              <a:t>xx: </a:t>
            </a:r>
            <a:endParaRPr lang="uk-UA" sz="1800" dirty="0"/>
          </a:p>
          <a:p>
            <a:pPr marL="0" indent="0">
              <a:buNone/>
            </a:pPr>
            <a:r>
              <a:rPr lang="en-US" sz="1800" b="1" dirty="0">
                <a:effectLst/>
              </a:rPr>
              <a:t>400</a:t>
            </a:r>
            <a:r>
              <a:rPr lang="en-US" sz="1800" dirty="0">
                <a:effectLst/>
              </a:rPr>
              <a:t> - </a:t>
            </a:r>
            <a:r>
              <a:rPr lang="en-US" sz="1800" b="1" dirty="0">
                <a:effectLst/>
              </a:rPr>
              <a:t>Bad Request</a:t>
            </a:r>
          </a:p>
          <a:p>
            <a:pPr marL="0" indent="0">
              <a:buNone/>
            </a:pPr>
            <a:r>
              <a:rPr lang="uk-UA" sz="1800" dirty="0"/>
              <a:t>Запит не може бути зрозумілий сервером через неправильний синтаксис. Перевірте синтаксис свого </a:t>
            </a:r>
            <a:r>
              <a:rPr lang="en-US" sz="1800" dirty="0"/>
              <a:t>API. </a:t>
            </a:r>
            <a:endParaRPr lang="uk-UA" sz="1800" dirty="0"/>
          </a:p>
          <a:p>
            <a:pPr marL="0" indent="0">
              <a:buNone/>
            </a:pPr>
            <a:r>
              <a:rPr lang="uk-UA" sz="1800" dirty="0"/>
              <a:t>Однією з причин помилки 400 </a:t>
            </a:r>
            <a:r>
              <a:rPr lang="en-US" sz="1800" dirty="0"/>
              <a:t>Bad Request </a:t>
            </a:r>
            <a:r>
              <a:rPr lang="uk-UA" sz="1800" dirty="0"/>
              <a:t>є сам ресурс. Двічі перевірте кінцеву точку та ресурс, який ви викликаєте, чи не вписали ви один із ресурсів з помилкою чи забули </a:t>
            </a:r>
            <a:r>
              <a:rPr lang="uk-UA" sz="1800" b="1" dirty="0"/>
              <a:t>«</a:t>
            </a:r>
            <a:r>
              <a:rPr lang="en-US" sz="1800" b="1" dirty="0"/>
              <a:t>s»</a:t>
            </a:r>
            <a:r>
              <a:rPr lang="en-US" sz="1800" dirty="0"/>
              <a:t>, </a:t>
            </a:r>
            <a:r>
              <a:rPr lang="uk-UA" sz="1800" dirty="0"/>
              <a:t>щоб зробити його множиною, наприклад </a:t>
            </a:r>
            <a:r>
              <a:rPr lang="uk-UA" sz="1800" b="1" i="1" dirty="0"/>
              <a:t>/</a:t>
            </a:r>
            <a:r>
              <a:rPr lang="en-US" sz="1800" b="1" i="1" dirty="0"/>
              <a:t>device </a:t>
            </a:r>
            <a:r>
              <a:rPr lang="uk-UA" sz="1800" dirty="0"/>
              <a:t>а не </a:t>
            </a:r>
            <a:r>
              <a:rPr lang="en-US" sz="1800" dirty="0"/>
              <a:t> </a:t>
            </a:r>
            <a:r>
              <a:rPr lang="en-US" sz="1800" b="1" i="1" dirty="0"/>
              <a:t>/devices</a:t>
            </a:r>
            <a:r>
              <a:rPr lang="en-US" sz="1800" dirty="0"/>
              <a:t> </a:t>
            </a:r>
            <a:r>
              <a:rPr lang="uk-UA" sz="1800" dirty="0"/>
              <a:t>або </a:t>
            </a:r>
            <a:r>
              <a:rPr lang="uk-UA" sz="1800" b="1" i="1" dirty="0"/>
              <a:t>/</a:t>
            </a:r>
            <a:r>
              <a:rPr lang="en-US" sz="1800" b="1" i="1" dirty="0"/>
              <a:t>interface</a:t>
            </a:r>
            <a:r>
              <a:rPr lang="en-US" sz="1800" dirty="0"/>
              <a:t> </a:t>
            </a:r>
            <a:r>
              <a:rPr lang="uk-UA" sz="1800" dirty="0"/>
              <a:t>замість</a:t>
            </a:r>
            <a:r>
              <a:rPr lang="en-US" sz="1800" dirty="0"/>
              <a:t> </a:t>
            </a:r>
            <a:r>
              <a:rPr lang="en-US" sz="1800" b="1" i="1" dirty="0"/>
              <a:t>/interfaces</a:t>
            </a:r>
            <a:r>
              <a:rPr lang="en-US" sz="1800" dirty="0"/>
              <a:t>? </a:t>
            </a:r>
            <a:r>
              <a:rPr lang="uk-UA" sz="1800" dirty="0"/>
              <a:t>Чи правильно сформований та повний </a:t>
            </a:r>
            <a:r>
              <a:rPr lang="en-US" sz="1800" dirty="0"/>
              <a:t>URI? </a:t>
            </a:r>
            <a:endParaRPr lang="uk-UA" sz="1800" dirty="0"/>
          </a:p>
          <a:p>
            <a:pPr marL="0" indent="0">
              <a:buNone/>
            </a:pPr>
            <a:r>
              <a:rPr lang="uk-UA" sz="1800" dirty="0"/>
              <a:t>Іншою причиною помилки 400 </a:t>
            </a:r>
            <a:r>
              <a:rPr lang="en-US" sz="1800" dirty="0"/>
              <a:t>Bad Request </a:t>
            </a:r>
            <a:r>
              <a:rPr lang="uk-UA" sz="1800" dirty="0"/>
              <a:t>може бути проблема синтаксису в об’єкті </a:t>
            </a:r>
            <a:r>
              <a:rPr lang="en-US" sz="1800" dirty="0"/>
              <a:t>JSON, </a:t>
            </a:r>
            <a:r>
              <a:rPr lang="uk-UA" sz="1800" dirty="0"/>
              <a:t>який представляє ваш запит </a:t>
            </a:r>
            <a:r>
              <a:rPr lang="en-US" sz="1800" dirty="0"/>
              <a:t>POST. </a:t>
            </a:r>
            <a:endParaRPr lang="uk-UA" sz="1800" dirty="0"/>
          </a:p>
        </p:txBody>
      </p:sp>
      <p:sp>
        <p:nvSpPr>
          <p:cNvPr id="2" name="Заголовок 1">
            <a:extLst>
              <a:ext uri="{FF2B5EF4-FFF2-40B4-BE49-F238E27FC236}">
                <a16:creationId xmlns:a16="http://schemas.microsoft.com/office/drawing/2014/main" id="{EA817D0F-B072-E986-B2E1-C8E2C66661B0}"/>
              </a:ext>
            </a:extLst>
          </p:cNvPr>
          <p:cNvSpPr>
            <a:spLocks noGrp="1"/>
          </p:cNvSpPr>
          <p:nvPr>
            <p:ph type="title"/>
          </p:nvPr>
        </p:nvSpPr>
        <p:spPr>
          <a:xfrm>
            <a:off x="3119120" y="378293"/>
            <a:ext cx="8610600" cy="1074587"/>
          </a:xfrm>
        </p:spPr>
        <p:txBody>
          <a:bodyPr>
            <a:normAutofit fontScale="90000"/>
          </a:bodyPr>
          <a:lstStyle/>
          <a:p>
            <a:r>
              <a:rPr lang="uk-UA" sz="4000" b="1" dirty="0"/>
              <a:t>Інтерпретація кодів статусу</a:t>
            </a:r>
            <a:br>
              <a:rPr lang="uk-UA" sz="4000" b="1" dirty="0"/>
            </a:br>
            <a:endParaRPr lang="uk-UA" dirty="0"/>
          </a:p>
        </p:txBody>
      </p:sp>
    </p:spTree>
    <p:extLst>
      <p:ext uri="{BB962C8B-B14F-4D97-AF65-F5344CB8AC3E}">
        <p14:creationId xmlns:p14="http://schemas.microsoft.com/office/powerpoint/2010/main" val="523887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885" y="1663525"/>
            <a:ext cx="11497901" cy="4686475"/>
          </a:xfrm>
        </p:spPr>
        <p:txBody>
          <a:bodyPr>
            <a:normAutofit/>
          </a:bodyPr>
          <a:lstStyle/>
          <a:p>
            <a:pPr marL="0" indent="0">
              <a:buNone/>
            </a:pPr>
            <a:r>
              <a:rPr lang="uk-UA" sz="1800" dirty="0"/>
              <a:t>Наприклад</a:t>
            </a:r>
            <a:r>
              <a:rPr lang="en-US" sz="1800" dirty="0"/>
              <a:t>:</a:t>
            </a:r>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r>
              <a:rPr lang="ru-RU" sz="1800" dirty="0"/>
              <a:t>Чи можете ви здогадатися, що не так, просто прочитавши код? </a:t>
            </a:r>
          </a:p>
          <a:p>
            <a:pPr marL="0" indent="0">
              <a:buNone/>
            </a:pPr>
            <a:r>
              <a:rPr lang="ru-RU" sz="1800" dirty="0"/>
              <a:t>Цей приклад повертає код статусу 400. Сторона сервера також повідомляє вам «Поле ідентифікатора не надано», оскільки ідентифікатор є обов’язковим для цього запиту API. Щоб переконатися, це потрібно буде переглянути в документації. </a:t>
            </a: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uk-UA" sz="1800" dirty="0"/>
          </a:p>
        </p:txBody>
      </p:sp>
      <p:pic>
        <p:nvPicPr>
          <p:cNvPr id="2" name="Picture 1"/>
          <p:cNvPicPr>
            <a:picLocks noChangeAspect="1"/>
          </p:cNvPicPr>
          <p:nvPr/>
        </p:nvPicPr>
        <p:blipFill>
          <a:blip r:embed="rId2"/>
          <a:srcRect l="820" t="5965" r="2200" b="10637"/>
          <a:stretch/>
        </p:blipFill>
        <p:spPr>
          <a:xfrm>
            <a:off x="386079" y="2092357"/>
            <a:ext cx="9357361" cy="1199483"/>
          </a:xfrm>
          <a:prstGeom prst="rect">
            <a:avLst/>
          </a:prstGeom>
        </p:spPr>
      </p:pic>
      <p:pic>
        <p:nvPicPr>
          <p:cNvPr id="4" name="Picture 3"/>
          <p:cNvPicPr>
            <a:picLocks noChangeAspect="1"/>
          </p:cNvPicPr>
          <p:nvPr/>
        </p:nvPicPr>
        <p:blipFill>
          <a:blip r:embed="rId3"/>
          <a:srcRect l="831" t="9720" r="1628" b="7973"/>
          <a:stretch/>
        </p:blipFill>
        <p:spPr>
          <a:xfrm>
            <a:off x="386079" y="4958080"/>
            <a:ext cx="9448800" cy="1199483"/>
          </a:xfrm>
          <a:prstGeom prst="rect">
            <a:avLst/>
          </a:prstGeom>
        </p:spPr>
      </p:pic>
      <p:sp>
        <p:nvSpPr>
          <p:cNvPr id="5" name="Заголовок 1">
            <a:extLst>
              <a:ext uri="{FF2B5EF4-FFF2-40B4-BE49-F238E27FC236}">
                <a16:creationId xmlns:a16="http://schemas.microsoft.com/office/drawing/2014/main" id="{5035765E-01DB-B64F-2FF7-78050DBF807B}"/>
              </a:ext>
            </a:extLst>
          </p:cNvPr>
          <p:cNvSpPr>
            <a:spLocks noGrp="1"/>
          </p:cNvSpPr>
          <p:nvPr>
            <p:ph type="title"/>
          </p:nvPr>
        </p:nvSpPr>
        <p:spPr>
          <a:xfrm>
            <a:off x="3119120" y="378293"/>
            <a:ext cx="8610600" cy="1074587"/>
          </a:xfrm>
        </p:spPr>
        <p:txBody>
          <a:bodyPr>
            <a:normAutofit fontScale="90000"/>
          </a:bodyPr>
          <a:lstStyle/>
          <a:p>
            <a:r>
              <a:rPr lang="uk-UA" sz="4000" b="1" dirty="0"/>
              <a:t>Інтерпретація кодів статусу</a:t>
            </a:r>
            <a:br>
              <a:rPr lang="uk-UA" sz="4000" b="1" dirty="0"/>
            </a:br>
            <a:endParaRPr lang="uk-UA" dirty="0"/>
          </a:p>
        </p:txBody>
      </p:sp>
    </p:spTree>
    <p:extLst>
      <p:ext uri="{BB962C8B-B14F-4D97-AF65-F5344CB8AC3E}">
        <p14:creationId xmlns:p14="http://schemas.microsoft.com/office/powerpoint/2010/main" val="37392901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1819" y="1531444"/>
            <a:ext cx="11497901" cy="6346479"/>
          </a:xfrm>
        </p:spPr>
        <p:txBody>
          <a:bodyPr>
            <a:normAutofit/>
          </a:bodyPr>
          <a:lstStyle/>
          <a:p>
            <a:pPr marL="0" indent="0">
              <a:buNone/>
            </a:pPr>
            <a:r>
              <a:rPr lang="en-US" sz="1800" b="1" dirty="0">
                <a:effectLst/>
              </a:rPr>
              <a:t>401</a:t>
            </a:r>
            <a:r>
              <a:rPr lang="en-US" sz="1800" dirty="0">
                <a:effectLst/>
              </a:rPr>
              <a:t> - Unauthorized</a:t>
            </a:r>
          </a:p>
          <a:p>
            <a:pPr marL="0" indent="0">
              <a:buNone/>
            </a:pPr>
            <a:r>
              <a:rPr lang="uk-UA" sz="1800" dirty="0"/>
              <a:t>Це повідомлення про помилку означає, що сервер не міг аутентифікувати запит. </a:t>
            </a:r>
          </a:p>
          <a:p>
            <a:pPr marL="0" indent="0">
              <a:buNone/>
            </a:pPr>
            <a:r>
              <a:rPr lang="uk-UA" sz="1800" dirty="0"/>
              <a:t>Перевірте свої облікові дані, зокрема ім’я користувача, пароль, ключ </a:t>
            </a:r>
            <a:r>
              <a:rPr lang="en-US" sz="1800" dirty="0"/>
              <a:t>API, </a:t>
            </a:r>
            <a:r>
              <a:rPr lang="uk-UA" sz="1800" dirty="0"/>
              <a:t>маркер тощо. Якщо з цими елементами немає проблем, ви можете знову перевірити </a:t>
            </a:r>
            <a:r>
              <a:rPr lang="en-US" sz="1800" dirty="0"/>
              <a:t>URI </a:t>
            </a:r>
            <a:r>
              <a:rPr lang="uk-UA" sz="1800" dirty="0"/>
              <a:t>запиту, оскільки сервер може відхилити доступ у разі неправильного </a:t>
            </a:r>
            <a:r>
              <a:rPr lang="en-US" sz="1800" dirty="0"/>
              <a:t>URI </a:t>
            </a:r>
            <a:r>
              <a:rPr lang="uk-UA" sz="1800" dirty="0"/>
              <a:t>запиту. </a:t>
            </a:r>
          </a:p>
          <a:p>
            <a:pPr marL="0" indent="0">
              <a:buNone/>
            </a:pPr>
            <a:endParaRPr lang="en-US" sz="1800" dirty="0"/>
          </a:p>
          <a:p>
            <a:pPr marL="0" indent="0">
              <a:buNone/>
            </a:pPr>
            <a:endParaRPr lang="en-US" sz="1800" dirty="0">
              <a:effectLst/>
            </a:endParaRPr>
          </a:p>
          <a:p>
            <a:pPr marL="0" indent="0">
              <a:buNone/>
            </a:pPr>
            <a:endParaRPr lang="en-US" sz="1800" dirty="0"/>
          </a:p>
          <a:p>
            <a:pPr marL="0" indent="0">
              <a:buNone/>
            </a:pPr>
            <a:endParaRPr lang="ru-RU" sz="1800" dirty="0"/>
          </a:p>
          <a:p>
            <a:pPr marL="0" indent="0">
              <a:buNone/>
            </a:pPr>
            <a:r>
              <a:rPr lang="ru-RU" sz="1800" dirty="0" err="1"/>
              <a:t>Цей</a:t>
            </a:r>
            <a:r>
              <a:rPr lang="ru-RU" sz="1800" dirty="0"/>
              <a:t> приклад повертає код статусу 401, чи можете ви вгадати, що не так, просто прочитавши код?  Запит не надає облікові дані. У код слід додати аутентифікацію </a:t>
            </a:r>
            <a:r>
              <a:rPr lang="ru-RU" sz="1800" b="1" i="1" dirty="0"/>
              <a:t>auth=("person1","great")</a:t>
            </a:r>
            <a:r>
              <a:rPr lang="ru-RU" sz="1800" dirty="0"/>
              <a:t>. </a:t>
            </a:r>
            <a:endParaRPr lang="en-US" sz="1800" dirty="0">
              <a:effectLst/>
            </a:endParaRPr>
          </a:p>
          <a:p>
            <a:pPr marL="0" indent="0">
              <a:buNone/>
            </a:pPr>
            <a:endParaRPr lang="uk-UA" sz="1800" dirty="0"/>
          </a:p>
        </p:txBody>
      </p:sp>
      <p:pic>
        <p:nvPicPr>
          <p:cNvPr id="2" name="Picture 1"/>
          <p:cNvPicPr>
            <a:picLocks noChangeAspect="1"/>
          </p:cNvPicPr>
          <p:nvPr/>
        </p:nvPicPr>
        <p:blipFill>
          <a:blip r:embed="rId2"/>
          <a:srcRect l="1147" t="6599" r="1032" b="6596"/>
          <a:stretch/>
        </p:blipFill>
        <p:spPr>
          <a:xfrm>
            <a:off x="231819" y="3190240"/>
            <a:ext cx="9438640" cy="1198880"/>
          </a:xfrm>
          <a:prstGeom prst="rect">
            <a:avLst/>
          </a:prstGeom>
        </p:spPr>
      </p:pic>
      <p:pic>
        <p:nvPicPr>
          <p:cNvPr id="5" name="Picture 4"/>
          <p:cNvPicPr>
            <a:picLocks noChangeAspect="1"/>
          </p:cNvPicPr>
          <p:nvPr/>
        </p:nvPicPr>
        <p:blipFill>
          <a:blip r:embed="rId3"/>
          <a:srcRect l="1072" t="6555" r="1586" b="7822"/>
          <a:stretch/>
        </p:blipFill>
        <p:spPr>
          <a:xfrm>
            <a:off x="231819" y="5326556"/>
            <a:ext cx="9438640" cy="1198881"/>
          </a:xfrm>
          <a:prstGeom prst="rect">
            <a:avLst/>
          </a:prstGeom>
        </p:spPr>
      </p:pic>
      <p:sp>
        <p:nvSpPr>
          <p:cNvPr id="4" name="Заголовок 1">
            <a:extLst>
              <a:ext uri="{FF2B5EF4-FFF2-40B4-BE49-F238E27FC236}">
                <a16:creationId xmlns:a16="http://schemas.microsoft.com/office/drawing/2014/main" id="{2EC72B59-8C47-1C76-5875-30E6DAC8543E}"/>
              </a:ext>
            </a:extLst>
          </p:cNvPr>
          <p:cNvSpPr>
            <a:spLocks noGrp="1"/>
          </p:cNvSpPr>
          <p:nvPr>
            <p:ph type="title"/>
          </p:nvPr>
        </p:nvSpPr>
        <p:spPr>
          <a:xfrm>
            <a:off x="3119120" y="378293"/>
            <a:ext cx="8610600" cy="1074587"/>
          </a:xfrm>
        </p:spPr>
        <p:txBody>
          <a:bodyPr>
            <a:normAutofit fontScale="90000"/>
          </a:bodyPr>
          <a:lstStyle/>
          <a:p>
            <a:r>
              <a:rPr lang="uk-UA" sz="4000" b="1" dirty="0"/>
              <a:t>Інтерпретація кодів статусу</a:t>
            </a:r>
            <a:br>
              <a:rPr lang="uk-UA" sz="4000" b="1" dirty="0"/>
            </a:br>
            <a:endParaRPr lang="uk-UA" dirty="0"/>
          </a:p>
        </p:txBody>
      </p:sp>
    </p:spTree>
    <p:extLst>
      <p:ext uri="{BB962C8B-B14F-4D97-AF65-F5344CB8AC3E}">
        <p14:creationId xmlns:p14="http://schemas.microsoft.com/office/powerpoint/2010/main" val="5228443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5925" y="271604"/>
            <a:ext cx="11497901" cy="6346479"/>
          </a:xfrm>
        </p:spPr>
        <p:txBody>
          <a:bodyPr>
            <a:normAutofit/>
          </a:bodyPr>
          <a:lstStyle/>
          <a:p>
            <a:pPr marL="0" indent="0">
              <a:buNone/>
            </a:pPr>
            <a:r>
              <a:rPr lang="en-US" sz="1800" b="1" dirty="0">
                <a:effectLst/>
              </a:rPr>
              <a:t>403</a:t>
            </a:r>
            <a:r>
              <a:rPr lang="en-US" sz="1800" dirty="0">
                <a:effectLst/>
              </a:rPr>
              <a:t> - Forbidden</a:t>
            </a:r>
          </a:p>
          <a:p>
            <a:pPr marL="0" indent="0">
              <a:buNone/>
            </a:pPr>
            <a:r>
              <a:rPr lang="uk-UA" sz="1800" dirty="0"/>
              <a:t>У цьому випадку сервер розпізнає облікові дані аутентифікації, але клієнт не має права виконувати запит. Деякі </a:t>
            </a:r>
            <a:r>
              <a:rPr lang="en-US" sz="1800" dirty="0"/>
              <a:t>API, </a:t>
            </a:r>
            <a:r>
              <a:rPr lang="uk-UA" sz="1800" dirty="0"/>
              <a:t>наприклад </a:t>
            </a:r>
            <a:r>
              <a:rPr lang="en-US" sz="1800" dirty="0"/>
              <a:t>Cisco DNA Center, </a:t>
            </a:r>
            <a:r>
              <a:rPr lang="uk-UA" sz="1800" dirty="0"/>
              <a:t>мають контроль доступу на основі ролей і потребують ролі суперадміністратора для виконання певних </a:t>
            </a:r>
            <a:r>
              <a:rPr lang="en-US" sz="1800" dirty="0"/>
              <a:t>API. </a:t>
            </a:r>
            <a:r>
              <a:rPr lang="uk-UA" sz="1800" dirty="0"/>
              <a:t>Знову ж таки, довідковий посібник </a:t>
            </a:r>
            <a:r>
              <a:rPr lang="en-US" sz="1800" dirty="0"/>
              <a:t>API </a:t>
            </a:r>
            <a:r>
              <a:rPr lang="uk-UA" sz="1800" dirty="0"/>
              <a:t>може надати додаткову інформацію. </a:t>
            </a:r>
          </a:p>
          <a:p>
            <a:pPr marL="0" indent="0">
              <a:buNone/>
            </a:pPr>
            <a:endParaRPr lang="en-US" sz="1800" dirty="0"/>
          </a:p>
          <a:p>
            <a:pPr marL="0" indent="0">
              <a:buNone/>
            </a:pPr>
            <a:endParaRPr lang="en-US" sz="1800" dirty="0">
              <a:effectLst/>
            </a:endParaRPr>
          </a:p>
          <a:p>
            <a:pPr marL="0" indent="0">
              <a:buNone/>
            </a:pPr>
            <a:endParaRPr lang="en-US" sz="1800" dirty="0"/>
          </a:p>
          <a:p>
            <a:pPr marL="0" indent="0">
              <a:buNone/>
            </a:pPr>
            <a:endParaRPr lang="en-US" sz="1800" dirty="0">
              <a:effectLst/>
            </a:endParaRPr>
          </a:p>
          <a:p>
            <a:pPr marL="0" indent="0">
              <a:buNone/>
            </a:pPr>
            <a:r>
              <a:rPr lang="uk-UA" sz="1800" dirty="0"/>
              <a:t>Чому цей уявний фрагмент коду не працює? Ми просто чудово використали ім’я користувача </a:t>
            </a:r>
            <a:r>
              <a:rPr lang="en-US" sz="1800" b="1" i="1" dirty="0"/>
              <a:t>person1</a:t>
            </a:r>
            <a:r>
              <a:rPr lang="en-US" sz="1800" dirty="0"/>
              <a:t> </a:t>
            </a:r>
            <a:r>
              <a:rPr lang="uk-UA" sz="1800" dirty="0"/>
              <a:t>і пароль</a:t>
            </a:r>
            <a:r>
              <a:rPr lang="en-US" sz="1800" dirty="0"/>
              <a:t> </a:t>
            </a:r>
            <a:r>
              <a:rPr lang="en-US" sz="1800" b="1" i="1" dirty="0" err="1"/>
              <a:t>greate</a:t>
            </a:r>
            <a:r>
              <a:rPr lang="uk-UA" sz="1800" dirty="0"/>
              <a:t>, і це спрацювало в останньому прикладі. </a:t>
            </a:r>
          </a:p>
          <a:p>
            <a:pPr marL="0" indent="0">
              <a:buNone/>
            </a:pPr>
            <a:r>
              <a:rPr lang="uk-UA" sz="1800" dirty="0"/>
              <a:t>Код стану 403 не є проблемою аутентифікації; сервер вірить в ідентичність користувача, просто користувач не має достатньо привілеїв для використання цього конкретного </a:t>
            </a:r>
            <a:r>
              <a:rPr lang="en-US" sz="1800" dirty="0"/>
              <a:t>API. </a:t>
            </a:r>
            <a:r>
              <a:rPr lang="uk-UA" sz="1800" dirty="0"/>
              <a:t>Якщо ми використовуємо </a:t>
            </a:r>
            <a:r>
              <a:rPr lang="en-US" sz="1800" b="1" i="1" dirty="0"/>
              <a:t>person2/super</a:t>
            </a:r>
            <a:r>
              <a:rPr lang="en-US" sz="1800" dirty="0"/>
              <a:t> </a:t>
            </a:r>
            <a:r>
              <a:rPr lang="uk-UA" sz="1800" dirty="0"/>
              <a:t>як ім’я користувача/пароль для аутентифікації, це спрацює, оскільки </a:t>
            </a:r>
            <a:r>
              <a:rPr lang="en-US" sz="1800" dirty="0"/>
              <a:t>person2 </a:t>
            </a:r>
            <a:r>
              <a:rPr lang="uk-UA" sz="1800" dirty="0"/>
              <a:t>має привілей для виконання цього </a:t>
            </a:r>
            <a:r>
              <a:rPr lang="en-US" sz="1800" dirty="0"/>
              <a:t>API. </a:t>
            </a:r>
            <a:r>
              <a:rPr lang="uk-UA" sz="1800" dirty="0"/>
              <a:t>Чи можете ви уявити, як це зробити? </a:t>
            </a:r>
          </a:p>
          <a:p>
            <a:pPr marL="0" indent="0">
              <a:buNone/>
            </a:pPr>
            <a:r>
              <a:rPr lang="uk-UA" sz="1800" dirty="0"/>
              <a:t>Аутентифікацію слід змінити, щоб використовувати </a:t>
            </a:r>
            <a:r>
              <a:rPr lang="en-US" sz="1800" b="1" i="1" dirty="0"/>
              <a:t>person2/super</a:t>
            </a:r>
            <a:r>
              <a:rPr lang="en-US" sz="1800" dirty="0"/>
              <a:t> </a:t>
            </a:r>
            <a:r>
              <a:rPr lang="uk-UA" sz="1800" dirty="0"/>
              <a:t>замість </a:t>
            </a:r>
            <a:r>
              <a:rPr lang="en-US" sz="1800" b="1" i="1" dirty="0"/>
              <a:t>person1/great</a:t>
            </a:r>
            <a:r>
              <a:rPr lang="en-US" sz="1800" dirty="0"/>
              <a:t>. </a:t>
            </a:r>
            <a:endParaRPr lang="uk-UA" sz="1800" dirty="0"/>
          </a:p>
        </p:txBody>
      </p:sp>
      <p:pic>
        <p:nvPicPr>
          <p:cNvPr id="2" name="Picture 1"/>
          <p:cNvPicPr>
            <a:picLocks noChangeAspect="1"/>
          </p:cNvPicPr>
          <p:nvPr/>
        </p:nvPicPr>
        <p:blipFill>
          <a:blip r:embed="rId2"/>
          <a:stretch>
            <a:fillRect/>
          </a:stretch>
        </p:blipFill>
        <p:spPr>
          <a:xfrm>
            <a:off x="325925" y="1434267"/>
            <a:ext cx="9629775" cy="1400175"/>
          </a:xfrm>
          <a:prstGeom prst="rect">
            <a:avLst/>
          </a:prstGeom>
        </p:spPr>
      </p:pic>
      <p:pic>
        <p:nvPicPr>
          <p:cNvPr id="4" name="Picture 3"/>
          <p:cNvPicPr>
            <a:picLocks noChangeAspect="1"/>
          </p:cNvPicPr>
          <p:nvPr/>
        </p:nvPicPr>
        <p:blipFill>
          <a:blip r:embed="rId3"/>
          <a:stretch>
            <a:fillRect/>
          </a:stretch>
        </p:blipFill>
        <p:spPr>
          <a:xfrm>
            <a:off x="325925" y="5141708"/>
            <a:ext cx="9677400" cy="1476375"/>
          </a:xfrm>
          <a:prstGeom prst="rect">
            <a:avLst/>
          </a:prstGeom>
        </p:spPr>
      </p:pic>
    </p:spTree>
    <p:extLst>
      <p:ext uri="{BB962C8B-B14F-4D97-AF65-F5344CB8AC3E}">
        <p14:creationId xmlns:p14="http://schemas.microsoft.com/office/powerpoint/2010/main" val="19989141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5925" y="1452880"/>
            <a:ext cx="11497901" cy="4233199"/>
          </a:xfrm>
        </p:spPr>
        <p:txBody>
          <a:bodyPr>
            <a:normAutofit/>
          </a:bodyPr>
          <a:lstStyle/>
          <a:p>
            <a:pPr marL="0" indent="0">
              <a:buNone/>
            </a:pPr>
            <a:r>
              <a:rPr lang="en-US" sz="1800" dirty="0"/>
              <a:t> 404 - Not Found</a:t>
            </a:r>
          </a:p>
          <a:p>
            <a:pPr marL="0" indent="0">
              <a:buNone/>
            </a:pPr>
            <a:r>
              <a:rPr lang="uk-UA" sz="1800" dirty="0"/>
              <a:t>Сервер не знайшов нічого, що відповідає </a:t>
            </a:r>
            <a:r>
              <a:rPr lang="en-US" sz="1800" dirty="0"/>
              <a:t>URI </a:t>
            </a:r>
            <a:r>
              <a:rPr lang="uk-UA" sz="1800" dirty="0"/>
              <a:t>запиту; перевірте </a:t>
            </a:r>
            <a:r>
              <a:rPr lang="en-US" sz="1800" dirty="0"/>
              <a:t>URI </a:t>
            </a:r>
            <a:r>
              <a:rPr lang="uk-UA" sz="1800" dirty="0"/>
              <a:t>запиту, щоб переконатися, що він правильний. Якщо раніше код працював, ви можете ознайомитися з останнім довідником </a:t>
            </a:r>
            <a:r>
              <a:rPr lang="en-US" sz="1800" dirty="0"/>
              <a:t>API, </a:t>
            </a:r>
            <a:r>
              <a:rPr lang="uk-UA" sz="1800" dirty="0"/>
              <a:t>оскільки синтаксис </a:t>
            </a:r>
            <a:r>
              <a:rPr lang="en-US" sz="1800" dirty="0"/>
              <a:t>API </a:t>
            </a:r>
            <a:r>
              <a:rPr lang="uk-UA" sz="1800" dirty="0"/>
              <a:t>може змінюватися з часом. </a:t>
            </a:r>
            <a:endParaRPr lang="en-US" sz="1800" dirty="0"/>
          </a:p>
          <a:p>
            <a:pPr marL="0" indent="0">
              <a:buNone/>
            </a:pPr>
            <a:r>
              <a:rPr lang="uk-UA" sz="1800" dirty="0"/>
              <a:t>Розглянемо </a:t>
            </a:r>
            <a:r>
              <a:rPr lang="en-US" sz="1800" dirty="0"/>
              <a:t>API «</a:t>
            </a:r>
            <a:r>
              <a:rPr lang="uk-UA" sz="1800" dirty="0"/>
              <a:t>отримати всі інтерфейси» </a:t>
            </a:r>
            <a:r>
              <a:rPr lang="en-US" sz="1800" dirty="0"/>
              <a:t>Cisco DNA Center. </a:t>
            </a:r>
            <a:r>
              <a:rPr lang="uk-UA" sz="1800" dirty="0"/>
              <a:t>У заголовку сказано: «усі інтерфейси», тому ви намагаєтеся використовувати </a:t>
            </a:r>
            <a:r>
              <a:rPr lang="en-US" sz="1800" b="1" i="1" dirty="0" err="1"/>
              <a:t>api</a:t>
            </a:r>
            <a:r>
              <a:rPr lang="en-US" sz="1800" b="1" i="1" dirty="0"/>
              <a:t>/v1/interfaces</a:t>
            </a:r>
            <a:r>
              <a:rPr lang="en-US" sz="1800" dirty="0"/>
              <a:t>, </a:t>
            </a:r>
            <a:r>
              <a:rPr lang="uk-UA" sz="1800" dirty="0"/>
              <a:t>але отримуєте помилку 404, оскільки запит </a:t>
            </a:r>
            <a:r>
              <a:rPr lang="en-US" sz="1800" dirty="0"/>
              <a:t>API </a:t>
            </a:r>
            <a:r>
              <a:rPr lang="uk-UA" sz="1800" dirty="0"/>
              <a:t>насправді є </a:t>
            </a:r>
            <a:r>
              <a:rPr lang="en-US" sz="1800" b="1" i="1" dirty="0" err="1"/>
              <a:t>api</a:t>
            </a:r>
            <a:r>
              <a:rPr lang="en-US" sz="1800" b="1" i="1" dirty="0"/>
              <a:t>/v1/interface</a:t>
            </a:r>
            <a:r>
              <a:rPr lang="en-US" sz="1800" dirty="0"/>
              <a:t>.</a:t>
            </a:r>
          </a:p>
          <a:p>
            <a:pPr marL="0" indent="0">
              <a:buNone/>
            </a:pPr>
            <a:r>
              <a:rPr lang="en-US" sz="1800" dirty="0"/>
              <a:t> </a:t>
            </a:r>
          </a:p>
          <a:p>
            <a:pPr marL="0" indent="0">
              <a:buNone/>
            </a:pPr>
            <a:endParaRPr lang="en-US" sz="1800" dirty="0"/>
          </a:p>
          <a:p>
            <a:pPr marL="0" indent="0">
              <a:buNone/>
            </a:pPr>
            <a:endParaRPr lang="en-US" sz="1800" dirty="0"/>
          </a:p>
          <a:p>
            <a:pPr marL="0" indent="0">
              <a:buNone/>
            </a:pPr>
            <a:endParaRPr lang="en-US" sz="1800" dirty="0"/>
          </a:p>
        </p:txBody>
      </p:sp>
      <p:pic>
        <p:nvPicPr>
          <p:cNvPr id="2" name="Picture 1"/>
          <p:cNvPicPr>
            <a:picLocks noChangeAspect="1"/>
          </p:cNvPicPr>
          <p:nvPr/>
        </p:nvPicPr>
        <p:blipFill>
          <a:blip r:embed="rId2"/>
          <a:srcRect l="1014" t="7118" r="1874" b="4460"/>
          <a:stretch/>
        </p:blipFill>
        <p:spPr>
          <a:xfrm>
            <a:off x="368174" y="3728719"/>
            <a:ext cx="9499600" cy="1280161"/>
          </a:xfrm>
          <a:prstGeom prst="rect">
            <a:avLst/>
          </a:prstGeom>
        </p:spPr>
      </p:pic>
      <p:sp>
        <p:nvSpPr>
          <p:cNvPr id="5" name="Заголовок 1">
            <a:extLst>
              <a:ext uri="{FF2B5EF4-FFF2-40B4-BE49-F238E27FC236}">
                <a16:creationId xmlns:a16="http://schemas.microsoft.com/office/drawing/2014/main" id="{0C5B0D2F-65DD-E37B-FF51-5A3FEDB231CC}"/>
              </a:ext>
            </a:extLst>
          </p:cNvPr>
          <p:cNvSpPr>
            <a:spLocks noGrp="1"/>
          </p:cNvSpPr>
          <p:nvPr>
            <p:ph type="title"/>
          </p:nvPr>
        </p:nvSpPr>
        <p:spPr>
          <a:xfrm>
            <a:off x="3119120" y="378293"/>
            <a:ext cx="8610600" cy="1074587"/>
          </a:xfrm>
        </p:spPr>
        <p:txBody>
          <a:bodyPr>
            <a:normAutofit fontScale="90000"/>
          </a:bodyPr>
          <a:lstStyle/>
          <a:p>
            <a:r>
              <a:rPr lang="uk-UA" sz="4000" b="1" dirty="0"/>
              <a:t>Інтерпретація кодів статусу</a:t>
            </a:r>
            <a:br>
              <a:rPr lang="uk-UA" sz="4000" b="1" dirty="0"/>
            </a:br>
            <a:endParaRPr lang="uk-UA" dirty="0"/>
          </a:p>
        </p:txBody>
      </p:sp>
    </p:spTree>
    <p:extLst>
      <p:ext uri="{BB962C8B-B14F-4D97-AF65-F5344CB8AC3E}">
        <p14:creationId xmlns:p14="http://schemas.microsoft.com/office/powerpoint/2010/main" val="40185725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17A40-6B19-98CD-7C90-809EDFCF19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995B36-D85A-2F3C-68A3-6460B7CE4C88}"/>
              </a:ext>
            </a:extLst>
          </p:cNvPr>
          <p:cNvSpPr>
            <a:spLocks noGrp="1"/>
          </p:cNvSpPr>
          <p:nvPr>
            <p:ph idx="1"/>
          </p:nvPr>
        </p:nvSpPr>
        <p:spPr>
          <a:xfrm>
            <a:off x="231819" y="1636908"/>
            <a:ext cx="11497901" cy="4842799"/>
          </a:xfrm>
        </p:spPr>
        <p:txBody>
          <a:bodyPr>
            <a:normAutofit/>
          </a:bodyPr>
          <a:lstStyle/>
          <a:p>
            <a:pPr marL="0" indent="0">
              <a:buNone/>
            </a:pPr>
            <a:r>
              <a:rPr lang="en-US" sz="1800" dirty="0"/>
              <a:t> </a:t>
            </a:r>
          </a:p>
          <a:p>
            <a:pPr marL="0" indent="0">
              <a:buNone/>
            </a:pPr>
            <a:r>
              <a:rPr lang="uk-UA" sz="1800" dirty="0">
                <a:solidFill>
                  <a:srgbClr val="0070C0"/>
                </a:solidFill>
              </a:rPr>
              <a:t>Чому цей сценарій повернув код статусу 404, і чи можете ви здогадатися, як це виправити? </a:t>
            </a:r>
            <a:endParaRPr lang="en-US" sz="1800" dirty="0">
              <a:solidFill>
                <a:srgbClr val="0070C0"/>
              </a:solidFill>
            </a:endParaRPr>
          </a:p>
        </p:txBody>
      </p:sp>
      <p:sp>
        <p:nvSpPr>
          <p:cNvPr id="5" name="Заголовок 1">
            <a:extLst>
              <a:ext uri="{FF2B5EF4-FFF2-40B4-BE49-F238E27FC236}">
                <a16:creationId xmlns:a16="http://schemas.microsoft.com/office/drawing/2014/main" id="{A7F8CF4F-E8A9-5D65-F210-01A97CC5E914}"/>
              </a:ext>
            </a:extLst>
          </p:cNvPr>
          <p:cNvSpPr>
            <a:spLocks noGrp="1"/>
          </p:cNvSpPr>
          <p:nvPr>
            <p:ph type="title"/>
          </p:nvPr>
        </p:nvSpPr>
        <p:spPr>
          <a:xfrm>
            <a:off x="3119120" y="378293"/>
            <a:ext cx="8610600" cy="1074587"/>
          </a:xfrm>
        </p:spPr>
        <p:txBody>
          <a:bodyPr>
            <a:normAutofit fontScale="90000"/>
          </a:bodyPr>
          <a:lstStyle/>
          <a:p>
            <a:r>
              <a:rPr lang="uk-UA" sz="4000" b="1" dirty="0"/>
              <a:t>Інтерпретація кодів статусу</a:t>
            </a:r>
            <a:br>
              <a:rPr lang="uk-UA" sz="4000" b="1" dirty="0"/>
            </a:br>
            <a:endParaRPr lang="uk-UA" dirty="0"/>
          </a:p>
        </p:txBody>
      </p:sp>
    </p:spTree>
    <p:extLst>
      <p:ext uri="{BB962C8B-B14F-4D97-AF65-F5344CB8AC3E}">
        <p14:creationId xmlns:p14="http://schemas.microsoft.com/office/powerpoint/2010/main" val="5587068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057F3-8A6B-8F0B-3117-5644A30E0CE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CA72BA-4BBD-B24D-FF16-01978F30187B}"/>
              </a:ext>
            </a:extLst>
          </p:cNvPr>
          <p:cNvSpPr>
            <a:spLocks noGrp="1"/>
          </p:cNvSpPr>
          <p:nvPr>
            <p:ph idx="1"/>
          </p:nvPr>
        </p:nvSpPr>
        <p:spPr>
          <a:xfrm>
            <a:off x="231819" y="1636908"/>
            <a:ext cx="11497901" cy="4842799"/>
          </a:xfrm>
        </p:spPr>
        <p:txBody>
          <a:bodyPr>
            <a:normAutofit/>
          </a:bodyPr>
          <a:lstStyle/>
          <a:p>
            <a:pPr marL="0" indent="0">
              <a:buNone/>
            </a:pPr>
            <a:r>
              <a:rPr lang="en-US" sz="1800" dirty="0"/>
              <a:t> </a:t>
            </a:r>
          </a:p>
          <a:p>
            <a:pPr marL="0" indent="0">
              <a:buNone/>
            </a:pPr>
            <a:r>
              <a:rPr lang="uk-UA" sz="1800" dirty="0">
                <a:solidFill>
                  <a:srgbClr val="0070C0"/>
                </a:solidFill>
              </a:rPr>
              <a:t>Чому цей сценарій повернув код статусу 404, і чи можете ви здогадатися, як це виправити? </a:t>
            </a:r>
            <a:endParaRPr lang="en-US" sz="1800" dirty="0">
              <a:solidFill>
                <a:srgbClr val="0070C0"/>
              </a:solidFill>
            </a:endParaRPr>
          </a:p>
          <a:p>
            <a:pPr marL="0" indent="0">
              <a:buNone/>
            </a:pPr>
            <a:r>
              <a:rPr lang="uk-UA" sz="1800" dirty="0"/>
              <a:t>Фактичним </a:t>
            </a:r>
            <a:r>
              <a:rPr lang="en-US" sz="1800" dirty="0"/>
              <a:t>URI </a:t>
            </a:r>
            <a:r>
              <a:rPr lang="uk-UA" sz="1800" dirty="0"/>
              <a:t>є </a:t>
            </a:r>
            <a:r>
              <a:rPr lang="uk-UA" sz="1800" b="1" i="1" dirty="0"/>
              <a:t>/</a:t>
            </a:r>
            <a:r>
              <a:rPr lang="en-US" sz="1800" b="1" i="1" dirty="0" err="1"/>
              <a:t>api</a:t>
            </a:r>
            <a:r>
              <a:rPr lang="en-US" sz="1800" b="1" i="1" dirty="0"/>
              <a:t>/v1/resources/house/rooms/all</a:t>
            </a:r>
            <a:r>
              <a:rPr lang="en-US" sz="1800" dirty="0"/>
              <a:t>. </a:t>
            </a:r>
            <a:r>
              <a:rPr lang="uk-UA" sz="1800" dirty="0"/>
              <a:t>Немає ресурсу</a:t>
            </a:r>
            <a:r>
              <a:rPr lang="en-US" sz="1800" dirty="0"/>
              <a:t> </a:t>
            </a:r>
            <a:r>
              <a:rPr lang="en-US" sz="1800" b="1" i="1" dirty="0"/>
              <a:t>room</a:t>
            </a:r>
            <a:r>
              <a:rPr lang="uk-UA" sz="1800" dirty="0"/>
              <a:t>, тому сервер не зміг знайти ресурс, що відповідає </a:t>
            </a:r>
            <a:r>
              <a:rPr lang="en-US" sz="1800" dirty="0"/>
              <a:t>URI </a:t>
            </a:r>
            <a:r>
              <a:rPr lang="uk-UA" sz="1800" dirty="0"/>
              <a:t>запиту. </a:t>
            </a:r>
          </a:p>
        </p:txBody>
      </p:sp>
      <p:pic>
        <p:nvPicPr>
          <p:cNvPr id="4" name="Picture 3">
            <a:extLst>
              <a:ext uri="{FF2B5EF4-FFF2-40B4-BE49-F238E27FC236}">
                <a16:creationId xmlns:a16="http://schemas.microsoft.com/office/drawing/2014/main" id="{0BAA166B-6FF3-E975-53BF-1394CE128CA3}"/>
              </a:ext>
            </a:extLst>
          </p:cNvPr>
          <p:cNvPicPr>
            <a:picLocks noChangeAspect="1"/>
          </p:cNvPicPr>
          <p:nvPr/>
        </p:nvPicPr>
        <p:blipFill>
          <a:blip r:embed="rId2"/>
          <a:srcRect l="1198" t="4367" r="676" b="6626"/>
          <a:stretch/>
        </p:blipFill>
        <p:spPr>
          <a:xfrm>
            <a:off x="462279" y="3210561"/>
            <a:ext cx="9514841" cy="1280160"/>
          </a:xfrm>
          <a:prstGeom prst="rect">
            <a:avLst/>
          </a:prstGeom>
        </p:spPr>
      </p:pic>
      <p:sp>
        <p:nvSpPr>
          <p:cNvPr id="5" name="Заголовок 1">
            <a:extLst>
              <a:ext uri="{FF2B5EF4-FFF2-40B4-BE49-F238E27FC236}">
                <a16:creationId xmlns:a16="http://schemas.microsoft.com/office/drawing/2014/main" id="{BA2CD9F7-0B5A-490E-A2A0-28022E90A73F}"/>
              </a:ext>
            </a:extLst>
          </p:cNvPr>
          <p:cNvSpPr>
            <a:spLocks noGrp="1"/>
          </p:cNvSpPr>
          <p:nvPr>
            <p:ph type="title"/>
          </p:nvPr>
        </p:nvSpPr>
        <p:spPr>
          <a:xfrm>
            <a:off x="3119120" y="378293"/>
            <a:ext cx="8610600" cy="1074587"/>
          </a:xfrm>
        </p:spPr>
        <p:txBody>
          <a:bodyPr>
            <a:normAutofit fontScale="90000"/>
          </a:bodyPr>
          <a:lstStyle/>
          <a:p>
            <a:r>
              <a:rPr lang="uk-UA" sz="4000" b="1" dirty="0"/>
              <a:t>Інтерпретація кодів статусу</a:t>
            </a:r>
            <a:br>
              <a:rPr lang="uk-UA" sz="4000" b="1" dirty="0"/>
            </a:br>
            <a:endParaRPr lang="uk-UA" dirty="0"/>
          </a:p>
        </p:txBody>
      </p:sp>
    </p:spTree>
    <p:extLst>
      <p:ext uri="{BB962C8B-B14F-4D97-AF65-F5344CB8AC3E}">
        <p14:creationId xmlns:p14="http://schemas.microsoft.com/office/powerpoint/2010/main" val="36375714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7640" y="1452880"/>
            <a:ext cx="11497901" cy="5153836"/>
          </a:xfrm>
        </p:spPr>
        <p:txBody>
          <a:bodyPr>
            <a:normAutofit/>
          </a:bodyPr>
          <a:lstStyle/>
          <a:p>
            <a:pPr marL="0" indent="0">
              <a:buNone/>
            </a:pPr>
            <a:r>
              <a:rPr lang="en-US" sz="1800" dirty="0"/>
              <a:t> 405 - Method Not Allowed</a:t>
            </a:r>
          </a:p>
          <a:p>
            <a:pPr marL="0" indent="0">
              <a:buNone/>
            </a:pPr>
            <a:r>
              <a:rPr lang="uk-UA" sz="1800" dirty="0"/>
              <a:t>У цьому випадку запит було розпізнано сервером, але метод, зазначений у запиті, був відхилений сервером. Ви можете переглянути довідковий посібник </a:t>
            </a:r>
            <a:r>
              <a:rPr lang="en-US" sz="1800" dirty="0"/>
              <a:t>API, </a:t>
            </a:r>
            <a:r>
              <a:rPr lang="uk-UA" sz="1800" dirty="0"/>
              <a:t>щоб побачити, які методи очікує сервер. Відповідь від сервера також може включати заголовок </a:t>
            </a:r>
            <a:r>
              <a:rPr lang="en-US" sz="1800" dirty="0"/>
              <a:t>Allow, </a:t>
            </a:r>
            <a:r>
              <a:rPr lang="uk-UA" sz="1800" dirty="0"/>
              <a:t>що містить список дійсних методів для запитуваного ресурсу. </a:t>
            </a:r>
          </a:p>
          <a:p>
            <a:pPr marL="0" indent="0">
              <a:buNone/>
            </a:pPr>
            <a:r>
              <a:rPr lang="uk-UA" sz="1800" dirty="0"/>
              <a:t>Наприклад, якщо ви помилково використовуєте метод </a:t>
            </a:r>
            <a:r>
              <a:rPr lang="en-US" sz="1800" dirty="0"/>
              <a:t>POST </a:t>
            </a:r>
            <a:r>
              <a:rPr lang="uk-UA" sz="1800" dirty="0"/>
              <a:t>для </a:t>
            </a:r>
            <a:r>
              <a:rPr lang="en-US" sz="1800" dirty="0"/>
              <a:t>API, </a:t>
            </a:r>
            <a:r>
              <a:rPr lang="uk-UA" sz="1800" dirty="0"/>
              <a:t>який очікує метод </a:t>
            </a:r>
            <a:r>
              <a:rPr lang="en-US" sz="1800" dirty="0"/>
              <a:t>GET, </a:t>
            </a:r>
            <a:r>
              <a:rPr lang="uk-UA" sz="1800" dirty="0"/>
              <a:t>ви отримаєте помилку 405. </a:t>
            </a:r>
            <a:endParaRPr lang="ru-RU" sz="1800" dirty="0"/>
          </a:p>
          <a:p>
            <a:pPr marL="0" indent="0">
              <a:buNone/>
            </a:pPr>
            <a:endParaRPr lang="ru-RU" sz="1800" dirty="0"/>
          </a:p>
          <a:p>
            <a:pPr marL="0" indent="0">
              <a:buNone/>
            </a:pPr>
            <a:endParaRPr lang="ru-RU" sz="1800" dirty="0"/>
          </a:p>
          <a:p>
            <a:pPr marL="0" indent="0">
              <a:buNone/>
            </a:pPr>
            <a:endParaRPr lang="ru-RU" sz="1800" dirty="0"/>
          </a:p>
        </p:txBody>
      </p:sp>
      <p:pic>
        <p:nvPicPr>
          <p:cNvPr id="2" name="Picture 1"/>
          <p:cNvPicPr>
            <a:picLocks noChangeAspect="1"/>
          </p:cNvPicPr>
          <p:nvPr/>
        </p:nvPicPr>
        <p:blipFill>
          <a:blip r:embed="rId2"/>
          <a:srcRect l="518" t="8779" r="1869" b="9692"/>
          <a:stretch/>
        </p:blipFill>
        <p:spPr>
          <a:xfrm>
            <a:off x="690880" y="3718560"/>
            <a:ext cx="9418320" cy="1219200"/>
          </a:xfrm>
          <a:prstGeom prst="rect">
            <a:avLst/>
          </a:prstGeom>
        </p:spPr>
      </p:pic>
      <p:sp>
        <p:nvSpPr>
          <p:cNvPr id="6" name="Заголовок 1">
            <a:extLst>
              <a:ext uri="{FF2B5EF4-FFF2-40B4-BE49-F238E27FC236}">
                <a16:creationId xmlns:a16="http://schemas.microsoft.com/office/drawing/2014/main" id="{62FA6963-10C1-7092-811D-F163587B86AA}"/>
              </a:ext>
            </a:extLst>
          </p:cNvPr>
          <p:cNvSpPr>
            <a:spLocks noGrp="1"/>
          </p:cNvSpPr>
          <p:nvPr>
            <p:ph type="title"/>
          </p:nvPr>
        </p:nvSpPr>
        <p:spPr>
          <a:xfrm>
            <a:off x="3119120" y="378293"/>
            <a:ext cx="8610600" cy="1074587"/>
          </a:xfrm>
        </p:spPr>
        <p:txBody>
          <a:bodyPr>
            <a:normAutofit fontScale="90000"/>
          </a:bodyPr>
          <a:lstStyle/>
          <a:p>
            <a:r>
              <a:rPr lang="uk-UA" sz="4000" b="1" dirty="0"/>
              <a:t>Інтерпретація кодів статусу</a:t>
            </a:r>
            <a:br>
              <a:rPr lang="uk-UA" sz="4000" b="1" dirty="0"/>
            </a:br>
            <a:endParaRPr lang="uk-UA" dirty="0"/>
          </a:p>
        </p:txBody>
      </p:sp>
    </p:spTree>
    <p:extLst>
      <p:ext uri="{BB962C8B-B14F-4D97-AF65-F5344CB8AC3E}">
        <p14:creationId xmlns:p14="http://schemas.microsoft.com/office/powerpoint/2010/main" val="41528790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D8038-D182-EFBE-6C59-A410E5613BF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96B7D5-54FF-4DA8-8C49-FA0D61DCEDD2}"/>
              </a:ext>
            </a:extLst>
          </p:cNvPr>
          <p:cNvSpPr>
            <a:spLocks noGrp="1"/>
          </p:cNvSpPr>
          <p:nvPr>
            <p:ph idx="1"/>
          </p:nvPr>
        </p:nvSpPr>
        <p:spPr>
          <a:xfrm>
            <a:off x="325925" y="1696721"/>
            <a:ext cx="11497901" cy="3048000"/>
          </a:xfrm>
        </p:spPr>
        <p:txBody>
          <a:bodyPr>
            <a:normAutofit/>
          </a:bodyPr>
          <a:lstStyle/>
          <a:p>
            <a:pPr marL="0" indent="0">
              <a:buNone/>
            </a:pPr>
            <a:r>
              <a:rPr lang="en-US" sz="1800" dirty="0"/>
              <a:t> 406 - Not Acceptable</a:t>
            </a:r>
          </a:p>
          <a:p>
            <a:pPr marL="0" indent="0">
              <a:buNone/>
            </a:pPr>
            <a:r>
              <a:rPr lang="uk-UA" sz="1800" dirty="0"/>
              <a:t>Ця помилка вказує на те, що цільовий ресурс не має поточного представлення, яке було б прийнятним для клієнта. Сервер має дані, але не може представити їх за допомогою жодного з параметрів, перелічених у заголовках </a:t>
            </a:r>
            <a:r>
              <a:rPr lang="en-US" sz="1800" dirty="0"/>
              <a:t>Accept- </a:t>
            </a:r>
            <a:r>
              <a:rPr lang="uk-UA" sz="1800" dirty="0"/>
              <a:t>клієнта. </a:t>
            </a:r>
          </a:p>
          <a:p>
            <a:pPr marL="0" indent="0">
              <a:buNone/>
            </a:pPr>
            <a:r>
              <a:rPr lang="uk-UA" sz="1800" dirty="0"/>
              <a:t>Наприклад, клієнт запитує зображення </a:t>
            </a:r>
            <a:r>
              <a:rPr lang="en-US" sz="1800" dirty="0"/>
              <a:t>SVG: </a:t>
            </a:r>
            <a:r>
              <a:rPr lang="uk-UA" sz="1800" dirty="0"/>
              <a:t>Прийняти: </a:t>
            </a:r>
            <a:r>
              <a:rPr lang="en-US" sz="1800" dirty="0"/>
              <a:t>image/</a:t>
            </a:r>
            <a:r>
              <a:rPr lang="en-US" sz="1800" dirty="0" err="1"/>
              <a:t>svg+xml</a:t>
            </a:r>
            <a:r>
              <a:rPr lang="en-US" sz="1800" dirty="0"/>
              <a:t> </a:t>
            </a:r>
            <a:endParaRPr lang="uk-UA" sz="1800" dirty="0"/>
          </a:p>
        </p:txBody>
      </p:sp>
      <p:pic>
        <p:nvPicPr>
          <p:cNvPr id="4" name="Picture 3">
            <a:extLst>
              <a:ext uri="{FF2B5EF4-FFF2-40B4-BE49-F238E27FC236}">
                <a16:creationId xmlns:a16="http://schemas.microsoft.com/office/drawing/2014/main" id="{D1E221F6-2176-25FA-CB9C-85196C83CCE3}"/>
              </a:ext>
            </a:extLst>
          </p:cNvPr>
          <p:cNvPicPr>
            <a:picLocks noChangeAspect="1"/>
          </p:cNvPicPr>
          <p:nvPr/>
        </p:nvPicPr>
        <p:blipFill>
          <a:blip r:embed="rId2"/>
          <a:srcRect l="1008" t="7230" r="1205" b="6421"/>
          <a:stretch/>
        </p:blipFill>
        <p:spPr>
          <a:xfrm>
            <a:off x="680721" y="3779520"/>
            <a:ext cx="9398000" cy="1381760"/>
          </a:xfrm>
          <a:prstGeom prst="rect">
            <a:avLst/>
          </a:prstGeom>
        </p:spPr>
      </p:pic>
      <p:sp>
        <p:nvSpPr>
          <p:cNvPr id="5" name="Rectangle 4">
            <a:extLst>
              <a:ext uri="{FF2B5EF4-FFF2-40B4-BE49-F238E27FC236}">
                <a16:creationId xmlns:a16="http://schemas.microsoft.com/office/drawing/2014/main" id="{69BE9889-45A7-6848-1B0A-BB62500026A4}"/>
              </a:ext>
            </a:extLst>
          </p:cNvPr>
          <p:cNvSpPr/>
          <p:nvPr/>
        </p:nvSpPr>
        <p:spPr>
          <a:xfrm>
            <a:off x="325925" y="5584667"/>
            <a:ext cx="11808737" cy="369332"/>
          </a:xfrm>
          <a:prstGeom prst="rect">
            <a:avLst/>
          </a:prstGeom>
        </p:spPr>
        <p:txBody>
          <a:bodyPr wrap="square">
            <a:spAutoFit/>
          </a:bodyPr>
          <a:lstStyle/>
          <a:p>
            <a:r>
              <a:rPr lang="uk-UA" dirty="0"/>
              <a:t>У цьому випадку сервер не підтримує запитуваний ресурс, </a:t>
            </a:r>
            <a:r>
              <a:rPr lang="en-US" dirty="0"/>
              <a:t>image/</a:t>
            </a:r>
            <a:r>
              <a:rPr lang="en-US" dirty="0" err="1"/>
              <a:t>svg+xml</a:t>
            </a:r>
            <a:r>
              <a:rPr lang="en-US" dirty="0"/>
              <a:t>, </a:t>
            </a:r>
            <a:r>
              <a:rPr lang="uk-UA" dirty="0"/>
              <a:t>тому він відповідає помилкою 406. </a:t>
            </a:r>
          </a:p>
        </p:txBody>
      </p:sp>
      <p:sp>
        <p:nvSpPr>
          <p:cNvPr id="6" name="Заголовок 1">
            <a:extLst>
              <a:ext uri="{FF2B5EF4-FFF2-40B4-BE49-F238E27FC236}">
                <a16:creationId xmlns:a16="http://schemas.microsoft.com/office/drawing/2014/main" id="{E1A8C0D4-4371-D677-AC0B-5E3EE3BA9D1B}"/>
              </a:ext>
            </a:extLst>
          </p:cNvPr>
          <p:cNvSpPr>
            <a:spLocks noGrp="1"/>
          </p:cNvSpPr>
          <p:nvPr>
            <p:ph type="title"/>
          </p:nvPr>
        </p:nvSpPr>
        <p:spPr>
          <a:xfrm>
            <a:off x="3119120" y="378293"/>
            <a:ext cx="8610600" cy="1074587"/>
          </a:xfrm>
        </p:spPr>
        <p:txBody>
          <a:bodyPr>
            <a:normAutofit fontScale="90000"/>
          </a:bodyPr>
          <a:lstStyle/>
          <a:p>
            <a:r>
              <a:rPr lang="uk-UA" sz="4000" b="1" dirty="0"/>
              <a:t>Інтерпретація кодів статусу</a:t>
            </a:r>
            <a:br>
              <a:rPr lang="uk-UA" sz="4000" b="1" dirty="0"/>
            </a:br>
            <a:endParaRPr lang="uk-UA" dirty="0"/>
          </a:p>
        </p:txBody>
      </p:sp>
    </p:spTree>
    <p:extLst>
      <p:ext uri="{BB962C8B-B14F-4D97-AF65-F5344CB8AC3E}">
        <p14:creationId xmlns:p14="http://schemas.microsoft.com/office/powerpoint/2010/main" val="42806082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5925" y="1544320"/>
            <a:ext cx="11497901" cy="5073763"/>
          </a:xfrm>
        </p:spPr>
        <p:txBody>
          <a:bodyPr>
            <a:normAutofit/>
          </a:bodyPr>
          <a:lstStyle/>
          <a:p>
            <a:pPr marL="0" indent="0">
              <a:buNone/>
            </a:pPr>
            <a:r>
              <a:rPr lang="en-US" sz="1600" b="1" dirty="0"/>
              <a:t>407</a:t>
            </a:r>
            <a:r>
              <a:rPr lang="en-US" sz="1600" dirty="0"/>
              <a:t> - Proxy Authentication Required</a:t>
            </a:r>
          </a:p>
          <a:p>
            <a:pPr marL="0" indent="0">
              <a:buNone/>
            </a:pPr>
            <a:r>
              <a:rPr lang="uk-UA" sz="1600" dirty="0"/>
              <a:t>Цей код схожий на 401 (Неавторизований), але вказує на те, що клієнт повинен спочатку аутентифікуватися за допомогою проксі-сервера. У цьому сценарії між клієнтом і сервером є проксі-сервер, а код відповіді 407 вказує, що клієнту потрібно спочатку пройти автентифікацію за допомогою проксі-сервера. </a:t>
            </a:r>
          </a:p>
          <a:p>
            <a:pPr marL="0" indent="0">
              <a:buNone/>
            </a:pPr>
            <a:r>
              <a:rPr lang="en-US" sz="1600" b="1" dirty="0"/>
              <a:t>409</a:t>
            </a:r>
            <a:r>
              <a:rPr lang="en-US" sz="1600" dirty="0"/>
              <a:t> - </a:t>
            </a:r>
            <a:r>
              <a:rPr lang="ru-RU" sz="1600" dirty="0"/>
              <a:t>Не вдалося виконати запит через конфлікт із поточним станом цільового ресурсу </a:t>
            </a:r>
            <a:r>
              <a:rPr lang="en-US" sz="1600" dirty="0"/>
              <a:t>.</a:t>
            </a:r>
          </a:p>
          <a:p>
            <a:pPr marL="0" indent="0">
              <a:buNone/>
            </a:pPr>
            <a:r>
              <a:rPr lang="ru-RU" sz="1600" dirty="0"/>
              <a:t>Наприклад, конфлікт редагування, коли ресурс редагується кількома користувачами, спричинить помилку 409. Повторна спроба запиту пізніше може бути успішною, якщо конфлікт вирішено сервером. </a:t>
            </a:r>
          </a:p>
          <a:p>
            <a:pPr marL="0" indent="0">
              <a:buNone/>
            </a:pPr>
            <a:r>
              <a:rPr lang="en-US" sz="1600" b="1" dirty="0"/>
              <a:t>415</a:t>
            </a:r>
            <a:r>
              <a:rPr lang="en-US" sz="1600" dirty="0"/>
              <a:t> - Unsupported Media Type</a:t>
            </a:r>
          </a:p>
          <a:p>
            <a:pPr marL="0" indent="0">
              <a:buNone/>
            </a:pPr>
            <a:r>
              <a:rPr lang="ru-RU" sz="1600" dirty="0"/>
              <a:t>У цьому випадку клієнт надіслав тіло запиту у форматі, який сервер не підтримує. Наприклад, якщо клієнт надсилає XML на сервер, який приймає лише JSON, сервер поверне помилку 415. </a:t>
            </a:r>
            <a:endParaRPr lang="uk-UA" sz="1800" dirty="0"/>
          </a:p>
        </p:txBody>
      </p:sp>
      <p:pic>
        <p:nvPicPr>
          <p:cNvPr id="2" name="Picture 1"/>
          <p:cNvPicPr>
            <a:picLocks noChangeAspect="1"/>
          </p:cNvPicPr>
          <p:nvPr/>
        </p:nvPicPr>
        <p:blipFill>
          <a:blip r:embed="rId2"/>
          <a:srcRect l="939" t="7912" r="1029" b="6006"/>
          <a:stretch/>
        </p:blipFill>
        <p:spPr>
          <a:xfrm>
            <a:off x="368174" y="4795520"/>
            <a:ext cx="9458960" cy="1402080"/>
          </a:xfrm>
          <a:prstGeom prst="rect">
            <a:avLst/>
          </a:prstGeom>
        </p:spPr>
      </p:pic>
      <p:sp>
        <p:nvSpPr>
          <p:cNvPr id="4" name="Заголовок 1">
            <a:extLst>
              <a:ext uri="{FF2B5EF4-FFF2-40B4-BE49-F238E27FC236}">
                <a16:creationId xmlns:a16="http://schemas.microsoft.com/office/drawing/2014/main" id="{30E1570F-7145-8D50-FEB4-7C797719FB83}"/>
              </a:ext>
            </a:extLst>
          </p:cNvPr>
          <p:cNvSpPr>
            <a:spLocks noGrp="1"/>
          </p:cNvSpPr>
          <p:nvPr>
            <p:ph type="title"/>
          </p:nvPr>
        </p:nvSpPr>
        <p:spPr>
          <a:xfrm>
            <a:off x="3119120" y="378293"/>
            <a:ext cx="8610600" cy="1074587"/>
          </a:xfrm>
        </p:spPr>
        <p:txBody>
          <a:bodyPr>
            <a:normAutofit fontScale="90000"/>
          </a:bodyPr>
          <a:lstStyle/>
          <a:p>
            <a:r>
              <a:rPr lang="uk-UA" sz="4000" b="1" dirty="0"/>
              <a:t>Інтерпретація кодів статусу</a:t>
            </a:r>
            <a:br>
              <a:rPr lang="uk-UA" sz="4000" b="1" dirty="0"/>
            </a:br>
            <a:endParaRPr lang="uk-UA" dirty="0"/>
          </a:p>
        </p:txBody>
      </p:sp>
    </p:spTree>
    <p:extLst>
      <p:ext uri="{BB962C8B-B14F-4D97-AF65-F5344CB8AC3E}">
        <p14:creationId xmlns:p14="http://schemas.microsoft.com/office/powerpoint/2010/main" val="27032543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rcRect l="1000" t="5847" r="1906" b="6880"/>
          <a:stretch/>
        </p:blipFill>
        <p:spPr>
          <a:xfrm>
            <a:off x="304800" y="2509519"/>
            <a:ext cx="9377680" cy="1645921"/>
          </a:xfrm>
          <a:prstGeom prst="rect">
            <a:avLst/>
          </a:prstGeom>
        </p:spPr>
      </p:pic>
      <p:sp>
        <p:nvSpPr>
          <p:cNvPr id="5" name="Rectangle 4"/>
          <p:cNvSpPr/>
          <p:nvPr/>
        </p:nvSpPr>
        <p:spPr>
          <a:xfrm>
            <a:off x="208230" y="1475913"/>
            <a:ext cx="11866075" cy="646331"/>
          </a:xfrm>
          <a:prstGeom prst="rect">
            <a:avLst/>
          </a:prstGeom>
        </p:spPr>
        <p:txBody>
          <a:bodyPr wrap="square">
            <a:spAutoFit/>
          </a:bodyPr>
          <a:lstStyle/>
          <a:p>
            <a:r>
              <a:rPr lang="uk-UA" dirty="0"/>
              <a:t>З повідомлення про помилку ви можете здогадатися, що може виправити код? </a:t>
            </a:r>
          </a:p>
          <a:p>
            <a:r>
              <a:rPr lang="uk-UA" dirty="0"/>
              <a:t>Пропуск заголовка або додавання заголовка </a:t>
            </a:r>
            <a:r>
              <a:rPr lang="uk-UA" b="1" dirty="0"/>
              <a:t>{"</a:t>
            </a:r>
            <a:r>
              <a:rPr lang="en-US" b="1" dirty="0" err="1"/>
              <a:t>content-type":"application</a:t>
            </a:r>
            <a:r>
              <a:rPr lang="en-US" b="1" dirty="0"/>
              <a:t>/</a:t>
            </a:r>
            <a:r>
              <a:rPr lang="en-US" b="1" dirty="0" err="1"/>
              <a:t>json</a:t>
            </a:r>
            <a:r>
              <a:rPr lang="en-US" b="1" dirty="0"/>
              <a:t>"}</a:t>
            </a:r>
            <a:r>
              <a:rPr lang="en-US" dirty="0"/>
              <a:t> </a:t>
            </a:r>
            <a:r>
              <a:rPr lang="uk-UA" dirty="0"/>
              <a:t>буде працювати. </a:t>
            </a:r>
          </a:p>
        </p:txBody>
      </p:sp>
      <p:sp>
        <p:nvSpPr>
          <p:cNvPr id="2" name="Rectangle 1"/>
          <p:cNvSpPr/>
          <p:nvPr/>
        </p:nvSpPr>
        <p:spPr>
          <a:xfrm>
            <a:off x="208230" y="4458757"/>
            <a:ext cx="11407366" cy="923330"/>
          </a:xfrm>
          <a:prstGeom prst="rect">
            <a:avLst/>
          </a:prstGeom>
        </p:spPr>
        <p:txBody>
          <a:bodyPr wrap="square">
            <a:spAutoFit/>
          </a:bodyPr>
          <a:lstStyle/>
          <a:p>
            <a:r>
              <a:rPr lang="uk-UA" dirty="0"/>
              <a:t>Це лише найпоширеніші коди відповіді 4</a:t>
            </a:r>
            <a:r>
              <a:rPr lang="en-US" dirty="0"/>
              <a:t>xx. </a:t>
            </a:r>
            <a:r>
              <a:rPr lang="uk-UA" dirty="0"/>
              <a:t>Якщо ви зустрінете інші коди відповіді 4</a:t>
            </a:r>
            <a:r>
              <a:rPr lang="en-US" dirty="0"/>
              <a:t>xx, </a:t>
            </a:r>
            <a:r>
              <a:rPr lang="uk-UA" dirty="0"/>
              <a:t>ви можете звернутися до </a:t>
            </a:r>
            <a:r>
              <a:rPr lang="en-US" dirty="0"/>
              <a:t>RFC 2616, 6.1, Status-Line </a:t>
            </a:r>
            <a:r>
              <a:rPr lang="uk-UA" dirty="0"/>
              <a:t>або </a:t>
            </a:r>
            <a:r>
              <a:rPr lang="en-US" dirty="0"/>
              <a:t>RFC 7231, </a:t>
            </a:r>
            <a:r>
              <a:rPr lang="uk-UA" dirty="0"/>
              <a:t>розділ 6, Коди стану відповіді, щоб отримати додаткову інформацію про те, що вони означають. </a:t>
            </a:r>
          </a:p>
        </p:txBody>
      </p:sp>
      <p:sp>
        <p:nvSpPr>
          <p:cNvPr id="3" name="Заголовок 1">
            <a:extLst>
              <a:ext uri="{FF2B5EF4-FFF2-40B4-BE49-F238E27FC236}">
                <a16:creationId xmlns:a16="http://schemas.microsoft.com/office/drawing/2014/main" id="{D195D236-E055-3C03-D8DE-C2EFE22754D1}"/>
              </a:ext>
            </a:extLst>
          </p:cNvPr>
          <p:cNvSpPr>
            <a:spLocks noGrp="1"/>
          </p:cNvSpPr>
          <p:nvPr>
            <p:ph type="title"/>
          </p:nvPr>
        </p:nvSpPr>
        <p:spPr>
          <a:xfrm>
            <a:off x="3119120" y="378293"/>
            <a:ext cx="8610600" cy="1074587"/>
          </a:xfrm>
        </p:spPr>
        <p:txBody>
          <a:bodyPr>
            <a:normAutofit fontScale="90000"/>
          </a:bodyPr>
          <a:lstStyle/>
          <a:p>
            <a:r>
              <a:rPr lang="uk-UA" sz="4000" b="1" dirty="0"/>
              <a:t>Інтерпретація кодів статусу</a:t>
            </a:r>
            <a:br>
              <a:rPr lang="uk-UA" sz="4000" b="1" dirty="0"/>
            </a:br>
            <a:endParaRPr lang="uk-UA" dirty="0"/>
          </a:p>
        </p:txBody>
      </p:sp>
    </p:spTree>
    <p:extLst>
      <p:ext uri="{BB962C8B-B14F-4D97-AF65-F5344CB8AC3E}">
        <p14:creationId xmlns:p14="http://schemas.microsoft.com/office/powerpoint/2010/main" val="25367250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6619" y="915587"/>
            <a:ext cx="11497901" cy="5942414"/>
          </a:xfrm>
        </p:spPr>
        <p:txBody>
          <a:bodyPr>
            <a:normAutofit fontScale="92500" lnSpcReduction="10000"/>
          </a:bodyPr>
          <a:lstStyle/>
          <a:p>
            <a:pPr marL="0" indent="0" algn="ctr">
              <a:buNone/>
            </a:pPr>
            <a:r>
              <a:rPr lang="en-US" sz="1900" b="1" dirty="0">
                <a:solidFill>
                  <a:srgbClr val="0070C0"/>
                </a:solidFill>
                <a:effectLst/>
              </a:rPr>
              <a:t>5xx Status Codes</a:t>
            </a:r>
          </a:p>
          <a:p>
            <a:pPr marL="0" indent="0">
              <a:buNone/>
            </a:pPr>
            <a:r>
              <a:rPr lang="en-US" sz="1800" b="1" dirty="0">
                <a:effectLst/>
              </a:rPr>
              <a:t>5xx server side error</a:t>
            </a:r>
            <a:endParaRPr lang="en-US" sz="1800" dirty="0">
              <a:effectLst/>
            </a:endParaRPr>
          </a:p>
          <a:p>
            <a:pPr marL="0" indent="0">
              <a:buNone/>
            </a:pPr>
            <a:r>
              <a:rPr lang="en-US" sz="1800" dirty="0">
                <a:effectLst/>
              </a:rPr>
              <a:t>5xx </a:t>
            </a:r>
            <a:r>
              <a:rPr lang="uk-UA" sz="1800" dirty="0">
                <a:effectLst/>
              </a:rPr>
              <a:t>відповідь повідомляє про помилку на боці серверу</a:t>
            </a:r>
            <a:r>
              <a:rPr lang="en-US" sz="1800" dirty="0">
                <a:effectLst/>
              </a:rPr>
              <a:t>.</a:t>
            </a:r>
          </a:p>
          <a:p>
            <a:pPr marL="0" indent="0">
              <a:buNone/>
            </a:pPr>
            <a:r>
              <a:rPr lang="en-US" sz="1800" b="1" dirty="0">
                <a:effectLst/>
              </a:rPr>
              <a:t>500</a:t>
            </a:r>
            <a:r>
              <a:rPr lang="en-US" sz="1800" dirty="0">
                <a:effectLst/>
              </a:rPr>
              <a:t> - Internal Server Error</a:t>
            </a:r>
            <a:r>
              <a:rPr lang="uk-UA" sz="1800" dirty="0">
                <a:effectLst/>
              </a:rPr>
              <a:t>   </a:t>
            </a:r>
            <a:r>
              <a:rPr lang="ru-RU" sz="1800" dirty="0" err="1"/>
              <a:t>Ця</a:t>
            </a:r>
            <a:r>
              <a:rPr lang="ru-RU" sz="1800" dirty="0"/>
              <a:t> помилка означає, що сервер зіткнувся з несподіваною умовою, яка завадила йому виконати запит. </a:t>
            </a:r>
          </a:p>
          <a:p>
            <a:pPr marL="0" indent="0">
              <a:buNone/>
            </a:pPr>
            <a:r>
              <a:rPr lang="en-US" sz="1800" b="1" dirty="0">
                <a:effectLst/>
              </a:rPr>
              <a:t>501</a:t>
            </a:r>
            <a:r>
              <a:rPr lang="en-US" sz="1800" dirty="0">
                <a:effectLst/>
              </a:rPr>
              <a:t> - Not Implemented</a:t>
            </a:r>
            <a:r>
              <a:rPr lang="uk-UA" sz="1800" dirty="0">
                <a:effectLst/>
              </a:rPr>
              <a:t>    </a:t>
            </a:r>
            <a:r>
              <a:rPr lang="ru-RU" sz="1800" dirty="0" err="1"/>
              <a:t>Ця</a:t>
            </a:r>
            <a:r>
              <a:rPr lang="ru-RU" sz="1800" dirty="0"/>
              <a:t> помилка означає, що сервер не підтримує функції, необхідні для виконання цього запиту. Наприклад, сервер відповість кодом 501, якщо він не розпізнає метод запиту і тому не може підтримувати його для будь-якого ресурсу. </a:t>
            </a:r>
          </a:p>
          <a:p>
            <a:pPr marL="0" indent="0">
              <a:buNone/>
            </a:pPr>
            <a:r>
              <a:rPr lang="en-US" sz="1800" b="1" dirty="0">
                <a:effectLst/>
              </a:rPr>
              <a:t>502</a:t>
            </a:r>
            <a:r>
              <a:rPr lang="en-US" sz="1800" dirty="0">
                <a:effectLst/>
              </a:rPr>
              <a:t> - Bad Gateway</a:t>
            </a:r>
            <a:r>
              <a:rPr lang="uk-UA" sz="1800" dirty="0">
                <a:effectLst/>
              </a:rPr>
              <a:t>    </a:t>
            </a:r>
            <a:r>
              <a:rPr lang="ru-RU" sz="1800" dirty="0" err="1"/>
              <a:t>Ця</a:t>
            </a:r>
            <a:r>
              <a:rPr lang="ru-RU" sz="1800" dirty="0"/>
              <a:t> помилка означає, що сервер, виконуючи роль шлюзу або проксі-сервера, отримав недійсну відповідь від вхідного сервера, до якого він звертався, намагаючись виконати запит. </a:t>
            </a:r>
          </a:p>
          <a:p>
            <a:pPr marL="0" indent="0">
              <a:buNone/>
            </a:pPr>
            <a:r>
              <a:rPr lang="en-US" sz="1800" b="1" dirty="0">
                <a:effectLst/>
              </a:rPr>
              <a:t>503</a:t>
            </a:r>
            <a:r>
              <a:rPr lang="en-US" sz="1800" dirty="0">
                <a:effectLst/>
              </a:rPr>
              <a:t> - Service Unavailable</a:t>
            </a:r>
            <a:r>
              <a:rPr lang="uk-UA" sz="1800" dirty="0">
                <a:effectLst/>
              </a:rPr>
              <a:t>    </a:t>
            </a:r>
            <a:r>
              <a:rPr lang="ru-RU" sz="1800" dirty="0" err="1"/>
              <a:t>Цей</a:t>
            </a:r>
            <a:r>
              <a:rPr lang="ru-RU" sz="1800" dirty="0"/>
              <a:t> код вказує, що сервер наразі не може обробити запит через тимчасове перевантаження або планове обслуговування, яке, ймовірно, буде вирішено після затримки. </a:t>
            </a:r>
          </a:p>
          <a:p>
            <a:pPr marL="0" indent="0">
              <a:buNone/>
            </a:pPr>
            <a:r>
              <a:rPr lang="en-US" sz="1800" b="1" dirty="0">
                <a:effectLst/>
              </a:rPr>
              <a:t>504</a:t>
            </a:r>
            <a:r>
              <a:rPr lang="en-US" sz="1800" dirty="0">
                <a:effectLst/>
              </a:rPr>
              <a:t> - Gateway Timeout</a:t>
            </a:r>
            <a:r>
              <a:rPr lang="uk-UA" sz="1800" dirty="0">
                <a:effectLst/>
              </a:rPr>
              <a:t>    </a:t>
            </a:r>
            <a:r>
              <a:rPr lang="uk-UA" sz="1800" dirty="0"/>
              <a:t>Ця помилка означає, що сервер, виконуючи роль шлюзу або проксі, не отримав своєчасної відповіді від вищестоящого сервера, до якого йому потрібно було отримати доступ, щоб виконати запит.  </a:t>
            </a:r>
          </a:p>
          <a:p>
            <a:pPr marL="0" indent="0">
              <a:buNone/>
            </a:pPr>
            <a:r>
              <a:rPr lang="uk-UA" sz="1800" dirty="0"/>
              <a:t>Якщо ви отримуєте помилку 500 або 501, перевірте довідковий посібник </a:t>
            </a:r>
            <a:r>
              <a:rPr lang="en-US" sz="1800" dirty="0"/>
              <a:t>API, </a:t>
            </a:r>
            <a:r>
              <a:rPr lang="uk-UA" sz="1800" dirty="0"/>
              <a:t>щоб переконатися, що запит дійсний. Щодо інших помилок 5</a:t>
            </a:r>
            <a:r>
              <a:rPr lang="en-US" sz="1800" dirty="0"/>
              <a:t>xx </a:t>
            </a:r>
            <a:r>
              <a:rPr lang="uk-UA" sz="1800" dirty="0"/>
              <a:t>зверніться до адміністратора сервера </a:t>
            </a:r>
            <a:r>
              <a:rPr lang="en-US" sz="1800" dirty="0"/>
              <a:t>API, </a:t>
            </a:r>
            <a:r>
              <a:rPr lang="uk-UA" sz="1800" dirty="0"/>
              <a:t>щоб вирішити проблему. Перш ніж почати вирішувати проблеми з </a:t>
            </a:r>
            <a:r>
              <a:rPr lang="en-US" sz="1800" dirty="0"/>
              <a:t>API, </a:t>
            </a:r>
            <a:r>
              <a:rPr lang="uk-UA" sz="1800" dirty="0"/>
              <a:t>дуже важливо мати під рукою довідковий посібник із </a:t>
            </a:r>
            <a:r>
              <a:rPr lang="en-US" sz="1800" dirty="0"/>
              <a:t>API </a:t>
            </a:r>
            <a:r>
              <a:rPr lang="uk-UA" sz="1800" dirty="0"/>
              <a:t>та коди стану. Я </a:t>
            </a:r>
            <a:r>
              <a:rPr lang="uk-UA" sz="1800" dirty="0" err="1"/>
              <a:t>кщо</a:t>
            </a:r>
            <a:r>
              <a:rPr lang="uk-UA" sz="1800" dirty="0"/>
              <a:t> ви не можете отримати код відповіді, ви, ймовірно, зможете визначити причину з журналу помилок у вашому сценарії. Якщо ви можете отримати код відповіді, ви зможете визначити основну причину помилки, зокрема, чи є помилка на стороні клієнта чи сервера, розуміючи код відповіді. </a:t>
            </a:r>
          </a:p>
        </p:txBody>
      </p:sp>
      <p:sp>
        <p:nvSpPr>
          <p:cNvPr id="2" name="Заголовок 1">
            <a:extLst>
              <a:ext uri="{FF2B5EF4-FFF2-40B4-BE49-F238E27FC236}">
                <a16:creationId xmlns:a16="http://schemas.microsoft.com/office/drawing/2014/main" id="{796AC996-AFF5-5EA6-097C-2F9BC756C7AB}"/>
              </a:ext>
            </a:extLst>
          </p:cNvPr>
          <p:cNvSpPr>
            <a:spLocks noGrp="1"/>
          </p:cNvSpPr>
          <p:nvPr>
            <p:ph type="title"/>
          </p:nvPr>
        </p:nvSpPr>
        <p:spPr>
          <a:xfrm>
            <a:off x="3119120" y="378293"/>
            <a:ext cx="8610600" cy="1074587"/>
          </a:xfrm>
        </p:spPr>
        <p:txBody>
          <a:bodyPr>
            <a:normAutofit fontScale="90000"/>
          </a:bodyPr>
          <a:lstStyle/>
          <a:p>
            <a:r>
              <a:rPr lang="uk-UA" sz="4000" b="1" dirty="0"/>
              <a:t>Інтерпретація кодів статусу</a:t>
            </a:r>
            <a:br>
              <a:rPr lang="uk-UA" sz="4000" b="1" dirty="0"/>
            </a:br>
            <a:endParaRPr lang="uk-UA" dirty="0"/>
          </a:p>
        </p:txBody>
      </p:sp>
    </p:spTree>
    <p:extLst>
      <p:ext uri="{BB962C8B-B14F-4D97-AF65-F5344CB8AC3E}">
        <p14:creationId xmlns:p14="http://schemas.microsoft.com/office/powerpoint/2010/main" val="28692277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EA5387D-64D8-4D6C-B109-FF4E81DF60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Рисунок 3" descr="Tired O Fox">
            <a:extLst>
              <a:ext uri="{FF2B5EF4-FFF2-40B4-BE49-F238E27FC236}">
                <a16:creationId xmlns:a16="http://schemas.microsoft.com/office/drawing/2014/main" id="{F997A69B-3088-934B-60A2-FBFC914B447E}"/>
              </a:ext>
            </a:extLst>
          </p:cNvPr>
          <p:cNvPicPr>
            <a:picLocks noChangeAspect="1"/>
          </p:cNvPicPr>
          <p:nvPr/>
        </p:nvPicPr>
        <p:blipFill>
          <a:blip r:embed="rId2">
            <a:alphaModFix amt="30000"/>
            <a:extLst>
              <a:ext uri="{28A0092B-C50C-407E-A947-70E740481C1C}">
                <a14:useLocalDpi xmlns:a14="http://schemas.microsoft.com/office/drawing/2010/main" val="0"/>
              </a:ext>
            </a:extLst>
          </a:blip>
          <a:srcRect t="25311" b="18439"/>
          <a:stretch/>
        </p:blipFill>
        <p:spPr>
          <a:xfrm>
            <a:off x="20" y="10"/>
            <a:ext cx="12191980" cy="6857990"/>
          </a:xfrm>
          <a:prstGeom prst="rect">
            <a:avLst/>
          </a:prstGeom>
        </p:spPr>
      </p:pic>
      <p:sp>
        <p:nvSpPr>
          <p:cNvPr id="3" name="Content Placeholder 2"/>
          <p:cNvSpPr>
            <a:spLocks noGrp="1"/>
          </p:cNvSpPr>
          <p:nvPr>
            <p:ph idx="1"/>
          </p:nvPr>
        </p:nvSpPr>
        <p:spPr>
          <a:xfrm>
            <a:off x="320040" y="274320"/>
            <a:ext cx="10820400" cy="4024125"/>
          </a:xfrm>
        </p:spPr>
        <p:txBody>
          <a:bodyPr>
            <a:normAutofit/>
          </a:bodyPr>
          <a:lstStyle/>
          <a:p>
            <a:pPr marL="0" indent="0">
              <a:buNone/>
            </a:pPr>
            <a:r>
              <a:rPr lang="en-US" sz="16600" b="1" dirty="0"/>
              <a:t>Q&amp;A</a:t>
            </a:r>
            <a:endParaRPr lang="uk-UA" sz="16600" b="1" dirty="0"/>
          </a:p>
        </p:txBody>
      </p:sp>
    </p:spTree>
    <p:extLst>
      <p:ext uri="{BB962C8B-B14F-4D97-AF65-F5344CB8AC3E}">
        <p14:creationId xmlns:p14="http://schemas.microsoft.com/office/powerpoint/2010/main" val="1295378273"/>
      </p:ext>
    </p:extLst>
  </p:cSld>
  <p:clrMapOvr>
    <a:masterClrMapping/>
  </p:clrMapOvr>
</p:sld>
</file>

<file path=ppt/theme/theme1.xml><?xml version="1.0" encoding="utf-8"?>
<a:theme xmlns:a="http://schemas.openxmlformats.org/drawingml/2006/main" name="Туман">
  <a:themeElements>
    <a:clrScheme name="Туман">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Туман">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уман">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Туман</Template>
  <TotalTime>1940</TotalTime>
  <Words>10926</Words>
  <Application>Microsoft Office PowerPoint</Application>
  <PresentationFormat>Широкий екран</PresentationFormat>
  <Paragraphs>700</Paragraphs>
  <Slides>82</Slides>
  <Notes>0</Notes>
  <HiddenSlides>0</HiddenSlides>
  <MMClips>0</MMClips>
  <ScaleCrop>false</ScaleCrop>
  <HeadingPairs>
    <vt:vector size="6" baseType="variant">
      <vt:variant>
        <vt:lpstr>Використані шрифти</vt:lpstr>
      </vt:variant>
      <vt:variant>
        <vt:i4>4</vt:i4>
      </vt:variant>
      <vt:variant>
        <vt:lpstr>Тема</vt:lpstr>
      </vt:variant>
      <vt:variant>
        <vt:i4>1</vt:i4>
      </vt:variant>
      <vt:variant>
        <vt:lpstr>Заголовки слайдів</vt:lpstr>
      </vt:variant>
      <vt:variant>
        <vt:i4>82</vt:i4>
      </vt:variant>
    </vt:vector>
  </HeadingPairs>
  <TitlesOfParts>
    <vt:vector size="87" baseType="lpstr">
      <vt:lpstr>Arial</vt:lpstr>
      <vt:lpstr>Arial Unicode MS</vt:lpstr>
      <vt:lpstr>Calibri</vt:lpstr>
      <vt:lpstr>Century Gothic</vt:lpstr>
      <vt:lpstr>Туман</vt:lpstr>
      <vt:lpstr>Лекція 6. Робота з АРІ </vt:lpstr>
      <vt:lpstr>Що таке API?</vt:lpstr>
      <vt:lpstr>Приклад api</vt:lpstr>
      <vt:lpstr>Асоціації</vt:lpstr>
      <vt:lpstr>Навіщо потрібні api?</vt:lpstr>
      <vt:lpstr>АРІ і Завдання автоматизації</vt:lpstr>
      <vt:lpstr>АРІ та інтеграція даних</vt:lpstr>
      <vt:lpstr>АРІ та Функціональність</vt:lpstr>
      <vt:lpstr>Причини популярності АРІ</vt:lpstr>
      <vt:lpstr>Стилі Розробки API</vt:lpstr>
      <vt:lpstr>Синхронні АРІ</vt:lpstr>
      <vt:lpstr>Асинхронні АРІ</vt:lpstr>
      <vt:lpstr>Асинхронні АРІ</vt:lpstr>
      <vt:lpstr>Архітектурні стилі АРІ</vt:lpstr>
      <vt:lpstr>Стиль gRPC</vt:lpstr>
      <vt:lpstr>Стиль gRPC</vt:lpstr>
      <vt:lpstr>Стиль SOAP</vt:lpstr>
      <vt:lpstr>Стиль SOAP</vt:lpstr>
      <vt:lpstr>Стиль SOAP</vt:lpstr>
      <vt:lpstr>Стиль GraphQL</vt:lpstr>
      <vt:lpstr>Стиль GraphQL</vt:lpstr>
      <vt:lpstr>Стиль GraphQL</vt:lpstr>
      <vt:lpstr>Стиль GraphQL</vt:lpstr>
      <vt:lpstr>Стиль Websocket</vt:lpstr>
      <vt:lpstr>Стиль Websocket</vt:lpstr>
      <vt:lpstr>Стиль rest </vt:lpstr>
      <vt:lpstr>Стиль Rest</vt:lpstr>
      <vt:lpstr>СТИЛЬ RESt</vt:lpstr>
      <vt:lpstr>Стиль REST</vt:lpstr>
      <vt:lpstr>Стиль Rest</vt:lpstr>
      <vt:lpstr>Вступ до REST APIs </vt:lpstr>
      <vt:lpstr>REST API Requests </vt:lpstr>
      <vt:lpstr>REST API Requests </vt:lpstr>
      <vt:lpstr>REST API Requests </vt:lpstr>
      <vt:lpstr>REST API Requests </vt:lpstr>
      <vt:lpstr>REST API Requests </vt:lpstr>
      <vt:lpstr>REST API Requests </vt:lpstr>
      <vt:lpstr>REST API Requests </vt:lpstr>
      <vt:lpstr>REST API Requests </vt:lpstr>
      <vt:lpstr>REST API Requests </vt:lpstr>
      <vt:lpstr>REST API Requests </vt:lpstr>
      <vt:lpstr>REST API Requests </vt:lpstr>
      <vt:lpstr>REST API Requests </vt:lpstr>
      <vt:lpstr>REST API Requests </vt:lpstr>
      <vt:lpstr>REST API Requests </vt:lpstr>
      <vt:lpstr>REST API Requests </vt:lpstr>
      <vt:lpstr>Аутентифікація REST API</vt:lpstr>
      <vt:lpstr>Аутентифікація REST API</vt:lpstr>
      <vt:lpstr>Авторизація REST API</vt:lpstr>
      <vt:lpstr>Механізми Аутентифікації REST API</vt:lpstr>
      <vt:lpstr>API key </vt:lpstr>
      <vt:lpstr>Механізми авторизації  </vt:lpstr>
      <vt:lpstr>Обмеження швидкості (Rate Limits)</vt:lpstr>
      <vt:lpstr>Алгоритми обмеження швидкості  </vt:lpstr>
      <vt:lpstr>Алгоритми обмеження швидкості  </vt:lpstr>
      <vt:lpstr>Алгоритми обмеження швидкості  </vt:lpstr>
      <vt:lpstr>Алгоритми обмеження швидкості  </vt:lpstr>
      <vt:lpstr>Обмеження швидкості (Rate Limits)</vt:lpstr>
      <vt:lpstr>webhook</vt:lpstr>
      <vt:lpstr>webhook</vt:lpstr>
      <vt:lpstr>webhook</vt:lpstr>
      <vt:lpstr>Виправлення помилок у REST API запитах </vt:lpstr>
      <vt:lpstr>Виправлення помилок у REST API запитах </vt:lpstr>
      <vt:lpstr>Виправлення помилок у REST API запитах </vt:lpstr>
      <vt:lpstr>Виправлення помилок у REST API запитах </vt:lpstr>
      <vt:lpstr>Виправлення помилок у REST API запитах </vt:lpstr>
      <vt:lpstr>Виправлення помилок у REST API запитах </vt:lpstr>
      <vt:lpstr>Виправлення помилок у REST API запитах </vt:lpstr>
      <vt:lpstr>Інтерпретація кодів статусу </vt:lpstr>
      <vt:lpstr>Інтерпретація кодів статусу </vt:lpstr>
      <vt:lpstr>Інтерпретація кодів статусу </vt:lpstr>
      <vt:lpstr>Інтерпретація кодів статусу </vt:lpstr>
      <vt:lpstr>Презентація PowerPoint</vt:lpstr>
      <vt:lpstr>Інтерпретація кодів статусу </vt:lpstr>
      <vt:lpstr>Інтерпретація кодів статусу </vt:lpstr>
      <vt:lpstr>Інтерпретація кодів статусу </vt:lpstr>
      <vt:lpstr>Інтерпретація кодів статусу </vt:lpstr>
      <vt:lpstr>Інтерпретація кодів статусу </vt:lpstr>
      <vt:lpstr>Інтерпретація кодів статусу </vt:lpstr>
      <vt:lpstr>Інтерпретація кодів статусу </vt:lpstr>
      <vt:lpstr>Інтерпретація кодів статусу </vt:lpstr>
      <vt:lpstr>Презентація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ЛЕКЦІЯ 3 Understanding and Using APIs Content</dc:title>
  <dc:creator>Пользователь Windows</dc:creator>
  <cp:lastModifiedBy>Олександра Лисецька</cp:lastModifiedBy>
  <cp:revision>51</cp:revision>
  <dcterms:created xsi:type="dcterms:W3CDTF">2022-02-18T10:35:48Z</dcterms:created>
  <dcterms:modified xsi:type="dcterms:W3CDTF">2026-03-20T09:36:11Z</dcterms:modified>
</cp:coreProperties>
</file>