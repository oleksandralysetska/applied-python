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26"/>
  </p:notesMasterIdLst>
  <p:sldIdLst>
    <p:sldId id="256" r:id="rId2"/>
    <p:sldId id="287" r:id="rId3"/>
    <p:sldId id="288" r:id="rId4"/>
    <p:sldId id="289" r:id="rId5"/>
    <p:sldId id="290" r:id="rId6"/>
    <p:sldId id="291" r:id="rId7"/>
    <p:sldId id="293" r:id="rId8"/>
    <p:sldId id="292" r:id="rId9"/>
    <p:sldId id="297" r:id="rId10"/>
    <p:sldId id="294" r:id="rId11"/>
    <p:sldId id="274" r:id="rId12"/>
    <p:sldId id="299" r:id="rId13"/>
    <p:sldId id="295" r:id="rId14"/>
    <p:sldId id="296" r:id="rId15"/>
    <p:sldId id="300" r:id="rId16"/>
    <p:sldId id="301" r:id="rId17"/>
    <p:sldId id="302" r:id="rId18"/>
    <p:sldId id="304" r:id="rId19"/>
    <p:sldId id="303" r:id="rId20"/>
    <p:sldId id="305" r:id="rId21"/>
    <p:sldId id="308" r:id="rId22"/>
    <p:sldId id="306" r:id="rId23"/>
    <p:sldId id="307" r:id="rId24"/>
    <p:sldId id="28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Світлий стиль 2 –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Помірний стиль 2 –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Помір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Помірний стиль 3 –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Помірний стиль 2 –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Помірний стиль 2 –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Стиль із теми 1 –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799B23B-EC83-4686-B30A-512413B5E67A}" styleName="Світлий стиль 3 –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06216-6FAB-4FA7-87D4-0EF0A94BF17C}" type="datetimeFigureOut">
              <a:rPr lang="uk-UA" smtClean="0"/>
              <a:t>05.03.2026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5176E-ED6F-4CC0-8531-860075CBA9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817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826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749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3336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776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759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285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229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021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073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790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9951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82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Lec%204%20prog/regex2_1.p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Lec%204%20prog/regex2_2.py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Lec%204%20prog/regex2_3_token.p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-course.eu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F0E3B-0496-EEF5-A9C4-F14DF1CC9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4742" y="1581326"/>
            <a:ext cx="6705067" cy="3779568"/>
          </a:xfrm>
        </p:spPr>
        <p:txBody>
          <a:bodyPr anchor="ctr">
            <a:normAutofit/>
          </a:bodyPr>
          <a:lstStyle/>
          <a:p>
            <a:pPr algn="l"/>
            <a:r>
              <a:rPr lang="uk-UA" sz="89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Лекція </a:t>
            </a:r>
            <a:r>
              <a:rPr lang="en-US" sz="89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4</a:t>
            </a:r>
            <a:br>
              <a:rPr lang="uk-UA" sz="89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uk-UA" sz="89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РЕГУЛЯРНІ ВИРАЗИ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AC98E54-4B51-B690-B38F-201F6F617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365" y="2184951"/>
            <a:ext cx="2479588" cy="2572320"/>
          </a:xfrm>
        </p:spPr>
        <p:txBody>
          <a:bodyPr anchor="ctr">
            <a:normAutofit/>
          </a:bodyPr>
          <a:lstStyle/>
          <a:p>
            <a:pPr algn="r"/>
            <a:r>
              <a:rPr lang="uk-UA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Синтаксис, 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r-</a:t>
            </a:r>
            <a:r>
              <a:rPr lang="uk-UA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рядки, модуль 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</a:t>
            </a:r>
            <a:endParaRPr lang="uk-UA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6347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04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DE306-0979-3269-2163-810DF5D87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uk-UA" sz="4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Групування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64B9182-B7EE-F77C-7DED-224FD1940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822960"/>
            <a:ext cx="5235760" cy="4754880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uk-UA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Ми вже бачили, що у класі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re.Match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існує метод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group()</a:t>
            </a:r>
            <a:r>
              <a:rPr lang="uk-UA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який дозволяє отримати </a:t>
            </a:r>
            <a:r>
              <a:rPr lang="uk-UA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підрядок</a:t>
            </a:r>
            <a:r>
              <a:rPr lang="uk-UA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який відповідає певному шаблону. Досі ми викликали цей метод без аргументів, проте </a:t>
            </a:r>
            <a:r>
              <a:rPr lang="uk-UA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логічно</a:t>
            </a:r>
            <a:r>
              <a:rPr lang="uk-UA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припустити із назви методу, що він насправді дозволяє працювати з групами рядків, що відповідають шаблону.</a:t>
            </a:r>
          </a:p>
          <a:p>
            <a:pPr marL="0" indent="0">
              <a:buNone/>
            </a:pPr>
            <a:r>
              <a:rPr lang="uk-UA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утворення групування слід взяти у круглі дужки () ту частину шаблону, з якої потрібно утворити групу.</a:t>
            </a:r>
          </a:p>
          <a:p>
            <a:pPr marL="0" indent="0">
              <a:buNone/>
            </a:pPr>
            <a:r>
              <a:rPr lang="uk-UA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Наприклад, щоб створити шаблон дати у форматі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dd/mm/YYYY</a:t>
            </a:r>
            <a:r>
              <a:rPr lang="uk-UA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 виділенням підгруп для днів, місяці та років, можна скористатись таким регулярним виразом:</a:t>
            </a:r>
          </a:p>
          <a:p>
            <a:pPr marL="0" indent="0" algn="ctr">
              <a:buNone/>
            </a:pPr>
            <a:r>
              <a:rPr lang="en-US" sz="2400" b="1" dirty="0">
                <a:highlight>
                  <a:srgbClr val="008000"/>
                </a:highlight>
              </a:rPr>
              <a:t>(\d{2})</a:t>
            </a:r>
            <a:r>
              <a:rPr lang="en-US" sz="2400" dirty="0">
                <a:highlight>
                  <a:srgbClr val="008000"/>
                </a:highlight>
              </a:rPr>
              <a:t>\/</a:t>
            </a:r>
            <a:r>
              <a:rPr lang="en-US" sz="2400" b="1" dirty="0">
                <a:highlight>
                  <a:srgbClr val="008000"/>
                </a:highlight>
              </a:rPr>
              <a:t>(\d{2})</a:t>
            </a:r>
            <a:r>
              <a:rPr lang="en-US" sz="2400" dirty="0">
                <a:highlight>
                  <a:srgbClr val="008000"/>
                </a:highlight>
              </a:rPr>
              <a:t>\/</a:t>
            </a:r>
            <a:r>
              <a:rPr lang="en-US" sz="2400" b="1" dirty="0">
                <a:highlight>
                  <a:srgbClr val="008000"/>
                </a:highlight>
              </a:rPr>
              <a:t>(\d{4})</a:t>
            </a:r>
            <a:endParaRPr lang="uk-UA" sz="2400" b="1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0981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C66E3-8143-EF44-6B94-0855FC04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203" y="1443390"/>
            <a:ext cx="3268216" cy="3405880"/>
          </a:xfrm>
        </p:spPr>
        <p:txBody>
          <a:bodyPr>
            <a:normAutofit/>
          </a:bodyPr>
          <a:lstStyle/>
          <a:p>
            <a:r>
              <a:rPr lang="uk-UA" sz="47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Групування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CC6EB2C-805C-FA05-1058-32A2B6622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1266614"/>
            <a:ext cx="5769224" cy="37594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2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Круглі дужки також використовуються для звичайного об’єднання частин шаблону при визначенні варіантів.</a:t>
            </a:r>
          </a:p>
          <a:p>
            <a:pPr marL="0" indent="0">
              <a:buNone/>
            </a:pPr>
            <a:endParaRPr lang="uk-UA" sz="2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випадку, якщо потрібно об’єднати декілька частин шаблону без явного виділення підгруп, потрібно після дужки (, що відкриває послідовність, вказати знак питання та двокрапку:</a:t>
            </a:r>
          </a:p>
          <a:p>
            <a:pPr marL="0" indent="0">
              <a:buNone/>
            </a:pPr>
            <a:r>
              <a:rPr lang="uk-UA" sz="2200" b="1">
                <a:highlight>
                  <a:srgbClr val="008000"/>
                </a:highlight>
              </a:rPr>
              <a:t>(?: шаблон) </a:t>
            </a:r>
          </a:p>
        </p:txBody>
      </p:sp>
    </p:spTree>
    <p:extLst>
      <p:ext uri="{BB962C8B-B14F-4D97-AF65-F5344CB8AC3E}">
        <p14:creationId xmlns:p14="http://schemas.microsoft.com/office/powerpoint/2010/main" val="1684930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3D008A-7489-9D08-9F55-D598AC4F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uk-UA">
                <a:solidFill>
                  <a:schemeClr val="tx1">
                    <a:lumMod val="85000"/>
                    <a:lumOff val="1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Групування</a:t>
            </a:r>
          </a:p>
        </p:txBody>
      </p:sp>
      <p:sp>
        <p:nvSpPr>
          <p:cNvPr id="7" name="Місце для вмісту 2">
            <a:extLst>
              <a:ext uri="{FF2B5EF4-FFF2-40B4-BE49-F238E27FC236}">
                <a16:creationId xmlns:a16="http://schemas.microsoft.com/office/drawing/2014/main" id="{4C234B46-3910-9388-BE5B-479E12919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6" y="2473053"/>
            <a:ext cx="10486004" cy="3320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Як ми вже згадували, для того, щоб повернути виділену підгрупу можна скористатись методом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group()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вказуючи в якості аргументу порядковий номер шуканої підгрупи у шаблоні (нумерація підгруп починається з 1).</a:t>
            </a:r>
          </a:p>
          <a:p>
            <a:pPr marL="0" indent="0">
              <a:buNone/>
            </a:pPr>
            <a:endParaRPr lang="uk-UA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Наприклад, для шаблону дати 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008000"/>
                </a:highlight>
              </a:rPr>
              <a:t>date=(\d{2})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008000"/>
                </a:highlight>
              </a:rPr>
              <a:t>\/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008000"/>
                </a:highlight>
              </a:rPr>
              <a:t>(\d{2})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008000"/>
                </a:highlight>
              </a:rPr>
              <a:t>\/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008000"/>
                </a:highlight>
              </a:rPr>
              <a:t>(\d{4})</a:t>
            </a:r>
            <a:r>
              <a:rPr lang="uk-UA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команда </a:t>
            </a:r>
            <a:r>
              <a:rPr lang="en-US" sz="1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date.group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поверне день, а </a:t>
            </a:r>
            <a:r>
              <a:rPr lang="en-US" sz="1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date.group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(2)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місяць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date.group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(3)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рік.</a:t>
            </a:r>
          </a:p>
          <a:p>
            <a:pPr marL="0" indent="0">
              <a:buNone/>
            </a:pPr>
            <a:endParaRPr lang="uk-UA" sz="1700" b="1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випадку, якщо потрібно отримати значення всіх шаблонів одночасно, можна скористатись методом 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groups()</a:t>
            </a:r>
            <a:r>
              <a:rPr lang="uk-UA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який повертає кортеж з усіма підгрупами знайденими за шаблоном.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4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C3547-BFA6-C382-A264-5D815BCB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Групування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F2B7438-E20F-872D-BA34-1F93D8487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основі задачі про навчальний заклад, що була розглянута на минулій лекції. Розглянемо такий приклад.</a:t>
            </a:r>
          </a:p>
          <a:p>
            <a:pPr marL="0" indent="0" algn="just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Декілька навчальних закладів у текстових файлах збирають інформацію про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своїх студентів.</a:t>
            </a:r>
          </a:p>
          <a:p>
            <a:pPr marL="0" indent="0" algn="just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файлах містяться дані про: ПІП студента, номер студентського квитка, дату народження, телефон.</a:t>
            </a:r>
          </a:p>
          <a:p>
            <a:pPr marL="0" indent="0" algn="just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Побудувати словник, ключами якого є номери студентських квитків, а значеннями – відповідна інформація про студентів.</a:t>
            </a:r>
          </a:p>
          <a:p>
            <a:pPr marL="0" indent="0" algn="just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Перевірити правильність інформації.</a:t>
            </a:r>
          </a:p>
          <a:p>
            <a:pPr marL="0" indent="0" algn="just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Відомо, що кожен заклад записує дату народження у різному форматі. Можливі очікувані формати даних у файлах: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>
              <a:solidFill>
                <a:srgbClr val="F0532B"/>
              </a:solidFill>
              <a:hlinkClick r:id="rId2" action="ppaction://hlinkfile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dirty="0">
              <a:solidFill>
                <a:srgbClr val="F0532B"/>
              </a:solidFill>
              <a:hlinkClick r:id="rId2" action="ppaction://hlinkfile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dirty="0">
              <a:solidFill>
                <a:srgbClr val="F0532B"/>
              </a:solidFill>
              <a:hlinkClick r:id="rId2" action="ppaction://hlinkfile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sz="3200" dirty="0">
              <a:solidFill>
                <a:srgbClr val="00B050"/>
              </a:solidFill>
              <a:hlinkClick r:id="rId2" action="ppaction://hlinkfile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uk-UA" sz="3200" dirty="0">
                <a:solidFill>
                  <a:srgbClr val="00B05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Розв’язок</a:t>
            </a:r>
            <a:r>
              <a:rPr lang="uk-UA" dirty="0"/>
              <a:t>.</a:t>
            </a: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545ADF69-4547-074F-317A-1FC1D0232525}"/>
              </a:ext>
            </a:extLst>
          </p:cNvPr>
          <p:cNvSpPr/>
          <p:nvPr/>
        </p:nvSpPr>
        <p:spPr>
          <a:xfrm>
            <a:off x="1347016" y="3804649"/>
            <a:ext cx="8809703" cy="3932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Прізвище Ім’я По-батькові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uk-UA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12345678 </a:t>
            </a:r>
            <a:r>
              <a:rPr lang="uk-UA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01.01.2005</a:t>
            </a:r>
            <a:r>
              <a:rPr lang="uk-UA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+380 (00) 000 0000</a:t>
            </a:r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0DF573C2-5B3D-56D6-48C0-0F82325E4CDB}"/>
              </a:ext>
            </a:extLst>
          </p:cNvPr>
          <p:cNvSpPr/>
          <p:nvPr/>
        </p:nvSpPr>
        <p:spPr>
          <a:xfrm>
            <a:off x="1347015" y="4284572"/>
            <a:ext cx="8809703" cy="3932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Прізвище Ім’я По-батькові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LP</a:t>
            </a:r>
            <a:r>
              <a:rPr lang="uk-UA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12345678 </a:t>
            </a:r>
            <a:r>
              <a:rPr lang="uk-UA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uk-UA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uk-UA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2005 </a:t>
            </a:r>
            <a:r>
              <a:rPr lang="uk-UA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+380 (00) 000 0000</a:t>
            </a: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CBC3AE32-2432-D101-D1E5-97C2E1C5883C}"/>
              </a:ext>
            </a:extLst>
          </p:cNvPr>
          <p:cNvSpPr/>
          <p:nvPr/>
        </p:nvSpPr>
        <p:spPr>
          <a:xfrm>
            <a:off x="1347014" y="4677862"/>
            <a:ext cx="8809703" cy="3932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Прізвище Ім’я По-батькові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KM</a:t>
            </a:r>
            <a:r>
              <a:rPr lang="uk-UA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12345678 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2005-01-01</a:t>
            </a:r>
            <a:r>
              <a:rPr lang="uk-UA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+380 (00) 000 0000</a:t>
            </a:r>
          </a:p>
        </p:txBody>
      </p:sp>
    </p:spTree>
    <p:extLst>
      <p:ext uri="{BB962C8B-B14F-4D97-AF65-F5344CB8AC3E}">
        <p14:creationId xmlns:p14="http://schemas.microsoft.com/office/powerpoint/2010/main" val="385938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2E614-B138-520C-956D-FC12EC6D7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uk-UA" sz="24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Зміна рядків за допомогою функцій та методів класу </a:t>
            </a:r>
            <a:r>
              <a:rPr lang="en-US" sz="240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re.Pattern</a:t>
            </a:r>
            <a:endParaRPr lang="uk-UA" sz="24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87055F7-3C2C-776C-8B0D-4636E31C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Можливості модуля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 </a:t>
            </a:r>
            <a:r>
              <a:rPr lang="uk-UA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 обмежуються лише простим знаходженням шаблонів у тексті. За допомогою його функцій та методів можна також здійснювати зміни у рядках згідно з шаблоном регулярного виразу.</a:t>
            </a:r>
          </a:p>
          <a:p>
            <a:pPr marL="0" indent="0">
              <a:buNone/>
            </a:pPr>
            <a:endParaRPr lang="uk-UA" sz="2000" dirty="0"/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09CE541E-5A71-48E4-A98F-59F72C7C5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43341"/>
              </p:ext>
            </p:extLst>
          </p:nvPr>
        </p:nvGraphicFramePr>
        <p:xfrm>
          <a:off x="5445457" y="1032594"/>
          <a:ext cx="6155142" cy="4816556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490040">
                  <a:extLst>
                    <a:ext uri="{9D8B030D-6E8A-4147-A177-3AD203B41FA5}">
                      <a16:colId xmlns:a16="http://schemas.microsoft.com/office/drawing/2014/main" val="2114916990"/>
                    </a:ext>
                  </a:extLst>
                </a:gridCol>
                <a:gridCol w="3665102">
                  <a:extLst>
                    <a:ext uri="{9D8B030D-6E8A-4147-A177-3AD203B41FA5}">
                      <a16:colId xmlns:a16="http://schemas.microsoft.com/office/drawing/2014/main" val="1439078754"/>
                    </a:ext>
                  </a:extLst>
                </a:gridCol>
              </a:tblGrid>
              <a:tr h="346289">
                <a:tc>
                  <a:txBody>
                    <a:bodyPr/>
                    <a:lstStyle/>
                    <a:p>
                      <a:pPr algn="ctr"/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Функція (метод)</a:t>
                      </a:r>
                    </a:p>
                  </a:txBody>
                  <a:tcPr marL="78702" marR="78702" marT="39351" marB="393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Опис дії</a:t>
                      </a:r>
                    </a:p>
                  </a:txBody>
                  <a:tcPr marL="78702" marR="78702" marT="39351" marB="39351" anchor="ctr"/>
                </a:tc>
                <a:extLst>
                  <a:ext uri="{0D108BD9-81ED-4DB2-BD59-A6C34878D82A}">
                    <a16:rowId xmlns:a16="http://schemas.microsoft.com/office/drawing/2014/main" val="3460617487"/>
                  </a:ext>
                </a:extLst>
              </a:tr>
              <a:tr h="1999028">
                <a:tc>
                  <a:txBody>
                    <a:bodyPr/>
                    <a:lstStyle/>
                    <a:p>
                      <a:r>
                        <a:rPr lang="en-US" sz="1500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re.sub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(pattern, </a:t>
                      </a:r>
                      <a:r>
                        <a:rPr lang="en-US" sz="1500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repl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string, count=0, flags =0)</a:t>
                      </a:r>
                    </a:p>
                    <a:p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АБО</a:t>
                      </a:r>
                    </a:p>
                    <a:p>
                      <a:r>
                        <a:rPr lang="en-US" sz="1500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rgx.sub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</a:t>
                      </a:r>
                      <a:r>
                        <a:rPr lang="en-US" sz="1500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repl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string, count=0)</a:t>
                      </a:r>
                      <a:endParaRPr lang="uk-UA" sz="15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8702" marR="78702" marT="39351" marB="39351"/>
                </a:tc>
                <a:tc>
                  <a:txBody>
                    <a:bodyPr/>
                    <a:lstStyle/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Змінює у рядку 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string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усі рядки, що відповідають шаблону, на 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repl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 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Параметр 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count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відповідає за кількість замін, якщо він не 0. аргумент </a:t>
                      </a:r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repl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може бути рядком,  або функцією, що має один аргумент з класу </a:t>
                      </a:r>
                      <a:r>
                        <a:rPr lang="en-US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re.Match </a:t>
                      </a:r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і повертає змінений підрядок.</a:t>
                      </a:r>
                    </a:p>
                  </a:txBody>
                  <a:tcPr marL="78702" marR="78702" marT="39351" marB="39351"/>
                </a:tc>
                <a:extLst>
                  <a:ext uri="{0D108BD9-81ED-4DB2-BD59-A6C34878D82A}">
                    <a16:rowId xmlns:a16="http://schemas.microsoft.com/office/drawing/2014/main" val="211461415"/>
                  </a:ext>
                </a:extLst>
              </a:tr>
              <a:tr h="2471239"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re.split(pattern, string, maxsplit=0, flags =0)</a:t>
                      </a:r>
                    </a:p>
                    <a:p>
                      <a:r>
                        <a:rPr lang="uk-UA" sz="15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АБО</a:t>
                      </a:r>
                    </a:p>
                    <a:p>
                      <a:r>
                        <a:rPr lang="en-US" sz="1500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rgx.split(string, maxsplit=0)</a:t>
                      </a:r>
                      <a:endParaRPr lang="uk-UA" sz="1500" b="1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endParaRPr lang="uk-UA" sz="15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78702" marR="78702" marT="39351" marB="39351"/>
                </a:tc>
                <a:tc>
                  <a:txBody>
                    <a:bodyPr/>
                    <a:lstStyle/>
                    <a:p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Дозволяє розділити рядок </a:t>
                      </a:r>
                      <a:r>
                        <a:rPr lang="en-US" sz="15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string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на </a:t>
                      </a:r>
                      <a:r>
                        <a:rPr lang="uk-UA" sz="15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підрядки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використовуючи у якості рядків-роздільників </a:t>
                      </a:r>
                      <a:r>
                        <a:rPr lang="uk-UA" sz="15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підрядки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що відповідають шаблону. У результаті повертає список </a:t>
                      </a:r>
                      <a:r>
                        <a:rPr lang="uk-UA" sz="15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підрядків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що утворились після поділу. Параметр </a:t>
                      </a:r>
                      <a:r>
                        <a:rPr lang="en-US" sz="1500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maxsplit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(якщо не 0)</a:t>
                      </a:r>
                      <a:r>
                        <a:rPr lang="en-US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uk-UA" sz="15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вказує на максимальну кількість рядків, що може бути утворена у результаті поділу.</a:t>
                      </a:r>
                    </a:p>
                  </a:txBody>
                  <a:tcPr marL="78702" marR="78702" marT="39351" marB="39351"/>
                </a:tc>
                <a:extLst>
                  <a:ext uri="{0D108BD9-81ED-4DB2-BD59-A6C34878D82A}">
                    <a16:rowId xmlns:a16="http://schemas.microsoft.com/office/drawing/2014/main" val="2130846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628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5CBDB-77F4-D235-014F-6DAEE658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14B0-704D-4D41-E847-4B5A3A47A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uk-UA" sz="4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Зміна рядків за допомогою функцій та методів класу </a:t>
            </a:r>
            <a:r>
              <a:rPr lang="en-US" sz="4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re.Pattern</a:t>
            </a:r>
            <a:endParaRPr lang="uk-UA" sz="41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328373B-0263-E5F3-633D-6F62ED467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Легко зауважити, що </a:t>
            </a:r>
            <a:r>
              <a:rPr lang="en-US" sz="17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sub</a:t>
            </a:r>
            <a:r>
              <a:rPr lang="uk-UA" sz="17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()</a:t>
            </a:r>
            <a:r>
              <a:rPr lang="en-US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 </a:t>
            </a:r>
            <a:r>
              <a:rPr lang="en-US" sz="17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split</a:t>
            </a:r>
            <a:r>
              <a:rPr lang="uk-UA" sz="17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()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діють схожим чином, як і методи рядків </a:t>
            </a:r>
            <a:r>
              <a:rPr lang="en-US" sz="17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replace()</a:t>
            </a:r>
            <a:r>
              <a:rPr lang="en-US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 </a:t>
            </a:r>
            <a:r>
              <a:rPr lang="en-US" sz="17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split(),</a:t>
            </a:r>
            <a:r>
              <a:rPr lang="en-US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відповідно.</a:t>
            </a:r>
          </a:p>
          <a:p>
            <a:pPr marL="0" indent="0">
              <a:buNone/>
            </a:pP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Але функції модуля </a:t>
            </a:r>
            <a:r>
              <a:rPr lang="en-US" sz="1700" dirty="0">
                <a:ea typeface="Roboto" panose="02000000000000000000" pitchFamily="2" charset="0"/>
                <a:cs typeface="Roboto" panose="02000000000000000000" pitchFamily="2" charset="0"/>
              </a:rPr>
              <a:t>re</a:t>
            </a:r>
            <a:r>
              <a:rPr lang="en-US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є потужнішими та гнучкішими за своїх відповідників для рядків.</a:t>
            </a:r>
          </a:p>
          <a:p>
            <a:pPr marL="0" indent="0">
              <a:buNone/>
            </a:pP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Наприклад </a:t>
            </a:r>
            <a:endParaRPr lang="en-US" sz="17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buNone/>
            </a:pPr>
            <a:r>
              <a:rPr lang="en-US" sz="2400" b="1" dirty="0" err="1">
                <a:solidFill>
                  <a:srgbClr val="00B05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re.split</a:t>
            </a:r>
            <a:r>
              <a:rPr lang="en-US" sz="2400" b="1" dirty="0">
                <a:solidFill>
                  <a:srgbClr val="00B05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b="1" dirty="0" err="1">
                <a:solidFill>
                  <a:srgbClr val="00B05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r`aieouAIEOU</a:t>
            </a:r>
            <a:r>
              <a:rPr lang="en-US" sz="2400" b="1" dirty="0">
                <a:solidFill>
                  <a:srgbClr val="00B05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’, line) </a:t>
            </a:r>
          </a:p>
          <a:p>
            <a:pPr marL="0" indent="0">
              <a:buNone/>
            </a:pP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розіб’є рядок </a:t>
            </a:r>
            <a:r>
              <a:rPr lang="en-US" sz="17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line</a:t>
            </a:r>
            <a:r>
              <a:rPr lang="en-US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 латинських голосних літерах.</a:t>
            </a:r>
          </a:p>
          <a:p>
            <a:pPr marL="0" indent="0">
              <a:buNone/>
            </a:pPr>
            <a:r>
              <a:rPr lang="uk-UA" sz="1700" dirty="0"/>
              <a:t> </a:t>
            </a:r>
            <a:r>
              <a:rPr lang="en-US" sz="1700" dirty="0"/>
              <a:t> </a:t>
            </a:r>
            <a:endParaRPr lang="uk-UA" sz="1700" dirty="0"/>
          </a:p>
        </p:txBody>
      </p:sp>
    </p:spTree>
    <p:extLst>
      <p:ext uri="{BB962C8B-B14F-4D97-AF65-F5344CB8AC3E}">
        <p14:creationId xmlns:p14="http://schemas.microsoft.com/office/powerpoint/2010/main" val="368061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82E74-D416-4045-ADF6-0706CD489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Зміна рядків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AA58EA-8513-4222-89A0-5505D0710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Повернемось знову до задачі про навчальні заклади. Нехай тепер крім даних з уже відомих нам ЗВО ми отримали дані з нових </a:t>
            </a:r>
            <a:r>
              <a:rPr lang="uk-UA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зкладів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які ставляться до заповнення своєї бази студентів не дуже ретельно.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>
              <a:buNone/>
            </a:pP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Дата може бути записана у форматах </a:t>
            </a:r>
            <a:r>
              <a:rPr lang="en-US" dirty="0" err="1">
                <a:solidFill>
                  <a:srgbClr val="96BE7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dd</a:t>
            </a:r>
            <a:r>
              <a:rPr lang="en-US" dirty="0" err="1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.mm.</a:t>
            </a:r>
            <a:r>
              <a:rPr lang="en-US" dirty="0" err="1">
                <a:solidFill>
                  <a:srgbClr val="96BE7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yyyy</a:t>
            </a:r>
            <a:r>
              <a:rPr lang="uk-UA" dirty="0">
                <a:solidFill>
                  <a:srgbClr val="96BE7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dd/mm/</a:t>
            </a:r>
            <a:r>
              <a:rPr lang="en-US" dirty="0" err="1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yyyy</a:t>
            </a:r>
            <a:r>
              <a:rPr lang="en-US" dirty="0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dirty="0" err="1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yyyy</a:t>
            </a:r>
            <a:r>
              <a:rPr lang="en-US" dirty="0">
                <a:solidFill>
                  <a:srgbClr val="96BE7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-mm-dd</a:t>
            </a:r>
          </a:p>
          <a:p>
            <a:pPr marL="0" indent="0" algn="just">
              <a:buNone/>
            </a:pPr>
            <a:endParaRPr lang="en-US" dirty="0">
              <a:solidFill>
                <a:srgbClr val="AFB9C3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uk-UA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Також день та/або місяць можуть складатись з одніє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ї цифри замість двох.</a:t>
            </a:r>
          </a:p>
          <a:p>
            <a:pPr marL="0" indent="0" algn="just">
              <a:buNone/>
            </a:pPr>
            <a:endParaRPr lang="uk-UA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uk-UA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Трапляються записи, де номер телефону вказаний без вказання знаку +, </a:t>
            </a:r>
            <a:r>
              <a:rPr lang="en-US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або зовсім без коду країни - +380.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dirty="0">
              <a:effectLst/>
            </a:endParaRPr>
          </a:p>
          <a:p>
            <a:pPr marL="0" indent="0">
              <a:buNone/>
            </a:pPr>
            <a:endParaRPr lang="en-US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2547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3509A-C1DA-2BE3-B6C4-F3D566B9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7E435-A3E6-E560-88D0-F69B3997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Зміна рядків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50D08AE-32C6-FB1A-9992-93893D939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uk-UA" dirty="0"/>
              <a:t>На основі попередньої програми потрібно:</a:t>
            </a:r>
          </a:p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uk-UA" dirty="0"/>
          </a:p>
          <a:p>
            <a:pPr>
              <a:buSzPct val="178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uk-UA" sz="2800" dirty="0"/>
              <a:t>Привести шаблони для перевірки дати до відповідності;</a:t>
            </a:r>
          </a:p>
          <a:p>
            <a:pPr>
              <a:buSzPct val="178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uk-UA" sz="2800" dirty="0">
                <a:effectLst/>
              </a:rPr>
              <a:t>Звести всі телефонні номери до єдиного формату </a:t>
            </a:r>
            <a:r>
              <a:rPr lang="uk-UA" dirty="0">
                <a:solidFill>
                  <a:srgbClr val="92D050"/>
                </a:solidFill>
                <a:latin typeface="JetBrains Mono Medium"/>
              </a:rPr>
              <a:t>+380 (00) 000 0000</a:t>
            </a:r>
            <a:r>
              <a:rPr lang="uk-UA" dirty="0">
                <a:latin typeface="JetBrains Mono Medium"/>
              </a:rPr>
              <a:t>.</a:t>
            </a:r>
            <a:endParaRPr lang="en-US" sz="2800" dirty="0">
              <a:effectLst/>
            </a:endParaRPr>
          </a:p>
          <a:p>
            <a:pPr>
              <a:buSzPct val="178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uk-UA" sz="2800" dirty="0">
                <a:effectLst/>
                <a:latin typeface="JetBrains Mono Medium"/>
              </a:rPr>
              <a:t>Звести дати єдиного формату </a:t>
            </a:r>
            <a:r>
              <a:rPr lang="en-US" sz="2800" dirty="0" err="1">
                <a:solidFill>
                  <a:srgbClr val="92D050"/>
                </a:solidFill>
                <a:effectLst/>
                <a:latin typeface="JetBrains Mono Medium"/>
              </a:rPr>
              <a:t>dd.mm.yyyy</a:t>
            </a:r>
            <a:r>
              <a:rPr lang="en-US" sz="2800" dirty="0"/>
              <a:t>.</a:t>
            </a:r>
          </a:p>
          <a:p>
            <a:pPr>
              <a:buSzPct val="178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uk-UA" sz="2800" dirty="0"/>
              <a:t>З метою пришвидшення роботи програми не викликати помилку при знаходженні неправильного запису, а записувати такі дані у окремий </a:t>
            </a:r>
            <a:r>
              <a:rPr lang="uk-UA" sz="2800" dirty="0" err="1"/>
              <a:t>лог</a:t>
            </a:r>
            <a:r>
              <a:rPr lang="uk-UA" sz="2800" dirty="0"/>
              <a:t>-файл.</a:t>
            </a:r>
          </a:p>
          <a:p>
            <a:pPr>
              <a:buSzPct val="178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uk-UA" sz="2800" dirty="0"/>
              <a:t>Відфільтрований словник з правильними даними записати у файл.</a:t>
            </a:r>
          </a:p>
          <a:p>
            <a:pPr marL="0" indent="0">
              <a:buSzPct val="178000"/>
              <a:buNone/>
            </a:pPr>
            <a:r>
              <a:rPr lang="uk-UA" sz="2800" dirty="0">
                <a:solidFill>
                  <a:srgbClr val="00B05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РОЗВ’ЯЗОК</a:t>
            </a:r>
            <a:r>
              <a:rPr lang="uk-UA" sz="2800" dirty="0"/>
              <a:t>.</a:t>
            </a:r>
          </a:p>
          <a:p>
            <a:pPr>
              <a:buSzPct val="178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2800" dirty="0">
              <a:effectLst/>
            </a:endParaRPr>
          </a:p>
          <a:p>
            <a:pPr marL="0" indent="0">
              <a:buNone/>
            </a:pPr>
            <a:endParaRPr lang="en-US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endParaRPr lang="uk-UA" i="1" dirty="0"/>
          </a:p>
        </p:txBody>
      </p:sp>
    </p:spTree>
    <p:extLst>
      <p:ext uri="{BB962C8B-B14F-4D97-AF65-F5344CB8AC3E}">
        <p14:creationId xmlns:p14="http://schemas.microsoft.com/office/powerpoint/2010/main" val="55710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735FA-9596-1C27-8847-BAD8ACF8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uk-UA" sz="4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ІМЕНОВАНІ ПІДГРУПИ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83D79CC-8E75-2284-D0ED-36B3D6899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935" y="1648870"/>
            <a:ext cx="5954297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зручності</a:t>
            </a:r>
            <a:r>
              <a:rPr lang="en-US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підгрупам у шаблонах можна задавати кастомні імена. Для цього потрібно у </a:t>
            </a:r>
            <a:r>
              <a:rPr lang="uk-UA" sz="15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кругрлих</a:t>
            </a: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дужках написати знак запитання, символ </a:t>
            </a: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P</a:t>
            </a:r>
            <a:r>
              <a:rPr lang="en-US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 власне ім’я у кутових дужках:</a:t>
            </a:r>
          </a:p>
          <a:p>
            <a:pPr marL="0" indent="0" algn="ctr">
              <a:buNone/>
            </a:pPr>
            <a:r>
              <a:rPr lang="uk-UA" sz="1800" dirty="0"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?P&lt;name&gt;</a:t>
            </a:r>
            <a:r>
              <a:rPr lang="uk-UA" sz="1800" dirty="0"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Наприклад у шаблоні дати </a:t>
            </a:r>
            <a:r>
              <a:rPr lang="uk-UA" sz="15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проіменуємо</a:t>
            </a: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підгрупи дня, місяця та року:</a:t>
            </a:r>
          </a:p>
          <a:p>
            <a:pPr marL="0" indent="0" algn="ctr">
              <a:buNone/>
            </a:pPr>
            <a:r>
              <a:rPr lang="en-US" sz="1800" b="1" dirty="0"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(?P&lt;day&gt;\d{2})</a:t>
            </a:r>
            <a:r>
              <a:rPr lang="en-US" sz="1800" dirty="0"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\/</a:t>
            </a:r>
            <a:r>
              <a:rPr lang="en-US" sz="1800" b="1" dirty="0"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(?P&lt;month&gt;\d{2})</a:t>
            </a:r>
            <a:r>
              <a:rPr lang="en-US" sz="1800" dirty="0"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\/</a:t>
            </a:r>
            <a:r>
              <a:rPr lang="en-US" sz="1800" b="1" dirty="0"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(?P&lt;year&gt;\d{4})</a:t>
            </a:r>
            <a:endParaRPr lang="uk-UA" sz="1800" b="1" dirty="0"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Якщо шаблон містить іменовані підгрупи, то у методі </a:t>
            </a: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group() </a:t>
            </a: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об’єкту класу </a:t>
            </a:r>
            <a:r>
              <a:rPr lang="en-US" sz="1500" dirty="0" err="1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re.Match</a:t>
            </a:r>
            <a:r>
              <a:rPr lang="uk-UA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можна отримати </a:t>
            </a:r>
            <a:r>
              <a:rPr lang="uk-UA" sz="15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підрядок</a:t>
            </a:r>
            <a:r>
              <a:rPr lang="uk-UA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що відповідає підгрупі, звернувшись за ім’ям: </a:t>
            </a:r>
            <a:r>
              <a:rPr lang="en-US" sz="1500" dirty="0" err="1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mt.group</a:t>
            </a:r>
            <a:r>
              <a:rPr lang="en-US" sz="1500" dirty="0"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(‘name’)</a:t>
            </a:r>
            <a:r>
              <a:rPr lang="en-US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endParaRPr lang="uk-UA" sz="1500" dirty="0"/>
          </a:p>
          <a:p>
            <a:pPr marL="0" indent="0">
              <a:buNone/>
            </a:pPr>
            <a:endParaRPr lang="uk-UA" sz="1500" dirty="0"/>
          </a:p>
        </p:txBody>
      </p:sp>
    </p:spTree>
    <p:extLst>
      <p:ext uri="{BB962C8B-B14F-4D97-AF65-F5344CB8AC3E}">
        <p14:creationId xmlns:p14="http://schemas.microsoft.com/office/powerpoint/2010/main" val="50582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33D9-81A9-55A4-63C2-FDC71D5E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4216FF62-7D6A-CA22-B66C-FADB6BBDE996}"/>
              </a:ext>
            </a:extLst>
          </p:cNvPr>
          <p:cNvSpPr/>
          <p:nvPr/>
        </p:nvSpPr>
        <p:spPr>
          <a:xfrm>
            <a:off x="0" y="2214880"/>
            <a:ext cx="11470640" cy="12141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uk-UA" sz="1800" b="1" dirty="0"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F5D526E-9A1B-276B-D623-EAF7BA3A38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60538" y="2597220"/>
            <a:ext cx="952689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2000" dirty="0"/>
              <a:t>Що отримаємо у результаті виконання коду: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Графіка 7" descr="Help with solid fill">
            <a:extLst>
              <a:ext uri="{FF2B5EF4-FFF2-40B4-BE49-F238E27FC236}">
                <a16:creationId xmlns:a16="http://schemas.microsoft.com/office/drawing/2014/main" id="{51C2417A-7581-6903-23B4-EA33B66E4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069" y="236474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BB90BA-7FB5-A514-2DCF-4CEDEE7F02AA}"/>
              </a:ext>
            </a:extLst>
          </p:cNvPr>
          <p:cNvSpPr txBox="1"/>
          <p:nvPr/>
        </p:nvSpPr>
        <p:spPr>
          <a:xfrm>
            <a:off x="2526891" y="3594819"/>
            <a:ext cx="6135328" cy="230832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date_pat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r'(?P&lt;day&gt;\d{2}).(?P&lt;month&gt;\d{2}).(?P&lt;year&gt;\d{4})'</a:t>
            </a:r>
            <a:br>
              <a:rPr lang="en-US" dirty="0">
                <a:solidFill>
                  <a:srgbClr val="96BE78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DATE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re.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compile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date_pat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text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'14.03.2025'</a:t>
            </a:r>
            <a:br>
              <a:rPr lang="en-US" dirty="0">
                <a:solidFill>
                  <a:srgbClr val="96BE78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96BE78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res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re.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search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(DATE, text)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res.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group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'day'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514791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65848-34E0-EB98-E148-29D0DA01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888613F2-3380-4AFB-76C1-D87C7F1028BC}"/>
              </a:ext>
            </a:extLst>
          </p:cNvPr>
          <p:cNvSpPr/>
          <p:nvPr/>
        </p:nvSpPr>
        <p:spPr>
          <a:xfrm>
            <a:off x="0" y="2214880"/>
            <a:ext cx="11470640" cy="12141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uk-UA" sz="1800" b="1" dirty="0"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66A30B4-DCAB-6EDC-EAF6-ACAFB01B67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60538" y="2597220"/>
            <a:ext cx="952689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uk-UA" altLang="uk-UA" sz="2000" dirty="0"/>
              <a:t>Що отримаємо у результаті виконання коду: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Графіка 7" descr="Help with solid fill">
            <a:extLst>
              <a:ext uri="{FF2B5EF4-FFF2-40B4-BE49-F238E27FC236}">
                <a16:creationId xmlns:a16="http://schemas.microsoft.com/office/drawing/2014/main" id="{BF08ED7C-380E-C839-9AF4-8AD93855E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069" y="236474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A961E7-CE91-DF0E-47D0-F5C6B9630F73}"/>
              </a:ext>
            </a:extLst>
          </p:cNvPr>
          <p:cNvSpPr txBox="1"/>
          <p:nvPr/>
        </p:nvSpPr>
        <p:spPr>
          <a:xfrm>
            <a:off x="2526891" y="3594819"/>
            <a:ext cx="6135328" cy="2308324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date_pat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r'(?P&lt;day&gt;\d{2}).(?P&lt;month&gt;\d{2}).(?P&lt;year&gt;\d{4})'</a:t>
            </a:r>
            <a:br>
              <a:rPr lang="en-US" dirty="0">
                <a:solidFill>
                  <a:srgbClr val="96BE78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DATE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re.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compile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date_pat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text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'14.03.2025'</a:t>
            </a:r>
            <a:br>
              <a:rPr lang="en-US" dirty="0">
                <a:solidFill>
                  <a:srgbClr val="96BE78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96BE78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res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re.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search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(DATE, text)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res.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group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'day’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))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# 14</a:t>
            </a:r>
            <a:endParaRPr lang="uk-UA" dirty="0">
              <a:solidFill>
                <a:srgbClr val="AFB9C3"/>
              </a:solidFill>
              <a:effectLst/>
              <a:latin typeface="JetBrains Mo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732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67672-EFBC-8757-CCBA-D689572D0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52097" cy="4480726"/>
          </a:xfrm>
        </p:spPr>
        <p:txBody>
          <a:bodyPr>
            <a:normAutofit/>
          </a:bodyPr>
          <a:lstStyle/>
          <a:p>
            <a:pPr algn="r"/>
            <a:r>
              <a:rPr lang="uk-UA" sz="3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Приклад: Обробка конфігураційних файлів</a:t>
            </a: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232" y="623275"/>
            <a:ext cx="6896595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50A1833-A718-3237-DBD3-384D389C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531" y="1714979"/>
            <a:ext cx="4859775" cy="34280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15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Конфігураційний файл складається з рядків, що задають значення певних параметрів програм.</a:t>
            </a:r>
          </a:p>
          <a:p>
            <a:pPr marL="0" indent="0">
              <a:buNone/>
            </a:pPr>
            <a:r>
              <a:rPr lang="uk-UA" sz="15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Кожен рядок файлу має вигляд </a:t>
            </a:r>
            <a:r>
              <a:rPr lang="en-US" sz="15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&lt;</a:t>
            </a:r>
            <a:r>
              <a:rPr lang="uk-UA" sz="15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ім’я</a:t>
            </a:r>
            <a:r>
              <a:rPr lang="en-US" sz="15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&gt;</a:t>
            </a:r>
            <a:r>
              <a:rPr lang="uk-UA" sz="15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</a:t>
            </a:r>
            <a:r>
              <a:rPr lang="en-US" sz="15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&lt;</a:t>
            </a:r>
            <a:r>
              <a:rPr lang="uk-UA" sz="15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значення</a:t>
            </a:r>
            <a:r>
              <a:rPr lang="en-US" sz="15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&gt;</a:t>
            </a:r>
            <a:r>
              <a:rPr lang="en-US" sz="15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uk-UA" sz="15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більшості великих систем є конфігураційні файли, оскільки вони дозволяють вносити зміни до програми без її перепрограмування.</a:t>
            </a:r>
          </a:p>
          <a:p>
            <a:pPr marL="0" indent="0">
              <a:buNone/>
            </a:pPr>
            <a:r>
              <a:rPr lang="uk-UA" sz="15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Зрозуміло, що програма повинна «передбачити», що її можна змінювати та аналізувати свої конфігураційні файли.</a:t>
            </a:r>
          </a:p>
          <a:p>
            <a:pPr marL="0" indent="0">
              <a:buNone/>
            </a:pPr>
            <a:r>
              <a:rPr lang="uk-UA" sz="15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Необхідно написати модуль, що аналізує конфігураційний файл та повертає словник з параметрами, у якому імена є ключами, а значення – значеннями.</a:t>
            </a:r>
          </a:p>
        </p:txBody>
      </p:sp>
    </p:spTree>
    <p:extLst>
      <p:ext uri="{BB962C8B-B14F-4D97-AF65-F5344CB8AC3E}">
        <p14:creationId xmlns:p14="http://schemas.microsoft.com/office/powerpoint/2010/main" val="1644584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6BEF8-D99A-A305-79BF-6EC8F942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Обробка конфігураційних файлів</a:t>
            </a:r>
            <a:endParaRPr lang="uk-UA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7B8661-7E46-A639-D1D6-0A0CAE3C3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16203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вирішення поставленої задачі скористаємось можливостями регулярних виразів.</a:t>
            </a: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Токенами (символами) називатимемо елементи конфігураційного файлу, а програму, яка їх виділяє, – </a:t>
            </a:r>
            <a:r>
              <a:rPr lang="uk-UA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токенізатором</a:t>
            </a: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нашої задачі маємо такі токени: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D31C7-1F42-6A1D-0046-1F8EA255510E}"/>
              </a:ext>
            </a:extLst>
          </p:cNvPr>
          <p:cNvSpPr txBox="1"/>
          <p:nvPr/>
        </p:nvSpPr>
        <p:spPr>
          <a:xfrm>
            <a:off x="685800" y="3995678"/>
            <a:ext cx="10970343" cy="163121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uk-UA" dirty="0">
                <a:solidFill>
                  <a:schemeClr val="accent4"/>
                </a:solidFill>
              </a:rPr>
              <a:t> </a:t>
            </a:r>
            <a:r>
              <a:rPr lang="uk-UA" sz="2000" dirty="0"/>
              <a:t>Ім’я (</a:t>
            </a:r>
            <a:r>
              <a:rPr lang="en-US" sz="2000" dirty="0"/>
              <a:t>NAME</a:t>
            </a:r>
            <a:r>
              <a:rPr lang="uk-UA" sz="2000" dirty="0"/>
              <a:t>)</a:t>
            </a:r>
            <a:endParaRPr lang="en-US" sz="2000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uk-UA" sz="2000" dirty="0"/>
              <a:t>Знак дорівнює (</a:t>
            </a:r>
            <a:r>
              <a:rPr lang="en-US" sz="2000" dirty="0"/>
              <a:t>EQ</a:t>
            </a:r>
            <a:r>
              <a:rPr lang="uk-UA" sz="2000" dirty="0"/>
              <a:t>)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uk-UA" sz="2000" dirty="0"/>
              <a:t>Ціле число (</a:t>
            </a:r>
            <a:r>
              <a:rPr lang="en-US" sz="2000" dirty="0"/>
              <a:t>NUM_INT</a:t>
            </a:r>
            <a:r>
              <a:rPr lang="uk-UA" sz="2000" dirty="0"/>
              <a:t>)</a:t>
            </a:r>
            <a:endParaRPr lang="en-US" sz="2000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uk-UA" sz="2000" dirty="0"/>
              <a:t>Дійсне число </a:t>
            </a:r>
            <a:r>
              <a:rPr lang="en-US" sz="2000" dirty="0"/>
              <a:t>(NUM_FLOAT)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uk-UA" sz="2000" dirty="0"/>
              <a:t>Рядок (</a:t>
            </a:r>
            <a:r>
              <a:rPr lang="en-US" sz="2000" dirty="0"/>
              <a:t>STRING</a:t>
            </a:r>
            <a:r>
              <a:rPr lang="uk-UA" sz="2000" dirty="0"/>
              <a:t>)</a:t>
            </a:r>
            <a:endParaRPr lang="en-US" sz="2000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uk-UA" sz="2000" dirty="0"/>
              <a:t>Пропуск (</a:t>
            </a:r>
            <a:r>
              <a:rPr lang="en-US" sz="2000" dirty="0"/>
              <a:t>WS</a:t>
            </a:r>
            <a:r>
              <a:rPr lang="uk-UA" sz="2000" dirty="0"/>
              <a:t>)</a:t>
            </a:r>
            <a:endParaRPr lang="en-US" sz="2000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uk-UA" sz="2000" dirty="0"/>
              <a:t>Кінець рядка (</a:t>
            </a:r>
            <a:r>
              <a:rPr lang="en-US" sz="2000" dirty="0"/>
              <a:t>EOL</a:t>
            </a:r>
            <a:r>
              <a:rPr lang="uk-UA" sz="2000" dirty="0"/>
              <a:t>)</a:t>
            </a:r>
            <a:endParaRPr lang="en-US" sz="2000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uk-UA" sz="2000" dirty="0"/>
              <a:t>Коментар (</a:t>
            </a:r>
            <a:r>
              <a:rPr lang="en-US" sz="2000" dirty="0"/>
              <a:t>COMMENT</a:t>
            </a:r>
            <a:r>
              <a:rPr lang="uk-UA" sz="2000" dirty="0"/>
              <a:t>)</a:t>
            </a:r>
            <a:endParaRPr lang="en-US" sz="2000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uk-UA" sz="2000" dirty="0"/>
              <a:t>Інше (</a:t>
            </a:r>
            <a:r>
              <a:rPr lang="en-US" sz="2000" dirty="0"/>
              <a:t>OTHER</a:t>
            </a:r>
            <a:r>
              <a:rPr lang="uk-UA" sz="2000" dirty="0"/>
              <a:t>)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07777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55BCB-81C9-AFBA-ABD8-AAFC63356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52097" cy="4480726"/>
          </a:xfrm>
        </p:spPr>
        <p:txBody>
          <a:bodyPr>
            <a:normAutofit/>
          </a:bodyPr>
          <a:lstStyle/>
          <a:p>
            <a:pPr algn="r"/>
            <a:r>
              <a:rPr lang="uk-UA" sz="31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Обробка конфігураційних файлів</a:t>
            </a: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232" y="623275"/>
            <a:ext cx="6896595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E8FAF3B-E073-3BF3-99D6-3AFBFEB9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531" y="802640"/>
            <a:ext cx="6401296" cy="5242559"/>
          </a:xfrm>
        </p:spPr>
        <p:txBody>
          <a:bodyPr anchor="ctr">
            <a:normAutofit/>
          </a:bodyPr>
          <a:lstStyle/>
          <a:p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Синтаксис конфігураційного </a:t>
            </a:r>
            <a:r>
              <a:rPr lang="uk-UA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файла</a:t>
            </a:r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є доволі простий, один рядок виглядає таким чином: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&lt;</a:t>
            </a:r>
            <a:r>
              <a:rPr lang="uk-UA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ім’я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&gt;</a:t>
            </a:r>
            <a:r>
              <a:rPr lang="uk-UA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=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&lt;</a:t>
            </a:r>
            <a:r>
              <a:rPr lang="uk-UA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значення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&gt;</a:t>
            </a:r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Між ім’ям та значенням може стояти будь-яка скінченна кількість пропусків, а після значення – кінець рядка.</a:t>
            </a:r>
          </a:p>
          <a:p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Оскільки часто у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Python-</a:t>
            </a:r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коді зустрічаються коментарі, то будемо передбачати їх наявність у кінці рядків конфігураційного </a:t>
            </a:r>
            <a:r>
              <a:rPr lang="uk-UA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файла</a:t>
            </a:r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(вважаємо, що коментарі починаються з </a:t>
            </a:r>
            <a:r>
              <a:rPr lang="uk-UA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символа</a:t>
            </a:r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#)</a:t>
            </a:r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Значення можуть бути рядками, цілими, або дійсними числами.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Числа позначаються звичним чином, а рядки беруться у апострофи або подвійні лапки.</a:t>
            </a:r>
          </a:p>
          <a:p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перевірки синтаксичної правильності конфігураційного файлу нам достатньо проаналізувати два токени: поточний  та наступний.</a:t>
            </a:r>
          </a:p>
          <a:p>
            <a:r>
              <a:rPr lang="uk-UA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Якщо перевірена пара токенів належить множині допустимих пар, то перевірку пройдено успішно. В іншому випадку – синтаксична помилка.</a:t>
            </a:r>
          </a:p>
        </p:txBody>
      </p:sp>
    </p:spTree>
    <p:extLst>
      <p:ext uri="{BB962C8B-B14F-4D97-AF65-F5344CB8AC3E}">
        <p14:creationId xmlns:p14="http://schemas.microsoft.com/office/powerpoint/2010/main" val="376693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4D5C1B-8369-6731-B62E-22B268783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Обробка конфігураційних файлів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471F0DA-8466-7337-3AFE-6A09EE086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48232"/>
            <a:ext cx="10820400" cy="4035924"/>
          </a:xfr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85000" lnSpcReduction="10000"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P_NAME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r'(?P&lt;NAME&gt;[A-Za-z</a:t>
            </a:r>
            <a:r>
              <a:rPr lang="uk-UA" dirty="0">
                <a:solidFill>
                  <a:srgbClr val="96BE78"/>
                </a:solidFill>
                <a:effectLst/>
                <a:latin typeface="JetBrains Mono Medium"/>
              </a:rPr>
              <a:t>А-</a:t>
            </a:r>
            <a:r>
              <a:rPr lang="uk-UA" dirty="0" err="1">
                <a:solidFill>
                  <a:srgbClr val="96BE78"/>
                </a:solidFill>
                <a:effectLst/>
                <a:latin typeface="JetBrains Mono Medium"/>
              </a:rPr>
              <a:t>Яа</a:t>
            </a:r>
            <a:r>
              <a:rPr lang="uk-UA" dirty="0">
                <a:solidFill>
                  <a:srgbClr val="96BE78"/>
                </a:solidFill>
                <a:effectLst/>
                <a:latin typeface="JetBrains Mono Medium"/>
              </a:rPr>
              <a:t>-</a:t>
            </a:r>
            <a:r>
              <a:rPr lang="uk-UA" dirty="0" err="1">
                <a:solidFill>
                  <a:srgbClr val="96BE78"/>
                </a:solidFill>
                <a:effectLst/>
                <a:latin typeface="JetBrains Mono Medium"/>
              </a:rPr>
              <a:t>ЯЇЄҐІїєґі</a:t>
            </a:r>
            <a:r>
              <a:rPr lang="uk-UA" dirty="0">
                <a:solidFill>
                  <a:srgbClr val="96BE78"/>
                </a:solidFill>
                <a:effectLst/>
                <a:latin typeface="JetBrains Mono Medium"/>
              </a:rPr>
              <a:t>_]\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w*)'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шаблон для імені  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P_EQ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r'(?P&lt;EQ&gt;=)'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шаблон для знаку дорівнює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P_NUM_INT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r'(?P&lt;NUM_INT&gt;[\+-]?\d+)'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шаблон для цілого числа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P_NUM_FLOAT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r'(?P&lt;NUM_FLOAT&gt;[\+-]?\d+\.\d*)'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шаблон для дійсного числа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P_STRING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r'(?P&lt;STRING&gt;(["\'])(.*?)(["\']))'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шаблон для рядка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P_WS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r'(?P&lt;WS&gt;\s*)'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шаблон для пробілів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P_COMMENT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r'(?P&lt;COMMENT&gt;#.*)'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шаблон для коментарів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P_EOL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r'(?P&lt;EOL&gt;[\n])'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шаблон для кінця рядка \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n</a:t>
            </a: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P_OTHER =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r'(?P&lt;OTHER&gt;.+)'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шаблон для інших можливих виразів</a:t>
            </a:r>
            <a:endParaRPr lang="uk-UA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D85BD-D11D-533D-49B4-8C1EEC5A2BA5}"/>
              </a:ext>
            </a:extLst>
          </p:cNvPr>
          <p:cNvSpPr txBox="1"/>
          <p:nvPr/>
        </p:nvSpPr>
        <p:spPr>
          <a:xfrm>
            <a:off x="685800" y="1750750"/>
            <a:ext cx="6570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uk-UA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Задамо шаблони для токенів:</a:t>
            </a:r>
          </a:p>
        </p:txBody>
      </p:sp>
    </p:spTree>
    <p:extLst>
      <p:ext uri="{BB962C8B-B14F-4D97-AF65-F5344CB8AC3E}">
        <p14:creationId xmlns:p14="http://schemas.microsoft.com/office/powerpoint/2010/main" val="1143696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0AA52-EAFA-38C7-0968-05FAEA68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Обробка конфігураційних файлів</a:t>
            </a:r>
            <a:endParaRPr lang="uk-UA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E856802-9DFA-8A30-7573-E1B549087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7649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uk-UA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Об’єднаємо отримані шаблони у один шаблон для аналізу конфігураційних файлів:</a:t>
            </a:r>
            <a:endParaRPr lang="uk-UA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432BC-ADAF-8D95-3ADF-ABD53C8541CE}"/>
              </a:ext>
            </a:extLst>
          </p:cNvPr>
          <p:cNvSpPr txBox="1"/>
          <p:nvPr/>
        </p:nvSpPr>
        <p:spPr>
          <a:xfrm>
            <a:off x="462116" y="2959510"/>
            <a:ext cx="11506364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AFB9C3"/>
                </a:solidFill>
                <a:effectLst/>
                <a:latin typeface="JetBrains Mono Medium"/>
              </a:rPr>
              <a:t>P_CONFIG = </a:t>
            </a:r>
            <a:r>
              <a:rPr lang="en-US">
                <a:solidFill>
                  <a:srgbClr val="96BE78"/>
                </a:solidFill>
                <a:effectLst/>
                <a:latin typeface="JetBrains Mono Medium"/>
              </a:rPr>
              <a:t>'|'</a:t>
            </a:r>
            <a:r>
              <a:rPr lang="en-US">
                <a:solidFill>
                  <a:srgbClr val="AFB9C3"/>
                </a:solidFill>
                <a:effectLst/>
                <a:latin typeface="JetBrains Mono Medium"/>
              </a:rPr>
              <a:t>.</a:t>
            </a:r>
            <a:r>
              <a:rPr lang="en-US">
                <a:solidFill>
                  <a:srgbClr val="FFC86E"/>
                </a:solidFill>
                <a:effectLst/>
                <a:latin typeface="JetBrains Mono Medium"/>
              </a:rPr>
              <a:t>join</a:t>
            </a:r>
            <a:r>
              <a:rPr lang="en-US">
                <a:solidFill>
                  <a:srgbClr val="AFB9C3"/>
                </a:solidFill>
                <a:effectLst/>
                <a:latin typeface="JetBrains Mono Medium"/>
              </a:rPr>
              <a:t>([P_NAME, P_EQ, P_NUM_FLOAT, P_NUM_INT, P_STRING, P_WS, P_COMMENT, P_EOL, P_OTHER])</a:t>
            </a:r>
            <a:endParaRPr lang="en-US" dirty="0">
              <a:solidFill>
                <a:srgbClr val="AFB9C3"/>
              </a:solidFill>
              <a:effectLst/>
              <a:latin typeface="JetBrains Mo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46823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91FE9-925F-1C4E-561B-7BAEAB44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026E5-28FC-4A24-0915-09FD76399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Обробка конфігураційних файлів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E9E8E-05FD-51E7-FBF4-A65EE252CBF5}"/>
              </a:ext>
            </a:extLst>
          </p:cNvPr>
          <p:cNvSpPr txBox="1"/>
          <p:nvPr/>
        </p:nvSpPr>
        <p:spPr>
          <a:xfrm>
            <a:off x="849261" y="2231496"/>
            <a:ext cx="10493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Далі визначимо словник допустимих пар токенів та токени, які потрібно пропустити: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1D6DA-7B7B-CB64-65ED-1822D969111A}"/>
              </a:ext>
            </a:extLst>
          </p:cNvPr>
          <p:cNvSpPr txBox="1"/>
          <p:nvPr/>
        </p:nvSpPr>
        <p:spPr>
          <a:xfrm>
            <a:off x="1799302" y="2819364"/>
            <a:ext cx="8593394" cy="317009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VALID_COUPLES = {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'NAME'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: 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'EQ'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,  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після імені може йти лише =</a:t>
            </a:r>
            <a:b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                 </a:t>
            </a:r>
            <a:r>
              <a:rPr lang="uk-UA" sz="2000" dirty="0">
                <a:solidFill>
                  <a:srgbClr val="96BE78"/>
                </a:solidFill>
                <a:effectLst/>
                <a:latin typeface="JetBrains Mono Medium"/>
              </a:rPr>
              <a:t>'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EQ'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: {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'NUM_INT'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'NUM_FLOAT'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'STRING'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},  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після = число або рядок</a:t>
            </a:r>
            <a:b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                 </a:t>
            </a:r>
            <a:r>
              <a:rPr lang="uk-UA" sz="2000" dirty="0">
                <a:solidFill>
                  <a:srgbClr val="96BE78"/>
                </a:solidFill>
                <a:effectLst/>
                <a:latin typeface="JetBrains Mono Medium"/>
              </a:rPr>
              <a:t>'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NUM_INT'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: {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'EOL'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},  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після числа лише \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n</a:t>
            </a:r>
            <a:b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                 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'NUM_FLOAT'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: {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'EOL'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},  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після числа лише \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n</a:t>
            </a:r>
            <a:b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                 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'STRING'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: {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'EOL'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}, 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після рядка лише \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n</a:t>
            </a:r>
            <a:b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                 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'EOL'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: {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'NAME'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'EOL'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},  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з нового рядка або ім'я, або \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n</a:t>
            </a:r>
            <a:b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                 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'OTHER'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: </a:t>
            </a:r>
            <a:r>
              <a:rPr lang="en-US" sz="2000" dirty="0">
                <a:solidFill>
                  <a:srgbClr val="FFC86E"/>
                </a:solidFill>
                <a:effectLst/>
                <a:latin typeface="JetBrains Mono Medium"/>
              </a:rPr>
              <a:t>set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(),  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після інших символів - порожня множина</a:t>
            </a:r>
            <a:b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                 </a:t>
            </a:r>
            <a:r>
              <a:rPr lang="uk-UA" sz="2000" dirty="0">
                <a:solidFill>
                  <a:srgbClr val="AFB9C3"/>
                </a:solidFill>
                <a:effectLst/>
                <a:latin typeface="JetBrains Mono Medium"/>
              </a:rPr>
              <a:t>}</a:t>
            </a:r>
            <a:br>
              <a:rPr lang="uk-UA" sz="2000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uk-UA" sz="2000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sz="2000" dirty="0">
                <a:solidFill>
                  <a:srgbClr val="AFB9C3"/>
                </a:solidFill>
                <a:latin typeface="JetBrains Mono Medium"/>
              </a:rPr>
              <a:t>IGNORE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 = {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'WS'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sz="2000" dirty="0">
                <a:solidFill>
                  <a:srgbClr val="96BE78"/>
                </a:solidFill>
                <a:effectLst/>
                <a:latin typeface="JetBrains Mono Medium"/>
              </a:rPr>
              <a:t>'COMMENT'</a:t>
            </a:r>
            <a:r>
              <a:rPr lang="en-US" sz="2000" dirty="0">
                <a:solidFill>
                  <a:srgbClr val="AFB9C3"/>
                </a:solidFill>
                <a:effectLst/>
                <a:latin typeface="JetBrains Mono Medium"/>
              </a:rPr>
              <a:t>}  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2000" dirty="0">
                <a:solidFill>
                  <a:srgbClr val="808080"/>
                </a:solidFill>
                <a:effectLst/>
                <a:latin typeface="JetBrains Mono Medium"/>
              </a:rPr>
              <a:t>множина токенів, яку треба пропустити</a:t>
            </a:r>
            <a:endParaRPr lang="uk-UA" sz="2000" dirty="0">
              <a:solidFill>
                <a:srgbClr val="AFB9C3"/>
              </a:solidFill>
              <a:effectLst/>
              <a:latin typeface="JetBrains Mon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37027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92BE1-5BB8-1C43-747C-D63CBB97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uk-UA" sz="5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Обробка конфігураційних файлів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E76C9EE-A1C4-7B9A-2CDB-16F90ACF0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669085"/>
            <a:ext cx="9271000" cy="310078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Наступним кроком вирішення даної задачі є створення генератора токенів – це генераторна функція, що  за рядком, який складається із багатьох рядків файлу, виокремлює і повертає послідовність токенів.</a:t>
            </a:r>
          </a:p>
          <a:p>
            <a:pPr marL="0" indent="0">
              <a:buNone/>
            </a:pP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Ця функція опирається на шаблон для виділення наступного токену, ігноруючи при цьому пропуски та коментарі.</a:t>
            </a:r>
          </a:p>
          <a:p>
            <a:pPr marL="0" indent="0">
              <a:buNone/>
            </a:pP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Токени будемо представляти у вигляді іменованих кортежів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імпортуються з бібліотеки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collections)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Token </a:t>
            </a:r>
            <a:r>
              <a:rPr lang="en-US" sz="2400" b="1" dirty="0">
                <a:solidFill>
                  <a:srgbClr val="81A1C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88C0D0"/>
                </a:solidFill>
                <a:effectLst/>
                <a:latin typeface="Consolas" panose="020B0609020204030204" pitchFamily="49" charset="0"/>
              </a:rPr>
              <a:t>namedtuple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en-US" sz="2400" b="1" dirty="0">
                <a:solidFill>
                  <a:srgbClr val="A3BE8C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', ['</a:t>
            </a:r>
            <a:r>
              <a:rPr lang="en-US" sz="2400" b="1" dirty="0">
                <a:solidFill>
                  <a:srgbClr val="A3BE8C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en-US" sz="2400" b="1" dirty="0">
                <a:solidFill>
                  <a:srgbClr val="A3BE8C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’])</a:t>
            </a:r>
            <a:endParaRPr lang="en-US" sz="1400" b="0" dirty="0">
              <a:solidFill>
                <a:srgbClr val="7B88A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 – 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 тип токену (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‘NAME’, ‘EQ’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і т. п.),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value –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це </a:t>
            </a:r>
            <a:r>
              <a:rPr lang="uk-UA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підрядок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що є значенням токену.</a:t>
            </a:r>
          </a:p>
        </p:txBody>
      </p:sp>
    </p:spTree>
    <p:extLst>
      <p:ext uri="{BB962C8B-B14F-4D97-AF65-F5344CB8AC3E}">
        <p14:creationId xmlns:p14="http://schemas.microsoft.com/office/powerpoint/2010/main" val="1404594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97057-99BB-2A1D-B8E4-9FF833E3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uk-UA" sz="2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ОБРОБКА КОНФІГУРАЦІЙНИХ ФАЙЛІВ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7802D83-67F7-19FF-F69B-D2450A51A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944880"/>
            <a:ext cx="6209793" cy="50495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відміну від попередніх розглядуваних нами задач, які були вирішені процедурною парадигмою, для задачі про обробку конфігураційних файлів доцільно використати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комбіновану парадигму: процедурну + ООП.</a:t>
            </a:r>
          </a:p>
          <a:p>
            <a:pPr marL="0" indent="0">
              <a:buNone/>
            </a:pP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цього створимо клас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ConfigFileDict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який відповідатиме за зчитування вмісту конфігураційного файлу і за допомогою генератора токенів будуватиме словник, ключами якого є імена, а значеннями – значення, що містяться у самому файлі.</a:t>
            </a:r>
          </a:p>
          <a:p>
            <a:pPr marL="0" indent="0">
              <a:buNone/>
            </a:pP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конструкторі цього класу оголосимо словник (змінний об’єкт!) </a:t>
            </a:r>
            <a:r>
              <a:rPr lang="uk-UA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дефолтних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значень параметрів. Він буде модифікуватися даними з конфігураційного </a:t>
            </a:r>
            <a:r>
              <a:rPr lang="uk-UA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файла</a:t>
            </a: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uk-UA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того, щоб повернути словник реалізуємо метод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en-US" sz="1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getconfig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().</a:t>
            </a:r>
            <a:endParaRPr lang="uk-UA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uk-UA" sz="1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593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B268B-44F4-4FC4-95B2-566E9B50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6EF1D-778F-A596-4F8F-DD12F45ED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uk-UA" sz="26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ОБРОБКА КОНФІГУРАЦІЙНИХ ФАЙЛІВ</a:t>
            </a:r>
          </a:p>
        </p:txBody>
      </p:sp>
      <p:cxnSp>
        <p:nvCxnSpPr>
          <p:cNvPr id="20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8A5E3D3-2ECF-4EE5-BC3C-91FBFAB25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uk-UA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Реалізуємо за допомогою інкапсуляції внутрішній метод </a:t>
            </a:r>
            <a:r>
              <a:rPr lang="en-US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_check_syntax</a:t>
            </a:r>
            <a:r>
              <a:rPr lang="uk-UA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який перевірятиме синтаксичну правильність рядків та викликатиме </a:t>
            </a:r>
            <a:r>
              <a:rPr lang="en-US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SyntaxError </a:t>
            </a:r>
            <a:r>
              <a:rPr lang="uk-UA" sz="24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 разі виникнення такого роду помилок у даних з конфігураційного файла.</a:t>
            </a:r>
            <a:endParaRPr lang="en-US" sz="24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endParaRPr lang="en-US" sz="24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uk-UA" sz="2400"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РОЗВ’ЯЗАННЯ.</a:t>
            </a:r>
            <a:endParaRPr lang="uk-UA" sz="2400"/>
          </a:p>
          <a:p>
            <a:pPr marL="0" indent="0">
              <a:buNone/>
            </a:pPr>
            <a:endParaRPr lang="uk-UA" sz="2400"/>
          </a:p>
          <a:p>
            <a:pPr marL="0" indent="0">
              <a:buNone/>
            </a:pPr>
            <a:endParaRPr lang="uk-UA" sz="2400"/>
          </a:p>
        </p:txBody>
      </p:sp>
    </p:spTree>
    <p:extLst>
      <p:ext uri="{BB962C8B-B14F-4D97-AF65-F5344CB8AC3E}">
        <p14:creationId xmlns:p14="http://schemas.microsoft.com/office/powerpoint/2010/main" val="1116599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50DE2-CA14-5C35-3C88-5371FF4F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uk-UA" sz="50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Зауваження та рекомендації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73BB195-DF3F-F61E-FE5F-76A5CEDE8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uk-UA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 зважаючи на досить велику значимість регулярних виразів при обробці текстів, варто все таки тримати на контролі можливість їх непередбачуваної компіляції для різних можливих рядків.</a:t>
            </a:r>
          </a:p>
          <a:p>
            <a:pPr marL="0" indent="0">
              <a:buNone/>
            </a:pPr>
            <a:r>
              <a:rPr lang="uk-UA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Щоб зменшити ймовірність виникнення помилок та небажаних ситуацій, варто перевіряти код для </a:t>
            </a:r>
            <a:r>
              <a:rPr lang="uk-UA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всеможливих</a:t>
            </a:r>
            <a:r>
              <a:rPr lang="uk-UA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різних випадків, застосовувати виведення проміжних результатів (</a:t>
            </a:r>
            <a:r>
              <a:rPr lang="uk-UA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підрядків</a:t>
            </a:r>
            <a:r>
              <a:rPr lang="uk-UA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що відповідають шаблону), аналізувати позиції виділених </a:t>
            </a:r>
            <a:r>
              <a:rPr lang="uk-UA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підрядків</a:t>
            </a:r>
            <a:r>
              <a:rPr lang="uk-UA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 коментувати складні шаблони.</a:t>
            </a:r>
          </a:p>
        </p:txBody>
      </p:sp>
    </p:spTree>
    <p:extLst>
      <p:ext uri="{BB962C8B-B14F-4D97-AF65-F5344CB8AC3E}">
        <p14:creationId xmlns:p14="http://schemas.microsoft.com/office/powerpoint/2010/main" val="3002046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30844-CE4C-0771-1D02-B5B095441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uk-UA" sz="41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Література для додаткового вивчення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E984A8E-777D-93A4-70AA-DE611482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457200" indent="-457200">
              <a:buAutoNum type="arabicPeriod"/>
            </a:pPr>
            <a:r>
              <a:rPr lang="uk-UA" sz="2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Обіванцев О.В. Об’єктно-орієнтоване програмування. Курс на основі </a:t>
            </a:r>
            <a:r>
              <a:rPr lang="en-US" sz="2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Python. </a:t>
            </a:r>
            <a:r>
              <a:rPr lang="uk-UA" sz="2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Матеріали лекцій. – К., Основа, 2017</a:t>
            </a:r>
          </a:p>
          <a:p>
            <a:pPr marL="457200" indent="-457200">
              <a:buAutoNum type="arabicPeriod"/>
            </a:pPr>
            <a:r>
              <a:rPr lang="en-US" sz="2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Felix Lopez, Victor Romero. Mastering Python Regular Expressions – 2014</a:t>
            </a:r>
          </a:p>
          <a:p>
            <a:pPr marL="457200" indent="-457200">
              <a:buAutoNum type="arabicPeriod"/>
            </a:pPr>
            <a:r>
              <a:rPr lang="en-US" sz="2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Hellmann D. – The Python Standard Library by Example – 2011</a:t>
            </a:r>
          </a:p>
          <a:p>
            <a:pPr marL="457200" indent="-457200">
              <a:buAutoNum type="arabicPeriod"/>
            </a:pPr>
            <a:r>
              <a:rPr lang="en-US" sz="2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http://www.python-course.eu</a:t>
            </a:r>
            <a:endParaRPr lang="en-US" sz="2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indent="-457200">
              <a:buAutoNum type="arabicPeriod"/>
            </a:pPr>
            <a:endParaRPr lang="en-US" sz="2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137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1B8E14F7-4DA3-C10B-12D8-62A21957C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1944" y="673240"/>
            <a:ext cx="3993931" cy="3446373"/>
          </a:xfrm>
          <a:noFill/>
          <a:ln w="19050">
            <a:noFill/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115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F &amp; Q</a:t>
            </a:r>
          </a:p>
        </p:txBody>
      </p:sp>
      <p:pic>
        <p:nvPicPr>
          <p:cNvPr id="9" name="Місце для вмісту 8" descr="Thinking O Fox">
            <a:extLst>
              <a:ext uri="{FF2B5EF4-FFF2-40B4-BE49-F238E27FC236}">
                <a16:creationId xmlns:a16="http://schemas.microsoft.com/office/drawing/2014/main" id="{4E41C20E-3EC2-20FA-B61D-427FF47CF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3" r="2" b="5401"/>
          <a:stretch/>
        </p:blipFill>
        <p:spPr>
          <a:xfrm>
            <a:off x="2405" y="10"/>
            <a:ext cx="779424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Тема &quot;Office 2013 – 2022&quot;">
  <a:themeElements>
    <a:clrScheme name="Тема &quot;Office 2013 – 2022&quot;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&quot;Office 2013 – 2022&quot;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&quot;Office 2013 – 2022&quot;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2740</TotalTime>
  <Words>2175</Words>
  <Application>Microsoft Office PowerPoint</Application>
  <PresentationFormat>Широкий екран</PresentationFormat>
  <Paragraphs>143</Paragraphs>
  <Slides>24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24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Consolas</vt:lpstr>
      <vt:lpstr>JetBrains Mono Medium</vt:lpstr>
      <vt:lpstr>Roboto</vt:lpstr>
      <vt:lpstr>Roboto Black</vt:lpstr>
      <vt:lpstr>Roboto Condensed</vt:lpstr>
      <vt:lpstr>Wingdings</vt:lpstr>
      <vt:lpstr>Тема "Office 2013 – 2022"</vt:lpstr>
      <vt:lpstr>Лекція 4 РЕГУЛЯРНІ ВИРАЗИ</vt:lpstr>
      <vt:lpstr>Групування</vt:lpstr>
      <vt:lpstr>Групування</vt:lpstr>
      <vt:lpstr>Групування</vt:lpstr>
      <vt:lpstr>Групування</vt:lpstr>
      <vt:lpstr>Зміна рядків за допомогою функцій та методів класу re.Pattern</vt:lpstr>
      <vt:lpstr>Зміна рядків за допомогою функцій та методів класу re.Pattern</vt:lpstr>
      <vt:lpstr>Зміна рядків</vt:lpstr>
      <vt:lpstr>Зміна рядків</vt:lpstr>
      <vt:lpstr>ІМЕНОВАНІ ПІДГРУПИ</vt:lpstr>
      <vt:lpstr>Презентація PowerPoint</vt:lpstr>
      <vt:lpstr>Презентація PowerPoint</vt:lpstr>
      <vt:lpstr>Приклад: Обробка конфігураційних файлів</vt:lpstr>
      <vt:lpstr>Обробка конфігураційних файлів</vt:lpstr>
      <vt:lpstr>Обробка конфігураційних файлів</vt:lpstr>
      <vt:lpstr>Обробка конфігураційних файлів</vt:lpstr>
      <vt:lpstr>Обробка конфігураційних файлів</vt:lpstr>
      <vt:lpstr>Обробка конфігураційних файлів</vt:lpstr>
      <vt:lpstr>Обробка конфігураційних файлів</vt:lpstr>
      <vt:lpstr>ОБРОБКА КОНФІГУРАЦІЙНИХ ФАЙЛІВ</vt:lpstr>
      <vt:lpstr>ОБРОБКА КОНФІГУРАЦІЙНИХ ФАЙЛІВ</vt:lpstr>
      <vt:lpstr>Зауваження та рекомендації</vt:lpstr>
      <vt:lpstr>Література для додаткового вивчення </vt:lpstr>
      <vt:lpstr>F &amp; 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Олександра Лисецька</dc:creator>
  <cp:lastModifiedBy>Олександра Лисецька</cp:lastModifiedBy>
  <cp:revision>17</cp:revision>
  <dcterms:created xsi:type="dcterms:W3CDTF">2025-03-01T11:07:21Z</dcterms:created>
  <dcterms:modified xsi:type="dcterms:W3CDTF">2026-03-06T00:11:15Z</dcterms:modified>
</cp:coreProperties>
</file>