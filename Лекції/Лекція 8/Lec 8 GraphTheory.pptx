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83" r:id="rId19"/>
    <p:sldId id="273" r:id="rId20"/>
    <p:sldId id="279" r:id="rId21"/>
    <p:sldId id="274" r:id="rId22"/>
    <p:sldId id="278" r:id="rId23"/>
    <p:sldId id="280" r:id="rId24"/>
    <p:sldId id="284" r:id="rId25"/>
    <p:sldId id="27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03CC7591-32F5-443B-952E-78291653E96E}" type="datetimeFigureOut">
              <a:rPr lang="uk-UA" smtClean="0"/>
              <a:t>03.04.2026</a:t>
            </a:fld>
            <a:endParaRPr lang="uk-UA"/>
          </a:p>
        </p:txBody>
      </p:sp>
      <p:sp>
        <p:nvSpPr>
          <p:cNvPr id="5" name="Footer Placeholder 4"/>
          <p:cNvSpPr>
            <a:spLocks noGrp="1"/>
          </p:cNvSpPr>
          <p:nvPr>
            <p:ph type="ftr" sz="quarter" idx="11"/>
          </p:nvPr>
        </p:nvSpPr>
        <p:spPr>
          <a:xfrm>
            <a:off x="1371600" y="4323845"/>
            <a:ext cx="6400800" cy="365125"/>
          </a:xfrm>
        </p:spPr>
        <p:txBody>
          <a:bodyPr/>
          <a:lstStyle/>
          <a:p>
            <a:endParaRPr lang="uk-UA"/>
          </a:p>
        </p:txBody>
      </p:sp>
      <p:sp>
        <p:nvSpPr>
          <p:cNvPr id="6" name="Slide Number Placeholder 5"/>
          <p:cNvSpPr>
            <a:spLocks noGrp="1"/>
          </p:cNvSpPr>
          <p:nvPr>
            <p:ph type="sldNum" sz="quarter" idx="12"/>
          </p:nvPr>
        </p:nvSpPr>
        <p:spPr>
          <a:xfrm>
            <a:off x="8077200" y="1430866"/>
            <a:ext cx="2743200" cy="365125"/>
          </a:xfrm>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234484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03CC7591-32F5-443B-952E-78291653E96E}" type="datetimeFigureOut">
              <a:rPr lang="uk-UA" smtClean="0"/>
              <a:t>03.04.2026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559480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Назва розділу">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03CC7591-32F5-443B-952E-78291653E96E}" type="datetimeFigureOut">
              <a:rPr lang="uk-UA" smtClean="0"/>
              <a:t>03.04.2026</a:t>
            </a:fld>
            <a:endParaRPr lang="uk-UA"/>
          </a:p>
        </p:txBody>
      </p:sp>
      <p:sp>
        <p:nvSpPr>
          <p:cNvPr id="5" name="Footer Placeholder 4"/>
          <p:cNvSpPr>
            <a:spLocks noGrp="1"/>
          </p:cNvSpPr>
          <p:nvPr>
            <p:ph type="ftr" sz="quarter" idx="11"/>
          </p:nvPr>
        </p:nvSpPr>
        <p:spPr>
          <a:xfrm>
            <a:off x="685800" y="381001"/>
            <a:ext cx="6991492" cy="36406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47891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5946824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685800" y="3132666"/>
            <a:ext cx="5311775"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172200" y="3132666"/>
            <a:ext cx="5334000" cy="3086019"/>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03CC7591-32F5-443B-952E-78291653E96E}" type="datetimeFigureOut">
              <a:rPr lang="uk-UA" smtClean="0"/>
              <a:t>03.04.2026</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766785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03CC7591-32F5-443B-952E-78291653E96E}" type="datetimeFigureOut">
              <a:rPr lang="uk-UA" smtClean="0"/>
              <a:t>03.04.2026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4096679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CC7591-32F5-443B-952E-78291653E96E}" type="datetimeFigureOut">
              <a:rPr lang="uk-UA" smtClean="0"/>
              <a:t>03.04.2026</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96507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2308201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28840911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2224967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Назва та підпис">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4184780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з підписом">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uk-UA"/>
              <a:t>Клацніть, щоб редагувати стиль зразка заголовка</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a:xfrm>
            <a:off x="685800" y="379941"/>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FD2F33D0-4E1E-4EC9-BED5-74CA48DFCC10}" type="slidenum">
              <a:rPr lang="uk-UA" smtClean="0"/>
              <a:t>‹№›</a:t>
            </a:fld>
            <a:endParaRPr lang="uk-UA"/>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73564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ка назви">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uk-UA"/>
              <a:t>Клацніть, щоб редагувати стиль зразка заголовка</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03CC7591-32F5-443B-952E-78291653E96E}" type="datetimeFigureOut">
              <a:rPr lang="uk-UA" smtClean="0"/>
              <a:t>03.04.2026</a:t>
            </a:fld>
            <a:endParaRPr lang="uk-UA"/>
          </a:p>
        </p:txBody>
      </p:sp>
      <p:sp>
        <p:nvSpPr>
          <p:cNvPr id="6" name="Footer Placeholder 5"/>
          <p:cNvSpPr>
            <a:spLocks noGrp="1"/>
          </p:cNvSpPr>
          <p:nvPr>
            <p:ph type="ftr" sz="quarter" idx="11"/>
          </p:nvPr>
        </p:nvSpPr>
        <p:spPr>
          <a:xfrm>
            <a:off x="685800" y="378883"/>
            <a:ext cx="6991492" cy="365125"/>
          </a:xfrm>
        </p:spPr>
        <p:txBody>
          <a:bodyPr/>
          <a:lstStyle/>
          <a:p>
            <a:endParaRPr lang="uk-UA"/>
          </a:p>
        </p:txBody>
      </p:sp>
      <p:sp>
        <p:nvSpPr>
          <p:cNvPr id="7" name="Slide Number Placeholder 6"/>
          <p:cNvSpPr>
            <a:spLocks noGrp="1"/>
          </p:cNvSpPr>
          <p:nvPr>
            <p:ph type="sldNum" sz="quarter" idx="12"/>
          </p:nvPr>
        </p:nvSpPr>
        <p:spPr>
          <a:xfrm>
            <a:off x="10862452" y="381000"/>
            <a:ext cx="643748" cy="365125"/>
          </a:xfrm>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4280623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uk-UA"/>
              <a:t>Клацніть, щоб редагувати стиль зразка заголовка</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03CC7591-32F5-443B-952E-78291653E96E}" type="datetimeFigureOut">
              <a:rPr lang="uk-UA" smtClean="0"/>
              <a:t>03.04.2026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718121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колонки з малюнками">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uk-UA"/>
              <a:t>Клацніть, щоб редагувати стиль зразка заголовка</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3" name="Date Placeholder 2"/>
          <p:cNvSpPr>
            <a:spLocks noGrp="1"/>
          </p:cNvSpPr>
          <p:nvPr>
            <p:ph type="dt" sz="half" idx="10"/>
          </p:nvPr>
        </p:nvSpPr>
        <p:spPr/>
        <p:txBody>
          <a:bodyPr/>
          <a:lstStyle/>
          <a:p>
            <a:fld id="{03CC7591-32F5-443B-952E-78291653E96E}" type="datetimeFigureOut">
              <a:rPr lang="uk-UA" smtClean="0"/>
              <a:t>03.04.2026</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131363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03CC7591-32F5-443B-952E-78291653E96E}" type="datetimeFigureOut">
              <a:rPr lang="uk-UA" smtClean="0"/>
              <a:t>03.04.2026</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770455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ий заголовок і текст">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03CC7591-32F5-443B-952E-78291653E96E}" type="datetimeFigureOut">
              <a:rPr lang="uk-UA" smtClean="0"/>
              <a:t>03.04.2026</a:t>
            </a:fld>
            <a:endParaRPr lang="uk-UA"/>
          </a:p>
        </p:txBody>
      </p:sp>
      <p:sp>
        <p:nvSpPr>
          <p:cNvPr id="5" name="Footer Placeholder 4"/>
          <p:cNvSpPr>
            <a:spLocks noGrp="1"/>
          </p:cNvSpPr>
          <p:nvPr>
            <p:ph type="ftr" sz="quarter" idx="11"/>
          </p:nvPr>
        </p:nvSpPr>
        <p:spPr>
          <a:xfrm>
            <a:off x="685800" y="381000"/>
            <a:ext cx="6991492" cy="365125"/>
          </a:xfrm>
        </p:spPr>
        <p:txBody>
          <a:bodyPr/>
          <a:lstStyle/>
          <a:p>
            <a:endParaRPr lang="uk-UA"/>
          </a:p>
        </p:txBody>
      </p:sp>
      <p:sp>
        <p:nvSpPr>
          <p:cNvPr id="6" name="Slide Number Placeholder 5"/>
          <p:cNvSpPr>
            <a:spLocks noGrp="1"/>
          </p:cNvSpPr>
          <p:nvPr>
            <p:ph type="sldNum" sz="quarter" idx="12"/>
          </p:nvPr>
        </p:nvSpPr>
        <p:spPr>
          <a:xfrm>
            <a:off x="10862452" y="381000"/>
            <a:ext cx="643748" cy="365125"/>
          </a:xfrm>
        </p:spPr>
        <p:txBody>
          <a:bodyPr/>
          <a:lstStyle/>
          <a:p>
            <a:fld id="{FD2F33D0-4E1E-4EC9-BED5-74CA48DFCC10}" type="slidenum">
              <a:rPr lang="uk-UA" smtClean="0"/>
              <a:t>‹№›</a:t>
            </a:fld>
            <a:endParaRPr lang="uk-UA"/>
          </a:p>
        </p:txBody>
      </p:sp>
    </p:spTree>
    <p:extLst>
      <p:ext uri="{BB962C8B-B14F-4D97-AF65-F5344CB8AC3E}">
        <p14:creationId xmlns:p14="http://schemas.microsoft.com/office/powerpoint/2010/main" val="18816688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CC7591-32F5-443B-952E-78291653E96E}" type="datetimeFigureOut">
              <a:rPr lang="uk-UA" smtClean="0"/>
              <a:t>03.04.2026</a:t>
            </a:fld>
            <a:endParaRPr lang="uk-UA"/>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uk-UA"/>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D2F33D0-4E1E-4EC9-BED5-74CA48DFCC10}" type="slidenum">
              <a:rPr lang="uk-UA" smtClean="0"/>
              <a:t>‹№›</a:t>
            </a:fld>
            <a:endParaRPr lang="uk-UA"/>
          </a:p>
        </p:txBody>
      </p:sp>
    </p:spTree>
    <p:extLst>
      <p:ext uri="{BB962C8B-B14F-4D97-AF65-F5344CB8AC3E}">
        <p14:creationId xmlns:p14="http://schemas.microsoft.com/office/powerpoint/2010/main" val="22874678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hyperlink" Target="http://networkx.github.io/"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70CA6A-B3B0-4826-A91F-B2B1F892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C51B9DA-B0CC-480A-8EA5-4D5C3E0515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Заголовок 1">
            <a:extLst>
              <a:ext uri="{FF2B5EF4-FFF2-40B4-BE49-F238E27FC236}">
                <a16:creationId xmlns:a16="http://schemas.microsoft.com/office/drawing/2014/main" id="{7C84EDC7-C36A-5747-930A-B6FC725D2E04}"/>
              </a:ext>
            </a:extLst>
          </p:cNvPr>
          <p:cNvSpPr>
            <a:spLocks noGrp="1"/>
          </p:cNvSpPr>
          <p:nvPr>
            <p:ph type="ctrTitle"/>
          </p:nvPr>
        </p:nvSpPr>
        <p:spPr>
          <a:xfrm>
            <a:off x="4976028" y="965200"/>
            <a:ext cx="6170943" cy="4329641"/>
          </a:xfrm>
        </p:spPr>
        <p:txBody>
          <a:bodyPr anchor="ctr">
            <a:normAutofit/>
          </a:bodyPr>
          <a:lstStyle/>
          <a:p>
            <a:r>
              <a:rPr lang="uk-UA" sz="5400"/>
              <a:t>Лекція 8</a:t>
            </a:r>
          </a:p>
        </p:txBody>
      </p:sp>
      <p:sp>
        <p:nvSpPr>
          <p:cNvPr id="3" name="Підзаголовок 2">
            <a:extLst>
              <a:ext uri="{FF2B5EF4-FFF2-40B4-BE49-F238E27FC236}">
                <a16:creationId xmlns:a16="http://schemas.microsoft.com/office/drawing/2014/main" id="{01DB77C6-62AC-E0E5-D4C8-96099845A2EB}"/>
              </a:ext>
            </a:extLst>
          </p:cNvPr>
          <p:cNvSpPr>
            <a:spLocks noGrp="1"/>
          </p:cNvSpPr>
          <p:nvPr>
            <p:ph type="subTitle" idx="1"/>
          </p:nvPr>
        </p:nvSpPr>
        <p:spPr>
          <a:xfrm>
            <a:off x="965200" y="965200"/>
            <a:ext cx="3367361" cy="4329641"/>
          </a:xfrm>
        </p:spPr>
        <p:txBody>
          <a:bodyPr anchor="ctr">
            <a:normAutofit/>
          </a:bodyPr>
          <a:lstStyle/>
          <a:p>
            <a:pPr algn="r"/>
            <a:r>
              <a:rPr lang="uk-UA"/>
              <a:t>Елементи алгоритмічної теорії графів</a:t>
            </a:r>
          </a:p>
        </p:txBody>
      </p:sp>
      <p:cxnSp>
        <p:nvCxnSpPr>
          <p:cNvPr id="12" name="Straight Connector 11">
            <a:extLst>
              <a:ext uri="{FF2B5EF4-FFF2-40B4-BE49-F238E27FC236}">
                <a16:creationId xmlns:a16="http://schemas.microsoft.com/office/drawing/2014/main" id="{6FE641DB-A503-41DE-ACA6-36B41C6C2B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621260"/>
            <a:ext cx="0" cy="301752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0947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538F1481-96BB-9039-C40F-71DA90BE9249}"/>
              </a:ext>
            </a:extLst>
          </p:cNvPr>
          <p:cNvSpPr/>
          <p:nvPr/>
        </p:nvSpPr>
        <p:spPr>
          <a:xfrm>
            <a:off x="0" y="3650522"/>
            <a:ext cx="12192000" cy="320747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Заголовок 1">
            <a:extLst>
              <a:ext uri="{FF2B5EF4-FFF2-40B4-BE49-F238E27FC236}">
                <a16:creationId xmlns:a16="http://schemas.microsoft.com/office/drawing/2014/main" id="{4871E2E9-E51F-CDBF-ACE4-A46EADA699CF}"/>
              </a:ext>
            </a:extLst>
          </p:cNvPr>
          <p:cNvSpPr>
            <a:spLocks noGrp="1"/>
          </p:cNvSpPr>
          <p:nvPr>
            <p:ph type="title"/>
          </p:nvPr>
        </p:nvSpPr>
        <p:spPr/>
        <p:txBody>
          <a:bodyPr/>
          <a:lstStyle/>
          <a:p>
            <a:r>
              <a:rPr lang="uk-UA" dirty="0"/>
              <a:t>Що таке Граф?</a:t>
            </a:r>
          </a:p>
        </p:txBody>
      </p:sp>
      <mc:AlternateContent xmlns:mc="http://schemas.openxmlformats.org/markup-compatibility/2006" xmlns:a14="http://schemas.microsoft.com/office/drawing/2010/main">
        <mc:Choice Requires="a14">
          <p:sp>
            <p:nvSpPr>
              <p:cNvPr id="3" name="Місце для вмісту 2">
                <a:extLst>
                  <a:ext uri="{FF2B5EF4-FFF2-40B4-BE49-F238E27FC236}">
                    <a16:creationId xmlns:a16="http://schemas.microsoft.com/office/drawing/2014/main" id="{162AD92D-822E-7029-2137-48D5B78550BB}"/>
                  </a:ext>
                </a:extLst>
              </p:cNvPr>
              <p:cNvSpPr>
                <a:spLocks noGrp="1"/>
              </p:cNvSpPr>
              <p:nvPr>
                <p:ph idx="1"/>
              </p:nvPr>
            </p:nvSpPr>
            <p:spPr/>
            <p:txBody>
              <a:bodyPr/>
              <a:lstStyle/>
              <a:p>
                <a:pPr marL="0" indent="0">
                  <a:buNone/>
                </a:pPr>
                <a:r>
                  <a:rPr lang="uk-UA" dirty="0"/>
                  <a:t>(Неорієнтованим) графом називається пара (</a:t>
                </a:r>
                <a:r>
                  <a:rPr lang="en-US" dirty="0">
                    <a:solidFill>
                      <a:srgbClr val="FF0000"/>
                    </a:solidFill>
                  </a:rPr>
                  <a:t>V</a:t>
                </a:r>
                <a:r>
                  <a:rPr lang="en-US" dirty="0"/>
                  <a:t>, </a:t>
                </a:r>
                <a:r>
                  <a:rPr lang="en-US" dirty="0">
                    <a:solidFill>
                      <a:srgbClr val="0070C0"/>
                    </a:solidFill>
                  </a:rPr>
                  <a:t>E</a:t>
                </a:r>
                <a:r>
                  <a:rPr lang="en-US" dirty="0"/>
                  <a:t>)</a:t>
                </a:r>
                <a:r>
                  <a:rPr lang="uk-UA" dirty="0"/>
                  <a:t>, де</a:t>
                </a:r>
              </a:p>
              <a:p>
                <a:pPr>
                  <a:buClr>
                    <a:srgbClr val="FF0000"/>
                  </a:buClr>
                  <a:buFont typeface="Wingdings" panose="05000000000000000000" pitchFamily="2" charset="2"/>
                  <a:buChar char="ü"/>
                </a:pPr>
                <a:r>
                  <a:rPr lang="en-US" dirty="0">
                    <a:solidFill>
                      <a:srgbClr val="FF0000"/>
                    </a:solidFill>
                  </a:rPr>
                  <a:t>V</a:t>
                </a:r>
                <a:r>
                  <a:rPr lang="en-US" dirty="0"/>
                  <a:t> – </a:t>
                </a:r>
                <a:r>
                  <a:rPr lang="uk-UA" dirty="0"/>
                  <a:t>множина </a:t>
                </a:r>
                <a:r>
                  <a:rPr lang="uk-UA" dirty="0">
                    <a:solidFill>
                      <a:srgbClr val="FF0000"/>
                    </a:solidFill>
                  </a:rPr>
                  <a:t>вершин</a:t>
                </a:r>
                <a:r>
                  <a:rPr lang="uk-UA" dirty="0"/>
                  <a:t> графа;</a:t>
                </a:r>
              </a:p>
              <a:p>
                <a:pPr>
                  <a:buClr>
                    <a:srgbClr val="0070C0"/>
                  </a:buClr>
                  <a:buFont typeface="Wingdings" panose="05000000000000000000" pitchFamily="2" charset="2"/>
                  <a:buChar char="ü"/>
                </a:pPr>
                <a14:m>
                  <m:oMath xmlns:m="http://schemas.openxmlformats.org/officeDocument/2006/math">
                    <m:r>
                      <a:rPr lang="en-US" b="0" i="1" smtClean="0">
                        <a:solidFill>
                          <a:srgbClr val="0070C0"/>
                        </a:solidFill>
                        <a:latin typeface="Cambria Math" panose="02040503050406030204" pitchFamily="18" charset="0"/>
                      </a:rPr>
                      <m:t>𝐸</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sub>
                      <m:sup>
                        <m:r>
                          <a:rPr lang="en-US" b="0" i="1" smtClean="0">
                            <a:latin typeface="Cambria Math" panose="02040503050406030204" pitchFamily="18" charset="0"/>
                          </a:rPr>
                          <m:t>2</m:t>
                        </m:r>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r>
                          <a:rPr lang="en-US" b="0" i="1" smtClean="0">
                            <a:latin typeface="Cambria Math" panose="02040503050406030204" pitchFamily="18" charset="0"/>
                          </a:rPr>
                          <m:t>𝑉</m:t>
                        </m:r>
                      </m:e>
                    </m:d>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a14:m>
                <a:r>
                  <a:rPr lang="uk-UA" dirty="0"/>
                  <a:t> – множина </a:t>
                </a:r>
                <a:r>
                  <a:rPr lang="uk-UA" dirty="0" err="1">
                    <a:solidFill>
                      <a:srgbClr val="0070C0"/>
                    </a:solidFill>
                  </a:rPr>
                  <a:t>ребер</a:t>
                </a:r>
                <a:r>
                  <a:rPr lang="uk-UA" dirty="0"/>
                  <a:t>.</a:t>
                </a:r>
              </a:p>
            </p:txBody>
          </p:sp>
        </mc:Choice>
        <mc:Fallback xmlns="">
          <p:sp>
            <p:nvSpPr>
              <p:cNvPr id="3" name="Місце для вмісту 2">
                <a:extLst>
                  <a:ext uri="{FF2B5EF4-FFF2-40B4-BE49-F238E27FC236}">
                    <a16:creationId xmlns:a16="http://schemas.microsoft.com/office/drawing/2014/main" id="{162AD92D-822E-7029-2137-48D5B78550BB}"/>
                  </a:ext>
                </a:extLst>
              </p:cNvPr>
              <p:cNvSpPr>
                <a:spLocks noGrp="1" noRot="1" noChangeAspect="1" noMove="1" noResize="1" noEditPoints="1" noAdjustHandles="1" noChangeArrowheads="1" noChangeShapeType="1" noTextEdit="1"/>
              </p:cNvSpPr>
              <p:nvPr>
                <p:ph idx="1"/>
              </p:nvPr>
            </p:nvSpPr>
            <p:spPr>
              <a:blipFill>
                <a:blip r:embed="rId2"/>
                <a:stretch>
                  <a:fillRect l="-732" t="-1970"/>
                </a:stretch>
              </a:blipFill>
            </p:spPr>
            <p:txBody>
              <a:bodyPr/>
              <a:lstStyle/>
              <a:p>
                <a:r>
                  <a:rPr lang="uk-UA">
                    <a:noFill/>
                  </a:rPr>
                  <a:t> </a:t>
                </a:r>
              </a:p>
            </p:txBody>
          </p:sp>
        </mc:Fallback>
      </mc:AlternateContent>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4B8DA51D-B203-EBFB-D572-EEB3BAA00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2350" y="3970179"/>
            <a:ext cx="2987299" cy="2568163"/>
          </a:xfrm>
          <a:prstGeom prst="rect">
            <a:avLst/>
          </a:prstGeom>
        </p:spPr>
      </p:pic>
    </p:spTree>
    <p:extLst>
      <p:ext uri="{BB962C8B-B14F-4D97-AF65-F5344CB8AC3E}">
        <p14:creationId xmlns:p14="http://schemas.microsoft.com/office/powerpoint/2010/main" val="312669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6F3DA-1DE5-2CC6-3F85-9C569832D739}"/>
            </a:ext>
          </a:extLst>
        </p:cNvPr>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23356E29-5023-0CC5-20F8-F7828446F57B}"/>
              </a:ext>
            </a:extLst>
          </p:cNvPr>
          <p:cNvSpPr/>
          <p:nvPr/>
        </p:nvSpPr>
        <p:spPr>
          <a:xfrm>
            <a:off x="0" y="3650522"/>
            <a:ext cx="12192000" cy="320747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Заголовок 1">
            <a:extLst>
              <a:ext uri="{FF2B5EF4-FFF2-40B4-BE49-F238E27FC236}">
                <a16:creationId xmlns:a16="http://schemas.microsoft.com/office/drawing/2014/main" id="{BF068A7E-5681-D839-CEAB-C4B0A5B14695}"/>
              </a:ext>
            </a:extLst>
          </p:cNvPr>
          <p:cNvSpPr>
            <a:spLocks noGrp="1"/>
          </p:cNvSpPr>
          <p:nvPr>
            <p:ph type="title"/>
          </p:nvPr>
        </p:nvSpPr>
        <p:spPr/>
        <p:txBody>
          <a:bodyPr/>
          <a:lstStyle/>
          <a:p>
            <a:r>
              <a:rPr lang="uk-UA" dirty="0"/>
              <a:t>Що таке Граф?</a:t>
            </a:r>
          </a:p>
        </p:txBody>
      </p:sp>
      <mc:AlternateContent xmlns:mc="http://schemas.openxmlformats.org/markup-compatibility/2006" xmlns:a14="http://schemas.microsoft.com/office/drawing/2010/main">
        <mc:Choice Requires="a14">
          <p:sp>
            <p:nvSpPr>
              <p:cNvPr id="3" name="Місце для вмісту 2">
                <a:extLst>
                  <a:ext uri="{FF2B5EF4-FFF2-40B4-BE49-F238E27FC236}">
                    <a16:creationId xmlns:a16="http://schemas.microsoft.com/office/drawing/2014/main" id="{CA94181B-CDEA-CE8D-0818-36B947336FB3}"/>
                  </a:ext>
                </a:extLst>
              </p:cNvPr>
              <p:cNvSpPr>
                <a:spLocks noGrp="1"/>
              </p:cNvSpPr>
              <p:nvPr>
                <p:ph idx="1"/>
              </p:nvPr>
            </p:nvSpPr>
            <p:spPr/>
            <p:txBody>
              <a:bodyPr/>
              <a:lstStyle/>
              <a:p>
                <a:pPr marL="0" indent="0">
                  <a:buNone/>
                </a:pPr>
                <a:r>
                  <a:rPr lang="uk-UA" dirty="0"/>
                  <a:t>(Неорієнтованим) графом називається пара (</a:t>
                </a:r>
                <a:r>
                  <a:rPr lang="en-US" dirty="0">
                    <a:solidFill>
                      <a:srgbClr val="FF0000"/>
                    </a:solidFill>
                  </a:rPr>
                  <a:t>V</a:t>
                </a:r>
                <a:r>
                  <a:rPr lang="en-US" dirty="0"/>
                  <a:t>, </a:t>
                </a:r>
                <a:r>
                  <a:rPr lang="en-US" dirty="0">
                    <a:solidFill>
                      <a:srgbClr val="0070C0"/>
                    </a:solidFill>
                  </a:rPr>
                  <a:t>E</a:t>
                </a:r>
                <a:r>
                  <a:rPr lang="en-US" dirty="0"/>
                  <a:t>)</a:t>
                </a:r>
                <a:r>
                  <a:rPr lang="uk-UA" dirty="0"/>
                  <a:t>, де</a:t>
                </a:r>
              </a:p>
              <a:p>
                <a:pPr>
                  <a:buClr>
                    <a:srgbClr val="FF0000"/>
                  </a:buClr>
                  <a:buFont typeface="Wingdings" panose="05000000000000000000" pitchFamily="2" charset="2"/>
                  <a:buChar char="ü"/>
                </a:pPr>
                <a:r>
                  <a:rPr lang="en-US" dirty="0">
                    <a:solidFill>
                      <a:srgbClr val="FF0000"/>
                    </a:solidFill>
                  </a:rPr>
                  <a:t>V</a:t>
                </a:r>
                <a:r>
                  <a:rPr lang="en-US" dirty="0"/>
                  <a:t> – </a:t>
                </a:r>
                <a:r>
                  <a:rPr lang="uk-UA" dirty="0"/>
                  <a:t>множина </a:t>
                </a:r>
                <a:r>
                  <a:rPr lang="uk-UA" dirty="0">
                    <a:solidFill>
                      <a:srgbClr val="FF0000"/>
                    </a:solidFill>
                  </a:rPr>
                  <a:t>вершин</a:t>
                </a:r>
                <a:r>
                  <a:rPr lang="uk-UA" dirty="0"/>
                  <a:t> графа;</a:t>
                </a:r>
              </a:p>
              <a:p>
                <a:pPr>
                  <a:buClr>
                    <a:srgbClr val="0070C0"/>
                  </a:buClr>
                  <a:buFont typeface="Wingdings" panose="05000000000000000000" pitchFamily="2" charset="2"/>
                  <a:buChar char="ü"/>
                </a:pPr>
                <a14:m>
                  <m:oMath xmlns:m="http://schemas.openxmlformats.org/officeDocument/2006/math">
                    <m:r>
                      <a:rPr lang="en-US" b="0" i="1" smtClean="0">
                        <a:solidFill>
                          <a:srgbClr val="0070C0"/>
                        </a:solidFill>
                        <a:latin typeface="Cambria Math" panose="02040503050406030204" pitchFamily="18" charset="0"/>
                      </a:rPr>
                      <m:t>𝐸</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sub>
                      <m:sup>
                        <m:r>
                          <a:rPr lang="en-US" b="0" i="1" smtClean="0">
                            <a:latin typeface="Cambria Math" panose="02040503050406030204" pitchFamily="18" charset="0"/>
                          </a:rPr>
                          <m:t>2</m:t>
                        </m:r>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r>
                          <a:rPr lang="en-US" b="0" i="1" smtClean="0">
                            <a:latin typeface="Cambria Math" panose="02040503050406030204" pitchFamily="18" charset="0"/>
                          </a:rPr>
                          <m:t>𝑉</m:t>
                        </m:r>
                      </m:e>
                    </m:d>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a14:m>
                <a:r>
                  <a:rPr lang="uk-UA" dirty="0"/>
                  <a:t> – множина </a:t>
                </a:r>
                <a:r>
                  <a:rPr lang="uk-UA" dirty="0" err="1">
                    <a:solidFill>
                      <a:srgbClr val="0070C0"/>
                    </a:solidFill>
                  </a:rPr>
                  <a:t>ребер</a:t>
                </a:r>
                <a:r>
                  <a:rPr lang="uk-UA" dirty="0"/>
                  <a:t>.</a:t>
                </a:r>
              </a:p>
            </p:txBody>
          </p:sp>
        </mc:Choice>
        <mc:Fallback xmlns="">
          <p:sp>
            <p:nvSpPr>
              <p:cNvPr id="3" name="Місце для вмісту 2">
                <a:extLst>
                  <a:ext uri="{FF2B5EF4-FFF2-40B4-BE49-F238E27FC236}">
                    <a16:creationId xmlns:a16="http://schemas.microsoft.com/office/drawing/2014/main" id="{CA94181B-CDEA-CE8D-0818-36B947336FB3}"/>
                  </a:ext>
                </a:extLst>
              </p:cNvPr>
              <p:cNvSpPr>
                <a:spLocks noGrp="1" noRot="1" noChangeAspect="1" noMove="1" noResize="1" noEditPoints="1" noAdjustHandles="1" noChangeArrowheads="1" noChangeShapeType="1" noTextEdit="1"/>
              </p:cNvSpPr>
              <p:nvPr>
                <p:ph idx="1"/>
              </p:nvPr>
            </p:nvSpPr>
            <p:spPr>
              <a:blipFill>
                <a:blip r:embed="rId2"/>
                <a:stretch>
                  <a:fillRect l="-732" t="-1970"/>
                </a:stretch>
              </a:blipFill>
            </p:spPr>
            <p:txBody>
              <a:bodyPr/>
              <a:lstStyle/>
              <a:p>
                <a:r>
                  <a:rPr lang="uk-UA">
                    <a:noFill/>
                  </a:rPr>
                  <a:t> </a:t>
                </a:r>
              </a:p>
            </p:txBody>
          </p:sp>
        </mc:Fallback>
      </mc:AlternateContent>
      <p:pic>
        <p:nvPicPr>
          <p:cNvPr id="7" name="Рисунок 6" descr="Зображення, що містить схема, ряд, дизайн&#10;&#10;Вміст, створений ШІ, може бути неправильним.">
            <a:extLst>
              <a:ext uri="{FF2B5EF4-FFF2-40B4-BE49-F238E27FC236}">
                <a16:creationId xmlns:a16="http://schemas.microsoft.com/office/drawing/2014/main" id="{3279CF53-5691-32FA-0459-C88CE29645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423" y="3806334"/>
            <a:ext cx="6149873" cy="2895851"/>
          </a:xfrm>
          <a:prstGeom prst="rect">
            <a:avLst/>
          </a:prstGeom>
        </p:spPr>
      </p:pic>
    </p:spTree>
    <p:extLst>
      <p:ext uri="{BB962C8B-B14F-4D97-AF65-F5344CB8AC3E}">
        <p14:creationId xmlns:p14="http://schemas.microsoft.com/office/powerpoint/2010/main" val="2919952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99A6B-08D6-F9B3-C3FF-6DDF38EF6622}"/>
            </a:ext>
          </a:extLst>
        </p:cNvPr>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85FC4D29-DDEA-831A-5B79-D59FE360BF5F}"/>
              </a:ext>
            </a:extLst>
          </p:cNvPr>
          <p:cNvSpPr/>
          <p:nvPr/>
        </p:nvSpPr>
        <p:spPr>
          <a:xfrm>
            <a:off x="0" y="3650522"/>
            <a:ext cx="12192000" cy="320747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Заголовок 1">
            <a:extLst>
              <a:ext uri="{FF2B5EF4-FFF2-40B4-BE49-F238E27FC236}">
                <a16:creationId xmlns:a16="http://schemas.microsoft.com/office/drawing/2014/main" id="{43773041-559D-FA66-38D1-278E7E216E2A}"/>
              </a:ext>
            </a:extLst>
          </p:cNvPr>
          <p:cNvSpPr>
            <a:spLocks noGrp="1"/>
          </p:cNvSpPr>
          <p:nvPr>
            <p:ph type="title"/>
          </p:nvPr>
        </p:nvSpPr>
        <p:spPr/>
        <p:txBody>
          <a:bodyPr/>
          <a:lstStyle/>
          <a:p>
            <a:r>
              <a:rPr lang="uk-UA" dirty="0"/>
              <a:t>Що таке Граф?</a:t>
            </a:r>
          </a:p>
        </p:txBody>
      </p:sp>
      <mc:AlternateContent xmlns:mc="http://schemas.openxmlformats.org/markup-compatibility/2006" xmlns:a14="http://schemas.microsoft.com/office/drawing/2010/main">
        <mc:Choice Requires="a14">
          <p:sp>
            <p:nvSpPr>
              <p:cNvPr id="3" name="Місце для вмісту 2">
                <a:extLst>
                  <a:ext uri="{FF2B5EF4-FFF2-40B4-BE49-F238E27FC236}">
                    <a16:creationId xmlns:a16="http://schemas.microsoft.com/office/drawing/2014/main" id="{24C90807-CA6D-05C6-70C8-5757D793F952}"/>
                  </a:ext>
                </a:extLst>
              </p:cNvPr>
              <p:cNvSpPr>
                <a:spLocks noGrp="1"/>
              </p:cNvSpPr>
              <p:nvPr>
                <p:ph idx="1"/>
              </p:nvPr>
            </p:nvSpPr>
            <p:spPr/>
            <p:txBody>
              <a:bodyPr/>
              <a:lstStyle/>
              <a:p>
                <a:pPr marL="0" indent="0">
                  <a:buNone/>
                </a:pPr>
                <a:r>
                  <a:rPr lang="uk-UA" dirty="0"/>
                  <a:t>(Неорієнтованим) графом називається пара (</a:t>
                </a:r>
                <a:r>
                  <a:rPr lang="en-US" dirty="0">
                    <a:solidFill>
                      <a:srgbClr val="FF0000"/>
                    </a:solidFill>
                  </a:rPr>
                  <a:t>V</a:t>
                </a:r>
                <a:r>
                  <a:rPr lang="en-US" dirty="0"/>
                  <a:t>, </a:t>
                </a:r>
                <a:r>
                  <a:rPr lang="en-US" dirty="0">
                    <a:solidFill>
                      <a:srgbClr val="0070C0"/>
                    </a:solidFill>
                  </a:rPr>
                  <a:t>E</a:t>
                </a:r>
                <a:r>
                  <a:rPr lang="en-US" dirty="0"/>
                  <a:t>)</a:t>
                </a:r>
                <a:r>
                  <a:rPr lang="uk-UA" dirty="0"/>
                  <a:t>, де</a:t>
                </a:r>
              </a:p>
              <a:p>
                <a:pPr>
                  <a:buClr>
                    <a:srgbClr val="FF0000"/>
                  </a:buClr>
                  <a:buFont typeface="Wingdings" panose="05000000000000000000" pitchFamily="2" charset="2"/>
                  <a:buChar char="ü"/>
                </a:pPr>
                <a:r>
                  <a:rPr lang="en-US" dirty="0">
                    <a:solidFill>
                      <a:srgbClr val="FF0000"/>
                    </a:solidFill>
                  </a:rPr>
                  <a:t>V</a:t>
                </a:r>
                <a:r>
                  <a:rPr lang="en-US" dirty="0"/>
                  <a:t> – </a:t>
                </a:r>
                <a:r>
                  <a:rPr lang="uk-UA" dirty="0"/>
                  <a:t>множина </a:t>
                </a:r>
                <a:r>
                  <a:rPr lang="uk-UA" dirty="0">
                    <a:solidFill>
                      <a:srgbClr val="FF0000"/>
                    </a:solidFill>
                  </a:rPr>
                  <a:t>вершин</a:t>
                </a:r>
                <a:r>
                  <a:rPr lang="uk-UA" dirty="0"/>
                  <a:t> графа;</a:t>
                </a:r>
              </a:p>
              <a:p>
                <a:pPr>
                  <a:buClr>
                    <a:srgbClr val="0070C0"/>
                  </a:buClr>
                  <a:buFont typeface="Wingdings" panose="05000000000000000000" pitchFamily="2" charset="2"/>
                  <a:buChar char="ü"/>
                </a:pPr>
                <a14:m>
                  <m:oMath xmlns:m="http://schemas.openxmlformats.org/officeDocument/2006/math">
                    <m:r>
                      <a:rPr lang="en-US" b="0" i="1" smtClean="0">
                        <a:solidFill>
                          <a:srgbClr val="0070C0"/>
                        </a:solidFill>
                        <a:latin typeface="Cambria Math" panose="02040503050406030204" pitchFamily="18" charset="0"/>
                      </a:rPr>
                      <m:t>𝐸</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𝐶</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sub>
                      <m:sup>
                        <m:r>
                          <a:rPr lang="en-US" b="0" i="1" smtClean="0">
                            <a:latin typeface="Cambria Math" panose="02040503050406030204" pitchFamily="18" charset="0"/>
                          </a:rPr>
                          <m:t>2</m:t>
                        </m:r>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r>
                          <a:rPr lang="en-US" b="0" i="1" smtClean="0">
                            <a:latin typeface="Cambria Math" panose="02040503050406030204" pitchFamily="18" charset="0"/>
                          </a:rPr>
                          <m:t>𝑉</m:t>
                        </m:r>
                      </m:e>
                    </m:d>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a14:m>
                <a:r>
                  <a:rPr lang="uk-UA" dirty="0"/>
                  <a:t> – множина </a:t>
                </a:r>
                <a:r>
                  <a:rPr lang="uk-UA" dirty="0" err="1">
                    <a:solidFill>
                      <a:srgbClr val="0070C0"/>
                    </a:solidFill>
                  </a:rPr>
                  <a:t>ребер</a:t>
                </a:r>
                <a:r>
                  <a:rPr lang="uk-UA" dirty="0"/>
                  <a:t>.</a:t>
                </a:r>
              </a:p>
            </p:txBody>
          </p:sp>
        </mc:Choice>
        <mc:Fallback xmlns="">
          <p:sp>
            <p:nvSpPr>
              <p:cNvPr id="3" name="Місце для вмісту 2">
                <a:extLst>
                  <a:ext uri="{FF2B5EF4-FFF2-40B4-BE49-F238E27FC236}">
                    <a16:creationId xmlns:a16="http://schemas.microsoft.com/office/drawing/2014/main" id="{24C90807-CA6D-05C6-70C8-5757D793F952}"/>
                  </a:ext>
                </a:extLst>
              </p:cNvPr>
              <p:cNvSpPr>
                <a:spLocks noGrp="1" noRot="1" noChangeAspect="1" noMove="1" noResize="1" noEditPoints="1" noAdjustHandles="1" noChangeArrowheads="1" noChangeShapeType="1" noTextEdit="1"/>
              </p:cNvSpPr>
              <p:nvPr>
                <p:ph idx="1"/>
              </p:nvPr>
            </p:nvSpPr>
            <p:spPr>
              <a:blipFill>
                <a:blip r:embed="rId2"/>
                <a:stretch>
                  <a:fillRect l="-732" t="-1970"/>
                </a:stretch>
              </a:blipFill>
            </p:spPr>
            <p:txBody>
              <a:bodyPr/>
              <a:lstStyle/>
              <a:p>
                <a:r>
                  <a:rPr lang="uk-UA">
                    <a:noFill/>
                  </a:rPr>
                  <a:t> </a:t>
                </a:r>
              </a:p>
            </p:txBody>
          </p:sp>
        </mc:Fallback>
      </mc:AlternateContent>
      <p:pic>
        <p:nvPicPr>
          <p:cNvPr id="7" name="Рисунок 6" descr="Зображення, що містить схема, ряд, дизайн&#10;&#10;Вміст, створений ШІ, може бути неправильним.">
            <a:extLst>
              <a:ext uri="{FF2B5EF4-FFF2-40B4-BE49-F238E27FC236}">
                <a16:creationId xmlns:a16="http://schemas.microsoft.com/office/drawing/2014/main" id="{A80523AF-98DD-11B8-4862-9998665CBD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423" y="3806334"/>
            <a:ext cx="6149873" cy="2895851"/>
          </a:xfrm>
          <a:prstGeom prst="rect">
            <a:avLst/>
          </a:prstGeom>
        </p:spPr>
      </p:pic>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3881D641-2917-8C5A-1297-0DCC19038A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2487" y="3787285"/>
            <a:ext cx="3025402" cy="2751058"/>
          </a:xfrm>
          <a:prstGeom prst="rect">
            <a:avLst/>
          </a:prstGeom>
        </p:spPr>
      </p:pic>
    </p:spTree>
    <p:extLst>
      <p:ext uri="{BB962C8B-B14F-4D97-AF65-F5344CB8AC3E}">
        <p14:creationId xmlns:p14="http://schemas.microsoft.com/office/powerpoint/2010/main" val="1498123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3024-9DB0-F420-C74F-3804E01B0D40}"/>
            </a:ext>
          </a:extLst>
        </p:cNvPr>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EC24F626-28CD-3363-06F4-D15A58CDC782}"/>
              </a:ext>
            </a:extLst>
          </p:cNvPr>
          <p:cNvSpPr/>
          <p:nvPr/>
        </p:nvSpPr>
        <p:spPr>
          <a:xfrm>
            <a:off x="0" y="3650522"/>
            <a:ext cx="12192000" cy="3207478"/>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Заголовок 1">
            <a:extLst>
              <a:ext uri="{FF2B5EF4-FFF2-40B4-BE49-F238E27FC236}">
                <a16:creationId xmlns:a16="http://schemas.microsoft.com/office/drawing/2014/main" id="{C48F60AE-C0A9-5F7A-52E8-A1CE465C55D0}"/>
              </a:ext>
            </a:extLst>
          </p:cNvPr>
          <p:cNvSpPr>
            <a:spLocks noGrp="1"/>
          </p:cNvSpPr>
          <p:nvPr>
            <p:ph type="title"/>
          </p:nvPr>
        </p:nvSpPr>
        <p:spPr/>
        <p:txBody>
          <a:bodyPr/>
          <a:lstStyle/>
          <a:p>
            <a:r>
              <a:rPr lang="uk-UA" dirty="0"/>
              <a:t>Що таке Граф?</a:t>
            </a:r>
          </a:p>
        </p:txBody>
      </p:sp>
      <mc:AlternateContent xmlns:mc="http://schemas.openxmlformats.org/markup-compatibility/2006" xmlns:a14="http://schemas.microsoft.com/office/drawing/2010/main">
        <mc:Choice Requires="a14">
          <p:sp>
            <p:nvSpPr>
              <p:cNvPr id="3" name="Місце для вмісту 2">
                <a:extLst>
                  <a:ext uri="{FF2B5EF4-FFF2-40B4-BE49-F238E27FC236}">
                    <a16:creationId xmlns:a16="http://schemas.microsoft.com/office/drawing/2014/main" id="{3642B99B-7DA8-231B-2CB2-8941A5E971A9}"/>
                  </a:ext>
                </a:extLst>
              </p:cNvPr>
              <p:cNvSpPr>
                <a:spLocks noGrp="1"/>
              </p:cNvSpPr>
              <p:nvPr>
                <p:ph idx="1"/>
              </p:nvPr>
            </p:nvSpPr>
            <p:spPr/>
            <p:txBody>
              <a:bodyPr/>
              <a:lstStyle/>
              <a:p>
                <a:pPr marL="0" indent="0">
                  <a:buNone/>
                </a:pPr>
                <a:r>
                  <a:rPr lang="uk-UA" dirty="0">
                    <a:highlight>
                      <a:srgbClr val="0000FF"/>
                    </a:highlight>
                  </a:rPr>
                  <a:t>Орієнтованим</a:t>
                </a:r>
                <a:r>
                  <a:rPr lang="uk-UA" dirty="0"/>
                  <a:t> графом називається пара (</a:t>
                </a:r>
                <a:r>
                  <a:rPr lang="en-US" dirty="0">
                    <a:solidFill>
                      <a:srgbClr val="FF0000"/>
                    </a:solidFill>
                  </a:rPr>
                  <a:t>V</a:t>
                </a:r>
                <a:r>
                  <a:rPr lang="en-US" dirty="0"/>
                  <a:t>, </a:t>
                </a:r>
                <a:r>
                  <a:rPr lang="en-US" dirty="0">
                    <a:solidFill>
                      <a:srgbClr val="0070C0"/>
                    </a:solidFill>
                  </a:rPr>
                  <a:t>E</a:t>
                </a:r>
                <a:r>
                  <a:rPr lang="en-US" dirty="0"/>
                  <a:t>)</a:t>
                </a:r>
                <a:r>
                  <a:rPr lang="uk-UA" dirty="0"/>
                  <a:t>, де</a:t>
                </a:r>
              </a:p>
              <a:p>
                <a:pPr>
                  <a:buClr>
                    <a:srgbClr val="FF0000"/>
                  </a:buClr>
                  <a:buFont typeface="Wingdings" panose="05000000000000000000" pitchFamily="2" charset="2"/>
                  <a:buChar char="ü"/>
                </a:pPr>
                <a:r>
                  <a:rPr lang="en-US" dirty="0">
                    <a:solidFill>
                      <a:srgbClr val="FF0000"/>
                    </a:solidFill>
                  </a:rPr>
                  <a:t>V</a:t>
                </a:r>
                <a:r>
                  <a:rPr lang="en-US" dirty="0"/>
                  <a:t> – </a:t>
                </a:r>
                <a:r>
                  <a:rPr lang="uk-UA" dirty="0"/>
                  <a:t>множина </a:t>
                </a:r>
                <a:r>
                  <a:rPr lang="uk-UA" dirty="0">
                    <a:solidFill>
                      <a:srgbClr val="FF0000"/>
                    </a:solidFill>
                  </a:rPr>
                  <a:t>вершин</a:t>
                </a:r>
                <a:r>
                  <a:rPr lang="uk-UA" dirty="0"/>
                  <a:t> графа;</a:t>
                </a:r>
              </a:p>
              <a:p>
                <a:pPr>
                  <a:buClr>
                    <a:srgbClr val="0070C0"/>
                  </a:buClr>
                  <a:buFont typeface="Wingdings" panose="05000000000000000000" pitchFamily="2" charset="2"/>
                  <a:buChar char="ü"/>
                </a:pPr>
                <a14:m>
                  <m:oMath xmlns:m="http://schemas.openxmlformats.org/officeDocument/2006/math">
                    <m:r>
                      <a:rPr lang="en-US" b="0" i="1" smtClean="0">
                        <a:solidFill>
                          <a:srgbClr val="0070C0"/>
                        </a:solidFill>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𝑉</m:t>
                        </m:r>
                      </m:e>
                    </m:d>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a14:m>
                <a:r>
                  <a:rPr lang="uk-UA" dirty="0"/>
                  <a:t> – множина </a:t>
                </a:r>
                <a:r>
                  <a:rPr lang="uk-UA" dirty="0" err="1">
                    <a:solidFill>
                      <a:srgbClr val="0070C0"/>
                    </a:solidFill>
                  </a:rPr>
                  <a:t>ребер</a:t>
                </a:r>
                <a:r>
                  <a:rPr lang="uk-UA" dirty="0"/>
                  <a:t>.</a:t>
                </a:r>
              </a:p>
            </p:txBody>
          </p:sp>
        </mc:Choice>
        <mc:Fallback xmlns="">
          <p:sp>
            <p:nvSpPr>
              <p:cNvPr id="3" name="Місце для вмісту 2">
                <a:extLst>
                  <a:ext uri="{FF2B5EF4-FFF2-40B4-BE49-F238E27FC236}">
                    <a16:creationId xmlns:a16="http://schemas.microsoft.com/office/drawing/2014/main" id="{3642B99B-7DA8-231B-2CB2-8941A5E971A9}"/>
                  </a:ext>
                </a:extLst>
              </p:cNvPr>
              <p:cNvSpPr>
                <a:spLocks noGrp="1" noRot="1" noChangeAspect="1" noMove="1" noResize="1" noEditPoints="1" noAdjustHandles="1" noChangeArrowheads="1" noChangeShapeType="1" noTextEdit="1"/>
              </p:cNvSpPr>
              <p:nvPr>
                <p:ph idx="1"/>
              </p:nvPr>
            </p:nvSpPr>
            <p:spPr>
              <a:blipFill>
                <a:blip r:embed="rId2"/>
                <a:stretch>
                  <a:fillRect l="-732" t="-1970"/>
                </a:stretch>
              </a:blipFill>
            </p:spPr>
            <p:txBody>
              <a:bodyPr/>
              <a:lstStyle/>
              <a:p>
                <a:r>
                  <a:rPr lang="uk-UA">
                    <a:noFill/>
                  </a:rPr>
                  <a:t> </a:t>
                </a:r>
              </a:p>
            </p:txBody>
          </p:sp>
        </mc:Fallback>
      </mc:AlternateContent>
      <p:pic>
        <p:nvPicPr>
          <p:cNvPr id="7" name="Рисунок 6" descr="Зображення, що містить схема, ряд, дизайн&#10;&#10;Вміст, створений ШІ, може бути неправильним.">
            <a:extLst>
              <a:ext uri="{FF2B5EF4-FFF2-40B4-BE49-F238E27FC236}">
                <a16:creationId xmlns:a16="http://schemas.microsoft.com/office/drawing/2014/main" id="{BE1A3FEE-A94B-1D39-F419-D55CACAFB6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423" y="3806334"/>
            <a:ext cx="6149873" cy="2895851"/>
          </a:xfrm>
          <a:prstGeom prst="rect">
            <a:avLst/>
          </a:prstGeom>
        </p:spPr>
      </p:pic>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DD2D08C5-A742-035F-7CFF-7DCF40C43E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2487" y="3787285"/>
            <a:ext cx="3025402" cy="2751058"/>
          </a:xfrm>
          <a:prstGeom prst="rect">
            <a:avLst/>
          </a:prstGeom>
        </p:spPr>
      </p:pic>
    </p:spTree>
    <p:extLst>
      <p:ext uri="{BB962C8B-B14F-4D97-AF65-F5344CB8AC3E}">
        <p14:creationId xmlns:p14="http://schemas.microsoft.com/office/powerpoint/2010/main" val="416888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36F9FF-33A4-EF39-FA63-89A9F273E3A3}"/>
              </a:ext>
            </a:extLst>
          </p:cNvPr>
          <p:cNvSpPr>
            <a:spLocks noGrp="1"/>
          </p:cNvSpPr>
          <p:nvPr>
            <p:ph type="title"/>
          </p:nvPr>
        </p:nvSpPr>
        <p:spPr/>
        <p:txBody>
          <a:bodyPr/>
          <a:lstStyle/>
          <a:p>
            <a:r>
              <a:rPr lang="uk-UA" dirty="0"/>
              <a:t>Види Графів</a:t>
            </a:r>
          </a:p>
        </p:txBody>
      </p:sp>
      <p:sp>
        <p:nvSpPr>
          <p:cNvPr id="3" name="Місце для вмісту 2">
            <a:extLst>
              <a:ext uri="{FF2B5EF4-FFF2-40B4-BE49-F238E27FC236}">
                <a16:creationId xmlns:a16="http://schemas.microsoft.com/office/drawing/2014/main" id="{9FCE274C-2FF5-CA37-9821-79AC90D8FBAF}"/>
              </a:ext>
            </a:extLst>
          </p:cNvPr>
          <p:cNvSpPr>
            <a:spLocks noGrp="1"/>
          </p:cNvSpPr>
          <p:nvPr>
            <p:ph idx="1"/>
          </p:nvPr>
        </p:nvSpPr>
        <p:spPr/>
        <p:txBody>
          <a:bodyPr/>
          <a:lstStyle/>
          <a:p>
            <a:r>
              <a:rPr lang="uk-UA" i="1" dirty="0" err="1">
                <a:solidFill>
                  <a:schemeClr val="accent2">
                    <a:lumMod val="60000"/>
                    <a:lumOff val="40000"/>
                  </a:schemeClr>
                </a:solidFill>
              </a:rPr>
              <a:t>Мультиграфом</a:t>
            </a:r>
            <a:r>
              <a:rPr lang="uk-UA" dirty="0"/>
              <a:t> називають граф, у якому кожна довільна пара вершин може бути з’єднана більше, ніж одним ребром.</a:t>
            </a:r>
          </a:p>
          <a:p>
            <a:pPr marL="0" indent="0">
              <a:buNone/>
            </a:pPr>
            <a:endParaRPr lang="uk-UA" dirty="0"/>
          </a:p>
          <a:p>
            <a:pPr marL="0" indent="0">
              <a:buNone/>
            </a:pPr>
            <a:r>
              <a:rPr lang="uk-UA" dirty="0"/>
              <a:t>Очевидно, що </a:t>
            </a:r>
            <a:r>
              <a:rPr lang="uk-UA" dirty="0" err="1"/>
              <a:t>мультиграфи</a:t>
            </a:r>
            <a:r>
              <a:rPr lang="uk-UA" dirty="0"/>
              <a:t> можуть бути як орієнтованими так і неорієнтованими.</a:t>
            </a:r>
          </a:p>
          <a:p>
            <a:pPr marL="0" indent="0">
              <a:buNone/>
            </a:pPr>
            <a:endParaRPr lang="uk-UA" dirty="0"/>
          </a:p>
          <a:p>
            <a:pPr marL="0" indent="0">
              <a:buNone/>
            </a:pPr>
            <a:r>
              <a:rPr lang="uk-UA" i="1" dirty="0" err="1">
                <a:solidFill>
                  <a:schemeClr val="accent2">
                    <a:lumMod val="60000"/>
                    <a:lumOff val="40000"/>
                  </a:schemeClr>
                </a:solidFill>
              </a:rPr>
              <a:t>Планарним</a:t>
            </a:r>
            <a:r>
              <a:rPr lang="uk-UA" dirty="0"/>
              <a:t> називається граф, який ізоморфний до графа, який </a:t>
            </a:r>
            <a:r>
              <a:rPr lang="uk-UA" dirty="0" err="1"/>
              <a:t>зображається</a:t>
            </a:r>
            <a:r>
              <a:rPr lang="uk-UA" dirty="0"/>
              <a:t> на площині так, що жодні його два ребра геометрично не перетинаються у жодній точці, за винятком </a:t>
            </a:r>
            <a:r>
              <a:rPr lang="uk-UA" dirty="0" err="1"/>
              <a:t>інцидентних</a:t>
            </a:r>
            <a:r>
              <a:rPr lang="uk-UA" dirty="0"/>
              <a:t> їм вершин.</a:t>
            </a:r>
          </a:p>
          <a:p>
            <a:pPr marL="0" indent="0">
              <a:buNone/>
            </a:pPr>
            <a:endParaRPr lang="uk-UA" dirty="0"/>
          </a:p>
          <a:p>
            <a:pPr marL="0" indent="0">
              <a:buNone/>
            </a:pPr>
            <a:endParaRPr lang="uk-UA" dirty="0"/>
          </a:p>
        </p:txBody>
      </p:sp>
    </p:spTree>
    <p:extLst>
      <p:ext uri="{BB962C8B-B14F-4D97-AF65-F5344CB8AC3E}">
        <p14:creationId xmlns:p14="http://schemas.microsoft.com/office/powerpoint/2010/main" val="2456732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05A0B70B-070C-1FC5-F4E1-2DC1C2B9C36E}"/>
              </a:ext>
            </a:extLst>
          </p:cNvPr>
          <p:cNvSpPr/>
          <p:nvPr/>
        </p:nvSpPr>
        <p:spPr>
          <a:xfrm>
            <a:off x="223520" y="1867809"/>
            <a:ext cx="13200993" cy="516057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dirty="0"/>
          </a:p>
        </p:txBody>
      </p:sp>
      <p:sp>
        <p:nvSpPr>
          <p:cNvPr id="2" name="Заголовок 1">
            <a:extLst>
              <a:ext uri="{FF2B5EF4-FFF2-40B4-BE49-F238E27FC236}">
                <a16:creationId xmlns:a16="http://schemas.microsoft.com/office/drawing/2014/main" id="{F8470B2E-D10A-18F3-4F91-D421D41DC467}"/>
              </a:ext>
            </a:extLst>
          </p:cNvPr>
          <p:cNvSpPr>
            <a:spLocks noGrp="1"/>
          </p:cNvSpPr>
          <p:nvPr>
            <p:ph type="title"/>
          </p:nvPr>
        </p:nvSpPr>
        <p:spPr/>
        <p:txBody>
          <a:bodyPr/>
          <a:lstStyle/>
          <a:p>
            <a:r>
              <a:rPr lang="uk-UA" dirty="0"/>
              <a:t>Способи подання графів</a:t>
            </a:r>
          </a:p>
        </p:txBody>
      </p:sp>
      <p:pic>
        <p:nvPicPr>
          <p:cNvPr id="5" name="Місце для вмісту 4" descr="Зображення, що містить коло, ряд, схема&#10;&#10;Вміст, створений ШІ, може бути неправильним.">
            <a:extLst>
              <a:ext uri="{FF2B5EF4-FFF2-40B4-BE49-F238E27FC236}">
                <a16:creationId xmlns:a16="http://schemas.microsoft.com/office/drawing/2014/main" id="{B871809E-5510-62BE-9AFE-E96B580D8F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3070" y="2412166"/>
            <a:ext cx="1532003" cy="1774409"/>
          </a:xfrm>
        </p:spPr>
      </p:pic>
      <p:sp>
        <p:nvSpPr>
          <p:cNvPr id="11" name="Овал 10">
            <a:extLst>
              <a:ext uri="{FF2B5EF4-FFF2-40B4-BE49-F238E27FC236}">
                <a16:creationId xmlns:a16="http://schemas.microsoft.com/office/drawing/2014/main" id="{3D51DBFB-1185-6B13-F839-5FD5806E6A30}"/>
              </a:ext>
            </a:extLst>
          </p:cNvPr>
          <p:cNvSpPr/>
          <p:nvPr/>
        </p:nvSpPr>
        <p:spPr>
          <a:xfrm rot="18770877">
            <a:off x="2163983" y="2282470"/>
            <a:ext cx="490347" cy="1068606"/>
          </a:xfrm>
          <a:prstGeom prst="ellipse">
            <a:avLst/>
          </a:prstGeom>
          <a:noFill/>
          <a:ln w="5715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uk-UA"/>
          </a:p>
        </p:txBody>
      </p:sp>
      <p:sp>
        <p:nvSpPr>
          <p:cNvPr id="7" name="TextBox 6">
            <a:extLst>
              <a:ext uri="{FF2B5EF4-FFF2-40B4-BE49-F238E27FC236}">
                <a16:creationId xmlns:a16="http://schemas.microsoft.com/office/drawing/2014/main" id="{09211B5C-8F68-49E7-526A-ACE839F4DC55}"/>
              </a:ext>
            </a:extLst>
          </p:cNvPr>
          <p:cNvSpPr txBox="1"/>
          <p:nvPr/>
        </p:nvSpPr>
        <p:spPr>
          <a:xfrm>
            <a:off x="1290190" y="4265895"/>
            <a:ext cx="1940560" cy="276999"/>
          </a:xfrm>
          <a:prstGeom prst="rect">
            <a:avLst/>
          </a:prstGeom>
          <a:noFill/>
        </p:spPr>
        <p:txBody>
          <a:bodyPr wrap="square" rtlCol="0">
            <a:spAutoFit/>
          </a:bodyPr>
          <a:lstStyle/>
          <a:p>
            <a:r>
              <a:rPr lang="uk-UA" sz="1200" dirty="0">
                <a:solidFill>
                  <a:schemeClr val="bg1"/>
                </a:solidFill>
              </a:rPr>
              <a:t>Неорієнтований граф</a:t>
            </a:r>
          </a:p>
        </p:txBody>
      </p:sp>
      <p:pic>
        <p:nvPicPr>
          <p:cNvPr id="9" name="Рисунок 8" descr="Зображення, що містить схема, дизайн&#10;&#10;Вміст, створений ШІ, може бути неправильним.">
            <a:extLst>
              <a:ext uri="{FF2B5EF4-FFF2-40B4-BE49-F238E27FC236}">
                <a16:creationId xmlns:a16="http://schemas.microsoft.com/office/drawing/2014/main" id="{8B84454A-4A9F-0F1B-D620-64189814FB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47083" y="2525872"/>
            <a:ext cx="3426445" cy="1774409"/>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BD85071-310F-2E62-4FFD-50777D87EB24}"/>
                  </a:ext>
                </a:extLst>
              </p:cNvPr>
              <p:cNvSpPr txBox="1"/>
              <p:nvPr/>
            </p:nvSpPr>
            <p:spPr>
              <a:xfrm>
                <a:off x="4297420" y="4073945"/>
                <a:ext cx="1940560" cy="646331"/>
              </a:xfrm>
              <a:prstGeom prst="rect">
                <a:avLst/>
              </a:prstGeom>
              <a:noFill/>
            </p:spPr>
            <p:txBody>
              <a:bodyPr wrap="square" rtlCol="0">
                <a:spAutoFit/>
              </a:bodyPr>
              <a:lstStyle/>
              <a:p>
                <a:r>
                  <a:rPr lang="uk-UA" sz="1200" dirty="0">
                    <a:solidFill>
                      <a:schemeClr val="bg1"/>
                    </a:solidFill>
                  </a:rPr>
                  <a:t>Список суміжності</a:t>
                </a:r>
              </a:p>
              <a:p>
                <a:r>
                  <a:rPr lang="uk-UA" sz="1200" dirty="0">
                    <a:solidFill>
                      <a:schemeClr val="bg1"/>
                    </a:solidFill>
                  </a:rPr>
                  <a:t>(</a:t>
                </a:r>
                <a:r>
                  <a:rPr lang="en-US" sz="1200" dirty="0">
                    <a:solidFill>
                      <a:schemeClr val="bg1"/>
                    </a:solidFill>
                  </a:rPr>
                  <a:t>adjacency list</a:t>
                </a:r>
                <a:r>
                  <a:rPr lang="uk-UA" sz="1200" dirty="0">
                    <a:solidFill>
                      <a:schemeClr val="bg1"/>
                    </a:solidFill>
                  </a:rPr>
                  <a:t>)</a:t>
                </a:r>
                <a:endParaRPr lang="en-US" sz="1200" dirty="0">
                  <a:solidFill>
                    <a:schemeClr val="bg1"/>
                  </a:solidFill>
                </a:endParaRPr>
              </a:p>
              <a:p>
                <a:pPr/>
                <a14:m>
                  <m:oMathPara xmlns:m="http://schemas.openxmlformats.org/officeDocument/2006/math">
                    <m:oMathParaPr>
                      <m:jc m:val="centerGroup"/>
                    </m:oMathParaPr>
                    <m:oMath xmlns:m="http://schemas.openxmlformats.org/officeDocument/2006/math">
                      <m:r>
                        <a:rPr lang="en-US" sz="1200" b="0" i="1" smtClean="0">
                          <a:solidFill>
                            <a:schemeClr val="bg1"/>
                          </a:solidFill>
                          <a:latin typeface="Cambria Math" panose="02040503050406030204" pitchFamily="18" charset="0"/>
                        </a:rPr>
                        <m:t>𝐴𝑑𝑗</m:t>
                      </m:r>
                      <m:d>
                        <m:dPr>
                          <m:begChr m:val="["/>
                          <m:endChr m:val="]"/>
                          <m:ctrlPr>
                            <a:rPr lang="en-US" sz="1200" b="0" i="1" smtClean="0">
                              <a:solidFill>
                                <a:schemeClr val="bg1"/>
                              </a:solidFill>
                              <a:latin typeface="Cambria Math" panose="02040503050406030204" pitchFamily="18" charset="0"/>
                            </a:rPr>
                          </m:ctrlPr>
                        </m:dPr>
                        <m:e>
                          <m:r>
                            <a:rPr lang="en-US" sz="1200" b="0" i="1" smtClean="0">
                              <a:solidFill>
                                <a:schemeClr val="bg1"/>
                              </a:solidFill>
                              <a:latin typeface="Cambria Math" panose="02040503050406030204" pitchFamily="18" charset="0"/>
                            </a:rPr>
                            <m:t>𝑖</m:t>
                          </m:r>
                        </m:e>
                      </m:d>
                      <m:r>
                        <a:rPr lang="en-US" sz="1200" b="0" i="1" smtClean="0">
                          <a:solidFill>
                            <a:schemeClr val="bg1"/>
                          </a:solidFill>
                          <a:latin typeface="Cambria Math" panose="02040503050406030204" pitchFamily="18" charset="0"/>
                        </a:rPr>
                        <m:t>=</m:t>
                      </m:r>
                      <m:d>
                        <m:dPr>
                          <m:begChr m:val="{"/>
                          <m:endChr m:val="|"/>
                          <m:ctrlPr>
                            <a:rPr lang="en-US" sz="1200" b="0" i="1" smtClean="0">
                              <a:solidFill>
                                <a:schemeClr val="bg1"/>
                              </a:solidFill>
                              <a:latin typeface="Cambria Math" panose="02040503050406030204" pitchFamily="18" charset="0"/>
                            </a:rPr>
                          </m:ctrlPr>
                        </m:dPr>
                        <m:e>
                          <m:r>
                            <a:rPr lang="en-US" sz="1200" b="0" i="1" smtClean="0">
                              <a:solidFill>
                                <a:schemeClr val="bg1"/>
                              </a:solidFill>
                              <a:latin typeface="Cambria Math" panose="02040503050406030204" pitchFamily="18" charset="0"/>
                            </a:rPr>
                            <m:t>𝑗</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𝑉</m:t>
                          </m:r>
                        </m:e>
                      </m:d>
                      <m:d>
                        <m:dPr>
                          <m:begChr m:val="{"/>
                          <m:endChr m:val="}"/>
                          <m:ctrlPr>
                            <a:rPr lang="en-US" sz="1200" b="0" i="1" smtClean="0">
                              <a:solidFill>
                                <a:schemeClr val="bg1"/>
                              </a:solidFill>
                              <a:latin typeface="Cambria Math" panose="02040503050406030204" pitchFamily="18" charset="0"/>
                            </a:rPr>
                          </m:ctrlPr>
                        </m:dPr>
                        <m:e>
                          <m:r>
                            <a:rPr lang="en-US" sz="1200" b="0" i="1" smtClean="0">
                              <a:solidFill>
                                <a:schemeClr val="bg1"/>
                              </a:solidFill>
                              <a:latin typeface="Cambria Math" panose="02040503050406030204" pitchFamily="18" charset="0"/>
                            </a:rPr>
                            <m:t>𝑖</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𝑗</m:t>
                          </m:r>
                        </m:e>
                      </m:d>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𝐸</m:t>
                      </m:r>
                      <m:r>
                        <a:rPr lang="en-US" sz="1200" b="0" i="1" smtClean="0">
                          <a:solidFill>
                            <a:schemeClr val="bg1"/>
                          </a:solidFill>
                          <a:latin typeface="Cambria Math" panose="02040503050406030204" pitchFamily="18" charset="0"/>
                        </a:rPr>
                        <m:t>}</m:t>
                      </m:r>
                    </m:oMath>
                  </m:oMathPara>
                </a14:m>
                <a:endParaRPr lang="uk-UA" sz="1200" dirty="0">
                  <a:solidFill>
                    <a:schemeClr val="bg1"/>
                  </a:solidFill>
                </a:endParaRPr>
              </a:p>
            </p:txBody>
          </p:sp>
        </mc:Choice>
        <mc:Fallback xmlns="">
          <p:sp>
            <p:nvSpPr>
              <p:cNvPr id="10" name="TextBox 9">
                <a:extLst>
                  <a:ext uri="{FF2B5EF4-FFF2-40B4-BE49-F238E27FC236}">
                    <a16:creationId xmlns:a16="http://schemas.microsoft.com/office/drawing/2014/main" id="{2BD85071-310F-2E62-4FFD-50777D87EB24}"/>
                  </a:ext>
                </a:extLst>
              </p:cNvPr>
              <p:cNvSpPr txBox="1">
                <a:spLocks noRot="1" noChangeAspect="1" noMove="1" noResize="1" noEditPoints="1" noAdjustHandles="1" noChangeArrowheads="1" noChangeShapeType="1" noTextEdit="1"/>
              </p:cNvSpPr>
              <p:nvPr/>
            </p:nvSpPr>
            <p:spPr>
              <a:xfrm>
                <a:off x="4297420" y="4073945"/>
                <a:ext cx="1940560" cy="646331"/>
              </a:xfrm>
              <a:prstGeom prst="rect">
                <a:avLst/>
              </a:prstGeom>
              <a:blipFill>
                <a:blip r:embed="rId4"/>
                <a:stretch>
                  <a:fillRect l="-314" b="-3774"/>
                </a:stretch>
              </a:blipFill>
            </p:spPr>
            <p:txBody>
              <a:bodyPr/>
              <a:lstStyle/>
              <a:p>
                <a:r>
                  <a:rPr lang="uk-UA">
                    <a:noFill/>
                  </a:rPr>
                  <a:t> </a:t>
                </a:r>
              </a:p>
            </p:txBody>
          </p:sp>
        </mc:Fallback>
      </mc:AlternateContent>
      <p:sp>
        <p:nvSpPr>
          <p:cNvPr id="12" name="TextBox 11">
            <a:extLst>
              <a:ext uri="{FF2B5EF4-FFF2-40B4-BE49-F238E27FC236}">
                <a16:creationId xmlns:a16="http://schemas.microsoft.com/office/drawing/2014/main" id="{64410285-D61D-4B67-E8DB-7D50056298E2}"/>
              </a:ext>
            </a:extLst>
          </p:cNvPr>
          <p:cNvSpPr txBox="1"/>
          <p:nvPr/>
        </p:nvSpPr>
        <p:spPr>
          <a:xfrm>
            <a:off x="2031532" y="2135167"/>
            <a:ext cx="4541520" cy="276999"/>
          </a:xfrm>
          <a:prstGeom prst="rect">
            <a:avLst/>
          </a:prstGeom>
          <a:noFill/>
        </p:spPr>
        <p:txBody>
          <a:bodyPr wrap="square" rtlCol="0">
            <a:spAutoFit/>
          </a:bodyPr>
          <a:lstStyle/>
          <a:p>
            <a:r>
              <a:rPr lang="uk-UA" sz="1200" b="1" dirty="0">
                <a:solidFill>
                  <a:schemeClr val="bg2">
                    <a:lumMod val="60000"/>
                    <a:lumOff val="40000"/>
                  </a:schemeClr>
                </a:solidFill>
              </a:rPr>
              <a:t>Будемо говорити, що вершини 3 та 5 є суміжними</a:t>
            </a:r>
          </a:p>
        </p:txBody>
      </p:sp>
      <p:pic>
        <p:nvPicPr>
          <p:cNvPr id="14" name="Рисунок 13" descr="Зображення, що містить знімок екрана, число, Прямокутник&#10;&#10;Вміст, створений ШІ, може бути неправильним.">
            <a:extLst>
              <a:ext uri="{FF2B5EF4-FFF2-40B4-BE49-F238E27FC236}">
                <a16:creationId xmlns:a16="http://schemas.microsoft.com/office/drawing/2014/main" id="{789897B5-DE3D-7903-CE84-873DF1290B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37732" y="2330231"/>
            <a:ext cx="1970050" cy="1970050"/>
          </a:xfrm>
          <a:prstGeom prst="rect">
            <a:avLst/>
          </a:prstGeom>
        </p:spPr>
      </p:pic>
      <p:sp>
        <p:nvSpPr>
          <p:cNvPr id="15" name="TextBox 14">
            <a:extLst>
              <a:ext uri="{FF2B5EF4-FFF2-40B4-BE49-F238E27FC236}">
                <a16:creationId xmlns:a16="http://schemas.microsoft.com/office/drawing/2014/main" id="{E6F0070C-922B-008B-A852-BC34A9C2C104}"/>
              </a:ext>
            </a:extLst>
          </p:cNvPr>
          <p:cNvSpPr txBox="1"/>
          <p:nvPr/>
        </p:nvSpPr>
        <p:spPr>
          <a:xfrm>
            <a:off x="8515538" y="4173562"/>
            <a:ext cx="2520422" cy="338554"/>
          </a:xfrm>
          <a:prstGeom prst="rect">
            <a:avLst/>
          </a:prstGeom>
          <a:noFill/>
        </p:spPr>
        <p:txBody>
          <a:bodyPr wrap="square" rtlCol="0">
            <a:spAutoFit/>
          </a:bodyPr>
          <a:lstStyle/>
          <a:p>
            <a:r>
              <a:rPr lang="uk-UA" sz="1600" dirty="0">
                <a:solidFill>
                  <a:schemeClr val="bg1"/>
                </a:solidFill>
              </a:rPr>
              <a:t>Матриця суміжності</a:t>
            </a:r>
          </a:p>
        </p:txBody>
      </p:sp>
      <p:pic>
        <p:nvPicPr>
          <p:cNvPr id="17" name="Рисунок 16" descr="Зображення, що містить коло, мультфільм, картинки&#10;&#10;Вміст, створений ШІ, може бути неправильним.">
            <a:extLst>
              <a:ext uri="{FF2B5EF4-FFF2-40B4-BE49-F238E27FC236}">
                <a16:creationId xmlns:a16="http://schemas.microsoft.com/office/drawing/2014/main" id="{57008EA2-AADF-22A6-6403-E0A9C66924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04849" y="4589512"/>
            <a:ext cx="1523246" cy="1865200"/>
          </a:xfrm>
          <a:prstGeom prst="rect">
            <a:avLst/>
          </a:prstGeom>
        </p:spPr>
      </p:pic>
      <p:pic>
        <p:nvPicPr>
          <p:cNvPr id="19" name="Рисунок 18" descr="Зображення, що містить дизайн&#10;&#10;Вміст, створений ШІ, може бути неправильним.">
            <a:extLst>
              <a:ext uri="{FF2B5EF4-FFF2-40B4-BE49-F238E27FC236}">
                <a16:creationId xmlns:a16="http://schemas.microsoft.com/office/drawing/2014/main" id="{F345CB20-DE3A-DFF2-2F91-19A8A95C48B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20898" y="4789543"/>
            <a:ext cx="2333123" cy="1494248"/>
          </a:xfrm>
          <a:prstGeom prst="rect">
            <a:avLst/>
          </a:prstGeom>
        </p:spPr>
      </p:pic>
      <p:pic>
        <p:nvPicPr>
          <p:cNvPr id="21" name="Рисунок 20" descr="Зображення, що містить знімок екрана, коло, дизайн&#10;&#10;Вміст, створений ШІ, може бути неправильним.">
            <a:extLst>
              <a:ext uri="{FF2B5EF4-FFF2-40B4-BE49-F238E27FC236}">
                <a16:creationId xmlns:a16="http://schemas.microsoft.com/office/drawing/2014/main" id="{1C1685EB-DF1C-7D3A-F823-29AA1A4C880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637732" y="4656892"/>
            <a:ext cx="1894210" cy="1759550"/>
          </a:xfrm>
          <a:prstGeom prst="rect">
            <a:avLst/>
          </a:prstGeom>
        </p:spPr>
      </p:pic>
      <p:sp>
        <p:nvSpPr>
          <p:cNvPr id="22" name="TextBox 21">
            <a:extLst>
              <a:ext uri="{FF2B5EF4-FFF2-40B4-BE49-F238E27FC236}">
                <a16:creationId xmlns:a16="http://schemas.microsoft.com/office/drawing/2014/main" id="{DCF53387-488E-8B00-42ED-2B7F427659A5}"/>
              </a:ext>
            </a:extLst>
          </p:cNvPr>
          <p:cNvSpPr txBox="1"/>
          <p:nvPr/>
        </p:nvSpPr>
        <p:spPr>
          <a:xfrm>
            <a:off x="1072467" y="6504942"/>
            <a:ext cx="1940560" cy="276999"/>
          </a:xfrm>
          <a:prstGeom prst="rect">
            <a:avLst/>
          </a:prstGeom>
          <a:noFill/>
        </p:spPr>
        <p:txBody>
          <a:bodyPr wrap="square" rtlCol="0">
            <a:spAutoFit/>
          </a:bodyPr>
          <a:lstStyle/>
          <a:p>
            <a:r>
              <a:rPr lang="uk-UA" sz="1200" dirty="0">
                <a:solidFill>
                  <a:schemeClr val="bg1"/>
                </a:solidFill>
              </a:rPr>
              <a:t>Орієнтований граф</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2CD8A18-74AF-D5EC-52C8-F1B2CB8896F6}"/>
                  </a:ext>
                </a:extLst>
              </p:cNvPr>
              <p:cNvSpPr txBox="1"/>
              <p:nvPr/>
            </p:nvSpPr>
            <p:spPr>
              <a:xfrm>
                <a:off x="3946369" y="6454712"/>
                <a:ext cx="1940560"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200" b="0" i="1" smtClean="0">
                          <a:solidFill>
                            <a:schemeClr val="bg1"/>
                          </a:solidFill>
                          <a:latin typeface="Cambria Math" panose="02040503050406030204" pitchFamily="18" charset="0"/>
                        </a:rPr>
                        <m:t>𝐴𝑑𝑗</m:t>
                      </m:r>
                      <m:d>
                        <m:dPr>
                          <m:begChr m:val="["/>
                          <m:endChr m:val="]"/>
                          <m:ctrlPr>
                            <a:rPr lang="en-US" sz="1200" b="0" i="1" smtClean="0">
                              <a:solidFill>
                                <a:schemeClr val="bg1"/>
                              </a:solidFill>
                              <a:latin typeface="Cambria Math" panose="02040503050406030204" pitchFamily="18" charset="0"/>
                            </a:rPr>
                          </m:ctrlPr>
                        </m:dPr>
                        <m:e>
                          <m:r>
                            <a:rPr lang="en-US" sz="1200" b="0" i="1" smtClean="0">
                              <a:solidFill>
                                <a:schemeClr val="bg1"/>
                              </a:solidFill>
                              <a:latin typeface="Cambria Math" panose="02040503050406030204" pitchFamily="18" charset="0"/>
                            </a:rPr>
                            <m:t>𝑖</m:t>
                          </m:r>
                        </m:e>
                      </m:d>
                      <m:r>
                        <a:rPr lang="en-US" sz="1200" b="0" i="1" smtClean="0">
                          <a:solidFill>
                            <a:schemeClr val="bg1"/>
                          </a:solidFill>
                          <a:latin typeface="Cambria Math" panose="02040503050406030204" pitchFamily="18" charset="0"/>
                        </a:rPr>
                        <m:t>=</m:t>
                      </m:r>
                      <m:d>
                        <m:dPr>
                          <m:begChr m:val="{"/>
                          <m:endChr m:val="|"/>
                          <m:ctrlPr>
                            <a:rPr lang="en-US" sz="1200" b="0" i="1" smtClean="0">
                              <a:solidFill>
                                <a:schemeClr val="bg1"/>
                              </a:solidFill>
                              <a:latin typeface="Cambria Math" panose="02040503050406030204" pitchFamily="18" charset="0"/>
                            </a:rPr>
                          </m:ctrlPr>
                        </m:dPr>
                        <m:e>
                          <m:r>
                            <a:rPr lang="en-US" sz="1200" b="0" i="1" smtClean="0">
                              <a:solidFill>
                                <a:schemeClr val="bg1"/>
                              </a:solidFill>
                              <a:latin typeface="Cambria Math" panose="02040503050406030204" pitchFamily="18" charset="0"/>
                            </a:rPr>
                            <m:t>𝑗</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𝑉</m:t>
                          </m:r>
                        </m:e>
                      </m:d>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𝑖</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𝑗</m:t>
                      </m:r>
                      <m:r>
                        <a:rPr lang="en-US" sz="1200" b="0" i="1" smtClean="0">
                          <a:solidFill>
                            <a:schemeClr val="bg1"/>
                          </a:solidFill>
                          <a:latin typeface="Cambria Math" panose="02040503050406030204" pitchFamily="18" charset="0"/>
                        </a:rPr>
                        <m:t>)∈</m:t>
                      </m:r>
                      <m:r>
                        <a:rPr lang="en-US" sz="1200" b="0" i="1" smtClean="0">
                          <a:solidFill>
                            <a:schemeClr val="bg1"/>
                          </a:solidFill>
                          <a:latin typeface="Cambria Math" panose="02040503050406030204" pitchFamily="18" charset="0"/>
                        </a:rPr>
                        <m:t>𝐸</m:t>
                      </m:r>
                      <m:r>
                        <a:rPr lang="en-US" sz="1200" b="0" i="1" smtClean="0">
                          <a:solidFill>
                            <a:schemeClr val="bg1"/>
                          </a:solidFill>
                          <a:latin typeface="Cambria Math" panose="02040503050406030204" pitchFamily="18" charset="0"/>
                        </a:rPr>
                        <m:t>}</m:t>
                      </m:r>
                    </m:oMath>
                  </m:oMathPara>
                </a14:m>
                <a:endParaRPr lang="uk-UA" sz="1200" dirty="0">
                  <a:solidFill>
                    <a:schemeClr val="bg1"/>
                  </a:solidFill>
                </a:endParaRPr>
              </a:p>
            </p:txBody>
          </p:sp>
        </mc:Choice>
        <mc:Fallback xmlns="">
          <p:sp>
            <p:nvSpPr>
              <p:cNvPr id="23" name="TextBox 22">
                <a:extLst>
                  <a:ext uri="{FF2B5EF4-FFF2-40B4-BE49-F238E27FC236}">
                    <a16:creationId xmlns:a16="http://schemas.microsoft.com/office/drawing/2014/main" id="{82CD8A18-74AF-D5EC-52C8-F1B2CB8896F6}"/>
                  </a:ext>
                </a:extLst>
              </p:cNvPr>
              <p:cNvSpPr txBox="1">
                <a:spLocks noRot="1" noChangeAspect="1" noMove="1" noResize="1" noEditPoints="1" noAdjustHandles="1" noChangeArrowheads="1" noChangeShapeType="1" noTextEdit="1"/>
              </p:cNvSpPr>
              <p:nvPr/>
            </p:nvSpPr>
            <p:spPr>
              <a:xfrm>
                <a:off x="3946369" y="6454712"/>
                <a:ext cx="1940560" cy="276999"/>
              </a:xfrm>
              <a:prstGeom prst="rect">
                <a:avLst/>
              </a:prstGeom>
              <a:blipFill>
                <a:blip r:embed="rId9"/>
                <a:stretch>
                  <a:fillRect b="-11111"/>
                </a:stretch>
              </a:blipFill>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5B179B7-5DC2-4026-FAF7-1523CE8B1F12}"/>
                  </a:ext>
                </a:extLst>
              </p:cNvPr>
              <p:cNvSpPr txBox="1"/>
              <p:nvPr/>
            </p:nvSpPr>
            <p:spPr>
              <a:xfrm>
                <a:off x="8652477" y="6416442"/>
                <a:ext cx="1940560" cy="29187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solidFill>
                                <a:schemeClr val="bg1"/>
                              </a:solidFill>
                              <a:latin typeface="Cambria Math" panose="02040503050406030204" pitchFamily="18" charset="0"/>
                            </a:rPr>
                          </m:ctrlPr>
                        </m:sSubPr>
                        <m:e>
                          <m:r>
                            <a:rPr lang="en-US" sz="1200" b="0" i="1" smtClean="0">
                              <a:solidFill>
                                <a:schemeClr val="bg1"/>
                              </a:solidFill>
                              <a:latin typeface="Cambria Math" panose="02040503050406030204" pitchFamily="18" charset="0"/>
                            </a:rPr>
                            <m:t>𝑎</m:t>
                          </m:r>
                        </m:e>
                        <m:sub>
                          <m:r>
                            <a:rPr lang="en-US" sz="1200" b="0" i="1" smtClean="0">
                              <a:solidFill>
                                <a:schemeClr val="bg1"/>
                              </a:solidFill>
                              <a:latin typeface="Cambria Math" panose="02040503050406030204" pitchFamily="18" charset="0"/>
                            </a:rPr>
                            <m:t>𝑖𝑗</m:t>
                          </m:r>
                        </m:sub>
                      </m:sSub>
                      <m:r>
                        <a:rPr lang="en-US" sz="1200" b="0" i="1" smtClean="0">
                          <a:solidFill>
                            <a:schemeClr val="bg1"/>
                          </a:solidFill>
                          <a:latin typeface="Cambria Math" panose="02040503050406030204" pitchFamily="18" charset="0"/>
                        </a:rPr>
                        <m:t>=1 </m:t>
                      </m:r>
                      <m:r>
                        <a:rPr lang="en-US" sz="1200" b="0" i="1" smtClean="0">
                          <a:solidFill>
                            <a:schemeClr val="bg1"/>
                          </a:solidFill>
                          <a:latin typeface="Cambria Math" panose="02040503050406030204" pitchFamily="18" charset="0"/>
                          <a:ea typeface="Cambria Math" panose="02040503050406030204" pitchFamily="18" charset="0"/>
                        </a:rPr>
                        <m:t>⇔</m:t>
                      </m:r>
                      <m:d>
                        <m:dPr>
                          <m:ctrlPr>
                            <a:rPr lang="en-US" sz="1200" b="0" i="1" smtClean="0">
                              <a:solidFill>
                                <a:schemeClr val="bg1"/>
                              </a:solidFill>
                              <a:latin typeface="Cambria Math" panose="02040503050406030204" pitchFamily="18" charset="0"/>
                              <a:ea typeface="Cambria Math" panose="02040503050406030204" pitchFamily="18" charset="0"/>
                            </a:rPr>
                          </m:ctrlPr>
                        </m:dPr>
                        <m:e>
                          <m:r>
                            <a:rPr lang="en-US" sz="1200" b="0" i="1" smtClean="0">
                              <a:solidFill>
                                <a:schemeClr val="bg1"/>
                              </a:solidFill>
                              <a:latin typeface="Cambria Math" panose="02040503050406030204" pitchFamily="18" charset="0"/>
                              <a:ea typeface="Cambria Math" panose="02040503050406030204" pitchFamily="18" charset="0"/>
                            </a:rPr>
                            <m:t>𝑖</m:t>
                          </m:r>
                          <m:r>
                            <a:rPr lang="en-US" sz="1200" b="0" i="1" smtClean="0">
                              <a:solidFill>
                                <a:schemeClr val="bg1"/>
                              </a:solidFill>
                              <a:latin typeface="Cambria Math" panose="02040503050406030204" pitchFamily="18" charset="0"/>
                              <a:ea typeface="Cambria Math" panose="02040503050406030204" pitchFamily="18" charset="0"/>
                            </a:rPr>
                            <m:t>,</m:t>
                          </m:r>
                          <m:r>
                            <a:rPr lang="en-US" sz="1200" b="0" i="1" smtClean="0">
                              <a:solidFill>
                                <a:schemeClr val="bg1"/>
                              </a:solidFill>
                              <a:latin typeface="Cambria Math" panose="02040503050406030204" pitchFamily="18" charset="0"/>
                              <a:ea typeface="Cambria Math" panose="02040503050406030204" pitchFamily="18" charset="0"/>
                            </a:rPr>
                            <m:t>𝑗</m:t>
                          </m:r>
                        </m:e>
                      </m:d>
                      <m:r>
                        <a:rPr lang="en-US" sz="1200" b="0" i="1" smtClean="0">
                          <a:solidFill>
                            <a:schemeClr val="bg1"/>
                          </a:solidFill>
                          <a:latin typeface="Cambria Math" panose="02040503050406030204" pitchFamily="18" charset="0"/>
                          <a:ea typeface="Cambria Math" panose="02040503050406030204" pitchFamily="18" charset="0"/>
                        </a:rPr>
                        <m:t>∈</m:t>
                      </m:r>
                      <m:r>
                        <a:rPr lang="en-US" sz="1200" b="0" i="1" smtClean="0">
                          <a:solidFill>
                            <a:schemeClr val="bg1"/>
                          </a:solidFill>
                          <a:latin typeface="Cambria Math" panose="02040503050406030204" pitchFamily="18" charset="0"/>
                          <a:ea typeface="Cambria Math" panose="02040503050406030204" pitchFamily="18" charset="0"/>
                        </a:rPr>
                        <m:t>𝐸</m:t>
                      </m:r>
                    </m:oMath>
                  </m:oMathPara>
                </a14:m>
                <a:endParaRPr lang="uk-UA" sz="1200" dirty="0">
                  <a:solidFill>
                    <a:schemeClr val="bg1"/>
                  </a:solidFill>
                </a:endParaRPr>
              </a:p>
            </p:txBody>
          </p:sp>
        </mc:Choice>
        <mc:Fallback xmlns="">
          <p:sp>
            <p:nvSpPr>
              <p:cNvPr id="24" name="TextBox 23">
                <a:extLst>
                  <a:ext uri="{FF2B5EF4-FFF2-40B4-BE49-F238E27FC236}">
                    <a16:creationId xmlns:a16="http://schemas.microsoft.com/office/drawing/2014/main" id="{C5B179B7-5DC2-4026-FAF7-1523CE8B1F12}"/>
                  </a:ext>
                </a:extLst>
              </p:cNvPr>
              <p:cNvSpPr txBox="1">
                <a:spLocks noRot="1" noChangeAspect="1" noMove="1" noResize="1" noEditPoints="1" noAdjustHandles="1" noChangeArrowheads="1" noChangeShapeType="1" noTextEdit="1"/>
              </p:cNvSpPr>
              <p:nvPr/>
            </p:nvSpPr>
            <p:spPr>
              <a:xfrm>
                <a:off x="8652477" y="6416442"/>
                <a:ext cx="1940560" cy="291875"/>
              </a:xfrm>
              <a:prstGeom prst="rect">
                <a:avLst/>
              </a:prstGeom>
              <a:blipFill>
                <a:blip r:embed="rId10"/>
                <a:stretch>
                  <a:fillRect b="-4255"/>
                </a:stretch>
              </a:blipFill>
            </p:spPr>
            <p:txBody>
              <a:bodyPr/>
              <a:lstStyle/>
              <a:p>
                <a:r>
                  <a:rPr lang="uk-UA">
                    <a:noFill/>
                  </a:rPr>
                  <a:t> </a:t>
                </a:r>
              </a:p>
            </p:txBody>
          </p:sp>
        </mc:Fallback>
      </mc:AlternateContent>
    </p:spTree>
    <p:extLst>
      <p:ext uri="{BB962C8B-B14F-4D97-AF65-F5344CB8AC3E}">
        <p14:creationId xmlns:p14="http://schemas.microsoft.com/office/powerpoint/2010/main" val="150884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nodeType="afterEffect">
                                  <p:stCondLst>
                                    <p:cond delay="0"/>
                                  </p:stCondLst>
                                  <p:childTnLst>
                                    <p:set>
                                      <p:cBhvr>
                                        <p:cTn id="31" dur="1" fill="hold">
                                          <p:stCondLst>
                                            <p:cond delay="0"/>
                                          </p:stCondLst>
                                        </p:cTn>
                                        <p:tgtEl>
                                          <p:spTgt spid="1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7"/>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0"/>
                                  </p:stCondLst>
                                  <p:childTnLst>
                                    <p:set>
                                      <p:cBhvr>
                                        <p:cTn id="45" dur="1" fill="hold">
                                          <p:stCondLst>
                                            <p:cond delay="0"/>
                                          </p:stCondLst>
                                        </p:cTn>
                                        <p:tgtEl>
                                          <p:spTgt spid="2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1"/>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grpId="0" nodeType="after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p:bldP spid="10" grpId="0"/>
      <p:bldP spid="12" grpId="0"/>
      <p:bldP spid="15" grpId="0"/>
      <p:bldP spid="22" grpId="0"/>
      <p:bldP spid="23" grpId="0"/>
      <p:bldP spid="2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D66C5F-AA81-2B77-9DFE-24F1718131D5}"/>
              </a:ext>
            </a:extLst>
          </p:cNvPr>
          <p:cNvSpPr>
            <a:spLocks noGrp="1"/>
          </p:cNvSpPr>
          <p:nvPr>
            <p:ph type="title"/>
          </p:nvPr>
        </p:nvSpPr>
        <p:spPr/>
        <p:txBody>
          <a:bodyPr/>
          <a:lstStyle/>
          <a:p>
            <a:r>
              <a:rPr lang="uk-UA" dirty="0"/>
              <a:t>Степені вершин</a:t>
            </a:r>
          </a:p>
        </p:txBody>
      </p:sp>
      <p:pic>
        <p:nvPicPr>
          <p:cNvPr id="5" name="Місце для вмісту 4" descr="Зображення, що містить знімок екрана, коло, Графіка, ряд&#10;&#10;Вміст, створений ШІ, може бути неправильним.">
            <a:extLst>
              <a:ext uri="{FF2B5EF4-FFF2-40B4-BE49-F238E27FC236}">
                <a16:creationId xmlns:a16="http://schemas.microsoft.com/office/drawing/2014/main" id="{BEAFC6F9-8C81-5F83-FE94-50C22B4F8EB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460" r="3575" b="55329"/>
          <a:stretch/>
        </p:blipFill>
        <p:spPr>
          <a:xfrm>
            <a:off x="687377" y="2178848"/>
            <a:ext cx="1954924" cy="1154076"/>
          </a:xfrm>
        </p:spPr>
      </p:pic>
      <p:pic>
        <p:nvPicPr>
          <p:cNvPr id="7" name="Рисунок 6" descr="Зображення, що містить знімок екрана, коло, Графіка, ряд&#10;&#10;Вміст, створений ШІ, може бути неправильним.">
            <a:extLst>
              <a:ext uri="{FF2B5EF4-FFF2-40B4-BE49-F238E27FC236}">
                <a16:creationId xmlns:a16="http://schemas.microsoft.com/office/drawing/2014/main" id="{625EEB20-8DD2-CBD0-CB9E-09FE3A49953B}"/>
              </a:ext>
            </a:extLst>
          </p:cNvPr>
          <p:cNvPicPr>
            <a:picLocks noChangeAspect="1"/>
          </p:cNvPicPr>
          <p:nvPr/>
        </p:nvPicPr>
        <p:blipFill>
          <a:blip r:embed="rId2">
            <a:extLst>
              <a:ext uri="{28A0092B-C50C-407E-A947-70E740481C1C}">
                <a14:useLocalDpi xmlns:a14="http://schemas.microsoft.com/office/drawing/2010/main" val="0"/>
              </a:ext>
            </a:extLst>
          </a:blip>
          <a:srcRect l="3423" t="56063" r="4111"/>
          <a:stretch/>
        </p:blipFill>
        <p:spPr>
          <a:xfrm>
            <a:off x="3948737" y="2204734"/>
            <a:ext cx="1944413" cy="113511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FC22AC7-3D95-540E-786A-BDA54A15FA85}"/>
                  </a:ext>
                </a:extLst>
              </p:cNvPr>
              <p:cNvSpPr txBox="1"/>
              <p:nvPr/>
            </p:nvSpPr>
            <p:spPr>
              <a:xfrm>
                <a:off x="135583" y="3487185"/>
                <a:ext cx="305851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deg</m:t>
                          </m:r>
                        </m:fName>
                        <m:e>
                          <m:r>
                            <a:rPr lang="en-US" b="0" i="1" smtClean="0">
                              <a:latin typeface="Cambria Math" panose="02040503050406030204" pitchFamily="18" charset="0"/>
                            </a:rPr>
                            <m:t>𝑢</m:t>
                          </m:r>
                        </m:e>
                      </m:func>
                      <m:r>
                        <a:rPr lang="en-US" b="0" i="1" smtClean="0">
                          <a:latin typeface="Cambria Math" panose="02040503050406030204" pitchFamily="18" charset="0"/>
                        </a:rPr>
                        <m:t>=|</m:t>
                      </m:r>
                      <m:r>
                        <a:rPr lang="en-US" b="0" i="1" smtClean="0">
                          <a:latin typeface="Cambria Math" panose="02040503050406030204" pitchFamily="18" charset="0"/>
                        </a:rPr>
                        <m:t>𝐴𝑑𝑗</m:t>
                      </m:r>
                      <m:r>
                        <a:rPr lang="en-US" b="0" i="1" smtClean="0">
                          <a:latin typeface="Cambria Math" panose="02040503050406030204" pitchFamily="18" charset="0"/>
                        </a:rPr>
                        <m:t>[</m:t>
                      </m:r>
                      <m:r>
                        <a:rPr lang="en-US" b="0" i="1" smtClean="0">
                          <a:latin typeface="Cambria Math" panose="02040503050406030204" pitchFamily="18" charset="0"/>
                        </a:rPr>
                        <m:t>𝑢</m:t>
                      </m:r>
                      <m:r>
                        <a:rPr lang="en-US" b="0" i="1" smtClean="0">
                          <a:latin typeface="Cambria Math" panose="02040503050406030204" pitchFamily="18" charset="0"/>
                        </a:rPr>
                        <m:t>]|</m:t>
                      </m:r>
                    </m:oMath>
                  </m:oMathPara>
                </a14:m>
                <a:endParaRPr lang="uk-UA" dirty="0"/>
              </a:p>
            </p:txBody>
          </p:sp>
        </mc:Choice>
        <mc:Fallback xmlns="">
          <p:sp>
            <p:nvSpPr>
              <p:cNvPr id="8" name="TextBox 7">
                <a:extLst>
                  <a:ext uri="{FF2B5EF4-FFF2-40B4-BE49-F238E27FC236}">
                    <a16:creationId xmlns:a16="http://schemas.microsoft.com/office/drawing/2014/main" id="{DFC22AC7-3D95-540E-786A-BDA54A15FA85}"/>
                  </a:ext>
                </a:extLst>
              </p:cNvPr>
              <p:cNvSpPr txBox="1">
                <a:spLocks noRot="1" noChangeAspect="1" noMove="1" noResize="1" noEditPoints="1" noAdjustHandles="1" noChangeArrowheads="1" noChangeShapeType="1" noTextEdit="1"/>
              </p:cNvSpPr>
              <p:nvPr/>
            </p:nvSpPr>
            <p:spPr>
              <a:xfrm>
                <a:off x="135583" y="3487185"/>
                <a:ext cx="3058511" cy="369332"/>
              </a:xfrm>
              <a:prstGeom prst="rect">
                <a:avLst/>
              </a:prstGeom>
              <a:blipFill>
                <a:blip r:embed="rId3"/>
                <a:stretch>
                  <a:fillRect b="-18033"/>
                </a:stretch>
              </a:blipFill>
            </p:spPr>
            <p:txBody>
              <a:bodyPr/>
              <a:lstStyle/>
              <a:p>
                <a:r>
                  <a:rPr lang="uk-UA">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9E4F430-1E4D-70B1-9632-3B4870F59550}"/>
                  </a:ext>
                </a:extLst>
              </p:cNvPr>
              <p:cNvSpPr txBox="1"/>
              <p:nvPr/>
            </p:nvSpPr>
            <p:spPr>
              <a:xfrm>
                <a:off x="3024351" y="3487185"/>
                <a:ext cx="3793183" cy="92333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outdeg</m:t>
                          </m:r>
                        </m:fName>
                        <m:e>
                          <m:r>
                            <a:rPr lang="en-US" b="0" i="1" smtClean="0">
                              <a:latin typeface="Cambria Math" panose="02040503050406030204" pitchFamily="18" charset="0"/>
                            </a:rPr>
                            <m:t>𝑣</m:t>
                          </m:r>
                        </m:e>
                      </m:func>
                      <m:r>
                        <a:rPr lang="en-US" b="0" i="1" smtClean="0">
                          <a:latin typeface="Cambria Math" panose="02040503050406030204" pitchFamily="18" charset="0"/>
                        </a:rPr>
                        <m:t>=|</m:t>
                      </m:r>
                      <m:r>
                        <a:rPr lang="en-US" b="0" i="1" smtClean="0">
                          <a:latin typeface="Cambria Math" panose="02040503050406030204" pitchFamily="18" charset="0"/>
                        </a:rPr>
                        <m:t>𝐴𝑑𝑗</m:t>
                      </m:r>
                      <m:r>
                        <a:rPr lang="en-US" b="0" i="1" smtClean="0">
                          <a:latin typeface="Cambria Math" panose="02040503050406030204" pitchFamily="18" charset="0"/>
                        </a:rPr>
                        <m:t>[</m:t>
                      </m:r>
                      <m:r>
                        <a:rPr lang="en-US" b="0" i="1" smtClean="0">
                          <a:latin typeface="Cambria Math" panose="02040503050406030204" pitchFamily="18" charset="0"/>
                        </a:rPr>
                        <m:t>𝑣</m:t>
                      </m:r>
                      <m:r>
                        <a:rPr lang="en-US" b="0" i="1" smtClean="0">
                          <a:latin typeface="Cambria Math" panose="02040503050406030204" pitchFamily="18" charset="0"/>
                        </a:rPr>
                        <m:t>]|</m:t>
                      </m:r>
                    </m:oMath>
                  </m:oMathPara>
                </a14:m>
                <a:endParaRPr lang="en-US" dirty="0"/>
              </a:p>
              <a:p>
                <a:r>
                  <a:rPr lang="en-US" dirty="0"/>
                  <a:t>	</a:t>
                </a:r>
                <a:r>
                  <a:rPr lang="en-US" b="0" dirty="0"/>
                  <a:t>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indeg</m:t>
                        </m:r>
                      </m:fName>
                      <m:e>
                        <m:r>
                          <a:rPr lang="en-US" b="0" i="1" smtClean="0">
                            <a:latin typeface="Cambria Math" panose="02040503050406030204" pitchFamily="18" charset="0"/>
                          </a:rPr>
                          <m:t>𝑣</m:t>
                        </m:r>
                      </m:e>
                    </m:func>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𝑉</m:t>
                        </m:r>
                      </m:e>
                    </m:d>
                    <m:d>
                      <m:dPr>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b="0" i="1" smtClean="0">
                            <a:latin typeface="Cambria Math" panose="02040503050406030204" pitchFamily="18" charset="0"/>
                          </a:rPr>
                          <m:t>,</m:t>
                        </m:r>
                        <m:r>
                          <a:rPr lang="en-US" b="0" i="1" smtClean="0">
                            <a:latin typeface="Cambria Math" panose="02040503050406030204" pitchFamily="18" charset="0"/>
                          </a:rPr>
                          <m:t>𝑣</m:t>
                        </m:r>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endParaRPr lang="en-US" dirty="0"/>
              </a:p>
              <a:p>
                <a:r>
                  <a:rPr lang="en-US" dirty="0"/>
                  <a:t>	</a:t>
                </a:r>
                <a:endParaRPr lang="uk-UA" dirty="0"/>
              </a:p>
            </p:txBody>
          </p:sp>
        </mc:Choice>
        <mc:Fallback xmlns="">
          <p:sp>
            <p:nvSpPr>
              <p:cNvPr id="9" name="TextBox 8">
                <a:extLst>
                  <a:ext uri="{FF2B5EF4-FFF2-40B4-BE49-F238E27FC236}">
                    <a16:creationId xmlns:a16="http://schemas.microsoft.com/office/drawing/2014/main" id="{19E4F430-1E4D-70B1-9632-3B4870F59550}"/>
                  </a:ext>
                </a:extLst>
              </p:cNvPr>
              <p:cNvSpPr txBox="1">
                <a:spLocks noRot="1" noChangeAspect="1" noMove="1" noResize="1" noEditPoints="1" noAdjustHandles="1" noChangeArrowheads="1" noChangeShapeType="1" noTextEdit="1"/>
              </p:cNvSpPr>
              <p:nvPr/>
            </p:nvSpPr>
            <p:spPr>
              <a:xfrm>
                <a:off x="3024351" y="3487185"/>
                <a:ext cx="3793183" cy="923330"/>
              </a:xfrm>
              <a:prstGeom prst="rect">
                <a:avLst/>
              </a:prstGeom>
              <a:blipFill>
                <a:blip r:embed="rId4"/>
                <a:stretch>
                  <a:fillRect/>
                </a:stretch>
              </a:blipFill>
            </p:spPr>
            <p:txBody>
              <a:bodyPr/>
              <a:lstStyle/>
              <a:p>
                <a:r>
                  <a:rPr lang="uk-UA">
                    <a:noFill/>
                  </a:rPr>
                  <a:t> </a:t>
                </a:r>
              </a:p>
            </p:txBody>
          </p:sp>
        </mc:Fallback>
      </mc:AlternateContent>
      <p:sp>
        <p:nvSpPr>
          <p:cNvPr id="10" name="Прямокутник: округлені кути 9">
            <a:extLst>
              <a:ext uri="{FF2B5EF4-FFF2-40B4-BE49-F238E27FC236}">
                <a16:creationId xmlns:a16="http://schemas.microsoft.com/office/drawing/2014/main" id="{397B3132-63B9-DC1E-899D-0B6863014182}"/>
              </a:ext>
            </a:extLst>
          </p:cNvPr>
          <p:cNvSpPr/>
          <p:nvPr/>
        </p:nvSpPr>
        <p:spPr>
          <a:xfrm>
            <a:off x="353674" y="4410515"/>
            <a:ext cx="11025526" cy="923330"/>
          </a:xfrm>
          <a:prstGeom prst="roundRect">
            <a:avLst/>
          </a:prstGeom>
          <a:solidFill>
            <a:schemeClr val="accent2">
              <a:alpha val="50000"/>
            </a:schemeClr>
          </a:solidFill>
          <a:ln>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a:schemeClr val="lt1"/>
          </a:fontRef>
        </p:style>
        <p:txBody>
          <a:bodyPr rtlCol="0" anchor="ctr"/>
          <a:lstStyle/>
          <a:p>
            <a:pPr algn="ctr"/>
            <a:r>
              <a:rPr lang="uk-UA" dirty="0"/>
              <a:t>У неорієнтованому графі </a:t>
            </a:r>
            <a:r>
              <a:rPr lang="uk-UA" b="1" dirty="0" err="1"/>
              <a:t>півсума</a:t>
            </a:r>
            <a:r>
              <a:rPr lang="uk-UA" dirty="0"/>
              <a:t> степенів усіх вершин рівна кількості </a:t>
            </a:r>
            <a:r>
              <a:rPr lang="uk-UA" dirty="0" err="1"/>
              <a:t>ребер</a:t>
            </a:r>
            <a:r>
              <a:rPr lang="uk-UA" dirty="0"/>
              <a:t>. </a:t>
            </a:r>
          </a:p>
        </p:txBody>
      </p:sp>
      <p:sp>
        <p:nvSpPr>
          <p:cNvPr id="11" name="Прямокутник: округлені кути 10">
            <a:extLst>
              <a:ext uri="{FF2B5EF4-FFF2-40B4-BE49-F238E27FC236}">
                <a16:creationId xmlns:a16="http://schemas.microsoft.com/office/drawing/2014/main" id="{A15F1FAD-1BC2-0CAD-702F-6A8F4C770D97}"/>
              </a:ext>
            </a:extLst>
          </p:cNvPr>
          <p:cNvSpPr/>
          <p:nvPr/>
        </p:nvSpPr>
        <p:spPr>
          <a:xfrm>
            <a:off x="353673" y="5473712"/>
            <a:ext cx="11025527" cy="1013293"/>
          </a:xfrm>
          <a:prstGeom prst="roundRect">
            <a:avLst/>
          </a:prstGeom>
          <a:solidFill>
            <a:schemeClr val="accent2">
              <a:alpha val="50000"/>
            </a:schemeClr>
          </a:solidFill>
          <a:ln>
            <a:noFill/>
          </a:ln>
          <a:scene3d>
            <a:camera prst="orthographicFront"/>
            <a:lightRig rig="threePt" dir="t"/>
          </a:scene3d>
          <a:sp3d>
            <a:bevelT w="165100" prst="coolSlant"/>
          </a:sp3d>
        </p:spPr>
        <p:style>
          <a:lnRef idx="0">
            <a:scrgbClr r="0" g="0" b="0"/>
          </a:lnRef>
          <a:fillRef idx="0">
            <a:scrgbClr r="0" g="0" b="0"/>
          </a:fillRef>
          <a:effectRef idx="0">
            <a:scrgbClr r="0" g="0" b="0"/>
          </a:effectRef>
          <a:fontRef idx="minor">
            <a:schemeClr val="lt1"/>
          </a:fontRef>
        </p:style>
        <p:txBody>
          <a:bodyPr rtlCol="0" anchor="ctr"/>
          <a:lstStyle/>
          <a:p>
            <a:pPr algn="ctr"/>
            <a:r>
              <a:rPr lang="uk-UA" dirty="0"/>
              <a:t>У неорієнтованому графі кількість вершин з непарним степенем є парною. </a:t>
            </a:r>
          </a:p>
        </p:txBody>
      </p:sp>
    </p:spTree>
    <p:extLst>
      <p:ext uri="{BB962C8B-B14F-4D97-AF65-F5344CB8AC3E}">
        <p14:creationId xmlns:p14="http://schemas.microsoft.com/office/powerpoint/2010/main" val="2690079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175814F-AB50-C2F8-884B-F6AD86FCF2BE}"/>
              </a:ext>
            </a:extLst>
          </p:cNvPr>
          <p:cNvSpPr>
            <a:spLocks noGrp="1"/>
          </p:cNvSpPr>
          <p:nvPr>
            <p:ph type="title"/>
          </p:nvPr>
        </p:nvSpPr>
        <p:spPr/>
        <p:txBody>
          <a:bodyPr/>
          <a:lstStyle/>
          <a:p>
            <a:r>
              <a:rPr lang="uk-UA" dirty="0"/>
              <a:t> </a:t>
            </a:r>
            <a:r>
              <a:rPr lang="en-US" dirty="0" err="1"/>
              <a:t>Networkx</a:t>
            </a:r>
            <a:endParaRPr lang="uk-UA" dirty="0"/>
          </a:p>
        </p:txBody>
      </p:sp>
      <p:sp>
        <p:nvSpPr>
          <p:cNvPr id="3" name="Місце для вмісту 2">
            <a:extLst>
              <a:ext uri="{FF2B5EF4-FFF2-40B4-BE49-F238E27FC236}">
                <a16:creationId xmlns:a16="http://schemas.microsoft.com/office/drawing/2014/main" id="{F7AA0A15-CD2B-675A-2581-A6C2B454E940}"/>
              </a:ext>
            </a:extLst>
          </p:cNvPr>
          <p:cNvSpPr>
            <a:spLocks noGrp="1"/>
          </p:cNvSpPr>
          <p:nvPr>
            <p:ph idx="1"/>
          </p:nvPr>
        </p:nvSpPr>
        <p:spPr/>
        <p:txBody>
          <a:bodyPr>
            <a:normAutofit fontScale="85000" lnSpcReduction="20000"/>
          </a:bodyPr>
          <a:lstStyle/>
          <a:p>
            <a:pPr marL="0" indent="0">
              <a:buNone/>
            </a:pPr>
            <a:r>
              <a:rPr lang="en-US" dirty="0" err="1"/>
              <a:t>NetworkX</a:t>
            </a:r>
            <a:r>
              <a:rPr lang="en-US" dirty="0"/>
              <a:t> - </a:t>
            </a:r>
            <a:r>
              <a:rPr lang="uk-UA" dirty="0"/>
              <a:t>це модуль </a:t>
            </a:r>
            <a:r>
              <a:rPr lang="en-US" dirty="0"/>
              <a:t>Python </a:t>
            </a:r>
            <a:r>
              <a:rPr lang="uk-UA" dirty="0"/>
              <a:t>для моделювання та аналізу графів та мереж. </a:t>
            </a:r>
          </a:p>
          <a:p>
            <a:pPr marL="0" indent="0">
              <a:buNone/>
            </a:pPr>
            <a:endParaRPr lang="uk-UA" dirty="0"/>
          </a:p>
          <a:p>
            <a:pPr marL="0" indent="0">
              <a:buNone/>
            </a:pPr>
            <a:r>
              <a:rPr lang="uk-UA" dirty="0"/>
              <a:t>Якщо ви використовуєте </a:t>
            </a:r>
            <a:r>
              <a:rPr lang="en-US" dirty="0"/>
              <a:t>Anaconda, </a:t>
            </a:r>
            <a:r>
              <a:rPr lang="en-US" dirty="0" err="1"/>
              <a:t>NetworkX</a:t>
            </a:r>
            <a:r>
              <a:rPr lang="en-US" dirty="0"/>
              <a:t> </a:t>
            </a:r>
            <a:r>
              <a:rPr lang="uk-UA" dirty="0"/>
              <a:t>вже встановлено. В інших випадках можна легко встановити </a:t>
            </a:r>
            <a:r>
              <a:rPr lang="en-US" dirty="0" err="1"/>
              <a:t>NetworkX</a:t>
            </a:r>
            <a:r>
              <a:rPr lang="en-US" dirty="0"/>
              <a:t> </a:t>
            </a:r>
            <a:r>
              <a:rPr lang="uk-UA" dirty="0"/>
              <a:t>за допомогою диспетчера пакетів (наприклад </a:t>
            </a:r>
            <a:r>
              <a:rPr lang="en-US" dirty="0"/>
              <a:t>pip install </a:t>
            </a:r>
            <a:r>
              <a:rPr lang="en-US" dirty="0" err="1"/>
              <a:t>networkx</a:t>
            </a:r>
            <a:r>
              <a:rPr lang="en-US" dirty="0"/>
              <a:t>)</a:t>
            </a:r>
            <a:r>
              <a:rPr lang="uk-UA" dirty="0"/>
              <a:t>. </a:t>
            </a:r>
          </a:p>
          <a:p>
            <a:pPr marL="0" indent="0">
              <a:buNone/>
            </a:pPr>
            <a:r>
              <a:rPr lang="uk-UA" dirty="0"/>
              <a:t>Документація: </a:t>
            </a:r>
            <a:r>
              <a:rPr lang="en-US" dirty="0">
                <a:hlinkClick r:id="rId2"/>
              </a:rPr>
              <a:t>http://networkx.github.io</a:t>
            </a:r>
            <a:r>
              <a:rPr lang="en-US" dirty="0"/>
              <a:t>.</a:t>
            </a:r>
            <a:r>
              <a:rPr lang="uk-UA" dirty="0"/>
              <a:t> </a:t>
            </a:r>
            <a:endParaRPr lang="en-US" dirty="0"/>
          </a:p>
          <a:p>
            <a:pPr marL="0" indent="0">
              <a:buNone/>
            </a:pPr>
            <a:endParaRPr lang="en-US" dirty="0"/>
          </a:p>
          <a:p>
            <a:pPr marL="0" indent="0">
              <a:buNone/>
            </a:pPr>
            <a:r>
              <a:rPr lang="uk-UA" dirty="0"/>
              <a:t>Можливо, варто згадати, чому ми вибираємо </a:t>
            </a:r>
            <a:r>
              <a:rPr lang="en-US" dirty="0" err="1"/>
              <a:t>NetworkX</a:t>
            </a:r>
            <a:r>
              <a:rPr lang="en-US" dirty="0"/>
              <a:t> </a:t>
            </a:r>
            <a:r>
              <a:rPr lang="uk-UA" dirty="0"/>
              <a:t>над іншими варіантами. По-перше, всі його функції написані на </a:t>
            </a:r>
            <a:r>
              <a:rPr lang="en-US" dirty="0"/>
              <a:t>Python, </a:t>
            </a:r>
            <a:r>
              <a:rPr lang="uk-UA" dirty="0"/>
              <a:t>а їх вихідні коди доступні на веб-сайті вище, тому можна  перевірити деталі їх алгоритмів і навіть змінити коди, якщо це потрібно. По-друге, </a:t>
            </a:r>
            <a:r>
              <a:rPr lang="en-US" dirty="0" err="1"/>
              <a:t>NetworkX</a:t>
            </a:r>
            <a:r>
              <a:rPr lang="en-US" dirty="0"/>
              <a:t> </a:t>
            </a:r>
            <a:r>
              <a:rPr lang="uk-UA" dirty="0"/>
              <a:t>використовує прості «словники» </a:t>
            </a:r>
            <a:r>
              <a:rPr lang="en-US" dirty="0"/>
              <a:t>Python </a:t>
            </a:r>
            <a:r>
              <a:rPr lang="uk-UA" dirty="0"/>
              <a:t>для зберігання інформації про графи чи мережі, які є повністю доступними та гнучкими для зберігання додаткової інформації. Ця властивість особливо важлива, при реалізації імітаційних моделей динамічних систем. Спеціалізовані структури даних, реалізовані в інших інструментах мережевого аналізу, можуть не мати такої гнучкості.</a:t>
            </a:r>
          </a:p>
        </p:txBody>
      </p:sp>
    </p:spTree>
    <p:extLst>
      <p:ext uri="{BB962C8B-B14F-4D97-AF65-F5344CB8AC3E}">
        <p14:creationId xmlns:p14="http://schemas.microsoft.com/office/powerpoint/2010/main" val="2523098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6FAEB9-38AE-4DD2-2370-47343D483AB6}"/>
              </a:ext>
            </a:extLst>
          </p:cNvPr>
          <p:cNvSpPr>
            <a:spLocks noGrp="1"/>
          </p:cNvSpPr>
          <p:nvPr>
            <p:ph type="title"/>
          </p:nvPr>
        </p:nvSpPr>
        <p:spPr/>
        <p:txBody>
          <a:bodyPr/>
          <a:lstStyle/>
          <a:p>
            <a:r>
              <a:rPr lang="uk-UA" dirty="0"/>
              <a:t>Створення графів</a:t>
            </a:r>
          </a:p>
        </p:txBody>
      </p:sp>
      <p:sp>
        <p:nvSpPr>
          <p:cNvPr id="3" name="Місце для вмісту 2">
            <a:extLst>
              <a:ext uri="{FF2B5EF4-FFF2-40B4-BE49-F238E27FC236}">
                <a16:creationId xmlns:a16="http://schemas.microsoft.com/office/drawing/2014/main" id="{88FCBC7F-DB73-79A9-BEBD-B84D11B4683A}"/>
              </a:ext>
            </a:extLst>
          </p:cNvPr>
          <p:cNvSpPr>
            <a:spLocks noGrp="1"/>
          </p:cNvSpPr>
          <p:nvPr>
            <p:ph idx="1"/>
          </p:nvPr>
        </p:nvSpPr>
        <p:spPr>
          <a:xfrm>
            <a:off x="2895600" y="2377441"/>
            <a:ext cx="9118600" cy="2336800"/>
          </a:xfrm>
        </p:spPr>
        <p:txBody>
          <a:bodyPr>
            <a:normAutofit fontScale="92500" lnSpcReduction="10000"/>
          </a:bodyPr>
          <a:lstStyle/>
          <a:p>
            <a:pPr marL="0" indent="0">
              <a:spcBef>
                <a:spcPts val="0"/>
              </a:spcBef>
              <a:buNone/>
            </a:pPr>
            <a:r>
              <a:rPr lang="en-US" dirty="0">
                <a:solidFill>
                  <a:srgbClr val="C88CDC"/>
                </a:solidFill>
                <a:effectLst/>
                <a:latin typeface="JetBrains Mono Medium"/>
              </a:rPr>
              <a:t>import </a:t>
            </a:r>
            <a:r>
              <a:rPr lang="en-US" dirty="0" err="1">
                <a:solidFill>
                  <a:srgbClr val="AFB9C3"/>
                </a:solidFill>
                <a:effectLst/>
                <a:latin typeface="JetBrains Mono Medium"/>
              </a:rPr>
              <a:t>networkx</a:t>
            </a:r>
            <a:r>
              <a:rPr lang="en-US" dirty="0">
                <a:solidFill>
                  <a:srgbClr val="AFB9C3"/>
                </a:solidFill>
                <a:effectLst/>
                <a:latin typeface="JetBrains Mono Medium"/>
              </a:rPr>
              <a:t> </a:t>
            </a:r>
            <a:r>
              <a:rPr lang="en-US" dirty="0">
                <a:solidFill>
                  <a:srgbClr val="C88CDC"/>
                </a:solidFill>
                <a:effectLst/>
                <a:latin typeface="JetBrains Mono Medium"/>
              </a:rPr>
              <a:t>as </a:t>
            </a:r>
            <a:r>
              <a:rPr lang="en-US" dirty="0" err="1">
                <a:solidFill>
                  <a:srgbClr val="AFB9C3"/>
                </a:solidFill>
                <a:effectLst/>
                <a:latin typeface="JetBrains Mono Medium"/>
              </a:rPr>
              <a:t>nx</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808080"/>
                </a:solidFill>
                <a:effectLst/>
                <a:latin typeface="JetBrains Mono Medium"/>
              </a:rPr>
              <a:t># </a:t>
            </a:r>
            <a:r>
              <a:rPr lang="uk-UA" dirty="0">
                <a:solidFill>
                  <a:srgbClr val="808080"/>
                </a:solidFill>
                <a:effectLst/>
                <a:latin typeface="JetBrains Mono Medium"/>
              </a:rPr>
              <a:t>створення порожніх графів</a:t>
            </a:r>
            <a:endParaRPr lang="en-US" dirty="0">
              <a:solidFill>
                <a:srgbClr val="808080"/>
              </a:solidFill>
              <a:effectLst/>
              <a:latin typeface="JetBrains Mono Medium"/>
            </a:endParaRPr>
          </a:p>
          <a:p>
            <a:pPr marL="0" indent="0">
              <a:spcBef>
                <a:spcPts val="0"/>
              </a:spcBef>
              <a:buNone/>
            </a:pPr>
            <a:br>
              <a:rPr lang="uk-UA" dirty="0">
                <a:solidFill>
                  <a:srgbClr val="808080"/>
                </a:solidFill>
                <a:effectLst/>
                <a:latin typeface="JetBrains Mono Medium"/>
              </a:rPr>
            </a:b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Неорієнтований граф</a:t>
            </a:r>
            <a:br>
              <a:rPr lang="uk-UA" dirty="0">
                <a:solidFill>
                  <a:srgbClr val="808080"/>
                </a:solidFill>
                <a:effectLst/>
                <a:latin typeface="JetBrains Mono Medium"/>
              </a:rPr>
            </a:br>
            <a:r>
              <a:rPr lang="en-US" dirty="0">
                <a:solidFill>
                  <a:srgbClr val="AFB9C3"/>
                </a:solidFill>
                <a:effectLst/>
                <a:latin typeface="JetBrains Mono Medium"/>
              </a:rPr>
              <a:t>DG = </a:t>
            </a:r>
            <a:r>
              <a:rPr lang="en-US" dirty="0" err="1">
                <a:solidFill>
                  <a:srgbClr val="AFB9C3"/>
                </a:solidFill>
                <a:effectLst/>
                <a:latin typeface="JetBrains Mono Medium"/>
              </a:rPr>
              <a:t>nx.</a:t>
            </a:r>
            <a:r>
              <a:rPr lang="en-US" dirty="0" err="1">
                <a:solidFill>
                  <a:srgbClr val="FFC86E"/>
                </a:solidFill>
                <a:effectLst/>
                <a:latin typeface="JetBrains Mono Medium"/>
              </a:rPr>
              <a:t>DiGraph</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Орієнтований граф</a:t>
            </a:r>
            <a:br>
              <a:rPr lang="uk-UA" dirty="0">
                <a:solidFill>
                  <a:srgbClr val="808080"/>
                </a:solidFill>
                <a:effectLst/>
                <a:latin typeface="JetBrains Mono Medium"/>
              </a:rPr>
            </a:br>
            <a:r>
              <a:rPr lang="en-US" dirty="0">
                <a:solidFill>
                  <a:srgbClr val="AFB9C3"/>
                </a:solidFill>
                <a:effectLst/>
                <a:latin typeface="JetBrains Mono Medium"/>
              </a:rPr>
              <a:t>MG = </a:t>
            </a:r>
            <a:r>
              <a:rPr lang="en-US" dirty="0" err="1">
                <a:solidFill>
                  <a:srgbClr val="AFB9C3"/>
                </a:solidFill>
                <a:effectLst/>
                <a:latin typeface="JetBrains Mono Medium"/>
              </a:rPr>
              <a:t>nx.</a:t>
            </a:r>
            <a:r>
              <a:rPr lang="en-US" dirty="0" err="1">
                <a:solidFill>
                  <a:srgbClr val="FFC86E"/>
                </a:solidFill>
                <a:effectLst/>
                <a:latin typeface="JetBrains Mono Medium"/>
              </a:rPr>
              <a:t>MultiGraph</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Неорієнтований </a:t>
            </a:r>
            <a:r>
              <a:rPr lang="uk-UA" dirty="0" err="1">
                <a:solidFill>
                  <a:srgbClr val="808080"/>
                </a:solidFill>
                <a:effectLst/>
                <a:latin typeface="JetBrains Mono Medium"/>
              </a:rPr>
              <a:t>мультиграф</a:t>
            </a:r>
            <a:endParaRPr lang="en-US" dirty="0">
              <a:solidFill>
                <a:srgbClr val="808080"/>
              </a:solidFill>
              <a:effectLst/>
              <a:latin typeface="JetBrains Mono Medium"/>
            </a:endParaRPr>
          </a:p>
          <a:p>
            <a:pPr marL="0" indent="0">
              <a:spcBef>
                <a:spcPts val="0"/>
              </a:spcBef>
              <a:buNone/>
            </a:pPr>
            <a:r>
              <a:rPr lang="en-US" dirty="0">
                <a:solidFill>
                  <a:srgbClr val="AFB9C3"/>
                </a:solidFill>
                <a:effectLst/>
                <a:latin typeface="JetBrains Mono Medium"/>
              </a:rPr>
              <a:t>MDG = </a:t>
            </a:r>
            <a:r>
              <a:rPr lang="en-US" dirty="0" err="1">
                <a:solidFill>
                  <a:srgbClr val="AFB9C3"/>
                </a:solidFill>
                <a:effectLst/>
                <a:latin typeface="JetBrains Mono Medium"/>
              </a:rPr>
              <a:t>nx.</a:t>
            </a:r>
            <a:r>
              <a:rPr lang="en-US" dirty="0" err="1">
                <a:solidFill>
                  <a:srgbClr val="FFC86E"/>
                </a:solidFill>
                <a:effectLst/>
                <a:latin typeface="JetBrains Mono Medium"/>
              </a:rPr>
              <a:t>MultiDiGraph</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Орієнтований </a:t>
            </a:r>
            <a:r>
              <a:rPr lang="uk-UA" dirty="0" err="1">
                <a:solidFill>
                  <a:srgbClr val="808080"/>
                </a:solidFill>
                <a:effectLst/>
                <a:latin typeface="JetBrains Mono Medium"/>
              </a:rPr>
              <a:t>мультиграф</a:t>
            </a:r>
            <a:br>
              <a:rPr lang="uk-UA" dirty="0">
                <a:solidFill>
                  <a:srgbClr val="808080"/>
                </a:solidFill>
                <a:effectLst/>
                <a:latin typeface="JetBrains Mono Medium"/>
              </a:rPr>
            </a:br>
            <a:endParaRPr lang="uk-UA" dirty="0">
              <a:solidFill>
                <a:srgbClr val="AFB9C3"/>
              </a:solidFill>
              <a:effectLst/>
              <a:latin typeface="JetBrains Mono Medium"/>
            </a:endParaRPr>
          </a:p>
          <a:p>
            <a:pPr marL="0" indent="0">
              <a:buNone/>
            </a:pPr>
            <a:endParaRPr lang="uk-UA" dirty="0"/>
          </a:p>
        </p:txBody>
      </p:sp>
    </p:spTree>
    <p:extLst>
      <p:ext uri="{BB962C8B-B14F-4D97-AF65-F5344CB8AC3E}">
        <p14:creationId xmlns:p14="http://schemas.microsoft.com/office/powerpoint/2010/main" val="2427333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080FCC-429C-7A00-84CB-62556D71615C}"/>
              </a:ext>
            </a:extLst>
          </p:cNvPr>
          <p:cNvSpPr>
            <a:spLocks noGrp="1"/>
          </p:cNvSpPr>
          <p:nvPr>
            <p:ph type="title"/>
          </p:nvPr>
        </p:nvSpPr>
        <p:spPr/>
        <p:txBody>
          <a:bodyPr/>
          <a:lstStyle/>
          <a:p>
            <a:r>
              <a:rPr lang="uk-UA" dirty="0"/>
              <a:t>Створення Графів</a:t>
            </a:r>
          </a:p>
        </p:txBody>
      </p:sp>
      <p:sp>
        <p:nvSpPr>
          <p:cNvPr id="3" name="Місце для вмісту 2">
            <a:extLst>
              <a:ext uri="{FF2B5EF4-FFF2-40B4-BE49-F238E27FC236}">
                <a16:creationId xmlns:a16="http://schemas.microsoft.com/office/drawing/2014/main" id="{9F4EBA35-9048-6C5C-45E0-E27814048FBA}"/>
              </a:ext>
            </a:extLst>
          </p:cNvPr>
          <p:cNvSpPr>
            <a:spLocks noGrp="1"/>
          </p:cNvSpPr>
          <p:nvPr>
            <p:ph idx="1"/>
          </p:nvPr>
        </p:nvSpPr>
        <p:spPr>
          <a:xfrm>
            <a:off x="685800" y="2194560"/>
            <a:ext cx="7726680" cy="4024125"/>
          </a:xfrm>
        </p:spPr>
        <p:txBody>
          <a:bodyPr>
            <a:normAutofit fontScale="92500" lnSpcReduction="10000"/>
          </a:bodyPr>
          <a:lstStyle/>
          <a:p>
            <a:pPr marL="0" indent="0">
              <a:buNone/>
            </a:pP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br>
              <a:rPr lang="en-US" dirty="0">
                <a:solidFill>
                  <a:srgbClr val="AFB9C3"/>
                </a:solidFill>
                <a:effectLst/>
                <a:latin typeface="JetBrains Mono Medium"/>
              </a:rPr>
            </a:br>
            <a:r>
              <a:rPr lang="en-US" dirty="0">
                <a:solidFill>
                  <a:srgbClr val="AFB9C3"/>
                </a:solidFill>
                <a:effectLst/>
                <a:latin typeface="JetBrains Mono Medium"/>
              </a:rPr>
              <a:t>K3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повний граф</a:t>
            </a:r>
            <a:br>
              <a:rPr lang="uk-UA" dirty="0">
                <a:solidFill>
                  <a:srgbClr val="808080"/>
                </a:solidFill>
                <a:effectLst/>
                <a:latin typeface="JetBrains Mono Medium"/>
              </a:rPr>
            </a:br>
            <a:r>
              <a:rPr lang="en-US" dirty="0">
                <a:solidFill>
                  <a:srgbClr val="AFB9C3"/>
                </a:solidFill>
                <a:effectLst/>
                <a:latin typeface="JetBrains Mono Medium"/>
              </a:rPr>
              <a:t>W3 = </a:t>
            </a:r>
            <a:r>
              <a:rPr lang="en-US" dirty="0" err="1">
                <a:solidFill>
                  <a:srgbClr val="AFB9C3"/>
                </a:solidFill>
                <a:effectLst/>
                <a:latin typeface="JetBrains Mono Medium"/>
              </a:rPr>
              <a:t>nx.</a:t>
            </a:r>
            <a:r>
              <a:rPr lang="en-US" dirty="0" err="1">
                <a:solidFill>
                  <a:srgbClr val="FFC86E"/>
                </a:solidFill>
                <a:effectLst/>
                <a:latin typeface="JetBrains Mono Medium"/>
              </a:rPr>
              <a:t>MultiDiGraph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колесо</a:t>
            </a:r>
            <a:br>
              <a:rPr lang="uk-UA" dirty="0">
                <a:solidFill>
                  <a:srgbClr val="808080"/>
                </a:solidFill>
                <a:effectLst/>
                <a:latin typeface="JetBrains Mono Medium"/>
              </a:rPr>
            </a:br>
            <a:br>
              <a:rPr lang="uk-UA" dirty="0">
                <a:solidFill>
                  <a:srgbClr val="808080"/>
                </a:solidFill>
                <a:effectLst/>
                <a:latin typeface="JetBrains Mono Medium"/>
              </a:rPr>
            </a:br>
            <a:r>
              <a:rPr lang="uk-UA" dirty="0">
                <a:solidFill>
                  <a:srgbClr val="808080"/>
                </a:solidFill>
                <a:effectLst/>
                <a:latin typeface="JetBrains Mono Medium"/>
              </a:rPr>
              <a:t># додавання вершини</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будь-який об'єкт, крім </a:t>
            </a:r>
            <a:r>
              <a:rPr lang="en-US" dirty="0">
                <a:solidFill>
                  <a:srgbClr val="808080"/>
                </a:solidFill>
                <a:effectLst/>
                <a:latin typeface="JetBrains Mono Medium"/>
              </a:rPr>
              <a:t>None</a:t>
            </a:r>
            <a:br>
              <a:rPr lang="en-US"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a:t>
            </a:r>
            <a:r>
              <a:rPr lang="en-US" dirty="0">
                <a:solidFill>
                  <a:srgbClr val="FFC86E"/>
                </a:solidFill>
                <a:effectLst/>
                <a:latin typeface="JetBrains Mono Medium"/>
              </a:rPr>
              <a:t>print</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a:t>
            </a:r>
            <a:r>
              <a:rPr lang="en-US" dirty="0">
                <a:solidFill>
                  <a:srgbClr val="96BE78"/>
                </a:solidFill>
                <a:effectLst/>
                <a:latin typeface="JetBrains Mono Medium"/>
              </a:rPr>
              <a:t>'spam'</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(K3)</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a:t>
            </a:r>
            <a:r>
              <a:rPr lang="en-US" dirty="0">
                <a:solidFill>
                  <a:srgbClr val="AFB9C3"/>
                </a:solidFill>
                <a:effectLst/>
                <a:latin typeface="JetBrains Mono Medium"/>
              </a:rPr>
              <a:t>(W3)</a:t>
            </a:r>
            <a:br>
              <a:rPr lang="en-US" dirty="0">
                <a:solidFill>
                  <a:srgbClr val="AFB9C3"/>
                </a:solidFill>
                <a:effectLst/>
                <a:latin typeface="JetBrains Mono Medium"/>
              </a:rPr>
            </a:br>
            <a:r>
              <a:rPr lang="en-US" dirty="0">
                <a:solidFill>
                  <a:srgbClr val="808080"/>
                </a:solidFill>
                <a:effectLst/>
                <a:latin typeface="JetBrains Mono Medium"/>
              </a:rPr>
              <a:t># </a:t>
            </a:r>
            <a:r>
              <a:rPr lang="en-US" dirty="0" err="1">
                <a:solidFill>
                  <a:srgbClr val="808080"/>
                </a:solidFill>
                <a:effectLst/>
                <a:latin typeface="JetBrains Mono Medium"/>
              </a:rPr>
              <a:t>G.add_node</a:t>
            </a:r>
            <a:r>
              <a:rPr lang="en-US" dirty="0">
                <a:solidFill>
                  <a:srgbClr val="808080"/>
                </a:solidFill>
                <a:effectLst/>
                <a:latin typeface="JetBrains Mono Medium"/>
              </a:rPr>
              <a:t>(None)  # </a:t>
            </a:r>
            <a:r>
              <a:rPr lang="en-US" dirty="0" err="1">
                <a:solidFill>
                  <a:srgbClr val="808080"/>
                </a:solidFill>
                <a:effectLst/>
                <a:latin typeface="JetBrains Mono Medium"/>
              </a:rPr>
              <a:t>ValueError</a:t>
            </a:r>
            <a:br>
              <a:rPr lang="en-US" dirty="0">
                <a:solidFill>
                  <a:srgbClr val="808080"/>
                </a:solidFill>
                <a:effectLst/>
                <a:latin typeface="JetBrains Mono Medium"/>
              </a:rPr>
            </a:br>
            <a:br>
              <a:rPr lang="en-US" dirty="0">
                <a:solidFill>
                  <a:srgbClr val="808080"/>
                </a:solidFill>
                <a:effectLst/>
                <a:latin typeface="JetBrains Mono Medium"/>
              </a:rPr>
            </a:br>
            <a:r>
              <a:rPr lang="en-US" dirty="0" err="1">
                <a:solidFill>
                  <a:srgbClr val="AFB9C3"/>
                </a:solidFill>
                <a:effectLst/>
                <a:latin typeface="JetBrains Mono Medium"/>
              </a:rPr>
              <a:t>nx.</a:t>
            </a:r>
            <a:r>
              <a:rPr lang="en-US" dirty="0" err="1">
                <a:solidFill>
                  <a:srgbClr val="FFC86E"/>
                </a:solidFill>
                <a:effectLst/>
                <a:latin typeface="JetBrains Mono Medium"/>
              </a:rPr>
              <a:t>draw_networkx</a:t>
            </a:r>
            <a:r>
              <a:rPr lang="en-US" dirty="0">
                <a:solidFill>
                  <a:srgbClr val="AFB9C3"/>
                </a:solidFill>
                <a:effectLst/>
                <a:latin typeface="JetBrains Mono Medium"/>
              </a:rPr>
              <a:t>(G, </a:t>
            </a:r>
            <a:r>
              <a:rPr lang="en-US" dirty="0" err="1">
                <a:solidFill>
                  <a:srgbClr val="FF9696"/>
                </a:solidFill>
                <a:effectLst/>
                <a:latin typeface="JetBrains Mono Medium"/>
              </a:rPr>
              <a:t>with_labels</a:t>
            </a:r>
            <a:r>
              <a:rPr lang="en-US" dirty="0">
                <a:solidFill>
                  <a:srgbClr val="AFB9C3"/>
                </a:solidFill>
                <a:effectLst/>
                <a:latin typeface="JetBrains Mono Medium"/>
              </a:rPr>
              <a:t>=</a:t>
            </a:r>
            <a:r>
              <a:rPr lang="en-US" dirty="0">
                <a:solidFill>
                  <a:srgbClr val="C88CDC"/>
                </a:solidFill>
                <a:effectLst/>
                <a:latin typeface="JetBrains Mono Medium"/>
              </a:rPr>
              <a:t>True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plt.</a:t>
            </a:r>
            <a:r>
              <a:rPr lang="en-US" dirty="0" err="1">
                <a:solidFill>
                  <a:srgbClr val="FFC86E"/>
                </a:solidFill>
                <a:effectLst/>
                <a:latin typeface="JetBrains Mono Medium"/>
              </a:rPr>
              <a:t>show</a:t>
            </a:r>
            <a:r>
              <a:rPr lang="en-US" dirty="0">
                <a:solidFill>
                  <a:srgbClr val="AFB9C3"/>
                </a:solidFill>
                <a:effectLst/>
                <a:latin typeface="JetBrains Mono Medium"/>
              </a:rPr>
              <a:t>()</a:t>
            </a:r>
            <a:endParaRPr lang="uk-UA" dirty="0"/>
          </a:p>
        </p:txBody>
      </p:sp>
      <p:pic>
        <p:nvPicPr>
          <p:cNvPr id="5" name="Рисунок 4" descr="Зображення, що містить текст, знімок екрана, схема, Шрифт&#10;&#10;Вміст, створений ШІ, може бути неправильним.">
            <a:extLst>
              <a:ext uri="{FF2B5EF4-FFF2-40B4-BE49-F238E27FC236}">
                <a16:creationId xmlns:a16="http://schemas.microsoft.com/office/drawing/2014/main" id="{7E52E276-D033-FE55-2E9B-8EC2D8D6E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2916" y="3049556"/>
            <a:ext cx="4408384" cy="3306288"/>
          </a:xfrm>
          <a:prstGeom prst="rect">
            <a:avLst/>
          </a:prstGeom>
        </p:spPr>
      </p:pic>
    </p:spTree>
    <p:extLst>
      <p:ext uri="{BB962C8B-B14F-4D97-AF65-F5344CB8AC3E}">
        <p14:creationId xmlns:p14="http://schemas.microsoft.com/office/powerpoint/2010/main" val="4056068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C6E97D9-BEE2-FD1F-537A-5E179698EBB5}"/>
              </a:ext>
            </a:extLst>
          </p:cNvPr>
          <p:cNvSpPr>
            <a:spLocks noGrp="1"/>
          </p:cNvSpPr>
          <p:nvPr>
            <p:ph type="title"/>
          </p:nvPr>
        </p:nvSpPr>
        <p:spPr/>
        <p:txBody>
          <a:bodyPr/>
          <a:lstStyle/>
          <a:p>
            <a:r>
              <a:rPr lang="uk-UA" dirty="0"/>
              <a:t>Створення графів</a:t>
            </a:r>
          </a:p>
        </p:txBody>
      </p:sp>
      <p:pic>
        <p:nvPicPr>
          <p:cNvPr id="5" name="Рисунок 4" descr="Зображення, що містить знімок екрана&#10;&#10;Вміст, створений ШІ, може бути неправильним.">
            <a:extLst>
              <a:ext uri="{FF2B5EF4-FFF2-40B4-BE49-F238E27FC236}">
                <a16:creationId xmlns:a16="http://schemas.microsoft.com/office/drawing/2014/main" id="{B8E62894-1599-959C-22C7-3E305CEDBDB1}"/>
              </a:ext>
            </a:extLst>
          </p:cNvPr>
          <p:cNvPicPr>
            <a:picLocks noChangeAspect="1"/>
          </p:cNvPicPr>
          <p:nvPr/>
        </p:nvPicPr>
        <p:blipFill>
          <a:blip r:embed="rId2">
            <a:extLst>
              <a:ext uri="{28A0092B-C50C-407E-A947-70E740481C1C}">
                <a14:useLocalDpi xmlns:a14="http://schemas.microsoft.com/office/drawing/2010/main" val="0"/>
              </a:ext>
            </a:extLst>
          </a:blip>
          <a:srcRect l="9950" t="8316" r="6178" b="7095"/>
          <a:stretch/>
        </p:blipFill>
        <p:spPr>
          <a:xfrm>
            <a:off x="6358758" y="2817892"/>
            <a:ext cx="5147441" cy="3893586"/>
          </a:xfrm>
          <a:prstGeom prst="rect">
            <a:avLst/>
          </a:prstGeom>
        </p:spPr>
      </p:pic>
      <p:sp>
        <p:nvSpPr>
          <p:cNvPr id="3" name="Місце для вмісту 2">
            <a:extLst>
              <a:ext uri="{FF2B5EF4-FFF2-40B4-BE49-F238E27FC236}">
                <a16:creationId xmlns:a16="http://schemas.microsoft.com/office/drawing/2014/main" id="{14602E19-60EC-4363-C204-7635D160DCF5}"/>
              </a:ext>
            </a:extLst>
          </p:cNvPr>
          <p:cNvSpPr>
            <a:spLocks noGrp="1"/>
          </p:cNvSpPr>
          <p:nvPr>
            <p:ph idx="1"/>
          </p:nvPr>
        </p:nvSpPr>
        <p:spPr>
          <a:xfrm>
            <a:off x="381000" y="1742615"/>
            <a:ext cx="7710948" cy="4024125"/>
          </a:xfrm>
        </p:spPr>
        <p:txBody>
          <a:bodyPr>
            <a:normAutofit fontScale="92500"/>
          </a:bodyPr>
          <a:lstStyle/>
          <a:p>
            <a:pPr marL="0" indent="0">
              <a:buNone/>
            </a:pP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br>
              <a:rPr lang="en-US" dirty="0">
                <a:solidFill>
                  <a:srgbClr val="AFB9C3"/>
                </a:solidFill>
                <a:effectLst/>
                <a:latin typeface="JetBrains Mono Medium"/>
              </a:rPr>
            </a:br>
            <a:r>
              <a:rPr lang="en-US" dirty="0">
                <a:solidFill>
                  <a:srgbClr val="AFB9C3"/>
                </a:solidFill>
                <a:effectLst/>
                <a:latin typeface="JetBrains Mono Medium"/>
              </a:rPr>
              <a:t>K3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повний граф</a:t>
            </a:r>
            <a:br>
              <a:rPr lang="uk-UA" dirty="0">
                <a:solidFill>
                  <a:srgbClr val="808080"/>
                </a:solidFill>
                <a:effectLst/>
                <a:latin typeface="JetBrains Mono Medium"/>
              </a:rPr>
            </a:br>
            <a:r>
              <a:rPr lang="en-US" dirty="0">
                <a:solidFill>
                  <a:srgbClr val="AFB9C3"/>
                </a:solidFill>
                <a:effectLst/>
                <a:latin typeface="JetBrains Mono Medium"/>
              </a:rPr>
              <a:t>W3 = </a:t>
            </a:r>
            <a:r>
              <a:rPr lang="en-US" dirty="0" err="1">
                <a:solidFill>
                  <a:srgbClr val="AFB9C3"/>
                </a:solidFill>
                <a:effectLst/>
                <a:latin typeface="JetBrains Mono Medium"/>
              </a:rPr>
              <a:t>nx.</a:t>
            </a:r>
            <a:r>
              <a:rPr lang="en-US" dirty="0" err="1">
                <a:solidFill>
                  <a:srgbClr val="FFC86E"/>
                </a:solidFill>
                <a:effectLst/>
                <a:latin typeface="JetBrains Mono Medium"/>
              </a:rPr>
              <a:t>MultiDiGraph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колесо</a:t>
            </a:r>
            <a:br>
              <a:rPr lang="uk-UA" dirty="0">
                <a:solidFill>
                  <a:srgbClr val="808080"/>
                </a:solidFill>
                <a:effectLst/>
                <a:latin typeface="JetBrains Mono Medium"/>
              </a:rPr>
            </a:br>
            <a:br>
              <a:rPr lang="uk-UA" dirty="0">
                <a:solidFill>
                  <a:srgbClr val="808080"/>
                </a:solidFill>
                <a:effectLst/>
                <a:latin typeface="JetBrains Mono Medium"/>
              </a:rPr>
            </a:br>
            <a:r>
              <a:rPr lang="uk-UA" dirty="0">
                <a:solidFill>
                  <a:srgbClr val="808080"/>
                </a:solidFill>
                <a:effectLst/>
                <a:latin typeface="JetBrains Mono Medium"/>
              </a:rPr>
              <a:t># додавання багатьох вершин</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a:t>
            </a:r>
            <a:r>
              <a:rPr lang="en-US" dirty="0">
                <a:solidFill>
                  <a:srgbClr val="96BE78"/>
                </a:solidFill>
                <a:effectLst/>
                <a:latin typeface="JetBrains Mono Medium"/>
              </a:rPr>
              <a:t>'a1'</a:t>
            </a:r>
            <a:r>
              <a:rPr lang="en-US" dirty="0">
                <a:solidFill>
                  <a:srgbClr val="AFB9C3"/>
                </a:solidFill>
                <a:effectLst/>
                <a:latin typeface="JetBrains Mono Medium"/>
              </a:rPr>
              <a:t>, </a:t>
            </a:r>
            <a:r>
              <a:rPr lang="en-US" dirty="0">
                <a:solidFill>
                  <a:srgbClr val="96BE78"/>
                </a:solidFill>
                <a:effectLst/>
                <a:latin typeface="JetBrains Mono Medium"/>
              </a:rPr>
              <a:t>'a2'</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a:t>
            </a:r>
            <a:r>
              <a:rPr lang="en-US" dirty="0">
                <a:solidFill>
                  <a:srgbClr val="96BE78"/>
                </a:solidFill>
                <a:effectLst/>
                <a:latin typeface="JetBrains Mono Medium"/>
              </a:rPr>
              <a:t>'spam'</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додає всі літери</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a:t>
            </a:r>
            <a:r>
              <a:rPr lang="en-US" dirty="0">
                <a:solidFill>
                  <a:srgbClr val="96BE78"/>
                </a:solidFill>
                <a:effectLst/>
                <a:latin typeface="JetBrains Mono Medium"/>
              </a:rPr>
              <a:t>'a'</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'b'</a:t>
            </a:r>
            <a:r>
              <a:rPr lang="en-US" dirty="0">
                <a:solidFill>
                  <a:srgbClr val="AFB9C3"/>
                </a:solidFill>
                <a:effectLst/>
                <a:latin typeface="JetBrains Mono Medium"/>
              </a:rPr>
              <a:t>: </a:t>
            </a:r>
            <a:r>
              <a:rPr lang="en-US" dirty="0">
                <a:solidFill>
                  <a:srgbClr val="96BE78"/>
                </a:solidFill>
                <a:effectLst/>
                <a:latin typeface="JetBrains Mono Medium"/>
              </a:rPr>
              <a:t>4</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додає ключі</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(K3)</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(W3)</a:t>
            </a:r>
            <a:br>
              <a:rPr lang="en-US" dirty="0">
                <a:solidFill>
                  <a:srgbClr val="AFB9C3"/>
                </a:solidFill>
                <a:effectLst/>
                <a:latin typeface="JetBrains Mono Medium"/>
              </a:rPr>
            </a:br>
            <a:br>
              <a:rPr lang="en-US" dirty="0">
                <a:solidFill>
                  <a:srgbClr val="AFB9C3"/>
                </a:solidFill>
                <a:effectLst/>
                <a:latin typeface="JetBrains Mono Medium"/>
              </a:rPr>
            </a:br>
            <a:br>
              <a:rPr lang="en-US" dirty="0">
                <a:solidFill>
                  <a:srgbClr val="AFB9C3"/>
                </a:solidFill>
                <a:effectLst/>
                <a:latin typeface="JetBrains Mono Medium"/>
              </a:rPr>
            </a:br>
            <a:r>
              <a:rPr lang="en-US" dirty="0" err="1">
                <a:solidFill>
                  <a:srgbClr val="AFB9C3"/>
                </a:solidFill>
                <a:effectLst/>
                <a:latin typeface="JetBrains Mono Medium"/>
              </a:rPr>
              <a:t>nx.</a:t>
            </a:r>
            <a:r>
              <a:rPr lang="en-US" dirty="0" err="1">
                <a:solidFill>
                  <a:srgbClr val="FFC86E"/>
                </a:solidFill>
                <a:effectLst/>
                <a:latin typeface="JetBrains Mono Medium"/>
              </a:rPr>
              <a:t>draw_networkx</a:t>
            </a:r>
            <a:r>
              <a:rPr lang="en-US" dirty="0">
                <a:solidFill>
                  <a:srgbClr val="AFB9C3"/>
                </a:solidFill>
                <a:effectLst/>
                <a:latin typeface="JetBrains Mono Medium"/>
              </a:rPr>
              <a:t>(G, </a:t>
            </a:r>
            <a:r>
              <a:rPr lang="en-US" dirty="0" err="1">
                <a:solidFill>
                  <a:srgbClr val="FF9696"/>
                </a:solidFill>
                <a:effectLst/>
                <a:latin typeface="JetBrains Mono Medium"/>
              </a:rPr>
              <a:t>with_labels</a:t>
            </a:r>
            <a:r>
              <a:rPr lang="en-US" dirty="0">
                <a:solidFill>
                  <a:srgbClr val="AFB9C3"/>
                </a:solidFill>
                <a:effectLst/>
                <a:latin typeface="JetBrains Mono Medium"/>
              </a:rPr>
              <a:t>=</a:t>
            </a:r>
            <a:r>
              <a:rPr lang="en-US" dirty="0">
                <a:solidFill>
                  <a:srgbClr val="C88CDC"/>
                </a:solidFill>
                <a:effectLst/>
                <a:latin typeface="JetBrains Mono Medium"/>
              </a:rPr>
              <a:t>True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plt.</a:t>
            </a:r>
            <a:r>
              <a:rPr lang="en-US" dirty="0" err="1">
                <a:solidFill>
                  <a:srgbClr val="FFC86E"/>
                </a:solidFill>
                <a:effectLst/>
                <a:latin typeface="JetBrains Mono Medium"/>
              </a:rPr>
              <a:t>show</a:t>
            </a:r>
            <a:r>
              <a:rPr lang="en-US" dirty="0">
                <a:solidFill>
                  <a:srgbClr val="AFB9C3"/>
                </a:solidFill>
                <a:effectLst/>
                <a:latin typeface="JetBrains Mono Medium"/>
              </a:rPr>
              <a:t>()</a:t>
            </a:r>
          </a:p>
          <a:p>
            <a:pPr marL="0" indent="0">
              <a:buNone/>
            </a:pPr>
            <a:endParaRPr lang="uk-UA" dirty="0"/>
          </a:p>
        </p:txBody>
      </p:sp>
      <p:sp>
        <p:nvSpPr>
          <p:cNvPr id="6" name="Овал 5">
            <a:extLst>
              <a:ext uri="{FF2B5EF4-FFF2-40B4-BE49-F238E27FC236}">
                <a16:creationId xmlns:a16="http://schemas.microsoft.com/office/drawing/2014/main" id="{8C784C51-40FA-3BB6-DFE7-87CED3EF3123}"/>
              </a:ext>
            </a:extLst>
          </p:cNvPr>
          <p:cNvSpPr/>
          <p:nvPr/>
        </p:nvSpPr>
        <p:spPr>
          <a:xfrm rot="1262473">
            <a:off x="10508856" y="4734361"/>
            <a:ext cx="756745" cy="1714380"/>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uk-UA"/>
          </a:p>
        </p:txBody>
      </p:sp>
      <p:sp>
        <p:nvSpPr>
          <p:cNvPr id="7" name="Овал 6">
            <a:extLst>
              <a:ext uri="{FF2B5EF4-FFF2-40B4-BE49-F238E27FC236}">
                <a16:creationId xmlns:a16="http://schemas.microsoft.com/office/drawing/2014/main" id="{C4D9EC62-A3BB-B246-62C5-57941CAABE18}"/>
              </a:ext>
            </a:extLst>
          </p:cNvPr>
          <p:cNvSpPr/>
          <p:nvPr/>
        </p:nvSpPr>
        <p:spPr>
          <a:xfrm rot="2656608">
            <a:off x="7516581" y="2099010"/>
            <a:ext cx="2565165" cy="5113309"/>
          </a:xfrm>
          <a:prstGeom prst="ellipse">
            <a:avLst/>
          </a:prstGeom>
          <a:noFill/>
          <a:ln w="2857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uk-UA"/>
          </a:p>
        </p:txBody>
      </p:sp>
      <p:sp>
        <p:nvSpPr>
          <p:cNvPr id="8" name="Овал 7">
            <a:extLst>
              <a:ext uri="{FF2B5EF4-FFF2-40B4-BE49-F238E27FC236}">
                <a16:creationId xmlns:a16="http://schemas.microsoft.com/office/drawing/2014/main" id="{5A8984E3-5DBB-91D1-1006-5E0040E80441}"/>
              </a:ext>
            </a:extLst>
          </p:cNvPr>
          <p:cNvSpPr/>
          <p:nvPr/>
        </p:nvSpPr>
        <p:spPr>
          <a:xfrm rot="1637552">
            <a:off x="8458053" y="3363180"/>
            <a:ext cx="2995531" cy="692486"/>
          </a:xfrm>
          <a:prstGeom prst="ellipse">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uk-UA"/>
          </a:p>
        </p:txBody>
      </p:sp>
    </p:spTree>
    <p:extLst>
      <p:ext uri="{BB962C8B-B14F-4D97-AF65-F5344CB8AC3E}">
        <p14:creationId xmlns:p14="http://schemas.microsoft.com/office/powerpoint/2010/main" val="3139787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C07DEA-1C54-4A4B-B86A-EE39D5760C46}"/>
              </a:ext>
            </a:extLst>
          </p:cNvPr>
          <p:cNvSpPr>
            <a:spLocks noGrp="1"/>
          </p:cNvSpPr>
          <p:nvPr>
            <p:ph type="title"/>
          </p:nvPr>
        </p:nvSpPr>
        <p:spPr/>
        <p:txBody>
          <a:bodyPr/>
          <a:lstStyle/>
          <a:p>
            <a:r>
              <a:rPr lang="uk-UA" dirty="0"/>
              <a:t>Створення Графів</a:t>
            </a:r>
          </a:p>
        </p:txBody>
      </p:sp>
      <p:sp>
        <p:nvSpPr>
          <p:cNvPr id="3" name="Місце для вмісту 2">
            <a:extLst>
              <a:ext uri="{FF2B5EF4-FFF2-40B4-BE49-F238E27FC236}">
                <a16:creationId xmlns:a16="http://schemas.microsoft.com/office/drawing/2014/main" id="{75C6EAF4-6318-BCEB-5CC0-1CF5EA1A1BB1}"/>
              </a:ext>
            </a:extLst>
          </p:cNvPr>
          <p:cNvSpPr>
            <a:spLocks noGrp="1"/>
          </p:cNvSpPr>
          <p:nvPr>
            <p:ph idx="1"/>
          </p:nvPr>
        </p:nvSpPr>
        <p:spPr>
          <a:xfrm>
            <a:off x="685800" y="2194560"/>
            <a:ext cx="5773994" cy="4024125"/>
          </a:xfrm>
        </p:spPr>
        <p:txBody>
          <a:bodyPr/>
          <a:lstStyle/>
          <a:p>
            <a:pPr marL="0" indent="0">
              <a:buNone/>
            </a:pP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808080"/>
                </a:solidFill>
                <a:effectLst/>
                <a:latin typeface="JetBrains Mono Medium"/>
              </a:rPr>
              <a:t># </a:t>
            </a:r>
            <a:r>
              <a:rPr lang="uk-UA" dirty="0">
                <a:solidFill>
                  <a:srgbClr val="808080"/>
                </a:solidFill>
                <a:effectLst/>
                <a:latin typeface="JetBrains Mono Medium"/>
              </a:rPr>
              <a:t>додавання </a:t>
            </a:r>
            <a:r>
              <a:rPr lang="uk-UA" dirty="0" err="1">
                <a:solidFill>
                  <a:srgbClr val="808080"/>
                </a:solidFill>
                <a:effectLst/>
                <a:latin typeface="JetBrains Mono Medium"/>
              </a:rPr>
              <a:t>ребер</a:t>
            </a:r>
            <a:r>
              <a:rPr lang="uk-UA" dirty="0">
                <a:solidFill>
                  <a:srgbClr val="808080"/>
                </a:solidFill>
                <a:effectLst/>
                <a:latin typeface="JetBrains Mono Medium"/>
              </a:rPr>
              <a:t> по одному</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a:t>
            </a:r>
            <a:r>
              <a:rPr lang="en-US" dirty="0">
                <a:solidFill>
                  <a:srgbClr val="96BE78"/>
                </a:solidFill>
                <a:effectLst/>
                <a:latin typeface="JetBrains Mono Medium"/>
              </a:rPr>
              <a:t>'</a:t>
            </a:r>
            <a:r>
              <a:rPr lang="en-US" dirty="0" err="1">
                <a:solidFill>
                  <a:srgbClr val="96BE78"/>
                </a:solidFill>
                <a:effectLst/>
                <a:latin typeface="JetBrains Mono Medium"/>
              </a:rPr>
              <a:t>abcde</a:t>
            </a:r>
            <a:r>
              <a:rPr lang="en-US" dirty="0">
                <a:solidFill>
                  <a:srgbClr val="96BE78"/>
                </a:solidFill>
                <a:effectLst/>
                <a:latin typeface="JetBrains Mono Medium"/>
              </a:rPr>
              <a:t>'</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add_edge</a:t>
            </a:r>
            <a:r>
              <a:rPr lang="en-US" dirty="0">
                <a:solidFill>
                  <a:srgbClr val="AFB9C3"/>
                </a:solidFill>
                <a:effectLst/>
                <a:latin typeface="JetBrains Mono Medium"/>
              </a:rPr>
              <a:t>(</a:t>
            </a:r>
            <a:r>
              <a:rPr lang="en-US" dirty="0">
                <a:solidFill>
                  <a:srgbClr val="96BE78"/>
                </a:solidFill>
                <a:effectLst/>
                <a:latin typeface="JetBrains Mono Medium"/>
              </a:rPr>
              <a:t>'a'</a:t>
            </a:r>
            <a:r>
              <a:rPr lang="en-US" dirty="0">
                <a:solidFill>
                  <a:srgbClr val="AFB9C3"/>
                </a:solidFill>
                <a:effectLst/>
                <a:latin typeface="JetBrains Mono Medium"/>
              </a:rPr>
              <a:t>, </a:t>
            </a:r>
            <a:r>
              <a:rPr lang="en-US" dirty="0">
                <a:solidFill>
                  <a:srgbClr val="96BE78"/>
                </a:solidFill>
                <a:effectLst/>
                <a:latin typeface="JetBrains Mono Medium"/>
              </a:rPr>
              <a:t>'d'</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808080"/>
                </a:solidFill>
                <a:effectLst/>
                <a:latin typeface="JetBrains Mono Medium"/>
              </a:rPr>
              <a:t># </a:t>
            </a:r>
            <a:r>
              <a:rPr lang="uk-UA" dirty="0">
                <a:solidFill>
                  <a:srgbClr val="808080"/>
                </a:solidFill>
                <a:effectLst/>
                <a:latin typeface="JetBrains Mono Medium"/>
              </a:rPr>
              <a:t>Додавання групи </a:t>
            </a:r>
            <a:r>
              <a:rPr lang="uk-UA" dirty="0" err="1">
                <a:solidFill>
                  <a:srgbClr val="808080"/>
                </a:solidFill>
                <a:effectLst/>
                <a:latin typeface="JetBrains Mono Medium"/>
              </a:rPr>
              <a:t>ребер</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add_edges_from</a:t>
            </a:r>
            <a:r>
              <a:rPr lang="en-US" dirty="0">
                <a:solidFill>
                  <a:srgbClr val="AFB9C3"/>
                </a:solidFill>
                <a:effectLst/>
                <a:latin typeface="JetBrains Mono Medium"/>
              </a:rPr>
              <a:t>([(</a:t>
            </a:r>
            <a:r>
              <a:rPr lang="en-US" dirty="0" err="1">
                <a:solidFill>
                  <a:srgbClr val="AFB9C3"/>
                </a:solidFill>
                <a:effectLst/>
                <a:latin typeface="JetBrains Mono Medium"/>
              </a:rPr>
              <a:t>i</a:t>
            </a:r>
            <a:r>
              <a:rPr lang="en-US" dirty="0">
                <a:solidFill>
                  <a:srgbClr val="AFB9C3"/>
                </a:solidFill>
                <a:effectLst/>
                <a:latin typeface="JetBrains Mono Medium"/>
              </a:rPr>
              <a:t>, j) </a:t>
            </a:r>
            <a:r>
              <a:rPr lang="en-US" dirty="0">
                <a:solidFill>
                  <a:srgbClr val="C88CDC"/>
                </a:solidFill>
                <a:effectLst/>
                <a:latin typeface="JetBrains Mono Medium"/>
              </a:rPr>
              <a:t>for </a:t>
            </a:r>
            <a:r>
              <a:rPr lang="en-US" dirty="0" err="1">
                <a:solidFill>
                  <a:srgbClr val="AFB9C3"/>
                </a:solidFill>
                <a:effectLst/>
                <a:latin typeface="JetBrains Mono Medium"/>
              </a:rPr>
              <a:t>i</a:t>
            </a:r>
            <a:r>
              <a:rPr lang="en-US" dirty="0">
                <a:solidFill>
                  <a:srgbClr val="AFB9C3"/>
                </a:solidFill>
                <a:effectLst/>
                <a:latin typeface="JetBrains Mono Medium"/>
              </a:rPr>
              <a:t> </a:t>
            </a:r>
            <a:r>
              <a:rPr lang="en-US" dirty="0">
                <a:solidFill>
                  <a:srgbClr val="C88CDC"/>
                </a:solidFill>
                <a:effectLst/>
                <a:latin typeface="JetBrains Mono Medium"/>
              </a:rPr>
              <a:t>in </a:t>
            </a:r>
            <a:r>
              <a:rPr lang="en-US" dirty="0">
                <a:solidFill>
                  <a:srgbClr val="96BE78"/>
                </a:solidFill>
                <a:effectLst/>
                <a:latin typeface="JetBrains Mono Medium"/>
              </a:rPr>
              <a:t>'</a:t>
            </a:r>
            <a:r>
              <a:rPr lang="en-US" dirty="0" err="1">
                <a:solidFill>
                  <a:srgbClr val="96BE78"/>
                </a:solidFill>
                <a:effectLst/>
                <a:latin typeface="JetBrains Mono Medium"/>
              </a:rPr>
              <a:t>abc</a:t>
            </a:r>
            <a:r>
              <a:rPr lang="en-US" dirty="0">
                <a:solidFill>
                  <a:srgbClr val="96BE78"/>
                </a:solidFill>
                <a:effectLst/>
                <a:latin typeface="JetBrains Mono Medium"/>
              </a:rPr>
              <a:t>' </a:t>
            </a:r>
            <a:r>
              <a:rPr lang="en-US" dirty="0">
                <a:solidFill>
                  <a:srgbClr val="C88CDC"/>
                </a:solidFill>
                <a:effectLst/>
                <a:latin typeface="JetBrains Mono Medium"/>
              </a:rPr>
              <a:t>for </a:t>
            </a:r>
            <a:r>
              <a:rPr lang="en-US" dirty="0">
                <a:solidFill>
                  <a:srgbClr val="AFB9C3"/>
                </a:solidFill>
                <a:effectLst/>
                <a:latin typeface="JetBrains Mono Medium"/>
              </a:rPr>
              <a:t>j </a:t>
            </a:r>
            <a:r>
              <a:rPr lang="en-US" dirty="0">
                <a:solidFill>
                  <a:srgbClr val="C88CDC"/>
                </a:solidFill>
                <a:effectLst/>
                <a:latin typeface="JetBrains Mono Medium"/>
              </a:rPr>
              <a:t>in </a:t>
            </a:r>
            <a:r>
              <a:rPr lang="en-US" dirty="0">
                <a:solidFill>
                  <a:srgbClr val="96BE78"/>
                </a:solidFill>
                <a:effectLst/>
                <a:latin typeface="JetBrains Mono Medium"/>
              </a:rPr>
              <a:t>'de'</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err="1">
                <a:solidFill>
                  <a:srgbClr val="AFB9C3"/>
                </a:solidFill>
                <a:effectLst/>
                <a:latin typeface="JetBrains Mono Medium"/>
              </a:rPr>
              <a:t>nx.</a:t>
            </a:r>
            <a:r>
              <a:rPr lang="en-US" dirty="0" err="1">
                <a:solidFill>
                  <a:srgbClr val="FFC86E"/>
                </a:solidFill>
                <a:effectLst/>
                <a:latin typeface="JetBrains Mono Medium"/>
              </a:rPr>
              <a:t>draw_networkx</a:t>
            </a:r>
            <a:r>
              <a:rPr lang="en-US" dirty="0">
                <a:solidFill>
                  <a:srgbClr val="AFB9C3"/>
                </a:solidFill>
                <a:effectLst/>
                <a:latin typeface="JetBrains Mono Medium"/>
              </a:rPr>
              <a:t>(G, </a:t>
            </a:r>
            <a:r>
              <a:rPr lang="en-US" dirty="0" err="1">
                <a:solidFill>
                  <a:srgbClr val="FF9696"/>
                </a:solidFill>
                <a:effectLst/>
                <a:latin typeface="JetBrains Mono Medium"/>
              </a:rPr>
              <a:t>with_labels</a:t>
            </a:r>
            <a:r>
              <a:rPr lang="en-US" dirty="0">
                <a:solidFill>
                  <a:srgbClr val="AFB9C3"/>
                </a:solidFill>
                <a:effectLst/>
                <a:latin typeface="JetBrains Mono Medium"/>
              </a:rPr>
              <a:t>=</a:t>
            </a:r>
            <a:r>
              <a:rPr lang="en-US" dirty="0">
                <a:solidFill>
                  <a:srgbClr val="C88CDC"/>
                </a:solidFill>
                <a:effectLst/>
                <a:latin typeface="JetBrains Mono Medium"/>
              </a:rPr>
              <a:t>True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plt.</a:t>
            </a:r>
            <a:r>
              <a:rPr lang="en-US" dirty="0" err="1">
                <a:solidFill>
                  <a:srgbClr val="FFC86E"/>
                </a:solidFill>
                <a:effectLst/>
                <a:latin typeface="JetBrains Mono Medium"/>
              </a:rPr>
              <a:t>show</a:t>
            </a:r>
            <a:r>
              <a:rPr lang="en-US" dirty="0">
                <a:solidFill>
                  <a:srgbClr val="AFB9C3"/>
                </a:solidFill>
                <a:effectLst/>
                <a:latin typeface="JetBrains Mono Medium"/>
              </a:rPr>
              <a:t>()</a:t>
            </a:r>
          </a:p>
          <a:p>
            <a:pPr marL="0" indent="0">
              <a:buNone/>
            </a:pPr>
            <a:endParaRPr lang="uk-UA" dirty="0"/>
          </a:p>
        </p:txBody>
      </p:sp>
      <p:pic>
        <p:nvPicPr>
          <p:cNvPr id="5" name="Рисунок 4" descr="Зображення, що містить ряд, схема&#10;&#10;Вміст, створений ШІ, може бути неправильним.">
            <a:extLst>
              <a:ext uri="{FF2B5EF4-FFF2-40B4-BE49-F238E27FC236}">
                <a16:creationId xmlns:a16="http://schemas.microsoft.com/office/drawing/2014/main" id="{03D334EB-C5D3-8F2B-5890-48638D2EA270}"/>
              </a:ext>
            </a:extLst>
          </p:cNvPr>
          <p:cNvPicPr>
            <a:picLocks noChangeAspect="1"/>
          </p:cNvPicPr>
          <p:nvPr/>
        </p:nvPicPr>
        <p:blipFill>
          <a:blip r:embed="rId2">
            <a:extLst>
              <a:ext uri="{28A0092B-C50C-407E-A947-70E740481C1C}">
                <a14:useLocalDpi xmlns:a14="http://schemas.microsoft.com/office/drawing/2010/main" val="0"/>
              </a:ext>
            </a:extLst>
          </a:blip>
          <a:srcRect l="8705" t="7904" r="5269" b="7806"/>
          <a:stretch/>
        </p:blipFill>
        <p:spPr>
          <a:xfrm>
            <a:off x="6663558" y="2194560"/>
            <a:ext cx="5034455" cy="3699642"/>
          </a:xfrm>
          <a:prstGeom prst="rect">
            <a:avLst/>
          </a:prstGeom>
        </p:spPr>
      </p:pic>
    </p:spTree>
    <p:extLst>
      <p:ext uri="{BB962C8B-B14F-4D97-AF65-F5344CB8AC3E}">
        <p14:creationId xmlns:p14="http://schemas.microsoft.com/office/powerpoint/2010/main" val="2350923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BD34254-DB45-E8AC-FE85-AA2974305921}"/>
              </a:ext>
            </a:extLst>
          </p:cNvPr>
          <p:cNvSpPr>
            <a:spLocks noGrp="1"/>
          </p:cNvSpPr>
          <p:nvPr>
            <p:ph type="title"/>
          </p:nvPr>
        </p:nvSpPr>
        <p:spPr/>
        <p:txBody>
          <a:bodyPr/>
          <a:lstStyle/>
          <a:p>
            <a:r>
              <a:rPr lang="uk-UA" dirty="0"/>
              <a:t>Створення Графів</a:t>
            </a:r>
          </a:p>
        </p:txBody>
      </p:sp>
      <p:sp>
        <p:nvSpPr>
          <p:cNvPr id="3" name="Місце для вмісту 2">
            <a:extLst>
              <a:ext uri="{FF2B5EF4-FFF2-40B4-BE49-F238E27FC236}">
                <a16:creationId xmlns:a16="http://schemas.microsoft.com/office/drawing/2014/main" id="{976A330C-7784-6068-0EB1-54328DB462CC}"/>
              </a:ext>
            </a:extLst>
          </p:cNvPr>
          <p:cNvSpPr>
            <a:spLocks noGrp="1"/>
          </p:cNvSpPr>
          <p:nvPr>
            <p:ph idx="1"/>
          </p:nvPr>
        </p:nvSpPr>
        <p:spPr>
          <a:xfrm>
            <a:off x="685800" y="2194560"/>
            <a:ext cx="7651955" cy="4024125"/>
          </a:xfrm>
        </p:spPr>
        <p:txBody>
          <a:bodyPr/>
          <a:lstStyle/>
          <a:p>
            <a:pPr marL="0" indent="0">
              <a:buNone/>
            </a:pPr>
            <a:r>
              <a:rPr lang="en-US" dirty="0">
                <a:solidFill>
                  <a:srgbClr val="AFB9C3"/>
                </a:solidFill>
                <a:effectLst/>
                <a:latin typeface="JetBrains Mono Medium"/>
              </a:rPr>
              <a:t>W3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колесо</a:t>
            </a:r>
            <a:br>
              <a:rPr lang="uk-UA" dirty="0">
                <a:solidFill>
                  <a:srgbClr val="808080"/>
                </a:solidFill>
                <a:effectLst/>
                <a:latin typeface="JetBrains Mono Medium"/>
              </a:rPr>
            </a:b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808080"/>
                </a:solidFill>
                <a:effectLst/>
                <a:latin typeface="JetBrains Mono Medium"/>
              </a:rPr>
              <a:t># </a:t>
            </a:r>
            <a:r>
              <a:rPr lang="uk-UA" dirty="0">
                <a:solidFill>
                  <a:srgbClr val="808080"/>
                </a:solidFill>
                <a:effectLst/>
                <a:latin typeface="JetBrains Mono Medium"/>
              </a:rPr>
              <a:t>додавання </a:t>
            </a:r>
            <a:r>
              <a:rPr lang="uk-UA" dirty="0" err="1">
                <a:solidFill>
                  <a:srgbClr val="808080"/>
                </a:solidFill>
                <a:effectLst/>
                <a:latin typeface="JetBrains Mono Medium"/>
              </a:rPr>
              <a:t>ребер</a:t>
            </a:r>
            <a:r>
              <a:rPr lang="uk-UA" dirty="0">
                <a:solidFill>
                  <a:srgbClr val="808080"/>
                </a:solidFill>
                <a:effectLst/>
                <a:latin typeface="JetBrains Mono Medium"/>
              </a:rPr>
              <a:t> по одному</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add_nodes_from</a:t>
            </a:r>
            <a:r>
              <a:rPr lang="en-US" dirty="0">
                <a:solidFill>
                  <a:srgbClr val="AFB9C3"/>
                </a:solidFill>
                <a:effectLst/>
                <a:latin typeface="JetBrains Mono Medium"/>
              </a:rPr>
              <a:t>(</a:t>
            </a:r>
            <a:r>
              <a:rPr lang="en-US" dirty="0">
                <a:solidFill>
                  <a:srgbClr val="96BE78"/>
                </a:solidFill>
                <a:effectLst/>
                <a:latin typeface="JetBrains Mono Medium"/>
              </a:rPr>
              <a:t>'</a:t>
            </a:r>
            <a:r>
              <a:rPr lang="en-US" dirty="0" err="1">
                <a:solidFill>
                  <a:srgbClr val="96BE78"/>
                </a:solidFill>
                <a:effectLst/>
                <a:latin typeface="JetBrains Mono Medium"/>
              </a:rPr>
              <a:t>abcde</a:t>
            </a:r>
            <a:r>
              <a:rPr lang="en-US" dirty="0">
                <a:solidFill>
                  <a:srgbClr val="96BE78"/>
                </a:solidFill>
                <a:effectLst/>
                <a:latin typeface="JetBrains Mono Medium"/>
              </a:rPr>
              <a:t>'</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add_edge</a:t>
            </a:r>
            <a:r>
              <a:rPr lang="en-US" dirty="0">
                <a:solidFill>
                  <a:srgbClr val="AFB9C3"/>
                </a:solidFill>
                <a:effectLst/>
                <a:latin typeface="JetBrains Mono Medium"/>
              </a:rPr>
              <a:t>(</a:t>
            </a:r>
            <a:r>
              <a:rPr lang="en-US" dirty="0">
                <a:solidFill>
                  <a:srgbClr val="96BE78"/>
                </a:solidFill>
                <a:effectLst/>
                <a:latin typeface="JetBrains Mono Medium"/>
              </a:rPr>
              <a:t>'a'</a:t>
            </a:r>
            <a:r>
              <a:rPr lang="en-US" dirty="0">
                <a:solidFill>
                  <a:srgbClr val="AFB9C3"/>
                </a:solidFill>
                <a:effectLst/>
                <a:latin typeface="JetBrains Mono Medium"/>
              </a:rPr>
              <a:t>, </a:t>
            </a:r>
            <a:r>
              <a:rPr lang="en-US" dirty="0">
                <a:solidFill>
                  <a:srgbClr val="96BE78"/>
                </a:solidFill>
                <a:effectLst/>
                <a:latin typeface="JetBrains Mono Medium"/>
              </a:rPr>
              <a:t>'d'</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808080"/>
                </a:solidFill>
                <a:effectLst/>
                <a:latin typeface="JetBrains Mono Medium"/>
              </a:rPr>
              <a:t># </a:t>
            </a:r>
            <a:r>
              <a:rPr lang="uk-UA" dirty="0">
                <a:solidFill>
                  <a:srgbClr val="808080"/>
                </a:solidFill>
                <a:effectLst/>
                <a:latin typeface="JetBrains Mono Medium"/>
              </a:rPr>
              <a:t>Додавання групи </a:t>
            </a:r>
            <a:r>
              <a:rPr lang="uk-UA" dirty="0" err="1">
                <a:solidFill>
                  <a:srgbClr val="808080"/>
                </a:solidFill>
                <a:effectLst/>
                <a:latin typeface="JetBrains Mono Medium"/>
              </a:rPr>
              <a:t>ребер</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add_edges_from</a:t>
            </a:r>
            <a:r>
              <a:rPr lang="en-US" dirty="0">
                <a:solidFill>
                  <a:srgbClr val="AFB9C3"/>
                </a:solidFill>
                <a:effectLst/>
                <a:latin typeface="JetBrains Mono Medium"/>
              </a:rPr>
              <a:t>([(</a:t>
            </a:r>
            <a:r>
              <a:rPr lang="en-US" dirty="0" err="1">
                <a:solidFill>
                  <a:srgbClr val="AFB9C3"/>
                </a:solidFill>
                <a:effectLst/>
                <a:latin typeface="JetBrains Mono Medium"/>
              </a:rPr>
              <a:t>i</a:t>
            </a:r>
            <a:r>
              <a:rPr lang="en-US" dirty="0">
                <a:solidFill>
                  <a:srgbClr val="AFB9C3"/>
                </a:solidFill>
                <a:effectLst/>
                <a:latin typeface="JetBrains Mono Medium"/>
              </a:rPr>
              <a:t>, j) </a:t>
            </a:r>
            <a:r>
              <a:rPr lang="en-US" dirty="0">
                <a:solidFill>
                  <a:srgbClr val="C88CDC"/>
                </a:solidFill>
                <a:effectLst/>
                <a:latin typeface="JetBrains Mono Medium"/>
              </a:rPr>
              <a:t>for </a:t>
            </a:r>
            <a:r>
              <a:rPr lang="en-US" dirty="0" err="1">
                <a:solidFill>
                  <a:srgbClr val="AFB9C3"/>
                </a:solidFill>
                <a:effectLst/>
                <a:latin typeface="JetBrains Mono Medium"/>
              </a:rPr>
              <a:t>i</a:t>
            </a:r>
            <a:r>
              <a:rPr lang="en-US" dirty="0">
                <a:solidFill>
                  <a:srgbClr val="AFB9C3"/>
                </a:solidFill>
                <a:effectLst/>
                <a:latin typeface="JetBrains Mono Medium"/>
              </a:rPr>
              <a:t> </a:t>
            </a:r>
            <a:r>
              <a:rPr lang="en-US" dirty="0">
                <a:solidFill>
                  <a:srgbClr val="C88CDC"/>
                </a:solidFill>
                <a:effectLst/>
                <a:latin typeface="JetBrains Mono Medium"/>
              </a:rPr>
              <a:t>in </a:t>
            </a:r>
            <a:r>
              <a:rPr lang="en-US" dirty="0">
                <a:solidFill>
                  <a:srgbClr val="96BE78"/>
                </a:solidFill>
                <a:effectLst/>
                <a:latin typeface="JetBrains Mono Medium"/>
              </a:rPr>
              <a:t>'</a:t>
            </a:r>
            <a:r>
              <a:rPr lang="en-US" dirty="0" err="1">
                <a:solidFill>
                  <a:srgbClr val="96BE78"/>
                </a:solidFill>
                <a:effectLst/>
                <a:latin typeface="JetBrains Mono Medium"/>
              </a:rPr>
              <a:t>abc</a:t>
            </a:r>
            <a:r>
              <a:rPr lang="en-US" dirty="0">
                <a:solidFill>
                  <a:srgbClr val="96BE78"/>
                </a:solidFill>
                <a:effectLst/>
                <a:latin typeface="JetBrains Mono Medium"/>
              </a:rPr>
              <a:t>' </a:t>
            </a:r>
            <a:r>
              <a:rPr lang="en-US" dirty="0">
                <a:solidFill>
                  <a:srgbClr val="C88CDC"/>
                </a:solidFill>
                <a:effectLst/>
                <a:latin typeface="JetBrains Mono Medium"/>
              </a:rPr>
              <a:t>for </a:t>
            </a:r>
            <a:r>
              <a:rPr lang="en-US" dirty="0">
                <a:solidFill>
                  <a:srgbClr val="AFB9C3"/>
                </a:solidFill>
                <a:effectLst/>
                <a:latin typeface="JetBrains Mono Medium"/>
              </a:rPr>
              <a:t>j </a:t>
            </a:r>
            <a:r>
              <a:rPr lang="en-US" dirty="0">
                <a:solidFill>
                  <a:srgbClr val="C88CDC"/>
                </a:solidFill>
                <a:effectLst/>
                <a:latin typeface="JetBrains Mono Medium"/>
              </a:rPr>
              <a:t>in </a:t>
            </a:r>
            <a:r>
              <a:rPr lang="en-US" dirty="0">
                <a:solidFill>
                  <a:srgbClr val="96BE78"/>
                </a:solidFill>
                <a:effectLst/>
                <a:latin typeface="JetBrains Mono Medium"/>
              </a:rPr>
              <a:t>'de'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add_edges_from</a:t>
            </a:r>
            <a:r>
              <a:rPr lang="en-US" dirty="0">
                <a:solidFill>
                  <a:srgbClr val="AFB9C3"/>
                </a:solidFill>
                <a:effectLst/>
                <a:latin typeface="JetBrains Mono Medium"/>
              </a:rPr>
              <a:t>(W3.edges)</a:t>
            </a:r>
          </a:p>
          <a:p>
            <a:pPr marL="0" indent="0">
              <a:buNone/>
            </a:pPr>
            <a:endParaRPr lang="uk-UA" dirty="0"/>
          </a:p>
        </p:txBody>
      </p:sp>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A6C44528-B109-BAAE-6A17-1BAA4DFF6D10}"/>
              </a:ext>
            </a:extLst>
          </p:cNvPr>
          <p:cNvPicPr>
            <a:picLocks noChangeAspect="1"/>
          </p:cNvPicPr>
          <p:nvPr/>
        </p:nvPicPr>
        <p:blipFill>
          <a:blip r:embed="rId2">
            <a:extLst>
              <a:ext uri="{28A0092B-C50C-407E-A947-70E740481C1C}">
                <a14:useLocalDpi xmlns:a14="http://schemas.microsoft.com/office/drawing/2010/main" val="0"/>
              </a:ext>
            </a:extLst>
          </a:blip>
          <a:srcRect l="4023" t="3400" r="3529" b="3209"/>
          <a:stretch/>
        </p:blipFill>
        <p:spPr>
          <a:xfrm>
            <a:off x="6442841" y="2532993"/>
            <a:ext cx="5410200" cy="4099034"/>
          </a:xfrm>
          <a:prstGeom prst="rect">
            <a:avLst/>
          </a:prstGeom>
        </p:spPr>
      </p:pic>
    </p:spTree>
    <p:extLst>
      <p:ext uri="{BB962C8B-B14F-4D97-AF65-F5344CB8AC3E}">
        <p14:creationId xmlns:p14="http://schemas.microsoft.com/office/powerpoint/2010/main" val="3315672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7EA6AC-85E4-CD17-6C31-A43EEA2EF1D5}"/>
              </a:ext>
            </a:extLst>
          </p:cNvPr>
          <p:cNvSpPr>
            <a:spLocks noGrp="1"/>
          </p:cNvSpPr>
          <p:nvPr>
            <p:ph type="title"/>
          </p:nvPr>
        </p:nvSpPr>
        <p:spPr/>
        <p:txBody>
          <a:bodyPr/>
          <a:lstStyle/>
          <a:p>
            <a:r>
              <a:rPr lang="uk-UA" dirty="0"/>
              <a:t>Створення графів</a:t>
            </a:r>
          </a:p>
        </p:txBody>
      </p:sp>
      <p:sp>
        <p:nvSpPr>
          <p:cNvPr id="3" name="Місце для вмісту 2">
            <a:extLst>
              <a:ext uri="{FF2B5EF4-FFF2-40B4-BE49-F238E27FC236}">
                <a16:creationId xmlns:a16="http://schemas.microsoft.com/office/drawing/2014/main" id="{FEF4AA79-EB85-B5D6-879B-74735AFAA235}"/>
              </a:ext>
            </a:extLst>
          </p:cNvPr>
          <p:cNvSpPr>
            <a:spLocks noGrp="1"/>
          </p:cNvSpPr>
          <p:nvPr>
            <p:ph idx="1"/>
          </p:nvPr>
        </p:nvSpPr>
        <p:spPr/>
        <p:txBody>
          <a:bodyPr>
            <a:normAutofit fontScale="85000" lnSpcReduction="20000"/>
          </a:bodyPr>
          <a:lstStyle/>
          <a:p>
            <a:pPr marL="0" indent="0">
              <a:buNone/>
            </a:pPr>
            <a:r>
              <a:rPr lang="en-US" dirty="0">
                <a:solidFill>
                  <a:srgbClr val="AFB9C3"/>
                </a:solidFill>
                <a:effectLst/>
                <a:latin typeface="JetBrains Mono Medium"/>
              </a:rPr>
              <a:t>W3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a:t>
            </a:r>
            <a:r>
              <a:rPr lang="uk-UA" dirty="0">
                <a:solidFill>
                  <a:srgbClr val="96BE78"/>
                </a:solidFill>
                <a:effectLst/>
                <a:latin typeface="JetBrains Mono Medium"/>
              </a:rPr>
              <a:t>с'</a:t>
            </a:r>
            <a:r>
              <a:rPr lang="uk-UA" dirty="0">
                <a:solidFill>
                  <a:srgbClr val="AFB9C3"/>
                </a:solidFill>
                <a:effectLst/>
                <a:latin typeface="JetBrains Mono Medium"/>
              </a:rPr>
              <a:t>], [</a:t>
            </a:r>
            <a:r>
              <a:rPr lang="uk-UA" dirty="0">
                <a:solidFill>
                  <a:srgbClr val="96BE78"/>
                </a:solidFill>
                <a:effectLst/>
                <a:latin typeface="JetBrains Mono Medium"/>
              </a:rPr>
              <a:t>2</a:t>
            </a:r>
            <a:r>
              <a:rPr lang="uk-UA" dirty="0">
                <a:solidFill>
                  <a:srgbClr val="AFB9C3"/>
                </a:solidFill>
                <a:effectLst/>
                <a:latin typeface="JetBrains Mono Medium"/>
              </a:rPr>
              <a:t>, </a:t>
            </a:r>
            <a:r>
              <a:rPr lang="uk-UA" dirty="0">
                <a:solidFill>
                  <a:srgbClr val="96BE78"/>
                </a:solidFill>
                <a:effectLst/>
                <a:latin typeface="JetBrains Mono Medium"/>
              </a:rPr>
              <a:t>'с'</a:t>
            </a:r>
            <a:r>
              <a:rPr lang="uk-UA" dirty="0">
                <a:solidFill>
                  <a:srgbClr val="AFB9C3"/>
                </a:solidFill>
                <a:effectLst/>
                <a:latin typeface="JetBrains Mono Medium"/>
              </a:rPr>
              <a:t>], [</a:t>
            </a:r>
            <a:r>
              <a:rPr lang="uk-UA" dirty="0">
                <a:solidFill>
                  <a:srgbClr val="96BE78"/>
                </a:solidFill>
                <a:effectLst/>
                <a:latin typeface="JetBrains Mono Medium"/>
              </a:rPr>
              <a:t>3</a:t>
            </a:r>
            <a:r>
              <a:rPr lang="uk-UA" dirty="0">
                <a:solidFill>
                  <a:srgbClr val="AFB9C3"/>
                </a:solidFill>
                <a:effectLst/>
                <a:latin typeface="JetBrains Mono Medium"/>
              </a:rPr>
              <a:t>, </a:t>
            </a:r>
            <a:r>
              <a:rPr lang="uk-UA" dirty="0">
                <a:solidFill>
                  <a:srgbClr val="96BE78"/>
                </a:solidFill>
                <a:effectLst/>
                <a:latin typeface="JetBrains Mono Medium"/>
              </a:rPr>
              <a:t>'с'</a:t>
            </a:r>
            <a:r>
              <a:rPr lang="uk-UA" dirty="0">
                <a:solidFill>
                  <a:srgbClr val="AFB9C3"/>
                </a:solidFill>
                <a:effectLst/>
                <a:latin typeface="JetBrains Mono Medium"/>
              </a:rPr>
              <a:t>]))  </a:t>
            </a:r>
            <a:r>
              <a:rPr lang="uk-UA" dirty="0">
                <a:solidFill>
                  <a:srgbClr val="808080"/>
                </a:solidFill>
                <a:effectLst/>
                <a:latin typeface="JetBrains Mono Medium"/>
              </a:rPr>
              <a:t># колесо</a:t>
            </a:r>
            <a:br>
              <a:rPr lang="uk-UA" dirty="0">
                <a:solidFill>
                  <a:srgbClr val="808080"/>
                </a:solidFill>
                <a:effectLst/>
                <a:latin typeface="JetBrains Mono Medium"/>
              </a:rPr>
            </a:b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a:solidFill>
                  <a:srgbClr val="AFB9C3"/>
                </a:solidFill>
                <a:effectLst/>
                <a:latin typeface="JetBrains Mono Medium"/>
              </a:rPr>
              <a:t>W3.</a:t>
            </a:r>
            <a:r>
              <a:rPr lang="en-US" dirty="0">
                <a:solidFill>
                  <a:srgbClr val="FFC86E"/>
                </a:solidFill>
                <a:effectLst/>
                <a:latin typeface="JetBrains Mono Medium"/>
              </a:rPr>
              <a:t>remove_edge</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видалення ребра 2-3</a:t>
            </a:r>
            <a:br>
              <a:rPr lang="uk-UA" dirty="0">
                <a:solidFill>
                  <a:srgbClr val="808080"/>
                </a:solidFill>
                <a:effectLst/>
                <a:latin typeface="JetBrains Mono Medium"/>
              </a:rPr>
            </a:br>
            <a:r>
              <a:rPr lang="en-US" dirty="0">
                <a:solidFill>
                  <a:srgbClr val="AFB9C3"/>
                </a:solidFill>
                <a:effectLst/>
                <a:latin typeface="JetBrains Mono Medium"/>
              </a:rPr>
              <a:t>W3.</a:t>
            </a:r>
            <a:r>
              <a:rPr lang="en-US" dirty="0">
                <a:solidFill>
                  <a:srgbClr val="FFC86E"/>
                </a:solidFill>
                <a:effectLst/>
                <a:latin typeface="JetBrains Mono Medium"/>
              </a:rPr>
              <a:t>add_edges_from</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96BE78"/>
                </a:solidFill>
                <a:effectLst/>
                <a:latin typeface="JetBrains Mono Medium"/>
              </a:rPr>
              <a:t>0</a:t>
            </a:r>
            <a:r>
              <a:rPr lang="en-US" dirty="0">
                <a:solidFill>
                  <a:srgbClr val="AFB9C3"/>
                </a:solidFill>
                <a:effectLst/>
                <a:latin typeface="JetBrains Mono Medium"/>
              </a:rPr>
              <a:t>)])</a:t>
            </a:r>
            <a:br>
              <a:rPr lang="en-US" dirty="0">
                <a:solidFill>
                  <a:srgbClr val="AFB9C3"/>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(W3.adj)</a:t>
            </a:r>
            <a:br>
              <a:rPr lang="en-US" dirty="0">
                <a:solidFill>
                  <a:srgbClr val="AFB9C3"/>
                </a:solidFill>
                <a:effectLst/>
                <a:latin typeface="JetBrains Mono Medium"/>
              </a:rPr>
            </a:br>
            <a:r>
              <a:rPr lang="en-US" dirty="0">
                <a:solidFill>
                  <a:srgbClr val="808080"/>
                </a:solidFill>
                <a:effectLst/>
                <a:latin typeface="JetBrains Mono Medium"/>
              </a:rPr>
              <a:t># {1: {2: {}, 3: {}, '</a:t>
            </a:r>
            <a:r>
              <a:rPr lang="uk-UA" dirty="0">
                <a:solidFill>
                  <a:srgbClr val="808080"/>
                </a:solidFill>
                <a:effectLst/>
                <a:latin typeface="JetBrains Mono Medium"/>
              </a:rPr>
              <a:t>с': {}, 0: {}}, 2: {1: {}, 'с': {}}, 3: {1: {}, 'с': {}}, 'с': {1: {}, 2: {}, 3: {}}, 0: {1: {}, 0: {}}}</a:t>
            </a:r>
            <a:br>
              <a:rPr lang="uk-UA" dirty="0">
                <a:solidFill>
                  <a:srgbClr val="808080"/>
                </a:solidFill>
                <a:effectLst/>
                <a:latin typeface="JetBrains Mono Medium"/>
              </a:rPr>
            </a:br>
            <a:br>
              <a:rPr lang="uk-UA" dirty="0">
                <a:solidFill>
                  <a:srgbClr val="808080"/>
                </a:solidFill>
                <a:effectLst/>
                <a:latin typeface="JetBrains Mono Medium"/>
              </a:rPr>
            </a:br>
            <a:br>
              <a:rPr lang="uk-UA" dirty="0">
                <a:solidFill>
                  <a:srgbClr val="808080"/>
                </a:solidFill>
                <a:effectLst/>
                <a:latin typeface="JetBrains Mono Medium"/>
              </a:rPr>
            </a:br>
            <a:r>
              <a:rPr lang="uk-UA" dirty="0">
                <a:solidFill>
                  <a:srgbClr val="808080"/>
                </a:solidFill>
                <a:effectLst/>
                <a:latin typeface="JetBrains Mono Medium"/>
              </a:rPr>
              <a:t># створення через список суміжності</a:t>
            </a:r>
            <a:br>
              <a:rPr lang="uk-UA" dirty="0">
                <a:solidFill>
                  <a:srgbClr val="808080"/>
                </a:solidFill>
                <a:effectLst/>
                <a:latin typeface="JetBrains Mono Medium"/>
              </a:rPr>
            </a:br>
            <a:r>
              <a:rPr lang="en-US" dirty="0" err="1">
                <a:solidFill>
                  <a:srgbClr val="AFB9C3"/>
                </a:solidFill>
                <a:effectLst/>
                <a:latin typeface="JetBrains Mono Medium"/>
              </a:rPr>
              <a:t>adj_list</a:t>
            </a:r>
            <a:r>
              <a:rPr lang="en-US" dirty="0">
                <a:solidFill>
                  <a:srgbClr val="AFB9C3"/>
                </a:solidFill>
                <a:effectLst/>
                <a:latin typeface="JetBrains Mono Medium"/>
              </a:rPr>
              <a:t> = {</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0</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br>
              <a:rPr lang="en-US" dirty="0">
                <a:solidFill>
                  <a:srgbClr val="AFB9C3"/>
                </a:solidFill>
                <a:effectLst/>
                <a:latin typeface="JetBrains Mono Medium"/>
              </a:rPr>
            </a:br>
            <a:r>
              <a:rPr lang="en-US" dirty="0">
                <a:solidFill>
                  <a:srgbClr val="AFB9C3"/>
                </a:solidFill>
                <a:effectLst/>
                <a:latin typeface="JetBrains Mono Medium"/>
              </a:rPr>
              <a:t>G1 = </a:t>
            </a:r>
            <a:r>
              <a:rPr lang="en-US" dirty="0" err="1">
                <a:solidFill>
                  <a:srgbClr val="AFB9C3"/>
                </a:solidFill>
                <a:effectLst/>
                <a:latin typeface="JetBrains Mono Medium"/>
              </a:rPr>
              <a:t>nx.</a:t>
            </a:r>
            <a:r>
              <a:rPr lang="en-US" dirty="0" err="1">
                <a:solidFill>
                  <a:srgbClr val="FFC86E"/>
                </a:solidFill>
                <a:effectLst/>
                <a:latin typeface="JetBrains Mono Medium"/>
              </a:rPr>
              <a:t>from_dict_of_lists</a:t>
            </a:r>
            <a:r>
              <a:rPr lang="en-US" dirty="0">
                <a:solidFill>
                  <a:srgbClr val="AFB9C3"/>
                </a:solidFill>
                <a:effectLst/>
                <a:latin typeface="JetBrains Mono Medium"/>
              </a:rPr>
              <a:t>(</a:t>
            </a:r>
            <a:r>
              <a:rPr lang="en-US" dirty="0" err="1">
                <a:solidFill>
                  <a:srgbClr val="AFB9C3"/>
                </a:solidFill>
                <a:effectLst/>
                <a:latin typeface="JetBrains Mono Medium"/>
              </a:rPr>
              <a:t>adj_list</a:t>
            </a:r>
            <a:r>
              <a:rPr lang="en-US" dirty="0">
                <a:solidFill>
                  <a:srgbClr val="AFB9C3"/>
                </a:solidFill>
                <a:effectLst/>
                <a:latin typeface="JetBrains Mono Medium"/>
              </a:rPr>
              <a:t>)</a:t>
            </a:r>
            <a:br>
              <a:rPr lang="en-US" dirty="0">
                <a:solidFill>
                  <a:srgbClr val="AFB9C3"/>
                </a:solidFill>
                <a:effectLst/>
                <a:latin typeface="JetBrains Mono Medium"/>
              </a:rPr>
            </a:br>
            <a:r>
              <a:rPr lang="en-US" dirty="0">
                <a:solidFill>
                  <a:srgbClr val="AFB9C3"/>
                </a:solidFill>
                <a:effectLst/>
                <a:latin typeface="JetBrains Mono Medium"/>
              </a:rPr>
              <a:t>G2 = </a:t>
            </a:r>
            <a:r>
              <a:rPr lang="en-US" dirty="0" err="1">
                <a:solidFill>
                  <a:srgbClr val="AFB9C3"/>
                </a:solidFill>
                <a:effectLst/>
                <a:latin typeface="JetBrains Mono Medium"/>
              </a:rPr>
              <a:t>nx.</a:t>
            </a:r>
            <a:r>
              <a:rPr lang="en-US" dirty="0" err="1">
                <a:solidFill>
                  <a:srgbClr val="FFC86E"/>
                </a:solidFill>
                <a:effectLst/>
                <a:latin typeface="JetBrains Mono Medium"/>
              </a:rPr>
              <a:t>from_dict_of_dicts</a:t>
            </a:r>
            <a:r>
              <a:rPr lang="en-US" dirty="0">
                <a:solidFill>
                  <a:srgbClr val="AFB9C3"/>
                </a:solidFill>
                <a:effectLst/>
                <a:latin typeface="JetBrains Mono Medium"/>
              </a:rPr>
              <a:t>(W3.adj)</a:t>
            </a:r>
            <a:br>
              <a:rPr lang="en-US" dirty="0">
                <a:solidFill>
                  <a:srgbClr val="AFB9C3"/>
                </a:solidFill>
                <a:effectLst/>
                <a:latin typeface="JetBrains Mono Medium"/>
              </a:rPr>
            </a:br>
            <a:br>
              <a:rPr lang="en-US" dirty="0">
                <a:solidFill>
                  <a:srgbClr val="AFB9C3"/>
                </a:solidFill>
                <a:effectLst/>
                <a:latin typeface="JetBrains Mono Medium"/>
              </a:rPr>
            </a:br>
            <a:r>
              <a:rPr lang="en-US" dirty="0" err="1">
                <a:solidFill>
                  <a:srgbClr val="AFB9C3"/>
                </a:solidFill>
                <a:effectLst/>
                <a:latin typeface="JetBrains Mono Medium"/>
              </a:rPr>
              <a:t>nx.</a:t>
            </a:r>
            <a:r>
              <a:rPr lang="en-US" dirty="0" err="1">
                <a:solidFill>
                  <a:srgbClr val="FFC86E"/>
                </a:solidFill>
                <a:effectLst/>
                <a:latin typeface="JetBrains Mono Medium"/>
              </a:rPr>
              <a:t>draw_circular</a:t>
            </a:r>
            <a:r>
              <a:rPr lang="en-US" dirty="0">
                <a:solidFill>
                  <a:srgbClr val="AFB9C3"/>
                </a:solidFill>
                <a:effectLst/>
                <a:latin typeface="JetBrains Mono Medium"/>
              </a:rPr>
              <a:t>(G1, </a:t>
            </a:r>
            <a:r>
              <a:rPr lang="en-US" dirty="0" err="1">
                <a:solidFill>
                  <a:srgbClr val="FF9696"/>
                </a:solidFill>
                <a:effectLst/>
                <a:latin typeface="JetBrains Mono Medium"/>
              </a:rPr>
              <a:t>with_labels</a:t>
            </a:r>
            <a:r>
              <a:rPr lang="en-US" dirty="0">
                <a:solidFill>
                  <a:srgbClr val="AFB9C3"/>
                </a:solidFill>
                <a:effectLst/>
                <a:latin typeface="JetBrains Mono Medium"/>
              </a:rPr>
              <a:t>=</a:t>
            </a:r>
            <a:r>
              <a:rPr lang="en-US" dirty="0">
                <a:solidFill>
                  <a:srgbClr val="C88CDC"/>
                </a:solidFill>
                <a:effectLst/>
                <a:latin typeface="JetBrains Mono Medium"/>
              </a:rPr>
              <a:t>True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plt.</a:t>
            </a:r>
            <a:r>
              <a:rPr lang="en-US" dirty="0" err="1">
                <a:solidFill>
                  <a:srgbClr val="FFC86E"/>
                </a:solidFill>
                <a:effectLst/>
                <a:latin typeface="JetBrains Mono Medium"/>
              </a:rPr>
              <a:t>show</a:t>
            </a:r>
            <a:r>
              <a:rPr lang="en-US" dirty="0">
                <a:solidFill>
                  <a:srgbClr val="AFB9C3"/>
                </a:solidFill>
                <a:effectLst/>
                <a:latin typeface="JetBrains Mono Medium"/>
              </a:rPr>
              <a:t>()</a:t>
            </a:r>
            <a:br>
              <a:rPr lang="en-US" dirty="0">
                <a:solidFill>
                  <a:srgbClr val="AFB9C3"/>
                </a:solidFill>
                <a:effectLst/>
                <a:latin typeface="JetBrains Mono Medium"/>
              </a:rPr>
            </a:br>
            <a:br>
              <a:rPr lang="en-US" dirty="0">
                <a:solidFill>
                  <a:srgbClr val="AFB9C3"/>
                </a:solidFill>
                <a:effectLst/>
                <a:latin typeface="JetBrains Mono Medium"/>
              </a:rPr>
            </a:br>
            <a:r>
              <a:rPr lang="en-US" dirty="0" err="1">
                <a:solidFill>
                  <a:srgbClr val="AFB9C3"/>
                </a:solidFill>
                <a:effectLst/>
                <a:latin typeface="JetBrains Mono Medium"/>
              </a:rPr>
              <a:t>nx.</a:t>
            </a:r>
            <a:r>
              <a:rPr lang="en-US" dirty="0" err="1">
                <a:solidFill>
                  <a:srgbClr val="FFC86E"/>
                </a:solidFill>
                <a:effectLst/>
                <a:latin typeface="JetBrains Mono Medium"/>
              </a:rPr>
              <a:t>draw_planar</a:t>
            </a:r>
            <a:r>
              <a:rPr lang="en-US" dirty="0">
                <a:solidFill>
                  <a:srgbClr val="AFB9C3"/>
                </a:solidFill>
                <a:effectLst/>
                <a:latin typeface="JetBrains Mono Medium"/>
              </a:rPr>
              <a:t>(G2, </a:t>
            </a:r>
            <a:r>
              <a:rPr lang="en-US" dirty="0" err="1">
                <a:solidFill>
                  <a:srgbClr val="FF9696"/>
                </a:solidFill>
                <a:effectLst/>
                <a:latin typeface="JetBrains Mono Medium"/>
              </a:rPr>
              <a:t>with_labels</a:t>
            </a:r>
            <a:r>
              <a:rPr lang="en-US" dirty="0">
                <a:solidFill>
                  <a:srgbClr val="AFB9C3"/>
                </a:solidFill>
                <a:effectLst/>
                <a:latin typeface="JetBrains Mono Medium"/>
              </a:rPr>
              <a:t>=</a:t>
            </a:r>
            <a:r>
              <a:rPr lang="en-US" dirty="0">
                <a:solidFill>
                  <a:srgbClr val="C88CDC"/>
                </a:solidFill>
                <a:effectLst/>
                <a:latin typeface="JetBrains Mono Medium"/>
              </a:rPr>
              <a:t>True</a:t>
            </a:r>
            <a:r>
              <a:rPr lang="en-US" dirty="0">
                <a:solidFill>
                  <a:srgbClr val="AFB9C3"/>
                </a:solidFill>
                <a:effectLst/>
                <a:latin typeface="JetBrains Mono Medium"/>
              </a:rPr>
              <a:t>)</a:t>
            </a:r>
            <a:br>
              <a:rPr lang="en-US" dirty="0">
                <a:solidFill>
                  <a:srgbClr val="AFB9C3"/>
                </a:solidFill>
                <a:effectLst/>
                <a:latin typeface="JetBrains Mono Medium"/>
              </a:rPr>
            </a:br>
            <a:r>
              <a:rPr lang="en-US" dirty="0" err="1">
                <a:solidFill>
                  <a:srgbClr val="AFB9C3"/>
                </a:solidFill>
                <a:effectLst/>
                <a:latin typeface="JetBrains Mono Medium"/>
              </a:rPr>
              <a:t>plt.</a:t>
            </a:r>
            <a:r>
              <a:rPr lang="en-US" dirty="0" err="1">
                <a:solidFill>
                  <a:srgbClr val="FFC86E"/>
                </a:solidFill>
                <a:effectLst/>
                <a:latin typeface="JetBrains Mono Medium"/>
              </a:rPr>
              <a:t>show</a:t>
            </a:r>
            <a:r>
              <a:rPr lang="en-US" dirty="0">
                <a:solidFill>
                  <a:srgbClr val="AFB9C3"/>
                </a:solidFill>
                <a:effectLst/>
                <a:latin typeface="JetBrains Mono Medium"/>
              </a:rPr>
              <a:t>()</a:t>
            </a:r>
          </a:p>
          <a:p>
            <a:pPr marL="0" indent="0">
              <a:buNone/>
            </a:pPr>
            <a:endParaRPr lang="uk-UA" dirty="0"/>
          </a:p>
        </p:txBody>
      </p:sp>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A027B845-B86D-F1DC-7D50-593AEA129F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4152" y="3747969"/>
            <a:ext cx="3294288" cy="2470716"/>
          </a:xfrm>
          <a:prstGeom prst="rect">
            <a:avLst/>
          </a:prstGeom>
        </p:spPr>
      </p:pic>
      <p:pic>
        <p:nvPicPr>
          <p:cNvPr id="7" name="Рисунок 6" descr="Зображення, що містить ряд&#10;&#10;Вміст, створений ШІ, може бути неправильним.">
            <a:extLst>
              <a:ext uri="{FF2B5EF4-FFF2-40B4-BE49-F238E27FC236}">
                <a16:creationId xmlns:a16="http://schemas.microsoft.com/office/drawing/2014/main" id="{810535B5-75D4-5969-924D-202AA1E9BB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1544" y="3747969"/>
            <a:ext cx="3294288" cy="2470716"/>
          </a:xfrm>
          <a:prstGeom prst="rect">
            <a:avLst/>
          </a:prstGeom>
        </p:spPr>
      </p:pic>
    </p:spTree>
    <p:extLst>
      <p:ext uri="{BB962C8B-B14F-4D97-AF65-F5344CB8AC3E}">
        <p14:creationId xmlns:p14="http://schemas.microsoft.com/office/powerpoint/2010/main" val="10513420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0FE7B13-1513-145C-0CCF-4B14731D6704}"/>
              </a:ext>
            </a:extLst>
          </p:cNvPr>
          <p:cNvSpPr>
            <a:spLocks noGrp="1"/>
          </p:cNvSpPr>
          <p:nvPr>
            <p:ph type="title"/>
          </p:nvPr>
        </p:nvSpPr>
        <p:spPr/>
        <p:txBody>
          <a:bodyPr/>
          <a:lstStyle/>
          <a:p>
            <a:r>
              <a:rPr lang="uk-UA" dirty="0"/>
              <a:t>Атрибути графів</a:t>
            </a:r>
          </a:p>
        </p:txBody>
      </p:sp>
      <p:sp>
        <p:nvSpPr>
          <p:cNvPr id="3" name="Місце для вмісту 2">
            <a:extLst>
              <a:ext uri="{FF2B5EF4-FFF2-40B4-BE49-F238E27FC236}">
                <a16:creationId xmlns:a16="http://schemas.microsoft.com/office/drawing/2014/main" id="{13CD0D8B-D78D-4C5D-DA18-D5EC38A36E00}"/>
              </a:ext>
            </a:extLst>
          </p:cNvPr>
          <p:cNvSpPr>
            <a:spLocks noGrp="1"/>
          </p:cNvSpPr>
          <p:nvPr>
            <p:ph idx="1"/>
          </p:nvPr>
        </p:nvSpPr>
        <p:spPr>
          <a:xfrm>
            <a:off x="685800" y="2194560"/>
            <a:ext cx="7144407" cy="4024125"/>
          </a:xfrm>
        </p:spPr>
        <p:txBody>
          <a:bodyPr/>
          <a:lstStyle/>
          <a:p>
            <a:pPr marL="0" indent="0">
              <a:buNone/>
            </a:pPr>
            <a:r>
              <a:rPr lang="en-US" dirty="0">
                <a:solidFill>
                  <a:srgbClr val="AFB9C3"/>
                </a:solidFill>
                <a:effectLst/>
                <a:latin typeface="JetBrains Mono Medium"/>
              </a:rPr>
              <a:t>G = </a:t>
            </a:r>
            <a:r>
              <a:rPr lang="en-US" dirty="0" err="1">
                <a:solidFill>
                  <a:srgbClr val="AFB9C3"/>
                </a:solidFill>
                <a:effectLst/>
                <a:latin typeface="JetBrains Mono Medium"/>
              </a:rPr>
              <a:t>nx.</a:t>
            </a:r>
            <a:r>
              <a:rPr lang="en-US" dirty="0" err="1">
                <a:solidFill>
                  <a:srgbClr val="FFC86E"/>
                </a:solidFill>
                <a:effectLst/>
                <a:latin typeface="JetBrains Mono Medium"/>
              </a:rPr>
              <a:t>Graph</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3</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a:t>
            </a:r>
            <a:r>
              <a:rPr lang="uk-UA" dirty="0">
                <a:solidFill>
                  <a:srgbClr val="96BE78"/>
                </a:solidFill>
                <a:effectLst/>
                <a:latin typeface="JetBrains Mono Medium"/>
              </a:rPr>
              <a:t>с'</a:t>
            </a:r>
            <a:r>
              <a:rPr lang="uk-UA" dirty="0">
                <a:solidFill>
                  <a:srgbClr val="AFB9C3"/>
                </a:solidFill>
                <a:effectLst/>
                <a:latin typeface="JetBrains Mono Medium"/>
              </a:rPr>
              <a:t>], [</a:t>
            </a:r>
            <a:r>
              <a:rPr lang="uk-UA" dirty="0">
                <a:solidFill>
                  <a:srgbClr val="96BE78"/>
                </a:solidFill>
                <a:effectLst/>
                <a:latin typeface="JetBrains Mono Medium"/>
              </a:rPr>
              <a:t>2</a:t>
            </a:r>
            <a:r>
              <a:rPr lang="uk-UA" dirty="0">
                <a:solidFill>
                  <a:srgbClr val="AFB9C3"/>
                </a:solidFill>
                <a:effectLst/>
                <a:latin typeface="JetBrains Mono Medium"/>
              </a:rPr>
              <a:t>, </a:t>
            </a:r>
            <a:r>
              <a:rPr lang="uk-UA" dirty="0">
                <a:solidFill>
                  <a:srgbClr val="96BE78"/>
                </a:solidFill>
                <a:effectLst/>
                <a:latin typeface="JetBrains Mono Medium"/>
              </a:rPr>
              <a:t>'с'</a:t>
            </a:r>
            <a:r>
              <a:rPr lang="uk-UA" dirty="0">
                <a:solidFill>
                  <a:srgbClr val="AFB9C3"/>
                </a:solidFill>
                <a:effectLst/>
                <a:latin typeface="JetBrains Mono Medium"/>
              </a:rPr>
              <a:t>], [</a:t>
            </a:r>
            <a:r>
              <a:rPr lang="uk-UA" dirty="0">
                <a:solidFill>
                  <a:srgbClr val="96BE78"/>
                </a:solidFill>
                <a:effectLst/>
                <a:latin typeface="JetBrains Mono Medium"/>
              </a:rPr>
              <a:t>3</a:t>
            </a:r>
            <a:r>
              <a:rPr lang="uk-UA" dirty="0">
                <a:solidFill>
                  <a:srgbClr val="AFB9C3"/>
                </a:solidFill>
                <a:effectLst/>
                <a:latin typeface="JetBrains Mono Medium"/>
              </a:rPr>
              <a:t>, </a:t>
            </a:r>
            <a:r>
              <a:rPr lang="uk-UA" dirty="0">
                <a:solidFill>
                  <a:srgbClr val="96BE78"/>
                </a:solidFill>
                <a:effectLst/>
                <a:latin typeface="JetBrains Mono Medium"/>
              </a:rPr>
              <a:t>'с'</a:t>
            </a:r>
            <a:r>
              <a:rPr lang="uk-UA" dirty="0">
                <a:solidFill>
                  <a:srgbClr val="AFB9C3"/>
                </a:solidFill>
                <a:effectLst/>
                <a:latin typeface="JetBrains Mono Medium"/>
              </a:rPr>
              <a:t>]))</a:t>
            </a:r>
            <a:br>
              <a:rPr lang="uk-UA" dirty="0">
                <a:solidFill>
                  <a:srgbClr val="AFB9C3"/>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G.edges</a:t>
            </a:r>
            <a:r>
              <a:rPr lang="en-US" dirty="0">
                <a:solidFill>
                  <a:srgbClr val="AFB9C3"/>
                </a:solidFill>
                <a:effectLst/>
                <a:latin typeface="JetBrains Mono Medium"/>
              </a:rPr>
              <a:t>)  </a:t>
            </a:r>
            <a:r>
              <a:rPr lang="en-US" dirty="0">
                <a:solidFill>
                  <a:srgbClr val="808080"/>
                </a:solidFill>
                <a:effectLst/>
                <a:latin typeface="JetBrains Mono Medium"/>
              </a:rPr>
              <a:t># [(1, 2), (1, 3), (1, '</a:t>
            </a:r>
            <a:r>
              <a:rPr lang="uk-UA" dirty="0">
                <a:solidFill>
                  <a:srgbClr val="808080"/>
                </a:solidFill>
                <a:effectLst/>
                <a:latin typeface="JetBrains Mono Medium"/>
              </a:rPr>
              <a:t>с'), (2, 'с'), (3, 'с')]</a:t>
            </a:r>
            <a:br>
              <a:rPr lang="uk-UA" dirty="0">
                <a:solidFill>
                  <a:srgbClr val="808080"/>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G.nodes</a:t>
            </a:r>
            <a:r>
              <a:rPr lang="en-US" dirty="0">
                <a:solidFill>
                  <a:srgbClr val="AFB9C3"/>
                </a:solidFill>
                <a:effectLst/>
                <a:latin typeface="JetBrains Mono Medium"/>
              </a:rPr>
              <a:t>)  </a:t>
            </a:r>
            <a:r>
              <a:rPr lang="en-US" dirty="0">
                <a:solidFill>
                  <a:srgbClr val="808080"/>
                </a:solidFill>
                <a:effectLst/>
                <a:latin typeface="JetBrains Mono Medium"/>
              </a:rPr>
              <a:t># [1, 2, 3, '</a:t>
            </a:r>
            <a:r>
              <a:rPr lang="uk-UA" dirty="0">
                <a:solidFill>
                  <a:srgbClr val="808080"/>
                </a:solidFill>
                <a:effectLst/>
                <a:latin typeface="JetBrains Mono Medium"/>
              </a:rPr>
              <a:t>с']</a:t>
            </a:r>
            <a:br>
              <a:rPr lang="uk-UA" dirty="0">
                <a:solidFill>
                  <a:srgbClr val="808080"/>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a:t>
            </a:r>
            <a:r>
              <a:rPr lang="en-US" dirty="0" err="1">
                <a:solidFill>
                  <a:srgbClr val="FFC86E"/>
                </a:solidFill>
                <a:effectLst/>
                <a:latin typeface="JetBrains Mono Medium"/>
              </a:rPr>
              <a:t>number_of_edges</a:t>
            </a:r>
            <a:r>
              <a:rPr lang="en-US" dirty="0">
                <a:solidFill>
                  <a:srgbClr val="AFB9C3"/>
                </a:solidFill>
                <a:effectLst/>
                <a:latin typeface="JetBrains Mono Medium"/>
              </a:rPr>
              <a:t>())  </a:t>
            </a:r>
            <a:r>
              <a:rPr lang="en-US" dirty="0">
                <a:solidFill>
                  <a:srgbClr val="808080"/>
                </a:solidFill>
                <a:effectLst/>
                <a:latin typeface="JetBrains Mono Medium"/>
              </a:rPr>
              <a:t># 5</a:t>
            </a:r>
            <a:br>
              <a:rPr lang="en-US" dirty="0">
                <a:solidFill>
                  <a:srgbClr val="808080"/>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a:t>
            </a:r>
            <a:r>
              <a:rPr lang="en-US" dirty="0" err="1">
                <a:solidFill>
                  <a:srgbClr val="FFC86E"/>
                </a:solidFill>
                <a:effectLst/>
                <a:latin typeface="JetBrains Mono Medium"/>
              </a:rPr>
              <a:t>number_of_nodes</a:t>
            </a:r>
            <a:r>
              <a:rPr lang="en-US" dirty="0">
                <a:solidFill>
                  <a:srgbClr val="AFB9C3"/>
                </a:solidFill>
                <a:effectLst/>
                <a:latin typeface="JetBrains Mono Medium"/>
              </a:rPr>
              <a:t>())  </a:t>
            </a:r>
            <a:r>
              <a:rPr lang="en-US" dirty="0">
                <a:solidFill>
                  <a:srgbClr val="808080"/>
                </a:solidFill>
                <a:effectLst/>
                <a:latin typeface="JetBrains Mono Medium"/>
              </a:rPr>
              <a:t># 4</a:t>
            </a:r>
            <a:br>
              <a:rPr lang="en-US" dirty="0">
                <a:solidFill>
                  <a:srgbClr val="808080"/>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G.degree</a:t>
            </a:r>
            <a:r>
              <a:rPr lang="en-US" dirty="0">
                <a:solidFill>
                  <a:srgbClr val="AFB9C3"/>
                </a:solidFill>
                <a:effectLst/>
                <a:latin typeface="JetBrains Mono Medium"/>
              </a:rPr>
              <a:t>)  </a:t>
            </a:r>
            <a:r>
              <a:rPr lang="en-US" dirty="0">
                <a:solidFill>
                  <a:srgbClr val="808080"/>
                </a:solidFill>
                <a:effectLst/>
                <a:latin typeface="JetBrains Mono Medium"/>
              </a:rPr>
              <a:t># [(1, 3), (2, 2), (3, 2), ('</a:t>
            </a:r>
            <a:r>
              <a:rPr lang="uk-UA" dirty="0">
                <a:solidFill>
                  <a:srgbClr val="808080"/>
                </a:solidFill>
                <a:effectLst/>
                <a:latin typeface="JetBrains Mono Medium"/>
              </a:rPr>
              <a:t>с', 3)]</a:t>
            </a:r>
            <a:br>
              <a:rPr lang="uk-UA" dirty="0">
                <a:solidFill>
                  <a:srgbClr val="808080"/>
                </a:solidFill>
                <a:effectLst/>
                <a:latin typeface="JetBrains Mono Medium"/>
              </a:rPr>
            </a:br>
            <a:endParaRPr lang="en-US" dirty="0">
              <a:solidFill>
                <a:srgbClr val="808080"/>
              </a:solidFill>
              <a:effectLst/>
              <a:latin typeface="JetBrains Mono Medium"/>
            </a:endParaRPr>
          </a:p>
          <a:p>
            <a:pPr marL="0" indent="0">
              <a:buNone/>
            </a:pPr>
            <a:br>
              <a:rPr lang="uk-UA" dirty="0">
                <a:solidFill>
                  <a:srgbClr val="808080"/>
                </a:solidFill>
                <a:effectLst/>
                <a:latin typeface="JetBrains Mono Medium"/>
              </a:rPr>
            </a:br>
            <a:r>
              <a:rPr lang="uk-UA" dirty="0">
                <a:solidFill>
                  <a:srgbClr val="808080"/>
                </a:solidFill>
                <a:effectLst/>
                <a:latin typeface="JetBrains Mono Medium"/>
              </a:rPr>
              <a:t># </a:t>
            </a:r>
            <a:r>
              <a:rPr lang="uk-UA" dirty="0" err="1">
                <a:solidFill>
                  <a:srgbClr val="808080"/>
                </a:solidFill>
                <a:effectLst/>
                <a:latin typeface="JetBrains Mono Medium"/>
              </a:rPr>
              <a:t>додамо</a:t>
            </a:r>
            <a:r>
              <a:rPr lang="uk-UA" dirty="0">
                <a:solidFill>
                  <a:srgbClr val="808080"/>
                </a:solidFill>
                <a:effectLst/>
                <a:latin typeface="JetBrains Mono Medium"/>
              </a:rPr>
              <a:t> зважені ребра</a:t>
            </a:r>
            <a:br>
              <a:rPr lang="uk-UA" dirty="0">
                <a:solidFill>
                  <a:srgbClr val="808080"/>
                </a:solidFill>
                <a:effectLst/>
                <a:latin typeface="JetBrains Mono Medium"/>
              </a:rPr>
            </a:br>
            <a:r>
              <a:rPr lang="en-US" dirty="0" err="1">
                <a:solidFill>
                  <a:srgbClr val="AFB9C3"/>
                </a:solidFill>
                <a:effectLst/>
                <a:latin typeface="JetBrains Mono Medium"/>
              </a:rPr>
              <a:t>G.</a:t>
            </a:r>
            <a:r>
              <a:rPr lang="en-US" dirty="0" err="1">
                <a:solidFill>
                  <a:srgbClr val="FFC86E"/>
                </a:solidFill>
                <a:effectLst/>
                <a:latin typeface="JetBrains Mono Medium"/>
              </a:rPr>
              <a:t>add_weighted_edges_from</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 </a:t>
            </a:r>
            <a:r>
              <a:rPr lang="en-US" dirty="0">
                <a:solidFill>
                  <a:srgbClr val="96BE78"/>
                </a:solidFill>
                <a:effectLst/>
                <a:latin typeface="JetBrains Mono Medium"/>
              </a:rPr>
              <a:t>2</a:t>
            </a:r>
            <a:r>
              <a:rPr lang="en-US" dirty="0">
                <a:solidFill>
                  <a:srgbClr val="AFB9C3"/>
                </a:solidFill>
                <a:effectLst/>
                <a:latin typeface="JetBrains Mono Medium"/>
              </a:rPr>
              <a:t>, </a:t>
            </a:r>
            <a:r>
              <a:rPr lang="en-US" dirty="0">
                <a:solidFill>
                  <a:srgbClr val="96BE78"/>
                </a:solidFill>
                <a:effectLst/>
                <a:latin typeface="JetBrains Mono Medium"/>
              </a:rPr>
              <a:t>0.4</a:t>
            </a:r>
            <a:r>
              <a:rPr lang="en-US" dirty="0">
                <a:solidFill>
                  <a:srgbClr val="AFB9C3"/>
                </a:solidFill>
                <a:effectLst/>
                <a:latin typeface="JetBrains Mono Medium"/>
              </a:rPr>
              <a:t>), (</a:t>
            </a:r>
            <a:r>
              <a:rPr lang="en-US" dirty="0">
                <a:solidFill>
                  <a:srgbClr val="96BE78"/>
                </a:solidFill>
                <a:effectLst/>
                <a:latin typeface="JetBrains Mono Medium"/>
              </a:rPr>
              <a:t>'a'</a:t>
            </a:r>
            <a:r>
              <a:rPr lang="en-US" dirty="0">
                <a:solidFill>
                  <a:srgbClr val="AFB9C3"/>
                </a:solidFill>
                <a:effectLst/>
                <a:latin typeface="JetBrains Mono Medium"/>
              </a:rPr>
              <a:t>, </a:t>
            </a:r>
            <a:r>
              <a:rPr lang="en-US" dirty="0">
                <a:solidFill>
                  <a:srgbClr val="96BE78"/>
                </a:solidFill>
                <a:effectLst/>
                <a:latin typeface="JetBrains Mono Medium"/>
              </a:rPr>
              <a:t>'c'</a:t>
            </a:r>
            <a:r>
              <a:rPr lang="en-US" dirty="0">
                <a:solidFill>
                  <a:srgbClr val="AFB9C3"/>
                </a:solidFill>
                <a:effectLst/>
                <a:latin typeface="JetBrains Mono Medium"/>
              </a:rPr>
              <a:t>, </a:t>
            </a:r>
            <a:r>
              <a:rPr lang="en-US" dirty="0">
                <a:solidFill>
                  <a:srgbClr val="96BE78"/>
                </a:solidFill>
                <a:effectLst/>
                <a:latin typeface="JetBrains Mono Medium"/>
              </a:rPr>
              <a:t>0.8</a:t>
            </a:r>
            <a:r>
              <a:rPr lang="en-US" dirty="0">
                <a:solidFill>
                  <a:srgbClr val="AFB9C3"/>
                </a:solidFill>
                <a:effectLst/>
                <a:latin typeface="JetBrains Mono Medium"/>
              </a:rPr>
              <a:t>)])</a:t>
            </a:r>
            <a:br>
              <a:rPr lang="en-US" dirty="0">
                <a:solidFill>
                  <a:srgbClr val="AFB9C3"/>
                </a:solidFill>
                <a:effectLst/>
                <a:latin typeface="JetBrains Mono Medium"/>
              </a:rPr>
            </a:br>
            <a:r>
              <a:rPr lang="en-US" dirty="0">
                <a:solidFill>
                  <a:srgbClr val="FFC86E"/>
                </a:solidFill>
                <a:effectLst/>
                <a:latin typeface="JetBrains Mono Medium"/>
              </a:rPr>
              <a:t>print</a:t>
            </a:r>
            <a:r>
              <a:rPr lang="en-US" dirty="0">
                <a:solidFill>
                  <a:srgbClr val="AFB9C3"/>
                </a:solidFill>
                <a:effectLst/>
                <a:latin typeface="JetBrains Mono Medium"/>
              </a:rPr>
              <a:t>(</a:t>
            </a:r>
            <a:r>
              <a:rPr lang="en-US" dirty="0" err="1">
                <a:solidFill>
                  <a:srgbClr val="AFB9C3"/>
                </a:solidFill>
                <a:effectLst/>
                <a:latin typeface="JetBrains Mono Medium"/>
              </a:rPr>
              <a:t>G.edges</a:t>
            </a:r>
            <a:r>
              <a:rPr lang="en-US" dirty="0">
                <a:solidFill>
                  <a:srgbClr val="AFB9C3"/>
                </a:solidFill>
                <a:effectLst/>
                <a:latin typeface="JetBrains Mono Medium"/>
              </a:rPr>
              <a:t>[</a:t>
            </a:r>
            <a:r>
              <a:rPr lang="en-US" dirty="0">
                <a:solidFill>
                  <a:srgbClr val="96BE78"/>
                </a:solidFill>
                <a:effectLst/>
                <a:latin typeface="JetBrains Mono Medium"/>
              </a:rPr>
              <a:t>1</a:t>
            </a:r>
            <a:r>
              <a:rPr lang="en-US" dirty="0">
                <a:solidFill>
                  <a:srgbClr val="AFB9C3"/>
                </a:solidFill>
                <a:effectLst/>
                <a:latin typeface="JetBrains Mono Medium"/>
              </a:rPr>
              <a:t>,</a:t>
            </a:r>
            <a:r>
              <a:rPr lang="en-US" dirty="0">
                <a:solidFill>
                  <a:srgbClr val="96BE78"/>
                </a:solidFill>
                <a:effectLst/>
                <a:latin typeface="JetBrains Mono Medium"/>
              </a:rPr>
              <a:t>2</a:t>
            </a:r>
            <a:r>
              <a:rPr lang="en-US" dirty="0">
                <a:solidFill>
                  <a:srgbClr val="AFB9C3"/>
                </a:solidFill>
                <a:effectLst/>
                <a:latin typeface="JetBrains Mono Medium"/>
              </a:rPr>
              <a:t>][</a:t>
            </a:r>
            <a:r>
              <a:rPr lang="en-US" dirty="0">
                <a:solidFill>
                  <a:srgbClr val="96BE78"/>
                </a:solidFill>
                <a:effectLst/>
                <a:latin typeface="JetBrains Mono Medium"/>
              </a:rPr>
              <a:t>'weight'</a:t>
            </a:r>
            <a:r>
              <a:rPr lang="en-US" dirty="0">
                <a:solidFill>
                  <a:srgbClr val="AFB9C3"/>
                </a:solidFill>
                <a:effectLst/>
                <a:latin typeface="JetBrains Mono Medium"/>
              </a:rPr>
              <a:t>])  </a:t>
            </a:r>
            <a:r>
              <a:rPr lang="en-US">
                <a:solidFill>
                  <a:srgbClr val="808080"/>
                </a:solidFill>
                <a:effectLst/>
                <a:latin typeface="JetBrains Mono Medium"/>
              </a:rPr>
              <a:t># 0.4 </a:t>
            </a:r>
            <a:r>
              <a:rPr lang="uk-UA" dirty="0">
                <a:solidFill>
                  <a:srgbClr val="808080"/>
                </a:solidFill>
                <a:effectLst/>
                <a:latin typeface="JetBrains Mono Medium"/>
              </a:rPr>
              <a:t>доступ до ваги на ребрі</a:t>
            </a:r>
            <a:endParaRPr lang="uk-UA" dirty="0">
              <a:solidFill>
                <a:srgbClr val="AFB9C3"/>
              </a:solidFill>
              <a:effectLst/>
              <a:latin typeface="JetBrains Mono Medium"/>
            </a:endParaRPr>
          </a:p>
          <a:p>
            <a:pPr marL="0" indent="0">
              <a:buNone/>
            </a:pPr>
            <a:endParaRPr lang="uk-UA" dirty="0"/>
          </a:p>
        </p:txBody>
      </p:sp>
      <p:pic>
        <p:nvPicPr>
          <p:cNvPr id="5" name="Рисунок 4" descr="Зображення, що містить ряд&#10;&#10;Вміст, створений ШІ, може бути неправильним.">
            <a:extLst>
              <a:ext uri="{FF2B5EF4-FFF2-40B4-BE49-F238E27FC236}">
                <a16:creationId xmlns:a16="http://schemas.microsoft.com/office/drawing/2014/main" id="{E2037B9E-ED3C-BBF0-0964-61D694B505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01691" y="2438400"/>
            <a:ext cx="3798444" cy="2848833"/>
          </a:xfrm>
          <a:prstGeom prst="rect">
            <a:avLst/>
          </a:prstGeom>
        </p:spPr>
      </p:pic>
    </p:spTree>
    <p:extLst>
      <p:ext uri="{BB962C8B-B14F-4D97-AF65-F5344CB8AC3E}">
        <p14:creationId xmlns:p14="http://schemas.microsoft.com/office/powerpoint/2010/main" val="854065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373B8C-2899-6D19-BC4F-D8597DA20628}"/>
              </a:ext>
            </a:extLst>
          </p:cNvPr>
          <p:cNvSpPr>
            <a:spLocks noGrp="1"/>
          </p:cNvSpPr>
          <p:nvPr>
            <p:ph type="title"/>
          </p:nvPr>
        </p:nvSpPr>
        <p:spPr/>
        <p:txBody>
          <a:bodyPr/>
          <a:lstStyle/>
          <a:p>
            <a:r>
              <a:rPr lang="uk-UA" dirty="0"/>
              <a:t>Генератори графів</a:t>
            </a:r>
          </a:p>
        </p:txBody>
      </p:sp>
      <p:sp>
        <p:nvSpPr>
          <p:cNvPr id="3" name="Місце для вмісту 2">
            <a:extLst>
              <a:ext uri="{FF2B5EF4-FFF2-40B4-BE49-F238E27FC236}">
                <a16:creationId xmlns:a16="http://schemas.microsoft.com/office/drawing/2014/main" id="{BB24A441-9F58-2F1F-2EFA-590829BBD8FA}"/>
              </a:ext>
            </a:extLst>
          </p:cNvPr>
          <p:cNvSpPr>
            <a:spLocks noGrp="1"/>
          </p:cNvSpPr>
          <p:nvPr>
            <p:ph idx="1"/>
          </p:nvPr>
        </p:nvSpPr>
        <p:spPr>
          <a:xfrm>
            <a:off x="685800" y="2194561"/>
            <a:ext cx="6885039" cy="1925156"/>
          </a:xfrm>
        </p:spPr>
        <p:txBody>
          <a:bodyPr/>
          <a:lstStyle/>
          <a:p>
            <a:pPr marL="0" indent="0">
              <a:buNone/>
            </a:pPr>
            <a:r>
              <a:rPr lang="en-US" dirty="0">
                <a:solidFill>
                  <a:srgbClr val="AFB9C3"/>
                </a:solidFill>
                <a:effectLst/>
                <a:latin typeface="JetBrains Mono Medium"/>
              </a:rPr>
              <a:t>K5 = </a:t>
            </a:r>
            <a:r>
              <a:rPr lang="en-US" dirty="0" err="1">
                <a:solidFill>
                  <a:srgbClr val="AFB9C3"/>
                </a:solidFill>
                <a:effectLst/>
                <a:latin typeface="JetBrains Mono Medium"/>
              </a:rPr>
              <a:t>nx.</a:t>
            </a:r>
            <a:r>
              <a:rPr lang="en-US" dirty="0" err="1">
                <a:solidFill>
                  <a:srgbClr val="FFC86E"/>
                </a:solidFill>
                <a:effectLst/>
                <a:latin typeface="JetBrains Mono Medium"/>
              </a:rPr>
              <a:t>complete_graph</a:t>
            </a:r>
            <a:r>
              <a:rPr lang="en-US" dirty="0">
                <a:solidFill>
                  <a:srgbClr val="AFB9C3"/>
                </a:solidFill>
                <a:effectLst/>
                <a:latin typeface="JetBrains Mono Medium"/>
              </a:rPr>
              <a:t>(</a:t>
            </a:r>
            <a:r>
              <a:rPr lang="en-US" dirty="0">
                <a:solidFill>
                  <a:srgbClr val="96BE78"/>
                </a:solidFill>
                <a:effectLst/>
                <a:latin typeface="JetBrains Mono Medium"/>
              </a:rPr>
              <a:t>5</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Повний граф</a:t>
            </a:r>
            <a:br>
              <a:rPr lang="uk-UA" dirty="0">
                <a:solidFill>
                  <a:srgbClr val="808080"/>
                </a:solidFill>
                <a:effectLst/>
                <a:latin typeface="JetBrains Mono Medium"/>
              </a:rPr>
            </a:br>
            <a:r>
              <a:rPr lang="en-US" dirty="0">
                <a:solidFill>
                  <a:srgbClr val="AFB9C3"/>
                </a:solidFill>
                <a:effectLst/>
                <a:latin typeface="JetBrains Mono Medium"/>
              </a:rPr>
              <a:t>Ch5 = </a:t>
            </a:r>
            <a:r>
              <a:rPr lang="en-US" dirty="0" err="1">
                <a:solidFill>
                  <a:srgbClr val="AFB9C3"/>
                </a:solidFill>
                <a:effectLst/>
                <a:latin typeface="JetBrains Mono Medium"/>
              </a:rPr>
              <a:t>nx.</a:t>
            </a:r>
            <a:r>
              <a:rPr lang="en-US" dirty="0" err="1">
                <a:solidFill>
                  <a:srgbClr val="FFC86E"/>
                </a:solidFill>
                <a:effectLst/>
                <a:latin typeface="JetBrains Mono Medium"/>
              </a:rPr>
              <a:t>path_graph</a:t>
            </a:r>
            <a:r>
              <a:rPr lang="en-US" dirty="0">
                <a:solidFill>
                  <a:srgbClr val="AFB9C3"/>
                </a:solidFill>
                <a:effectLst/>
                <a:latin typeface="JetBrains Mono Medium"/>
              </a:rPr>
              <a:t>(</a:t>
            </a:r>
            <a:r>
              <a:rPr lang="en-US" dirty="0">
                <a:solidFill>
                  <a:srgbClr val="96BE78"/>
                </a:solidFill>
                <a:effectLst/>
                <a:latin typeface="JetBrains Mono Medium"/>
              </a:rPr>
              <a:t>5</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Ланцюг</a:t>
            </a:r>
            <a:br>
              <a:rPr lang="uk-UA" dirty="0">
                <a:solidFill>
                  <a:srgbClr val="808080"/>
                </a:solidFill>
                <a:effectLst/>
                <a:latin typeface="JetBrains Mono Medium"/>
              </a:rPr>
            </a:br>
            <a:r>
              <a:rPr lang="en-US" dirty="0">
                <a:solidFill>
                  <a:srgbClr val="AFB9C3"/>
                </a:solidFill>
                <a:effectLst/>
                <a:latin typeface="JetBrains Mono Medium"/>
              </a:rPr>
              <a:t>C5 = </a:t>
            </a:r>
            <a:r>
              <a:rPr lang="en-US" dirty="0" err="1">
                <a:solidFill>
                  <a:srgbClr val="AFB9C3"/>
                </a:solidFill>
                <a:effectLst/>
                <a:latin typeface="JetBrains Mono Medium"/>
              </a:rPr>
              <a:t>nx.</a:t>
            </a:r>
            <a:r>
              <a:rPr lang="en-US" dirty="0" err="1">
                <a:solidFill>
                  <a:srgbClr val="FFC86E"/>
                </a:solidFill>
                <a:effectLst/>
                <a:latin typeface="JetBrains Mono Medium"/>
              </a:rPr>
              <a:t>cycle_graph</a:t>
            </a:r>
            <a:r>
              <a:rPr lang="en-US" dirty="0">
                <a:solidFill>
                  <a:srgbClr val="AFB9C3"/>
                </a:solidFill>
                <a:effectLst/>
                <a:latin typeface="JetBrains Mono Medium"/>
              </a:rPr>
              <a:t>(</a:t>
            </a:r>
            <a:r>
              <a:rPr lang="en-US" dirty="0">
                <a:solidFill>
                  <a:srgbClr val="96BE78"/>
                </a:solidFill>
                <a:effectLst/>
                <a:latin typeface="JetBrains Mono Medium"/>
              </a:rPr>
              <a:t>5</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Цикл</a:t>
            </a:r>
            <a:br>
              <a:rPr lang="uk-UA" dirty="0">
                <a:solidFill>
                  <a:srgbClr val="808080"/>
                </a:solidFill>
                <a:effectLst/>
                <a:latin typeface="JetBrains Mono Medium"/>
              </a:rPr>
            </a:br>
            <a:r>
              <a:rPr lang="en-US" dirty="0">
                <a:solidFill>
                  <a:srgbClr val="AFB9C3"/>
                </a:solidFill>
                <a:effectLst/>
                <a:latin typeface="JetBrains Mono Medium"/>
              </a:rPr>
              <a:t>Rand = </a:t>
            </a:r>
            <a:r>
              <a:rPr lang="en-US" dirty="0" err="1">
                <a:solidFill>
                  <a:srgbClr val="AFB9C3"/>
                </a:solidFill>
                <a:effectLst/>
                <a:latin typeface="JetBrains Mono Medium"/>
              </a:rPr>
              <a:t>nx.</a:t>
            </a:r>
            <a:r>
              <a:rPr lang="en-US" dirty="0" err="1">
                <a:solidFill>
                  <a:srgbClr val="FFC86E"/>
                </a:solidFill>
                <a:effectLst/>
                <a:latin typeface="JetBrains Mono Medium"/>
              </a:rPr>
              <a:t>erdos_renyi_graph</a:t>
            </a:r>
            <a:r>
              <a:rPr lang="en-US" dirty="0">
                <a:solidFill>
                  <a:srgbClr val="AFB9C3"/>
                </a:solidFill>
                <a:effectLst/>
                <a:latin typeface="JetBrains Mono Medium"/>
              </a:rPr>
              <a:t>(</a:t>
            </a:r>
            <a:r>
              <a:rPr lang="en-US" dirty="0">
                <a:solidFill>
                  <a:srgbClr val="96BE78"/>
                </a:solidFill>
                <a:effectLst/>
                <a:latin typeface="JetBrains Mono Medium"/>
              </a:rPr>
              <a:t>10</a:t>
            </a:r>
            <a:r>
              <a:rPr lang="en-US" dirty="0">
                <a:solidFill>
                  <a:srgbClr val="AFB9C3"/>
                </a:solidFill>
                <a:effectLst/>
                <a:latin typeface="JetBrains Mono Medium"/>
              </a:rPr>
              <a:t>, </a:t>
            </a:r>
            <a:r>
              <a:rPr lang="en-US" dirty="0">
                <a:solidFill>
                  <a:srgbClr val="96BE78"/>
                </a:solidFill>
                <a:effectLst/>
                <a:latin typeface="JetBrains Mono Medium"/>
              </a:rPr>
              <a:t>0.3</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Випадковий граф</a:t>
            </a:r>
            <a:br>
              <a:rPr lang="uk-UA" dirty="0">
                <a:solidFill>
                  <a:srgbClr val="808080"/>
                </a:solidFill>
                <a:effectLst/>
                <a:latin typeface="JetBrains Mono Medium"/>
              </a:rPr>
            </a:br>
            <a:r>
              <a:rPr lang="en-US" dirty="0" err="1">
                <a:solidFill>
                  <a:srgbClr val="AFB9C3"/>
                </a:solidFill>
                <a:effectLst/>
                <a:latin typeface="JetBrains Mono Medium"/>
              </a:rPr>
              <a:t>kar</a:t>
            </a:r>
            <a:r>
              <a:rPr lang="en-US" dirty="0">
                <a:solidFill>
                  <a:srgbClr val="AFB9C3"/>
                </a:solidFill>
                <a:effectLst/>
                <a:latin typeface="JetBrains Mono Medium"/>
              </a:rPr>
              <a:t> = </a:t>
            </a:r>
            <a:r>
              <a:rPr lang="en-US" dirty="0" err="1">
                <a:solidFill>
                  <a:srgbClr val="AFB9C3"/>
                </a:solidFill>
                <a:effectLst/>
                <a:latin typeface="JetBrains Mono Medium"/>
              </a:rPr>
              <a:t>nx.</a:t>
            </a:r>
            <a:r>
              <a:rPr lang="en-US" dirty="0" err="1">
                <a:solidFill>
                  <a:srgbClr val="FFC86E"/>
                </a:solidFill>
                <a:effectLst/>
                <a:latin typeface="JetBrains Mono Medium"/>
              </a:rPr>
              <a:t>karate_club_graph</a:t>
            </a:r>
            <a:r>
              <a:rPr lang="en-US" dirty="0">
                <a:solidFill>
                  <a:srgbClr val="AFB9C3"/>
                </a:solidFill>
                <a:effectLst/>
                <a:latin typeface="JetBrains Mono Medium"/>
              </a:rPr>
              <a:t>()  </a:t>
            </a:r>
            <a:r>
              <a:rPr lang="en-US" dirty="0">
                <a:solidFill>
                  <a:srgbClr val="808080"/>
                </a:solidFill>
                <a:effectLst/>
                <a:latin typeface="JetBrains Mono Medium"/>
              </a:rPr>
              <a:t># </a:t>
            </a:r>
            <a:r>
              <a:rPr lang="uk-UA" dirty="0">
                <a:solidFill>
                  <a:srgbClr val="808080"/>
                </a:solidFill>
                <a:effectLst/>
                <a:latin typeface="JetBrains Mono Medium"/>
              </a:rPr>
              <a:t>карате клуб</a:t>
            </a:r>
            <a:endParaRPr lang="uk-UA" dirty="0">
              <a:solidFill>
                <a:srgbClr val="AFB9C3"/>
              </a:solidFill>
              <a:effectLst/>
              <a:latin typeface="JetBrains Mono Medium"/>
            </a:endParaRPr>
          </a:p>
          <a:p>
            <a:pPr marL="0" indent="0">
              <a:buNone/>
            </a:pPr>
            <a:endParaRPr lang="uk-UA" dirty="0"/>
          </a:p>
        </p:txBody>
      </p:sp>
      <p:pic>
        <p:nvPicPr>
          <p:cNvPr id="5" name="Рисунок 4" descr="Зображення, що містить ряд, оригамі&#10;&#10;Вміст, створений ШІ, може бути неправильним.">
            <a:extLst>
              <a:ext uri="{FF2B5EF4-FFF2-40B4-BE49-F238E27FC236}">
                <a16:creationId xmlns:a16="http://schemas.microsoft.com/office/drawing/2014/main" id="{3220ED94-432B-E479-1019-04C7083B11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74180" y="1863007"/>
            <a:ext cx="2660544" cy="1853696"/>
          </a:xfrm>
          <a:prstGeom prst="rect">
            <a:avLst/>
          </a:prstGeom>
        </p:spPr>
      </p:pic>
      <p:pic>
        <p:nvPicPr>
          <p:cNvPr id="7" name="Рисунок 6" descr="Зображення, що містить ряд, коло, схема, дизайн&#10;&#10;Вміст, створений ШІ, може бути неправильним.">
            <a:extLst>
              <a:ext uri="{FF2B5EF4-FFF2-40B4-BE49-F238E27FC236}">
                <a16:creationId xmlns:a16="http://schemas.microsoft.com/office/drawing/2014/main" id="{5CF3561C-80E3-A1E3-3BBB-C0EFBC0C2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4179" y="4087014"/>
            <a:ext cx="2660544" cy="2006613"/>
          </a:xfrm>
          <a:prstGeom prst="rect">
            <a:avLst/>
          </a:prstGeom>
        </p:spPr>
      </p:pic>
      <p:pic>
        <p:nvPicPr>
          <p:cNvPr id="9" name="Рисунок 8">
            <a:extLst>
              <a:ext uri="{FF2B5EF4-FFF2-40B4-BE49-F238E27FC236}">
                <a16:creationId xmlns:a16="http://schemas.microsoft.com/office/drawing/2014/main" id="{8B637F89-06F5-1316-E80E-BB9B4802F9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9136" y="4091068"/>
            <a:ext cx="2660544" cy="1995408"/>
          </a:xfrm>
          <a:prstGeom prst="rect">
            <a:avLst/>
          </a:prstGeom>
        </p:spPr>
      </p:pic>
      <p:pic>
        <p:nvPicPr>
          <p:cNvPr id="11" name="Рисунок 10" descr="Зображення, що містить ряд, дизайн, мистецтво&#10;&#10;Вміст, створений ШІ, може бути неправильним.">
            <a:extLst>
              <a:ext uri="{FF2B5EF4-FFF2-40B4-BE49-F238E27FC236}">
                <a16:creationId xmlns:a16="http://schemas.microsoft.com/office/drawing/2014/main" id="{46DF4F85-7528-FA75-1AA7-00A8A66149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334" y="4087015"/>
            <a:ext cx="2675483" cy="2006612"/>
          </a:xfrm>
          <a:prstGeom prst="rect">
            <a:avLst/>
          </a:prstGeom>
        </p:spPr>
      </p:pic>
      <p:pic>
        <p:nvPicPr>
          <p:cNvPr id="13" name="Рисунок 12" descr="Зображення, що містить ряд, Барвистість&#10;&#10;Вміст, створений ШІ, може бути неправильним.">
            <a:extLst>
              <a:ext uri="{FF2B5EF4-FFF2-40B4-BE49-F238E27FC236}">
                <a16:creationId xmlns:a16="http://schemas.microsoft.com/office/drawing/2014/main" id="{FBBD91D6-03AD-3F23-B2A7-9465984987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4087014"/>
            <a:ext cx="2291255" cy="1999461"/>
          </a:xfrm>
          <a:prstGeom prst="rect">
            <a:avLst/>
          </a:prstGeom>
        </p:spPr>
      </p:pic>
    </p:spTree>
    <p:extLst>
      <p:ext uri="{BB962C8B-B14F-4D97-AF65-F5344CB8AC3E}">
        <p14:creationId xmlns:p14="http://schemas.microsoft.com/office/powerpoint/2010/main" val="3231788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300FA9-A70A-5666-D971-CC43BDC15789}"/>
              </a:ext>
            </a:extLst>
          </p:cNvPr>
          <p:cNvSpPr>
            <a:spLocks noGrp="1"/>
          </p:cNvSpPr>
          <p:nvPr>
            <p:ph type="title"/>
          </p:nvPr>
        </p:nvSpPr>
        <p:spPr>
          <a:xfrm>
            <a:off x="6232634" y="764372"/>
            <a:ext cx="5273566" cy="2294137"/>
          </a:xfrm>
        </p:spPr>
        <p:txBody>
          <a:bodyPr>
            <a:normAutofit/>
          </a:bodyPr>
          <a:lstStyle/>
          <a:p>
            <a:r>
              <a:rPr lang="uk-UA" dirty="0"/>
              <a:t>модель клубу карате Захарі (</a:t>
            </a:r>
            <a:r>
              <a:rPr lang="en-US" dirty="0"/>
              <a:t>Zachary’s Karate Club)</a:t>
            </a:r>
            <a:endParaRPr lang="uk-UA" dirty="0"/>
          </a:p>
        </p:txBody>
      </p:sp>
      <p:sp>
        <p:nvSpPr>
          <p:cNvPr id="3" name="Місце для вмісту 2">
            <a:extLst>
              <a:ext uri="{FF2B5EF4-FFF2-40B4-BE49-F238E27FC236}">
                <a16:creationId xmlns:a16="http://schemas.microsoft.com/office/drawing/2014/main" id="{622C2BFD-7FCA-5AC1-0CE6-088DCA06A21C}"/>
              </a:ext>
            </a:extLst>
          </p:cNvPr>
          <p:cNvSpPr>
            <a:spLocks noGrp="1"/>
          </p:cNvSpPr>
          <p:nvPr>
            <p:ph idx="1"/>
          </p:nvPr>
        </p:nvSpPr>
        <p:spPr>
          <a:xfrm>
            <a:off x="685800" y="3352800"/>
            <a:ext cx="10707414" cy="2865885"/>
          </a:xfrm>
        </p:spPr>
        <p:txBody>
          <a:bodyPr>
            <a:normAutofit fontScale="92500" lnSpcReduction="20000"/>
          </a:bodyPr>
          <a:lstStyle/>
          <a:p>
            <a:pPr marL="0" indent="0">
              <a:buNone/>
            </a:pPr>
            <a:r>
              <a:rPr lang="uk-UA" dirty="0"/>
              <a:t>Граф </a:t>
            </a:r>
            <a:r>
              <a:rPr lang="en-US" b="1" dirty="0"/>
              <a:t>Zachary’s Karate Club</a:t>
            </a:r>
            <a:r>
              <a:rPr lang="en-US" dirty="0"/>
              <a:t> — </a:t>
            </a:r>
            <a:r>
              <a:rPr lang="uk-UA" dirty="0"/>
              <a:t>це </a:t>
            </a:r>
            <a:r>
              <a:rPr lang="uk-UA" b="1" dirty="0"/>
              <a:t>реальна соціальна мережа</a:t>
            </a:r>
            <a:r>
              <a:rPr lang="uk-UA" dirty="0"/>
              <a:t>, яку дослідив соціолог </a:t>
            </a:r>
            <a:r>
              <a:rPr lang="uk-UA" dirty="0" err="1"/>
              <a:t>Уейн</a:t>
            </a:r>
            <a:r>
              <a:rPr lang="uk-UA" dirty="0"/>
              <a:t> Захарі у 1977 році. Вона описує </a:t>
            </a:r>
            <a:r>
              <a:rPr lang="uk-UA" b="1" dirty="0"/>
              <a:t>взаємодії між 34 членами клубу карате</a:t>
            </a:r>
            <a:r>
              <a:rPr lang="uk-UA" dirty="0"/>
              <a:t> в американському університеті.</a:t>
            </a:r>
          </a:p>
          <a:p>
            <a:pPr marL="0" indent="0">
              <a:buNone/>
            </a:pPr>
            <a:r>
              <a:rPr lang="uk-UA" dirty="0"/>
              <a:t>Суть моделі:</a:t>
            </a:r>
          </a:p>
          <a:p>
            <a:pPr marL="0" indent="0">
              <a:buNone/>
            </a:pPr>
            <a:r>
              <a:rPr lang="uk-UA" dirty="0"/>
              <a:t>Кожна вершина — учасник клубу.</a:t>
            </a:r>
          </a:p>
          <a:p>
            <a:pPr marL="0" indent="0">
              <a:buNone/>
            </a:pPr>
            <a:r>
              <a:rPr lang="uk-UA" dirty="0"/>
              <a:t>Кожне ребро — соціальна взаємодія або дружба між двома людьми.</a:t>
            </a:r>
          </a:p>
          <a:p>
            <a:pPr marL="0" indent="0">
              <a:buNone/>
            </a:pPr>
            <a:r>
              <a:rPr lang="uk-UA" dirty="0"/>
              <a:t>Загалом у графі: 34 вершини78 </a:t>
            </a:r>
            <a:r>
              <a:rPr lang="uk-UA" dirty="0" err="1"/>
              <a:t>ребер</a:t>
            </a:r>
            <a:endParaRPr lang="uk-UA" dirty="0"/>
          </a:p>
          <a:p>
            <a:pPr marL="0" indent="0">
              <a:buNone/>
            </a:pPr>
            <a:r>
              <a:rPr lang="uk-UA" dirty="0"/>
              <a:t>У клубі згодом виник конфлікт між тренером (</a:t>
            </a:r>
            <a:r>
              <a:rPr lang="en-US" dirty="0"/>
              <a:t>node </a:t>
            </a:r>
            <a:r>
              <a:rPr lang="uk-UA" dirty="0"/>
              <a:t>1</a:t>
            </a:r>
            <a:r>
              <a:rPr lang="en-US" dirty="0"/>
              <a:t>) </a:t>
            </a:r>
            <a:r>
              <a:rPr lang="uk-UA" dirty="0"/>
              <a:t>і адміністратором (</a:t>
            </a:r>
            <a:r>
              <a:rPr lang="en-US" dirty="0"/>
              <a:t>node 3</a:t>
            </a:r>
            <a:r>
              <a:rPr lang="uk-UA" dirty="0"/>
              <a:t>4</a:t>
            </a:r>
            <a:r>
              <a:rPr lang="en-US" dirty="0"/>
              <a:t>), </a:t>
            </a:r>
            <a:r>
              <a:rPr lang="uk-UA" dirty="0"/>
              <a:t>що призвів до розколу клубу на 2 групи.</a:t>
            </a:r>
          </a:p>
        </p:txBody>
      </p:sp>
      <p:pic>
        <p:nvPicPr>
          <p:cNvPr id="5" name="Рисунок 4" descr="Зображення, що містить схема, ряд, коло&#10;&#10;Вміст, створений ШІ, може бути неправильним.">
            <a:extLst>
              <a:ext uri="{FF2B5EF4-FFF2-40B4-BE49-F238E27FC236}">
                <a16:creationId xmlns:a16="http://schemas.microsoft.com/office/drawing/2014/main" id="{C15150CB-B0B9-27BE-F685-3B7E278E6D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309" y="311591"/>
            <a:ext cx="4984955" cy="2746918"/>
          </a:xfrm>
          <a:prstGeom prst="rect">
            <a:avLst/>
          </a:prstGeom>
        </p:spPr>
      </p:pic>
    </p:spTree>
    <p:extLst>
      <p:ext uri="{BB962C8B-B14F-4D97-AF65-F5344CB8AC3E}">
        <p14:creationId xmlns:p14="http://schemas.microsoft.com/office/powerpoint/2010/main" val="1312433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87F5E8-A23C-D091-D7FA-4DE9911A5849}"/>
              </a:ext>
            </a:extLst>
          </p:cNvPr>
          <p:cNvSpPr>
            <a:spLocks noGrp="1"/>
          </p:cNvSpPr>
          <p:nvPr>
            <p:ph type="title"/>
          </p:nvPr>
        </p:nvSpPr>
        <p:spPr/>
        <p:txBody>
          <a:bodyPr/>
          <a:lstStyle/>
          <a:p>
            <a:r>
              <a:rPr lang="uk-UA" dirty="0"/>
              <a:t>Моделювання динаміки мереж за допомогою графів</a:t>
            </a:r>
          </a:p>
        </p:txBody>
      </p:sp>
      <p:sp>
        <p:nvSpPr>
          <p:cNvPr id="3" name="Місце для вмісту 2">
            <a:extLst>
              <a:ext uri="{FF2B5EF4-FFF2-40B4-BE49-F238E27FC236}">
                <a16:creationId xmlns:a16="http://schemas.microsoft.com/office/drawing/2014/main" id="{6E9B710E-A219-D6AD-7517-2794B53FB29E}"/>
              </a:ext>
            </a:extLst>
          </p:cNvPr>
          <p:cNvSpPr>
            <a:spLocks noGrp="1"/>
          </p:cNvSpPr>
          <p:nvPr>
            <p:ph idx="1"/>
          </p:nvPr>
        </p:nvSpPr>
        <p:spPr/>
        <p:txBody>
          <a:bodyPr/>
          <a:lstStyle/>
          <a:p>
            <a:pPr marL="0" indent="0">
              <a:buNone/>
            </a:pPr>
            <a:r>
              <a:rPr lang="uk-UA" dirty="0"/>
              <a:t>Взагалі існує багато різних класів задач для моделювання динаміки мережевих моделей. Ми обговоримо лише одну з них.</a:t>
            </a:r>
          </a:p>
          <a:p>
            <a:pPr marL="0" indent="0">
              <a:buNone/>
            </a:pPr>
            <a:endParaRPr lang="uk-UA" dirty="0"/>
          </a:p>
          <a:p>
            <a:pPr marL="0" indent="0">
              <a:buNone/>
            </a:pPr>
            <a:r>
              <a:rPr lang="uk-UA" dirty="0">
                <a:solidFill>
                  <a:srgbClr val="FFC000"/>
                </a:solidFill>
              </a:rPr>
              <a:t>Задача про моделі для «динаміки в мережах» </a:t>
            </a:r>
          </a:p>
          <a:p>
            <a:pPr marL="0" indent="0">
              <a:buNone/>
            </a:pPr>
            <a:r>
              <a:rPr lang="uk-UA" dirty="0"/>
              <a:t>Ці моделі є найбільш природним продовженням традиційних моделей динамічних систем. Вони розглядають, як змінюються з часом стани компонентів, або вузлів через їх взаємодію з іншими вузлами, які з ними пов'язані. З'єднання представлені ланками мережі, де топологія мережі фіксується протягом усього часу. Стільникові автомати, булеві мережі та штучні нейронні мережі (без навчання) належать до цього класу.</a:t>
            </a:r>
          </a:p>
        </p:txBody>
      </p:sp>
    </p:spTree>
    <p:extLst>
      <p:ext uri="{BB962C8B-B14F-4D97-AF65-F5344CB8AC3E}">
        <p14:creationId xmlns:p14="http://schemas.microsoft.com/office/powerpoint/2010/main" val="6463452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D4124-96A5-2100-2B37-A8E05F68892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B7A2CD-54A5-56DF-79B0-BE34CB7904DF}"/>
              </a:ext>
            </a:extLst>
          </p:cNvPr>
          <p:cNvSpPr>
            <a:spLocks noGrp="1"/>
          </p:cNvSpPr>
          <p:nvPr>
            <p:ph type="title"/>
          </p:nvPr>
        </p:nvSpPr>
        <p:spPr/>
        <p:txBody>
          <a:bodyPr/>
          <a:lstStyle/>
          <a:p>
            <a:r>
              <a:rPr lang="uk-UA" dirty="0"/>
              <a:t>Моделювання динаміки мереж за допомогою графів</a:t>
            </a:r>
          </a:p>
        </p:txBody>
      </p:sp>
      <p:sp>
        <p:nvSpPr>
          <p:cNvPr id="3" name="Місце для вмісту 2">
            <a:extLst>
              <a:ext uri="{FF2B5EF4-FFF2-40B4-BE49-F238E27FC236}">
                <a16:creationId xmlns:a16="http://schemas.microsoft.com/office/drawing/2014/main" id="{1EFB4898-3F73-E4CA-6B69-17D145080B3C}"/>
              </a:ext>
            </a:extLst>
          </p:cNvPr>
          <p:cNvSpPr>
            <a:spLocks noGrp="1"/>
          </p:cNvSpPr>
          <p:nvPr>
            <p:ph idx="1"/>
          </p:nvPr>
        </p:nvSpPr>
        <p:spPr/>
        <p:txBody>
          <a:bodyPr>
            <a:normAutofit fontScale="85000" lnSpcReduction="20000"/>
          </a:bodyPr>
          <a:lstStyle/>
          <a:p>
            <a:pPr marL="0" indent="0">
              <a:buNone/>
            </a:pPr>
            <a:r>
              <a:rPr lang="uk-UA" dirty="0"/>
              <a:t>Оскільки </a:t>
            </a:r>
            <a:r>
              <a:rPr lang="en-US" dirty="0" err="1"/>
              <a:t>NetworkX</a:t>
            </a:r>
            <a:r>
              <a:rPr lang="en-US" dirty="0"/>
              <a:t> </a:t>
            </a:r>
            <a:r>
              <a:rPr lang="uk-UA" dirty="0"/>
              <a:t>дозволяє задавати прості словники, як основну структуру даних, то ми можемо легко додавати стани до вузлів (та країв) та </a:t>
            </a:r>
            <a:r>
              <a:rPr lang="uk-UA" dirty="0" err="1"/>
              <a:t>динамічно</a:t>
            </a:r>
            <a:r>
              <a:rPr lang="uk-UA" dirty="0"/>
              <a:t> оновлювати ці стани </a:t>
            </a:r>
            <a:r>
              <a:rPr lang="uk-UA" dirty="0" err="1"/>
              <a:t>ітераційно</a:t>
            </a:r>
            <a:r>
              <a:rPr lang="uk-UA" dirty="0"/>
              <a:t>. </a:t>
            </a:r>
            <a:r>
              <a:rPr lang="uk-UA" dirty="0">
                <a:solidFill>
                  <a:srgbClr val="FFC000"/>
                </a:solidFill>
              </a:rPr>
              <a:t>Це і є моделюванням динаміки в мережах</a:t>
            </a:r>
            <a:r>
              <a:rPr lang="uk-UA" dirty="0"/>
              <a:t>. Цей клас динамічних мережевих моделей описує динамічні зміни стану, що відбуваються на статичній топології мережі. Багато реальних динамічних мереж потрапляють до цієї категорії, включаючи:</a:t>
            </a:r>
          </a:p>
          <a:p>
            <a:pPr marL="0" indent="0">
              <a:buNone/>
            </a:pPr>
            <a:endParaRPr lang="uk-UA" dirty="0"/>
          </a:p>
          <a:p>
            <a:pPr>
              <a:buClr>
                <a:srgbClr val="FFC000"/>
              </a:buClr>
            </a:pPr>
            <a:r>
              <a:rPr lang="uk-UA" dirty="0"/>
              <a:t>Регуляторні відносини між генами та білками всередині клітини, де вузли - це гени та/або білки, а стан вузлів - рівні їх експресії.</a:t>
            </a:r>
          </a:p>
          <a:p>
            <a:pPr>
              <a:buClr>
                <a:srgbClr val="FFC000"/>
              </a:buClr>
            </a:pPr>
            <a:r>
              <a:rPr lang="uk-UA" dirty="0"/>
              <a:t>Екологічна взаємодія між видами в екосистемі, де вузли є видами, а стани вузлів - їх популяціями.</a:t>
            </a:r>
          </a:p>
          <a:p>
            <a:pPr>
              <a:buClr>
                <a:srgbClr val="FFC000"/>
              </a:buClr>
            </a:pPr>
            <a:r>
              <a:rPr lang="uk-UA" dirty="0"/>
              <a:t>Захворювання інфекцією в соціальних мережах, де вузли - це особи, а стан вузла - їх епідеміологічні стани (наприклад, сприйнятливі, інфіковані, одужали, імунізовані тощо).</a:t>
            </a:r>
          </a:p>
          <a:p>
            <a:pPr>
              <a:buClr>
                <a:srgbClr val="FFC000"/>
              </a:buClr>
            </a:pPr>
            <a:r>
              <a:rPr lang="uk-UA" dirty="0"/>
              <a:t>Поширення інформації/культури в організаційні/соціальних мережах, де вузли - це особи або спільноти, а стани вузлів - їх інформаційні/</a:t>
            </a:r>
            <a:r>
              <a:rPr lang="uk-UA"/>
              <a:t>культурні стани.</a:t>
            </a:r>
            <a:endParaRPr lang="uk-UA" dirty="0"/>
          </a:p>
        </p:txBody>
      </p:sp>
    </p:spTree>
    <p:extLst>
      <p:ext uri="{BB962C8B-B14F-4D97-AF65-F5344CB8AC3E}">
        <p14:creationId xmlns:p14="http://schemas.microsoft.com/office/powerpoint/2010/main" val="2934171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67E9D1-84FF-CA93-2663-5C7F5C210BB0}"/>
              </a:ext>
            </a:extLst>
          </p:cNvPr>
          <p:cNvSpPr>
            <a:spLocks noGrp="1"/>
          </p:cNvSpPr>
          <p:nvPr>
            <p:ph type="title"/>
          </p:nvPr>
        </p:nvSpPr>
        <p:spPr/>
        <p:txBody>
          <a:bodyPr/>
          <a:lstStyle/>
          <a:p>
            <a:r>
              <a:rPr lang="uk-UA" dirty="0"/>
              <a:t>Моделювання динаміки мереж за допомогою графів</a:t>
            </a:r>
          </a:p>
        </p:txBody>
      </p:sp>
      <p:sp>
        <p:nvSpPr>
          <p:cNvPr id="3" name="Місце для вмісту 2">
            <a:extLst>
              <a:ext uri="{FF2B5EF4-FFF2-40B4-BE49-F238E27FC236}">
                <a16:creationId xmlns:a16="http://schemas.microsoft.com/office/drawing/2014/main" id="{EE3F9CA7-E933-427E-EA6B-1A25ABED7A50}"/>
              </a:ext>
            </a:extLst>
          </p:cNvPr>
          <p:cNvSpPr>
            <a:spLocks noGrp="1"/>
          </p:cNvSpPr>
          <p:nvPr>
            <p:ph idx="1"/>
          </p:nvPr>
        </p:nvSpPr>
        <p:spPr/>
        <p:txBody>
          <a:bodyPr>
            <a:normAutofit fontScale="85000" lnSpcReduction="20000"/>
          </a:bodyPr>
          <a:lstStyle/>
          <a:p>
            <a:pPr marL="0" indent="0">
              <a:buNone/>
            </a:pPr>
            <a:r>
              <a:rPr lang="uk-UA" dirty="0"/>
              <a:t>Розв’яжемо задачу про моделювання прийняття рішень більшістю у соціальній мережі.</a:t>
            </a:r>
          </a:p>
          <a:p>
            <a:pPr>
              <a:buNone/>
            </a:pPr>
            <a:r>
              <a:rPr lang="uk-UA" dirty="0"/>
              <a:t>У графі соціальної мережі (на прикладі графу клубу карате Захарі) кожна вершина представляє </a:t>
            </a:r>
            <a:r>
              <a:rPr lang="uk-UA" b="1" dirty="0"/>
              <a:t>людину</a:t>
            </a:r>
            <a:r>
              <a:rPr lang="uk-UA" dirty="0"/>
              <a:t>, яка має один з двох можливих станів або думок:</a:t>
            </a:r>
          </a:p>
          <a:p>
            <a:pPr>
              <a:buFont typeface="Arial" panose="020B0604020202020204" pitchFamily="34" charset="0"/>
              <a:buChar char="•"/>
            </a:pPr>
            <a:r>
              <a:rPr lang="uk-UA" b="1" dirty="0"/>
              <a:t>0 — синя думка</a:t>
            </a:r>
            <a:r>
              <a:rPr lang="uk-UA" dirty="0"/>
              <a:t>,</a:t>
            </a:r>
          </a:p>
          <a:p>
            <a:pPr>
              <a:buFont typeface="Arial" panose="020B0604020202020204" pitchFamily="34" charset="0"/>
              <a:buChar char="•"/>
            </a:pPr>
            <a:r>
              <a:rPr lang="uk-UA" b="1" dirty="0"/>
              <a:t>1 — червона думка</a:t>
            </a:r>
            <a:r>
              <a:rPr lang="uk-UA" dirty="0"/>
              <a:t>.</a:t>
            </a:r>
          </a:p>
          <a:p>
            <a:pPr>
              <a:buNone/>
            </a:pPr>
            <a:r>
              <a:rPr lang="uk-UA" dirty="0"/>
              <a:t>На початку кожен учасник випадково обирає свій початковий стан (0 або 1).</a:t>
            </a:r>
          </a:p>
          <a:p>
            <a:pPr>
              <a:buNone/>
            </a:pPr>
            <a:r>
              <a:rPr lang="uk-UA" dirty="0"/>
              <a:t>Далі на кожному кроці часу </a:t>
            </a:r>
            <a:r>
              <a:rPr lang="uk-UA" b="1" dirty="0"/>
              <a:t>всі вершини оновлюють свої стани одночасно</a:t>
            </a:r>
            <a:r>
              <a:rPr lang="uk-UA" dirty="0"/>
              <a:t> за таким правилом:</a:t>
            </a:r>
          </a:p>
          <a:p>
            <a:pPr>
              <a:buFont typeface="Arial" panose="020B0604020202020204" pitchFamily="34" charset="0"/>
              <a:buChar char="•"/>
            </a:pPr>
            <a:r>
              <a:rPr lang="uk-UA" dirty="0"/>
              <a:t>Порахувати загальну кількість однодумців у своїх сусідів і себе.</a:t>
            </a:r>
          </a:p>
          <a:p>
            <a:pPr>
              <a:buFont typeface="Arial" panose="020B0604020202020204" pitchFamily="34" charset="0"/>
              <a:buChar char="•"/>
            </a:pPr>
            <a:r>
              <a:rPr lang="uk-UA" dirty="0"/>
              <a:t>Обчислити частку стану </a:t>
            </a:r>
            <a:r>
              <a:rPr lang="uk-UA" b="1" dirty="0"/>
              <a:t>1</a:t>
            </a:r>
            <a:r>
              <a:rPr lang="uk-UA" dirty="0"/>
              <a:t> серед себе та своїх сусідів.</a:t>
            </a:r>
          </a:p>
          <a:p>
            <a:pPr>
              <a:buFont typeface="Arial" panose="020B0604020202020204" pitchFamily="34" charset="0"/>
              <a:buChar char="•"/>
            </a:pPr>
            <a:r>
              <a:rPr lang="uk-UA" dirty="0"/>
              <a:t>Якщо ця частка &gt; 0.5 → вершина стає </a:t>
            </a:r>
            <a:r>
              <a:rPr lang="uk-UA" b="1" dirty="0"/>
              <a:t>червоною</a:t>
            </a:r>
            <a:r>
              <a:rPr lang="uk-UA" dirty="0"/>
              <a:t> (1).</a:t>
            </a:r>
          </a:p>
          <a:p>
            <a:pPr>
              <a:buFont typeface="Arial" panose="020B0604020202020204" pitchFamily="34" charset="0"/>
              <a:buChar char="•"/>
            </a:pPr>
            <a:r>
              <a:rPr lang="uk-UA" dirty="0"/>
              <a:t>Якщо &lt; 0.5 → стає </a:t>
            </a:r>
            <a:r>
              <a:rPr lang="uk-UA" b="1" dirty="0"/>
              <a:t>синьою</a:t>
            </a:r>
            <a:r>
              <a:rPr lang="uk-UA" dirty="0"/>
              <a:t> (0).</a:t>
            </a:r>
          </a:p>
          <a:p>
            <a:pPr>
              <a:buFont typeface="Arial" panose="020B0604020202020204" pitchFamily="34" charset="0"/>
              <a:buChar char="•"/>
            </a:pPr>
            <a:r>
              <a:rPr lang="uk-UA" dirty="0"/>
              <a:t>Якщо рівно 0.5 → випадковим чином вибирається між 0 та 1.</a:t>
            </a:r>
          </a:p>
        </p:txBody>
      </p:sp>
    </p:spTree>
    <p:extLst>
      <p:ext uri="{BB962C8B-B14F-4D97-AF65-F5344CB8AC3E}">
        <p14:creationId xmlns:p14="http://schemas.microsoft.com/office/powerpoint/2010/main" val="1606533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2F92-9F51-26A3-9577-F9629A722670}"/>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64BE82-3908-DF36-C9F6-D809BBAA19FC}"/>
              </a:ext>
            </a:extLst>
          </p:cNvPr>
          <p:cNvSpPr>
            <a:spLocks noGrp="1"/>
          </p:cNvSpPr>
          <p:nvPr>
            <p:ph type="title"/>
          </p:nvPr>
        </p:nvSpPr>
        <p:spPr/>
        <p:txBody>
          <a:bodyPr/>
          <a:lstStyle/>
          <a:p>
            <a:r>
              <a:rPr lang="uk-UA" dirty="0"/>
              <a:t>Модель виборця</a:t>
            </a:r>
          </a:p>
        </p:txBody>
      </p:sp>
      <p:sp>
        <p:nvSpPr>
          <p:cNvPr id="3" name="Місце для вмісту 2">
            <a:extLst>
              <a:ext uri="{FF2B5EF4-FFF2-40B4-BE49-F238E27FC236}">
                <a16:creationId xmlns:a16="http://schemas.microsoft.com/office/drawing/2014/main" id="{86B4680F-5E59-AA92-6B5E-7F638421045B}"/>
              </a:ext>
            </a:extLst>
          </p:cNvPr>
          <p:cNvSpPr>
            <a:spLocks noGrp="1"/>
          </p:cNvSpPr>
          <p:nvPr>
            <p:ph idx="1"/>
          </p:nvPr>
        </p:nvSpPr>
        <p:spPr/>
        <p:txBody>
          <a:bodyPr/>
          <a:lstStyle/>
          <a:p>
            <a:pPr marL="0" indent="0">
              <a:buNone/>
            </a:pPr>
            <a:r>
              <a:rPr lang="uk-UA" dirty="0"/>
              <a:t>Прикладом моделі з дискретними станами є модель виборця. Фактично - це перегляд моделі динамічної мережі вибору більшості, розробленої вище. Так само, як і в попередній моделі, кожен вузол («виборець») приймає один із скінченних дискретних станів (скажімо, чорно-білий, або червоний і синій - ви можете розглядати це як політичну думку), але правило оновлення інше. Замість того, щоб усі вузли оновлювали свої стани одночасно на основі вибору локальної більшості, модель виборця розглядає лише одну подію передачі думки за один раз між парою підключених вузлів, які випадково обрані з мережі. У цьому сенсі це асинхронна динамічна мережева модель.</a:t>
            </a:r>
          </a:p>
          <a:p>
            <a:pPr marL="0" indent="0">
              <a:buNone/>
            </a:pPr>
            <a:endParaRPr lang="uk-UA" dirty="0"/>
          </a:p>
          <a:p>
            <a:pPr marL="0" indent="0">
              <a:buNone/>
            </a:pPr>
            <a:endParaRPr lang="uk-UA" dirty="0"/>
          </a:p>
        </p:txBody>
      </p:sp>
    </p:spTree>
    <p:extLst>
      <p:ext uri="{BB962C8B-B14F-4D97-AF65-F5344CB8AC3E}">
        <p14:creationId xmlns:p14="http://schemas.microsoft.com/office/powerpoint/2010/main" val="1702179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B294B-06D5-FF48-C407-4C6AF72F03C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3CCB926-592B-04EC-9F18-7B9D424B0624}"/>
              </a:ext>
            </a:extLst>
          </p:cNvPr>
          <p:cNvSpPr>
            <a:spLocks noGrp="1"/>
          </p:cNvSpPr>
          <p:nvPr>
            <p:ph type="title"/>
          </p:nvPr>
        </p:nvSpPr>
        <p:spPr/>
        <p:txBody>
          <a:bodyPr/>
          <a:lstStyle/>
          <a:p>
            <a:r>
              <a:rPr lang="uk-UA" dirty="0"/>
              <a:t>Моделювання динаміки мереж за допомогою графів</a:t>
            </a:r>
          </a:p>
        </p:txBody>
      </p:sp>
      <p:sp>
        <p:nvSpPr>
          <p:cNvPr id="3" name="Місце для вмісту 2">
            <a:extLst>
              <a:ext uri="{FF2B5EF4-FFF2-40B4-BE49-F238E27FC236}">
                <a16:creationId xmlns:a16="http://schemas.microsoft.com/office/drawing/2014/main" id="{41093061-052B-043D-FA9C-D7D76509294A}"/>
              </a:ext>
            </a:extLst>
          </p:cNvPr>
          <p:cNvSpPr>
            <a:spLocks noGrp="1"/>
          </p:cNvSpPr>
          <p:nvPr>
            <p:ph idx="1"/>
          </p:nvPr>
        </p:nvSpPr>
        <p:spPr/>
        <p:txBody>
          <a:bodyPr>
            <a:normAutofit fontScale="92500" lnSpcReduction="20000"/>
          </a:bodyPr>
          <a:lstStyle/>
          <a:p>
            <a:pPr marL="0" indent="0">
              <a:buNone/>
            </a:pPr>
            <a:r>
              <a:rPr lang="uk-UA" dirty="0"/>
              <a:t>Існує три незначні варіації того, як вибираються ці вузли:</a:t>
            </a:r>
          </a:p>
          <a:p>
            <a:pPr marL="0" indent="0">
              <a:buNone/>
            </a:pPr>
            <a:endParaRPr lang="uk-UA" dirty="0"/>
          </a:p>
          <a:p>
            <a:pPr marL="0" indent="0">
              <a:buNone/>
            </a:pPr>
            <a:r>
              <a:rPr lang="uk-UA" dirty="0">
                <a:solidFill>
                  <a:srgbClr val="FFC000"/>
                </a:solidFill>
              </a:rPr>
              <a:t>Оригінальна версія («перетягування»)</a:t>
            </a:r>
            <a:r>
              <a:rPr lang="uk-UA" dirty="0"/>
              <a:t>: Спочатку вузол «слухач» вибирається випадковим чином з мережі, а потім вузол «динамік» вибирається випадковим чином з сусідів слухача.</a:t>
            </a:r>
          </a:p>
          <a:p>
            <a:pPr marL="0" indent="0">
              <a:buNone/>
            </a:pPr>
            <a:r>
              <a:rPr lang="uk-UA" dirty="0">
                <a:solidFill>
                  <a:srgbClr val="FFC000"/>
                </a:solidFill>
              </a:rPr>
              <a:t>Зворотна версія («поштовх») </a:t>
            </a:r>
            <a:r>
              <a:rPr lang="uk-UA" dirty="0"/>
              <a:t>: Спочатку з мережі випадковим чином вибирається вузол «динамік», а потім випадковим чином вибирається вузол «слухача» з сусідів динаміка.</a:t>
            </a:r>
          </a:p>
          <a:p>
            <a:pPr marL="0" indent="0">
              <a:buNone/>
            </a:pPr>
            <a:r>
              <a:rPr lang="en-US" dirty="0">
                <a:solidFill>
                  <a:srgbClr val="FFC000"/>
                </a:solidFill>
              </a:rPr>
              <a:t>Edge based (</a:t>
            </a:r>
            <a:r>
              <a:rPr lang="uk-UA" dirty="0">
                <a:solidFill>
                  <a:srgbClr val="FFC000"/>
                </a:solidFill>
              </a:rPr>
              <a:t>симетрична) версія</a:t>
            </a:r>
            <a:r>
              <a:rPr lang="uk-UA" dirty="0"/>
              <a:t>: Спочатку ребро вибирається випадковим чином з мережі, а потім дві кінцеві точки (вузли) краю випадковим чином призначаються як «динамік» і «слухач».</a:t>
            </a:r>
          </a:p>
          <a:p>
            <a:pPr marL="0" indent="0">
              <a:buNone/>
            </a:pPr>
            <a:r>
              <a:rPr lang="uk-UA" dirty="0"/>
              <a:t>У будь-якому випадку вузол «слухач» копіює стан вузла «динамік». Це повторюється кілька разів, поки вся мережа не досягне консенсусу з гомогенізованим станом.</a:t>
            </a:r>
          </a:p>
          <a:p>
            <a:pPr marL="0" indent="0">
              <a:buNone/>
            </a:pPr>
            <a:r>
              <a:rPr lang="uk-UA" dirty="0"/>
              <a:t>Розглянемо на прикладі версію для моделі з перетягуванням.</a:t>
            </a:r>
          </a:p>
        </p:txBody>
      </p:sp>
    </p:spTree>
    <p:extLst>
      <p:ext uri="{BB962C8B-B14F-4D97-AF65-F5344CB8AC3E}">
        <p14:creationId xmlns:p14="http://schemas.microsoft.com/office/powerpoint/2010/main" val="222810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E09E83-1398-B260-02A4-6563E8A5C4CE}"/>
              </a:ext>
            </a:extLst>
          </p:cNvPr>
          <p:cNvSpPr>
            <a:spLocks noGrp="1"/>
          </p:cNvSpPr>
          <p:nvPr>
            <p:ph type="title"/>
          </p:nvPr>
        </p:nvSpPr>
        <p:spPr/>
        <p:txBody>
          <a:bodyPr/>
          <a:lstStyle/>
          <a:p>
            <a:r>
              <a:rPr lang="uk-UA" dirty="0"/>
              <a:t>Епідемічна модель в мережі</a:t>
            </a:r>
          </a:p>
        </p:txBody>
      </p:sp>
      <mc:AlternateContent xmlns:mc="http://schemas.openxmlformats.org/markup-compatibility/2006" xmlns:a14="http://schemas.microsoft.com/office/drawing/2010/main">
        <mc:Choice Requires="a14">
          <p:sp>
            <p:nvSpPr>
              <p:cNvPr id="3" name="Місце для вмісту 2">
                <a:extLst>
                  <a:ext uri="{FF2B5EF4-FFF2-40B4-BE49-F238E27FC236}">
                    <a16:creationId xmlns:a16="http://schemas.microsoft.com/office/drawing/2014/main" id="{6DB96D44-4951-7F80-2404-16E492CAFF15}"/>
                  </a:ext>
                </a:extLst>
              </p:cNvPr>
              <p:cNvSpPr>
                <a:spLocks noGrp="1"/>
              </p:cNvSpPr>
              <p:nvPr>
                <p:ph idx="1"/>
              </p:nvPr>
            </p:nvSpPr>
            <p:spPr/>
            <p:txBody>
              <a:bodyPr>
                <a:normAutofit/>
              </a:bodyPr>
              <a:lstStyle/>
              <a:p>
                <a:pPr marL="0" indent="0">
                  <a:buNone/>
                </a:pPr>
                <a:r>
                  <a:rPr lang="uk-UA" dirty="0"/>
                  <a:t>Ще одним прикладом дискретних моделей динамічної мережі стану є </a:t>
                </a:r>
                <a:r>
                  <a:rPr lang="uk-UA" dirty="0">
                    <a:solidFill>
                      <a:schemeClr val="accent2"/>
                    </a:solidFill>
                  </a:rPr>
                  <a:t>епідемічна модель в мережі</a:t>
                </a:r>
                <a:r>
                  <a:rPr lang="uk-UA" dirty="0"/>
                  <a:t>. Розглянемо модель </a:t>
                </a:r>
                <a:r>
                  <a:rPr lang="uk-UA" dirty="0">
                    <a:solidFill>
                      <a:schemeClr val="accent2"/>
                    </a:solidFill>
                  </a:rPr>
                  <a:t>сприйнятливості-зараженості-чутливості (</a:t>
                </a:r>
                <a:r>
                  <a:rPr lang="en-US" dirty="0">
                    <a:solidFill>
                      <a:schemeClr val="accent2"/>
                    </a:solidFill>
                  </a:rPr>
                  <a:t>SIS)</a:t>
                </a:r>
                <a:r>
                  <a:rPr lang="uk-UA" dirty="0"/>
                  <a:t>. У моделі </a:t>
                </a:r>
                <a:r>
                  <a:rPr lang="en-US" dirty="0"/>
                  <a:t>SIS </a:t>
                </a:r>
                <a:r>
                  <a:rPr lang="uk-UA" dirty="0"/>
                  <a:t>є всього два стани: </a:t>
                </a:r>
                <a:r>
                  <a:rPr lang="uk-UA" b="1" i="1" dirty="0"/>
                  <a:t>Сприйнятливий</a:t>
                </a:r>
                <a:r>
                  <a:rPr lang="uk-UA" dirty="0"/>
                  <a:t> і </a:t>
                </a:r>
                <a:r>
                  <a:rPr lang="uk-UA" b="1" i="1" dirty="0"/>
                  <a:t>Інфікований</a:t>
                </a:r>
                <a:r>
                  <a:rPr lang="uk-UA" dirty="0"/>
                  <a:t>. </a:t>
                </a:r>
              </a:p>
              <a:p>
                <a:pPr marL="0" indent="0">
                  <a:buNone/>
                </a:pPr>
                <a:r>
                  <a:rPr lang="uk-UA" dirty="0"/>
                  <a:t>Сприйнятливий вузол може заразитися від зараженого сусідського вузла з ймовірністю зараження </a:t>
                </a:r>
                <a14:m>
                  <m:oMath xmlns:m="http://schemas.openxmlformats.org/officeDocument/2006/math">
                    <m:sSub>
                      <m:sSubPr>
                        <m:ctrlPr>
                          <a:rPr lang="uk-UA" b="0"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𝑖</m:t>
                        </m:r>
                      </m:sub>
                    </m:sSub>
                  </m:oMath>
                </a14:m>
                <a:r>
                  <a:rPr lang="uk-UA" dirty="0"/>
                  <a:t> </a:t>
                </a:r>
                <a:r>
                  <a:rPr lang="en-US" dirty="0"/>
                  <a:t>(</a:t>
                </a:r>
                <a:r>
                  <a:rPr lang="uk-UA" dirty="0"/>
                  <a:t>на зараженого сусіда), в той час як заражений вузол може відновитися назад до чутливого вузла (тобто не набутий імунітет) з ймовірністю відновлення </a:t>
                </a:r>
                <a14:m>
                  <m:oMath xmlns:m="http://schemas.openxmlformats.org/officeDocument/2006/math">
                    <m:sSub>
                      <m:sSubPr>
                        <m:ctrlPr>
                          <a:rPr lang="uk-UA" b="0"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𝑟</m:t>
                        </m:r>
                      </m:sub>
                    </m:sSub>
                  </m:oMath>
                </a14:m>
                <a:r>
                  <a:rPr lang="uk-UA" dirty="0"/>
                  <a:t>. Цей параметр розміщує все в двійкових станах (сприйнятливий чи інфікований), як і у попередніх прикладах, тому можна переробляти коди, розроблені перед тим.</a:t>
                </a:r>
              </a:p>
              <a:p>
                <a:pPr marL="0" indent="0">
                  <a:buNone/>
                </a:pPr>
                <a:endParaRPr lang="uk-UA" dirty="0"/>
              </a:p>
              <a:p>
                <a:pPr marL="0" indent="0">
                  <a:buNone/>
                </a:pPr>
                <a:endParaRPr lang="uk-UA" dirty="0"/>
              </a:p>
            </p:txBody>
          </p:sp>
        </mc:Choice>
        <mc:Fallback xmlns="">
          <p:sp>
            <p:nvSpPr>
              <p:cNvPr id="3" name="Місце для вмісту 2">
                <a:extLst>
                  <a:ext uri="{FF2B5EF4-FFF2-40B4-BE49-F238E27FC236}">
                    <a16:creationId xmlns:a16="http://schemas.microsoft.com/office/drawing/2014/main" id="{6DB96D44-4951-7F80-2404-16E492CAFF15}"/>
                  </a:ext>
                </a:extLst>
              </p:cNvPr>
              <p:cNvSpPr>
                <a:spLocks noGrp="1" noRot="1" noChangeAspect="1" noMove="1" noResize="1" noEditPoints="1" noAdjustHandles="1" noChangeArrowheads="1" noChangeShapeType="1" noTextEdit="1"/>
              </p:cNvSpPr>
              <p:nvPr>
                <p:ph idx="1"/>
              </p:nvPr>
            </p:nvSpPr>
            <p:spPr>
              <a:blipFill>
                <a:blip r:embed="rId2"/>
                <a:stretch>
                  <a:fillRect l="-732" t="-1970" r="-225"/>
                </a:stretch>
              </a:blipFill>
            </p:spPr>
            <p:txBody>
              <a:bodyPr/>
              <a:lstStyle/>
              <a:p>
                <a:r>
                  <a:rPr lang="uk-UA">
                    <a:noFill/>
                  </a:rPr>
                  <a:t> </a:t>
                </a:r>
              </a:p>
            </p:txBody>
          </p:sp>
        </mc:Fallback>
      </mc:AlternateContent>
    </p:spTree>
    <p:extLst>
      <p:ext uri="{BB962C8B-B14F-4D97-AF65-F5344CB8AC3E}">
        <p14:creationId xmlns:p14="http://schemas.microsoft.com/office/powerpoint/2010/main" val="1860877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DFADFB3-3D44-49A8-AE3B-A87C61607F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pic>
        <p:nvPicPr>
          <p:cNvPr id="23" name="Picture 22">
            <a:extLst>
              <a:ext uri="{FF2B5EF4-FFF2-40B4-BE49-F238E27FC236}">
                <a16:creationId xmlns:a16="http://schemas.microsoft.com/office/drawing/2014/main" id="{BB912AE0-CAD9-4F8F-A2A2-BDF07D4EDD2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useBgFill="1">
        <p:nvSpPr>
          <p:cNvPr id="25" name="Rectangle 24">
            <a:extLst>
              <a:ext uri="{FF2B5EF4-FFF2-40B4-BE49-F238E27FC236}">
                <a16:creationId xmlns:a16="http://schemas.microsoft.com/office/drawing/2014/main" id="{BD7C2DEF-63C5-495B-BBE5-720E5D12B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FE21E403-0B61-4473-BE57-AB0F163796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Заголовок 1">
            <a:extLst>
              <a:ext uri="{FF2B5EF4-FFF2-40B4-BE49-F238E27FC236}">
                <a16:creationId xmlns:a16="http://schemas.microsoft.com/office/drawing/2014/main" id="{74CB51CA-E719-0DFD-3F7C-49FB09AD73B2}"/>
              </a:ext>
            </a:extLst>
          </p:cNvPr>
          <p:cNvSpPr>
            <a:spLocks noGrp="1"/>
          </p:cNvSpPr>
          <p:nvPr>
            <p:ph type="title"/>
          </p:nvPr>
        </p:nvSpPr>
        <p:spPr>
          <a:xfrm>
            <a:off x="636696" y="643464"/>
            <a:ext cx="3761964" cy="3273061"/>
          </a:xfrm>
          <a:noFill/>
          <a:ln w="19050">
            <a:noFill/>
            <a:prstDash val="dash"/>
          </a:ln>
        </p:spPr>
        <p:txBody>
          <a:bodyPr vert="horz" lIns="91440" tIns="45720" rIns="91440" bIns="45720" rtlCol="0" anchor="b">
            <a:normAutofit/>
          </a:bodyPr>
          <a:lstStyle/>
          <a:p>
            <a:r>
              <a:rPr lang="en-US" sz="4800"/>
              <a:t>Q &amp; A</a:t>
            </a:r>
          </a:p>
        </p:txBody>
      </p:sp>
      <p:pic>
        <p:nvPicPr>
          <p:cNvPr id="5" name="Місце для вмісту 4" descr="Strong O Fox">
            <a:extLst>
              <a:ext uri="{FF2B5EF4-FFF2-40B4-BE49-F238E27FC236}">
                <a16:creationId xmlns:a16="http://schemas.microsoft.com/office/drawing/2014/main" id="{1A23A9A9-1590-F16D-61CD-510A7516E462}"/>
              </a:ext>
            </a:extLst>
          </p:cNvPr>
          <p:cNvPicPr>
            <a:picLocks noChangeAspect="1"/>
          </p:cNvPicPr>
          <p:nvPr/>
        </p:nvPicPr>
        <p:blipFill>
          <a:blip r:embed="rId4">
            <a:extLst>
              <a:ext uri="{28A0092B-C50C-407E-A947-70E740481C1C}">
                <a14:useLocalDpi xmlns:a14="http://schemas.microsoft.com/office/drawing/2010/main" val="0"/>
              </a:ext>
            </a:extLst>
          </a:blip>
          <a:srcRect r="1" b="1632"/>
          <a:stretch/>
        </p:blipFill>
        <p:spPr>
          <a:xfrm>
            <a:off x="5535692" y="941122"/>
            <a:ext cx="5199858" cy="5115048"/>
          </a:xfrm>
          <a:prstGeom prst="rect">
            <a:avLst/>
          </a:prstGeom>
        </p:spPr>
      </p:pic>
    </p:spTree>
    <p:extLst>
      <p:ext uri="{BB962C8B-B14F-4D97-AF65-F5344CB8AC3E}">
        <p14:creationId xmlns:p14="http://schemas.microsoft.com/office/powerpoint/2010/main" val="3435524157"/>
      </p:ext>
    </p:extLst>
  </p:cSld>
  <p:clrMapOvr>
    <a:masterClrMapping/>
  </p:clrMapOvr>
</p:sld>
</file>

<file path=ppt/theme/theme1.xml><?xml version="1.0" encoding="utf-8"?>
<a:theme xmlns:a="http://schemas.openxmlformats.org/drawingml/2006/main" name="Туман">
  <a:themeElements>
    <a:clrScheme name="Туман">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Туман">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уман">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Туман</Template>
  <TotalTime>639</TotalTime>
  <Words>2426</Words>
  <Application>Microsoft Office PowerPoint</Application>
  <PresentationFormat>Широкий екран</PresentationFormat>
  <Paragraphs>112</Paragraphs>
  <Slides>25</Slides>
  <Notes>0</Notes>
  <HiddenSlides>0</HiddenSlides>
  <MMClips>0</MMClips>
  <ScaleCrop>false</ScaleCrop>
  <HeadingPairs>
    <vt:vector size="6" baseType="variant">
      <vt:variant>
        <vt:lpstr>Використані шрифти</vt:lpstr>
      </vt:variant>
      <vt:variant>
        <vt:i4>5</vt:i4>
      </vt:variant>
      <vt:variant>
        <vt:lpstr>Тема</vt:lpstr>
      </vt:variant>
      <vt:variant>
        <vt:i4>1</vt:i4>
      </vt:variant>
      <vt:variant>
        <vt:lpstr>Заголовки слайдів</vt:lpstr>
      </vt:variant>
      <vt:variant>
        <vt:i4>25</vt:i4>
      </vt:variant>
    </vt:vector>
  </HeadingPairs>
  <TitlesOfParts>
    <vt:vector size="31" baseType="lpstr">
      <vt:lpstr>Arial</vt:lpstr>
      <vt:lpstr>Cambria Math</vt:lpstr>
      <vt:lpstr>Century Gothic</vt:lpstr>
      <vt:lpstr>JetBrains Mono Medium</vt:lpstr>
      <vt:lpstr>Wingdings</vt:lpstr>
      <vt:lpstr>Туман</vt:lpstr>
      <vt:lpstr>Лекція 8</vt:lpstr>
      <vt:lpstr>Що таке Граф?</vt:lpstr>
      <vt:lpstr>Що таке Граф?</vt:lpstr>
      <vt:lpstr>Що таке Граф?</vt:lpstr>
      <vt:lpstr>Що таке Граф?</vt:lpstr>
      <vt:lpstr>Види Графів</vt:lpstr>
      <vt:lpstr>Способи подання графів</vt:lpstr>
      <vt:lpstr>Степені вершин</vt:lpstr>
      <vt:lpstr> Networkx</vt:lpstr>
      <vt:lpstr>Створення графів</vt:lpstr>
      <vt:lpstr>Створення Графів</vt:lpstr>
      <vt:lpstr>Створення графів</vt:lpstr>
      <vt:lpstr>Створення Графів</vt:lpstr>
      <vt:lpstr>Створення Графів</vt:lpstr>
      <vt:lpstr>Створення графів</vt:lpstr>
      <vt:lpstr>Атрибути графів</vt:lpstr>
      <vt:lpstr>Генератори графів</vt:lpstr>
      <vt:lpstr>модель клубу карате Захарі (Zachary’s Karate Club)</vt:lpstr>
      <vt:lpstr>Моделювання динаміки мереж за допомогою графів</vt:lpstr>
      <vt:lpstr>Моделювання динаміки мереж за допомогою графів</vt:lpstr>
      <vt:lpstr>Моделювання динаміки мереж за допомогою графів</vt:lpstr>
      <vt:lpstr>Модель виборця</vt:lpstr>
      <vt:lpstr>Моделювання динаміки мереж за допомогою графів</vt:lpstr>
      <vt:lpstr>Епідемічна модель в мережі</vt:lpstr>
      <vt:lpstr>Q &amp;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Олександра Лисецька</dc:creator>
  <cp:lastModifiedBy>Олександра Лисецька</cp:lastModifiedBy>
  <cp:revision>5</cp:revision>
  <dcterms:created xsi:type="dcterms:W3CDTF">2025-04-09T07:26:12Z</dcterms:created>
  <dcterms:modified xsi:type="dcterms:W3CDTF">2026-04-03T10:45:08Z</dcterms:modified>
</cp:coreProperties>
</file>