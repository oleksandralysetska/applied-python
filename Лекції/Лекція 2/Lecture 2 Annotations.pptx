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90" r:id="rId4"/>
    <p:sldId id="282" r:id="rId5"/>
    <p:sldId id="283" r:id="rId6"/>
    <p:sldId id="293" r:id="rId7"/>
    <p:sldId id="258" r:id="rId8"/>
    <p:sldId id="263" r:id="rId9"/>
    <p:sldId id="262" r:id="rId10"/>
    <p:sldId id="260" r:id="rId11"/>
    <p:sldId id="271" r:id="rId12"/>
    <p:sldId id="270" r:id="rId13"/>
    <p:sldId id="276" r:id="rId14"/>
    <p:sldId id="272" r:id="rId15"/>
    <p:sldId id="261" r:id="rId16"/>
    <p:sldId id="273" r:id="rId17"/>
    <p:sldId id="274" r:id="rId18"/>
    <p:sldId id="264" r:id="rId19"/>
    <p:sldId id="275" r:id="rId20"/>
    <p:sldId id="265" r:id="rId21"/>
    <p:sldId id="266" r:id="rId22"/>
    <p:sldId id="267" r:id="rId23"/>
    <p:sldId id="268" r:id="rId24"/>
    <p:sldId id="277" r:id="rId25"/>
    <p:sldId id="278" r:id="rId26"/>
    <p:sldId id="288" r:id="rId27"/>
    <p:sldId id="286" r:id="rId28"/>
    <p:sldId id="285" r:id="rId29"/>
    <p:sldId id="287" r:id="rId30"/>
    <p:sldId id="279" r:id="rId31"/>
    <p:sldId id="28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D9315A0A-038D-43E6-B5CF-EF5EA0D7F271}">
          <p14:sldIdLst>
            <p14:sldId id="256"/>
          </p14:sldIdLst>
        </p14:section>
        <p14:section name="Розділ 1" id="{9270B254-700D-4194-A724-B37DC12FAFA1}">
          <p14:sldIdLst>
            <p14:sldId id="257"/>
            <p14:sldId id="290"/>
            <p14:sldId id="282"/>
            <p14:sldId id="283"/>
            <p14:sldId id="293"/>
          </p14:sldIdLst>
        </p14:section>
        <p14:section name="Основи анотування" id="{290E2A37-BC1B-4FC5-B33D-97811730E1F0}">
          <p14:sldIdLst>
            <p14:sldId id="258"/>
            <p14:sldId id="263"/>
            <p14:sldId id="262"/>
            <p14:sldId id="260"/>
            <p14:sldId id="271"/>
            <p14:sldId id="270"/>
            <p14:sldId id="276"/>
            <p14:sldId id="272"/>
            <p14:sldId id="261"/>
            <p14:sldId id="273"/>
            <p14:sldId id="274"/>
            <p14:sldId id="264"/>
            <p14:sldId id="275"/>
            <p14:sldId id="265"/>
            <p14:sldId id="266"/>
            <p14:sldId id="267"/>
            <p14:sldId id="268"/>
            <p14:sldId id="277"/>
            <p14:sldId id="278"/>
            <p14:sldId id="288"/>
            <p14:sldId id="286"/>
            <p14:sldId id="285"/>
            <p14:sldId id="287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125" d="100"/>
          <a:sy n="125" d="100"/>
        </p:scale>
        <p:origin x="-1162" y="-18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uk-UA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64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106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uk-UA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0714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4922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89646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439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629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2116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9656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0798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640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326C680-9005-4008-865E-4102FCB20ED4}" type="datetimeFigureOut">
              <a:rPr lang="uk-UA" smtClean="0"/>
              <a:t>19.02.2026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uk-UA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50C48BC-6601-4CB0-A3D2-2760BEC52CC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848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8035907-EB9C-4E11-8A9B-D25B0AD8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BD4AF-7DE7-F7CF-D457-AD581ED84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6516241" cy="5571066"/>
          </a:xfrm>
        </p:spPr>
        <p:txBody>
          <a:bodyPr>
            <a:normAutofit/>
          </a:bodyPr>
          <a:lstStyle/>
          <a:p>
            <a:pPr algn="r"/>
            <a:r>
              <a:rPr lang="uk-UA" sz="6800" dirty="0"/>
              <a:t>Лекція 2. </a:t>
            </a:r>
            <a:br>
              <a:rPr lang="uk-UA" sz="6800" dirty="0"/>
            </a:br>
            <a:r>
              <a:rPr lang="en-US" sz="6800" dirty="0"/>
              <a:t>Type   Annotations</a:t>
            </a:r>
            <a:endParaRPr lang="uk-UA" sz="6800" dirty="0"/>
          </a:p>
        </p:txBody>
      </p:sp>
      <p:sp>
        <p:nvSpPr>
          <p:cNvPr id="43" name="Rectangle 30">
            <a:extLst>
              <a:ext uri="{FF2B5EF4-FFF2-40B4-BE49-F238E27FC236}">
                <a16:creationId xmlns:a16="http://schemas.microsoft.com/office/drawing/2014/main" id="{D9C69FA7-0958-4ED9-A0DF-E87A0C13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02709" y="3388657"/>
            <a:ext cx="36576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grpSp>
        <p:nvGrpSpPr>
          <p:cNvPr id="44" name="Group 32">
            <a:extLst>
              <a:ext uri="{FF2B5EF4-FFF2-40B4-BE49-F238E27FC236}">
                <a16:creationId xmlns:a16="http://schemas.microsoft.com/office/drawing/2014/main" id="{FDB0A998-A5C6-45CB-ACF3-1CF63992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33595" y="1903304"/>
            <a:ext cx="3051394" cy="3051388"/>
            <a:chOff x="7933595" y="1903304"/>
            <a:chExt cx="3051394" cy="3051388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AB5B6FA-7B4F-437A-9C78-144C7DCD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33595" y="1903304"/>
              <a:ext cx="3051394" cy="3051388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5" name="Oval 34">
              <a:extLst>
                <a:ext uri="{FF2B5EF4-FFF2-40B4-BE49-F238E27FC236}">
                  <a16:creationId xmlns:a16="http://schemas.microsoft.com/office/drawing/2014/main" id="{A4199C21-6AE0-4F6F-AA96-6FFF97BB9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95024" y="2064730"/>
              <a:ext cx="2728540" cy="272853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1" name="Швидкий перехід до слайда 20">
                <a:extLst>
                  <a:ext uri="{FF2B5EF4-FFF2-40B4-BE49-F238E27FC236}">
                    <a16:creationId xmlns:a16="http://schemas.microsoft.com/office/drawing/2014/main" id="{B63B8F7B-E230-F735-9100-6F24A56421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649734"/>
                  </p:ext>
                </p:extLst>
              </p:nvPr>
            </p:nvGraphicFramePr>
            <p:xfrm>
              <a:off x="7491167" y="954341"/>
              <a:ext cx="8798778" cy="4949313"/>
            </p:xfrm>
            <a:graphic>
              <a:graphicData uri="http://schemas.microsoft.com/office/powerpoint/2016/slidezoom">
                <pslz:sldZm>
                  <pslz:sldZmObj sldId="257" cId="2667305979">
                    <pslz:zmPr id="{81D421FB-9CD1-4E6D-AEC0-41B26BA47637}" returnToParent="0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798778" cy="494931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1" name="Швидкий перехід до слайда 2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B63B8F7B-E230-F735-9100-6F24A564213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91167" y="954341"/>
                <a:ext cx="8798778" cy="49493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6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730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265D2-B89E-E5E2-233F-559F63B9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E64652B2-66B2-D8D0-5FF8-287BEAF4E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A4FD63-0FB1-60B6-6D43-51ED1D952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0BDA93F-DAE6-75E9-61E0-7649953AE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00A0BB-3BB8-8935-1CC6-17B78898A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8F9AC-DCF5-2080-DB54-05ED4377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uk-UA" sz="2800" dirty="0">
                <a:solidFill>
                  <a:schemeClr val="tx1"/>
                </a:solidFill>
              </a:rPr>
              <a:t>Для чого потрібне анотування типів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732F98-82A7-8763-67F8-89B4E5F2B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6AC219D-94C3-49AF-A7B7-978A8145C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089" y="521110"/>
            <a:ext cx="5142658" cy="561149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dirty="0"/>
              <a:t>Анотація типів у </a:t>
            </a:r>
            <a:r>
              <a:rPr lang="en-US" dirty="0"/>
              <a:t>Python </a:t>
            </a:r>
            <a:r>
              <a:rPr lang="uk-UA" dirty="0"/>
              <a:t>була запроваджена у версії 3.5 як спосіб зробити код зрозумілішим і зменшити кількість потенційних помилок. Хоча </a:t>
            </a:r>
            <a:r>
              <a:rPr lang="en-US" dirty="0"/>
              <a:t>Python </a:t>
            </a:r>
            <a:r>
              <a:rPr lang="uk-UA" dirty="0"/>
              <a:t>залишається </a:t>
            </a:r>
            <a:r>
              <a:rPr lang="uk-UA" dirty="0" err="1"/>
              <a:t>динамічно</a:t>
            </a:r>
            <a:r>
              <a:rPr lang="uk-UA" dirty="0"/>
              <a:t> типізованою мовою, анотації допомагають розробникам і статичним аналізаторам, таким як </a:t>
            </a:r>
            <a:r>
              <a:rPr lang="en-US" dirty="0" err="1"/>
              <a:t>MyPy</a:t>
            </a:r>
            <a:r>
              <a:rPr lang="en-US" dirty="0"/>
              <a:t>, </a:t>
            </a:r>
            <a:r>
              <a:rPr lang="uk-UA" dirty="0"/>
              <a:t>перевіряти коректність коду.</a:t>
            </a:r>
            <a:endParaRPr lang="en-US" dirty="0"/>
          </a:p>
          <a:p>
            <a:pPr marL="0" indent="0">
              <a:buNone/>
            </a:pPr>
            <a:r>
              <a:rPr lang="uk-UA" dirty="0"/>
              <a:t>Зазвичай анотування типів використовується для:</a:t>
            </a:r>
          </a:p>
          <a:p>
            <a:pPr>
              <a:buClr>
                <a:srgbClr val="FF0000"/>
              </a:buClr>
              <a:buFont typeface="Webdings" panose="05030102010509060703" pitchFamily="18" charset="2"/>
              <a:buChar char=""/>
            </a:pPr>
            <a:r>
              <a:rPr lang="uk-UA" dirty="0"/>
              <a:t>Зручності сприйняття стороннього коду;</a:t>
            </a:r>
          </a:p>
          <a:p>
            <a:pPr>
              <a:buClr>
                <a:srgbClr val="FF0000"/>
              </a:buClr>
              <a:buFont typeface="Webdings" panose="05030102010509060703" pitchFamily="18" charset="2"/>
              <a:buChar char=""/>
            </a:pPr>
            <a:r>
              <a:rPr lang="uk-UA" dirty="0"/>
              <a:t>Зручного редагування коду, коли </a:t>
            </a:r>
            <a:r>
              <a:rPr lang="en-US" dirty="0"/>
              <a:t>IDE </a:t>
            </a:r>
            <a:r>
              <a:rPr lang="uk-UA" dirty="0"/>
              <a:t>«підказує» про можливу помилку;</a:t>
            </a:r>
          </a:p>
          <a:p>
            <a:pPr>
              <a:buClr>
                <a:srgbClr val="FF0000"/>
              </a:buClr>
              <a:buFont typeface="Webdings" panose="05030102010509060703" pitchFamily="18" charset="2"/>
              <a:buChar char=""/>
            </a:pPr>
            <a:r>
              <a:rPr lang="uk-UA" dirty="0"/>
              <a:t>Відслідковування деяких явних помилок на рівні невідповідності типів.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2116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D80A9-5B6B-FC95-6D51-DA6E890F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Для чого потрібне анотування типів</a:t>
            </a:r>
          </a:p>
        </p:txBody>
      </p:sp>
      <p:pic>
        <p:nvPicPr>
          <p:cNvPr id="5" name="Рисунок 4" descr="Зображення, що містить текст, знімок екрана, Шрифт, число  Вміст, створений ШІ, може бути неправильним.">
            <a:extLst>
              <a:ext uri="{FF2B5EF4-FFF2-40B4-BE49-F238E27FC236}">
                <a16:creationId xmlns:a16="http://schemas.microsoft.com/office/drawing/2014/main" id="{D8C46B08-AD57-2790-7779-B2BE805CF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55" y="2492437"/>
            <a:ext cx="5019489" cy="1873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471172-A981-D395-7611-852D45922715}"/>
              </a:ext>
            </a:extLst>
          </p:cNvPr>
          <p:cNvSpPr txBox="1"/>
          <p:nvPr/>
        </p:nvSpPr>
        <p:spPr>
          <a:xfrm>
            <a:off x="6789684" y="2492437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Нехай потрібно написати функцію, яка приймає масив чисел та повертає перший ненульовий елемент</a:t>
            </a:r>
          </a:p>
        </p:txBody>
      </p:sp>
      <p:pic>
        <p:nvPicPr>
          <p:cNvPr id="3" name="Рисунок 2" descr="Зображення, що містить текст, знімок екрана, Шрифт, число  Вміст, створений ШІ, може бути неправильним.">
            <a:extLst>
              <a:ext uri="{FF2B5EF4-FFF2-40B4-BE49-F238E27FC236}">
                <a16:creationId xmlns:a16="http://schemas.microsoft.com/office/drawing/2014/main" id="{AC8C99DB-8ADD-FEFB-CD81-1F6200B55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2588" y="2093976"/>
            <a:ext cx="5056775" cy="1873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0494C5-60D5-77BF-C113-64C5EB78F650}"/>
              </a:ext>
            </a:extLst>
          </p:cNvPr>
          <p:cNvSpPr txBox="1"/>
          <p:nvPr/>
        </p:nvSpPr>
        <p:spPr>
          <a:xfrm>
            <a:off x="-2504212" y="4365563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Неправильна версія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0F097-420E-301F-A708-B602A1703FBA}"/>
              </a:ext>
            </a:extLst>
          </p:cNvPr>
          <p:cNvSpPr txBox="1"/>
          <p:nvPr/>
        </p:nvSpPr>
        <p:spPr>
          <a:xfrm>
            <a:off x="13246672" y="4365563"/>
            <a:ext cx="221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Правильна версія</a:t>
            </a:r>
          </a:p>
        </p:txBody>
      </p:sp>
    </p:spTree>
    <p:extLst>
      <p:ext uri="{BB962C8B-B14F-4D97-AF65-F5344CB8AC3E}">
        <p14:creationId xmlns:p14="http://schemas.microsoft.com/office/powerpoint/2010/main" val="408615112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1"/>
      <p:bldP spid="6" grpId="2"/>
      <p:bldP spid="3" grpId="0"/>
      <p:bldP spid="4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AF442-9F5C-7823-D0CF-601E624C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Зображення, що містить текст, знімок екрана, Шрифт, число  Вміст, створений ШІ, може бути неправильним.">
            <a:extLst>
              <a:ext uri="{FF2B5EF4-FFF2-40B4-BE49-F238E27FC236}">
                <a16:creationId xmlns:a16="http://schemas.microsoft.com/office/drawing/2014/main" id="{D6C6AC95-0DCA-1835-AB43-D9151001A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658" y="2492438"/>
            <a:ext cx="5056775" cy="1873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7A9CBF-58C3-9F22-816C-46E6FB5325B9}"/>
              </a:ext>
            </a:extLst>
          </p:cNvPr>
          <p:cNvSpPr txBox="1"/>
          <p:nvPr/>
        </p:nvSpPr>
        <p:spPr>
          <a:xfrm>
            <a:off x="1505486" y="4565258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Неправильна версія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39D85-F7D4-97BF-AFEC-73528FB52E66}"/>
              </a:ext>
            </a:extLst>
          </p:cNvPr>
          <p:cNvSpPr txBox="1"/>
          <p:nvPr/>
        </p:nvSpPr>
        <p:spPr>
          <a:xfrm>
            <a:off x="8207209" y="4535070"/>
            <a:ext cx="221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Правильна версія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88455C-A381-9AEB-D8CA-F3AE222D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/>
          <a:lstStyle/>
          <a:p>
            <a:r>
              <a:rPr lang="uk-UA" dirty="0"/>
              <a:t>Для чого потрібне анотування типів</a:t>
            </a:r>
          </a:p>
        </p:txBody>
      </p:sp>
      <p:pic>
        <p:nvPicPr>
          <p:cNvPr id="10" name="Рисунок 9" descr="Зображення, що містить текст, знімок екрана, Шрифт, число  Вміст, створений ШІ, може бути неправильним.">
            <a:extLst>
              <a:ext uri="{FF2B5EF4-FFF2-40B4-BE49-F238E27FC236}">
                <a16:creationId xmlns:a16="http://schemas.microsoft.com/office/drawing/2014/main" id="{69B4BB44-001C-87EA-FE6A-679E8129F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54" y="2492438"/>
            <a:ext cx="5019489" cy="18731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7E8721-5725-5614-B74C-818EA98DA464}"/>
              </a:ext>
            </a:extLst>
          </p:cNvPr>
          <p:cNvSpPr txBox="1"/>
          <p:nvPr/>
        </p:nvSpPr>
        <p:spPr>
          <a:xfrm>
            <a:off x="7271433" y="7509913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Нехай потрібно написати функцію, яка приймає масив чисел та повертає перший ненульовий елемент</a:t>
            </a:r>
          </a:p>
        </p:txBody>
      </p:sp>
      <p:pic>
        <p:nvPicPr>
          <p:cNvPr id="12" name="Рисунок 11" descr="Зображення, що містить текст, знімок екрана, Шрифт  Вміст, створений ШІ, може бути неправильним.">
            <a:extLst>
              <a:ext uri="{FF2B5EF4-FFF2-40B4-BE49-F238E27FC236}">
                <a16:creationId xmlns:a16="http://schemas.microsoft.com/office/drawing/2014/main" id="{BEAE3D5E-DE3F-8DF4-0E32-E75B1F1A0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0739" y="2492438"/>
            <a:ext cx="5425910" cy="20728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997675-B982-E0F2-E3B7-AF831F654328}"/>
              </a:ext>
            </a:extLst>
          </p:cNvPr>
          <p:cNvSpPr txBox="1"/>
          <p:nvPr/>
        </p:nvSpPr>
        <p:spPr>
          <a:xfrm>
            <a:off x="13864358" y="4815279"/>
            <a:ext cx="423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Неправильна версія з анотуванням</a:t>
            </a:r>
          </a:p>
        </p:txBody>
      </p:sp>
    </p:spTree>
    <p:extLst>
      <p:ext uri="{BB962C8B-B14F-4D97-AF65-F5344CB8AC3E}">
        <p14:creationId xmlns:p14="http://schemas.microsoft.com/office/powerpoint/2010/main" val="2537129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9A752-A0B1-A9FE-CF6E-826C6C35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Зображення, що містить текст, знімок екрана, Шрифт, число  Вміст, створений ШІ, може бути неправильним.">
            <a:extLst>
              <a:ext uri="{FF2B5EF4-FFF2-40B4-BE49-F238E27FC236}">
                <a16:creationId xmlns:a16="http://schemas.microsoft.com/office/drawing/2014/main" id="{A4AA8665-9912-3635-3340-79B0926A5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658" y="-2314024"/>
            <a:ext cx="5056775" cy="18731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81E12A-67A4-C6B2-48FA-93C66A2BD7F2}"/>
              </a:ext>
            </a:extLst>
          </p:cNvPr>
          <p:cNvSpPr txBox="1"/>
          <p:nvPr/>
        </p:nvSpPr>
        <p:spPr>
          <a:xfrm>
            <a:off x="1187669" y="4615933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Неправильна версія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F40A0-9B53-6D70-68E8-A3CB11905DBE}"/>
              </a:ext>
            </a:extLst>
          </p:cNvPr>
          <p:cNvSpPr txBox="1"/>
          <p:nvPr/>
        </p:nvSpPr>
        <p:spPr>
          <a:xfrm>
            <a:off x="8207209" y="7925411"/>
            <a:ext cx="221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Правильна версія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3FC9167-2357-A1A1-333C-F7338239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/>
          <a:lstStyle/>
          <a:p>
            <a:r>
              <a:rPr lang="uk-UA" dirty="0"/>
              <a:t>Для чого потрібне анотування типів</a:t>
            </a:r>
          </a:p>
        </p:txBody>
      </p:sp>
      <p:pic>
        <p:nvPicPr>
          <p:cNvPr id="10" name="Рисунок 9" descr="Зображення, що містить текст, знімок екрана, Шрифт, число  Вміст, створений ШІ, може бути неправильним.">
            <a:extLst>
              <a:ext uri="{FF2B5EF4-FFF2-40B4-BE49-F238E27FC236}">
                <a16:creationId xmlns:a16="http://schemas.microsoft.com/office/drawing/2014/main" id="{62448BF5-B8CC-9382-BCDA-64841BEA5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54" y="2492438"/>
            <a:ext cx="5019489" cy="18731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8BA4FD-F810-9F9B-9105-531D0031A7BF}"/>
              </a:ext>
            </a:extLst>
          </p:cNvPr>
          <p:cNvSpPr txBox="1"/>
          <p:nvPr/>
        </p:nvSpPr>
        <p:spPr>
          <a:xfrm>
            <a:off x="7271433" y="7509913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Нехай потрібно написати функцію, яка приймає масив чисел та повертає перший ненульовий елемент</a:t>
            </a:r>
          </a:p>
        </p:txBody>
      </p:sp>
      <p:pic>
        <p:nvPicPr>
          <p:cNvPr id="12" name="Рисунок 11" descr="Зображення, що містить текст, знімок екрана, Шрифт  Вміст, створений ШІ, може бути неправильним.">
            <a:extLst>
              <a:ext uri="{FF2B5EF4-FFF2-40B4-BE49-F238E27FC236}">
                <a16:creationId xmlns:a16="http://schemas.microsoft.com/office/drawing/2014/main" id="{FFBB9BF1-C673-6063-839A-DD46D008EC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236" y="2322052"/>
            <a:ext cx="5425910" cy="20728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53D267-537B-4AAE-194D-A7DF2DE4292A}"/>
              </a:ext>
            </a:extLst>
          </p:cNvPr>
          <p:cNvSpPr txBox="1"/>
          <p:nvPr/>
        </p:nvSpPr>
        <p:spPr>
          <a:xfrm>
            <a:off x="6770480" y="4528624"/>
            <a:ext cx="423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Неправильна версія з анотуванням</a:t>
            </a:r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" name="Швидкий перехід до розділу 2">
                <a:extLst>
                  <a:ext uri="{FF2B5EF4-FFF2-40B4-BE49-F238E27FC236}">
                    <a16:creationId xmlns:a16="http://schemas.microsoft.com/office/drawing/2014/main" id="{7B67451B-3AD5-2D53-393B-F4EA28C814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0641411"/>
                  </p:ext>
                </p:extLst>
              </p:nvPr>
            </p:nvGraphicFramePr>
            <p:xfrm>
              <a:off x="-2662146" y="-1377461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290E2A37-BC1B-4FC5-B33D-97811730E1F0}">
                    <psez:zmPr id="{04AFAC48-2698-4B3B-887B-D1D940774280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" name="Швидкий перехід до розділу 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7B67451B-3AD5-2D53-393B-F4EA28C814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662146" y="-137746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72191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2AE72-60D6-8D96-2DBA-8687E2D5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Основи анотування типів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204CBDF-5F92-29BA-73A4-9D281E041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Анотація типів у </a:t>
            </a:r>
            <a:r>
              <a:rPr lang="en-US" dirty="0"/>
              <a:t>Python </a:t>
            </a:r>
            <a:r>
              <a:rPr lang="uk-UA" dirty="0"/>
              <a:t>здійснюється за допомогою двокрапки (:) після імені змінної або параметра функції та вказує очікуваний тип.</a:t>
            </a:r>
          </a:p>
          <a:p>
            <a:pPr marL="0" indent="0">
              <a:buNone/>
            </a:pPr>
            <a:endParaRPr lang="uk-UA" dirty="0"/>
          </a:p>
        </p:txBody>
      </p:sp>
      <p:sp>
        <p:nvSpPr>
          <p:cNvPr id="4" name="Місце для вмісту 2">
            <a:extLst>
              <a:ext uri="{FF2B5EF4-FFF2-40B4-BE49-F238E27FC236}">
                <a16:creationId xmlns:a16="http://schemas.microsoft.com/office/drawing/2014/main" id="{078CDC4A-0B82-67EC-DA3E-3AE7FCEDC69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dirty="0"/>
          </a:p>
        </p:txBody>
      </p:sp>
      <p:pic>
        <p:nvPicPr>
          <p:cNvPr id="8" name="Рисунок 7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B5AFD335-9488-E1BB-3D7E-F3736AFF5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497" y="3429000"/>
            <a:ext cx="5993005" cy="2664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191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4" grpId="2"/>
      <p:bldP spid="8" grpId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4E8D9-7139-FB8A-ADE9-7CB1B781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EF1A3-E7C4-01C8-61F0-E545DE60E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4569489" cy="1600200"/>
          </a:xfrm>
        </p:spPr>
        <p:txBody>
          <a:bodyPr anchor="b">
            <a:normAutofit/>
          </a:bodyPr>
          <a:lstStyle/>
          <a:p>
            <a:pPr algn="l"/>
            <a:r>
              <a:rPr lang="uk-UA" sz="3200" dirty="0"/>
              <a:t>Основи анотування типів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8C0FDB-09EA-DAA0-2086-68BB8BC44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600" dirty="0"/>
              <a:t>Тут </a:t>
            </a:r>
            <a:r>
              <a:rPr lang="en-US" sz="1600" dirty="0">
                <a:solidFill>
                  <a:schemeClr val="tx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n: int </a:t>
            </a:r>
            <a:r>
              <a:rPr lang="uk-UA" sz="1600" dirty="0"/>
              <a:t>означає, що функція </a:t>
            </a:r>
            <a:r>
              <a:rPr lang="en-US" sz="1600" dirty="0"/>
              <a:t>factorial2</a:t>
            </a:r>
            <a:r>
              <a:rPr lang="uk-UA" sz="1600" dirty="0"/>
              <a:t> очікує в якості аргумента ціле число, а синтаксис    </a:t>
            </a:r>
            <a:r>
              <a:rPr lang="uk-UA" sz="1600" dirty="0">
                <a:solidFill>
                  <a:schemeClr val="tx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 </a:t>
            </a:r>
            <a:r>
              <a:rPr lang="en-US" sz="1600" dirty="0">
                <a:solidFill>
                  <a:schemeClr val="tx2">
                    <a:lumMod val="9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uk-UA" sz="1600" dirty="0"/>
              <a:t>вказує на те, що вона повертає ціле число.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uk-UA" sz="1600" dirty="0"/>
              <a:t>Для перевірки того, чи задано для функції анотування можна скористатись вбудованим параметром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__annotations__</a:t>
            </a:r>
          </a:p>
        </p:txBody>
      </p:sp>
      <p:pic>
        <p:nvPicPr>
          <p:cNvPr id="7" name="Рисунок 6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959A6697-3D59-E5EF-5B2B-106C4CD9F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096" y="387190"/>
            <a:ext cx="5578323" cy="61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2"/>
      <p:bldP spid="9" grpId="0" build="p"/>
      <p:bldP spid="7" grpId="4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F91F-5392-428F-76A8-2CCD42914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159F9-58BB-B279-3672-50F00B77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  <a:endParaRPr lang="uk-UA" dirty="0"/>
          </a:p>
        </p:txBody>
      </p:sp>
      <p:pic>
        <p:nvPicPr>
          <p:cNvPr id="5" name="Місце для вмісту 4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A2D6D539-5763-9FBC-FA49-7E6C5F12B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000" y="2309971"/>
            <a:ext cx="7506350" cy="3673158"/>
          </a:xfrm>
        </p:spPr>
      </p:pic>
    </p:spTree>
    <p:extLst>
      <p:ext uri="{BB962C8B-B14F-4D97-AF65-F5344CB8AC3E}">
        <p14:creationId xmlns:p14="http://schemas.microsoft.com/office/powerpoint/2010/main" val="117321721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50195-6DB3-EB97-EC13-56C47791C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87E4C-93DF-61F4-9650-36CF50C25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39315"/>
            <a:ext cx="4513006" cy="1293028"/>
          </a:xfrm>
        </p:spPr>
        <p:txBody>
          <a:bodyPr/>
          <a:lstStyle/>
          <a:p>
            <a:pPr algn="l"/>
            <a:r>
              <a:rPr lang="en-US" dirty="0"/>
              <a:t>optional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12BAE2E-55D9-9AC4-D2D5-F9996A3D8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2821075" cy="4024125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Часто на практиці потрібно задавати </a:t>
            </a:r>
            <a:r>
              <a:rPr lang="uk-UA" dirty="0" err="1"/>
              <a:t>опціональні</a:t>
            </a:r>
            <a:r>
              <a:rPr lang="uk-UA" dirty="0"/>
              <a:t> аргументи, для цього можна скористатись або </a:t>
            </a:r>
            <a:r>
              <a:rPr lang="en-US" dirty="0"/>
              <a:t>Union, </a:t>
            </a:r>
            <a:r>
              <a:rPr lang="uk-UA" dirty="0"/>
              <a:t>або спеціально вбудованим типом </a:t>
            </a:r>
            <a:r>
              <a:rPr lang="en-US" dirty="0"/>
              <a:t>Optional.</a:t>
            </a:r>
            <a:endParaRPr lang="uk-UA" dirty="0"/>
          </a:p>
        </p:txBody>
      </p:sp>
      <p:pic>
        <p:nvPicPr>
          <p:cNvPr id="5" name="Рисунок 4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33E1797B-58F9-627E-3FCC-15496EAA0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768" y="140519"/>
            <a:ext cx="6132143" cy="657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2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5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AC6BA-1F39-3E3F-2AB2-6DE69775D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36" y="794518"/>
            <a:ext cx="4047810" cy="1293028"/>
          </a:xfrm>
        </p:spPr>
        <p:txBody>
          <a:bodyPr/>
          <a:lstStyle/>
          <a:p>
            <a:pPr algn="l"/>
            <a:r>
              <a:rPr lang="en-US"/>
              <a:t>ANY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E92BDE7-94BC-E59A-3769-B44C61534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3266768" cy="4024125"/>
          </a:xfrm>
        </p:spPr>
        <p:txBody>
          <a:bodyPr/>
          <a:lstStyle/>
          <a:p>
            <a:pPr marL="0" indent="0">
              <a:buNone/>
            </a:pPr>
            <a:r>
              <a:rPr lang="uk-UA"/>
              <a:t>У тих ситуаціях, де аргумент може приймати будь-який із можливих типів, доцільно скористатись анотуванням </a:t>
            </a:r>
            <a:r>
              <a:rPr lang="en-US"/>
              <a:t>Any.</a:t>
            </a:r>
            <a:endParaRPr lang="uk-UA" dirty="0"/>
          </a:p>
        </p:txBody>
      </p:sp>
      <p:pic>
        <p:nvPicPr>
          <p:cNvPr id="5" name="Рисунок 4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E0C6B990-2F16-611C-1103-57269D652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190" y="243564"/>
            <a:ext cx="6348010" cy="63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5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5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44E46-28C9-2298-F640-850606393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A92086-2ACF-F014-A4C7-50F1F3468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06" y="2069502"/>
            <a:ext cx="4692446" cy="4024125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За допомогою анотації </a:t>
            </a:r>
            <a:r>
              <a:rPr lang="en-US" dirty="0"/>
              <a:t>Final</a:t>
            </a:r>
            <a:r>
              <a:rPr lang="uk-UA" dirty="0"/>
              <a:t> зручно задавати константи, або ті значення, які не мають змінюватись у ході виконання програми.</a:t>
            </a:r>
          </a:p>
        </p:txBody>
      </p:sp>
      <p:pic>
        <p:nvPicPr>
          <p:cNvPr id="5" name="Рисунок 4" descr="Зображення, що містить текст, знімок екрана, Шрифт, число  Вміст, створений ШІ, може бути неправильним.">
            <a:extLst>
              <a:ext uri="{FF2B5EF4-FFF2-40B4-BE49-F238E27FC236}">
                <a16:creationId xmlns:a16="http://schemas.microsoft.com/office/drawing/2014/main" id="{9681F172-404E-07D6-2266-8370775C1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57401"/>
            <a:ext cx="4865777" cy="229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0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5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42E31-9853-CE94-3FF3-323DDC1B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Узагальнені Типи </a:t>
            </a:r>
            <a:r>
              <a:rPr lang="en-US" dirty="0"/>
              <a:t>(generics)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CBAD800-E0DD-5D58-CDB0-4973E6CE4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469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Python </a:t>
            </a:r>
            <a:r>
              <a:rPr lang="uk-UA" dirty="0"/>
              <a:t>дозволяє створювати узагальнені (</a:t>
            </a:r>
            <a:r>
              <a:rPr lang="en-US" dirty="0"/>
              <a:t>generic) </a:t>
            </a:r>
            <a:r>
              <a:rPr lang="uk-UA" dirty="0"/>
              <a:t>типи:</a:t>
            </a:r>
          </a:p>
          <a:p>
            <a:pPr marL="0" indent="0">
              <a:buNone/>
            </a:pPr>
            <a:endParaRPr lang="uk-UA" dirty="0"/>
          </a:p>
        </p:txBody>
      </p:sp>
      <p:pic>
        <p:nvPicPr>
          <p:cNvPr id="5" name="Рисунок 4" descr="Зображення, що містить текст, знімок екрана, Шрифт  Вміст, створений ШІ, може бути неправильним.">
            <a:extLst>
              <a:ext uri="{FF2B5EF4-FFF2-40B4-BE49-F238E27FC236}">
                <a16:creationId xmlns:a16="http://schemas.microsoft.com/office/drawing/2014/main" id="{D68DE1CE-FF1F-6AEC-6EAF-BFB4160EC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004" y="2950752"/>
            <a:ext cx="5089175" cy="248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52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5" grpId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C30E3E-ED17-5134-C90C-8C6D3A004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Анотування типів колекцій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8E8A6A4-EE34-8B15-8785-38D2E0647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860139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Для версій </a:t>
            </a:r>
            <a:r>
              <a:rPr lang="en-US" dirty="0"/>
              <a:t>Python</a:t>
            </a:r>
            <a:r>
              <a:rPr lang="uk-UA" dirty="0"/>
              <a:t>, що передують версії 3.9 анотування таких типів, як </a:t>
            </a:r>
            <a:r>
              <a:rPr lang="en-US" dirty="0"/>
              <a:t>list, tuple, </a:t>
            </a:r>
            <a:r>
              <a:rPr lang="en-US" dirty="0" err="1"/>
              <a:t>dict</a:t>
            </a:r>
            <a:r>
              <a:rPr lang="en-US" dirty="0"/>
              <a:t>, set </a:t>
            </a:r>
            <a:r>
              <a:rPr lang="uk-UA" dirty="0"/>
              <a:t>здійснювалось лише за допомогою імпорту з модуля </a:t>
            </a:r>
            <a:r>
              <a:rPr lang="en-US" dirty="0"/>
              <a:t>typing.</a:t>
            </a:r>
            <a:endParaRPr lang="uk-UA" dirty="0"/>
          </a:p>
        </p:txBody>
      </p:sp>
      <p:pic>
        <p:nvPicPr>
          <p:cNvPr id="5" name="Рисунок 4" descr="Зображення, що містить текст, знімок екрана, Шрифт,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2CA9F371-2FCF-5FC9-BF96-BA3A03BBE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71" y="3054699"/>
            <a:ext cx="8224022" cy="355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5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5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BCCD-4349-0D4C-F4C3-3ED74163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643E-8003-7A35-08E8-094B4BC84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</a:t>
            </a:r>
            <a:r>
              <a:rPr lang="uk-UA"/>
              <a:t>, </a:t>
            </a:r>
            <a:r>
              <a:rPr lang="en-US"/>
              <a:t>Tuple, Set, Dict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006C312-FBCD-2026-FF14-6BC6185E6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739559"/>
          </a:xfrm>
        </p:spPr>
        <p:txBody>
          <a:bodyPr/>
          <a:lstStyle/>
          <a:p>
            <a:pPr marL="0" indent="0">
              <a:buNone/>
            </a:pPr>
            <a:r>
              <a:rPr lang="uk-UA"/>
              <a:t>А починаючи з версії 3.9 можна використовувати саму назву класу, як анотацію</a:t>
            </a:r>
            <a:r>
              <a:rPr lang="en-US"/>
              <a:t>.</a:t>
            </a:r>
            <a:endParaRPr lang="uk-UA" dirty="0"/>
          </a:p>
        </p:txBody>
      </p:sp>
      <p:pic>
        <p:nvPicPr>
          <p:cNvPr id="5" name="Рисунок 4" descr="Зображення, що містить текст, знімок екрана, Шрифт  Вміст, створений ШІ, може бути неправильним.">
            <a:extLst>
              <a:ext uri="{FF2B5EF4-FFF2-40B4-BE49-F238E27FC236}">
                <a16:creationId xmlns:a16="http://schemas.microsoft.com/office/drawing/2014/main" id="{BAFAA4B9-6BBA-696C-2010-307AC61ED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525" y="3071278"/>
            <a:ext cx="9613136" cy="302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3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5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3136-1A81-5944-7515-E4C1FCD0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F0366-9349-18BA-18B9-3FC6883D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5589425" cy="129302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List</a:t>
            </a:r>
            <a:r>
              <a:rPr lang="uk-UA" dirty="0"/>
              <a:t>, </a:t>
            </a:r>
            <a:r>
              <a:rPr lang="en-US" dirty="0"/>
              <a:t>Tuple, Set, </a:t>
            </a:r>
            <a:r>
              <a:rPr lang="en-US" dirty="0" err="1"/>
              <a:t>Dict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BE88A72-AF54-2606-8AD5-8D2FE6902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784" y="2744081"/>
            <a:ext cx="5230977" cy="2056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Зауважимо, що об’єкти типу </a:t>
            </a:r>
            <a:r>
              <a:rPr lang="en-US" dirty="0"/>
              <a:t>tuple</a:t>
            </a:r>
            <a:r>
              <a:rPr lang="uk-UA" dirty="0"/>
              <a:t> є незмінними, а тому потребують однозначного перелічення типів кожного елемента. У випадку, якщо заздалегідь не відома розмірність кортежу, можна скористатись таким синтаксисом.</a:t>
            </a:r>
            <a:r>
              <a:rPr lang="en-US" dirty="0"/>
              <a:t> </a:t>
            </a:r>
            <a:endParaRPr lang="uk-UA" dirty="0"/>
          </a:p>
        </p:txBody>
      </p:sp>
      <p:pic>
        <p:nvPicPr>
          <p:cNvPr id="5" name="Рисунок 4" descr="Зображення, що містить текст, знімок екрана, Шрифт,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584BEBF9-D32D-E4DC-B1E3-024A64656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761" y="1410887"/>
            <a:ext cx="6170023" cy="52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85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8B733-97DB-0ADC-72C8-130B4BE66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D3F3A-1AF7-436B-599C-C83061E3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Модуль </a:t>
            </a:r>
            <a:r>
              <a:rPr lang="en-US" dirty="0" err="1"/>
              <a:t>mypy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9D394BD-B763-46CE-7D64-2328F0AA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788607"/>
            <a:ext cx="11000433" cy="971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MyPy</a:t>
            </a:r>
            <a:r>
              <a:rPr lang="en-US" dirty="0"/>
              <a:t> — </a:t>
            </a:r>
            <a:r>
              <a:rPr lang="uk-UA" dirty="0"/>
              <a:t>це статичний аналізатор типів для </a:t>
            </a:r>
            <a:r>
              <a:rPr lang="en-US" dirty="0"/>
              <a:t>Python, </a:t>
            </a:r>
            <a:r>
              <a:rPr lang="uk-UA" dirty="0"/>
              <a:t>який дозволяє перевіряти коректність анотацій. Він допомагає знаходити помилки ще до виконання коду.</a:t>
            </a:r>
          </a:p>
        </p:txBody>
      </p:sp>
      <p:pic>
        <p:nvPicPr>
          <p:cNvPr id="8" name="Рисунок 7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240FF121-A5BB-4AD0-F937-BFB1469C4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760120"/>
            <a:ext cx="10760372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3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8" grpId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C99E5-6705-7466-87EA-0B299193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939" y="407139"/>
            <a:ext cx="8610600" cy="1293028"/>
          </a:xfrm>
        </p:spPr>
        <p:txBody>
          <a:bodyPr/>
          <a:lstStyle/>
          <a:p>
            <a:r>
              <a:rPr lang="en-US" dirty="0"/>
              <a:t>Callable</a:t>
            </a:r>
            <a:endParaRPr lang="uk-UA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086D1A-FA32-8162-DF6B-B457C12A02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4248" y="1508005"/>
            <a:ext cx="111710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У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можна анотувати змінні та параметри, які є об'єктами, які можна викликати, (наприклад, функції або методи), за допомогою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Callable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з модуля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typing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Рисунок 7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EC8D036F-DB0E-C661-88EB-0D1D33BD2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504" y="2242870"/>
            <a:ext cx="8207451" cy="3284505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D1B8B7E2-359B-302E-099D-B58D65726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248" y="5596594"/>
            <a:ext cx="106987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Тут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Callable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[[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 означає, що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func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це функція, яка приймає два аргументи типу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і повертає значення типу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056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1"/>
      <p:bldP spid="8" grpId="2"/>
      <p:bldP spid="9" grpId="3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F0C918-6483-4D72-A631-6604C0CA3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Callable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9D028E-0D3D-EFE0-FC01-E7E1F74AB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759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Анотування за допомогою </a:t>
            </a:r>
            <a:r>
              <a:rPr lang="en-US" dirty="0"/>
              <a:t>Callable </a:t>
            </a:r>
            <a:r>
              <a:rPr lang="uk-UA" dirty="0"/>
              <a:t>також можна використовувати з лямбда-функціями.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51EB46-A1F6-AB62-EACC-6EED37993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08" y="3330476"/>
            <a:ext cx="10227511" cy="113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7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5" grpId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30312-24E9-613F-F6CA-3B530235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Анотації на рівні класів</a:t>
            </a:r>
          </a:p>
        </p:txBody>
      </p:sp>
      <p:pic>
        <p:nvPicPr>
          <p:cNvPr id="9" name="Місце для вмісту 8" descr="Зображення, що містить текст, знімок екрана, Шрифт  Вміст, створений ШІ, може бути неправильним.">
            <a:extLst>
              <a:ext uri="{FF2B5EF4-FFF2-40B4-BE49-F238E27FC236}">
                <a16:creationId xmlns:a16="http://schemas.microsoft.com/office/drawing/2014/main" id="{F31CF1AA-AACC-B3FA-CC79-8AA048BB7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171" y="2900572"/>
            <a:ext cx="6790008" cy="2491956"/>
          </a:xfrm>
        </p:spPr>
      </p:pic>
    </p:spTree>
    <p:extLst>
      <p:ext uri="{BB962C8B-B14F-4D97-AF65-F5344CB8AC3E}">
        <p14:creationId xmlns:p14="http://schemas.microsoft.com/office/powerpoint/2010/main" val="155669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9DC72A-AA6F-3BD0-16B5-B7879FF2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Анотації на рівні класів</a:t>
            </a:r>
          </a:p>
        </p:txBody>
      </p:sp>
      <p:pic>
        <p:nvPicPr>
          <p:cNvPr id="5" name="Місце для вмісту 4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7E25B1F4-D6E7-64CA-ADC7-6B61AC03C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470" y="2120900"/>
            <a:ext cx="8155409" cy="4051300"/>
          </a:xfrm>
        </p:spPr>
      </p:pic>
    </p:spTree>
    <p:extLst>
      <p:ext uri="{BB962C8B-B14F-4D97-AF65-F5344CB8AC3E}">
        <p14:creationId xmlns:p14="http://schemas.microsoft.com/office/powerpoint/2010/main" val="397584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61D9A-FF29-D4FF-2C61-BA517864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132" y="427248"/>
            <a:ext cx="8610600" cy="1293028"/>
          </a:xfrm>
        </p:spPr>
        <p:txBody>
          <a:bodyPr/>
          <a:lstStyle/>
          <a:p>
            <a:r>
              <a:rPr lang="en-US" dirty="0"/>
              <a:t>Any vs object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4F6DFC3-69C7-22EC-9C92-1C875A0B9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99617"/>
            <a:ext cx="10820400" cy="1091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800" dirty="0"/>
              <a:t>Хоч, на перший погляд, типи анотування </a:t>
            </a:r>
            <a:r>
              <a:rPr lang="en-US" sz="1800" dirty="0"/>
              <a:t>Any </a:t>
            </a:r>
            <a:r>
              <a:rPr lang="uk-UA" sz="1800" dirty="0"/>
              <a:t>та </a:t>
            </a:r>
            <a:r>
              <a:rPr lang="en-US" sz="1800" dirty="0"/>
              <a:t>object</a:t>
            </a:r>
            <a:r>
              <a:rPr lang="uk-UA" sz="1800" dirty="0"/>
              <a:t> виконують одну і ту саму роль, проте між ними є принципова різниця: </a:t>
            </a:r>
            <a:r>
              <a:rPr lang="en-US" sz="1800" dirty="0"/>
              <a:t>Any – </a:t>
            </a:r>
            <a:r>
              <a:rPr lang="uk-UA" sz="1800" dirty="0"/>
              <a:t>сумісний з будь-яким іншим типом, а </a:t>
            </a:r>
            <a:r>
              <a:rPr lang="en-US" sz="1800" dirty="0"/>
              <a:t>object –</a:t>
            </a:r>
            <a:r>
              <a:rPr lang="uk-UA" sz="1800" dirty="0"/>
              <a:t> несумісний.</a:t>
            </a:r>
          </a:p>
        </p:txBody>
      </p:sp>
      <p:pic>
        <p:nvPicPr>
          <p:cNvPr id="5" name="Рисунок 4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FFAAC098-0759-A8F1-2CCC-40F6FB232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737" y="2485167"/>
            <a:ext cx="10221686" cy="394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3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  <p:bldP spid="5" grpId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BD7301-0928-E6FA-1DEB-124D20AB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Анотування Класів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F155C4B2-AEE7-A790-0CFA-FDE46E0EF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3544556" cy="4024125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У даній програмі анотуванням передбачається, що параметр </a:t>
            </a:r>
            <a:r>
              <a:rPr lang="en-US" dirty="0" err="1"/>
              <a:t>cls_obj</a:t>
            </a:r>
            <a:r>
              <a:rPr lang="uk-UA" dirty="0"/>
              <a:t> функції </a:t>
            </a:r>
            <a:r>
              <a:rPr lang="en-US" dirty="0" err="1"/>
              <a:t>get_name</a:t>
            </a:r>
            <a:r>
              <a:rPr lang="en-US" dirty="0"/>
              <a:t>() </a:t>
            </a:r>
            <a:r>
              <a:rPr lang="uk-UA" dirty="0"/>
              <a:t>буде </a:t>
            </a:r>
            <a:r>
              <a:rPr lang="uk-UA" dirty="0" err="1"/>
              <a:t>зсилатись</a:t>
            </a:r>
            <a:r>
              <a:rPr lang="uk-UA" dirty="0"/>
              <a:t> </a:t>
            </a:r>
            <a:r>
              <a:rPr lang="uk-UA" b="1" dirty="0"/>
              <a:t>не на сам клас </a:t>
            </a:r>
            <a:r>
              <a:rPr lang="en-US" b="1" dirty="0"/>
              <a:t>Person, </a:t>
            </a:r>
            <a:r>
              <a:rPr lang="uk-UA" b="1" dirty="0"/>
              <a:t>а на його об’єкти</a:t>
            </a:r>
          </a:p>
        </p:txBody>
      </p:sp>
      <p:pic>
        <p:nvPicPr>
          <p:cNvPr id="9" name="Рисунок 8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01654542-8899-35B4-E845-D19B3526B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538" y="2057401"/>
            <a:ext cx="7178662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8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1"/>
      <p:bldP spid="9" grpId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9CC8-23E1-F714-D934-0E25BC4C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23307-CF31-9267-417C-7CD23EC8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563406"/>
            <a:ext cx="5444532" cy="1293028"/>
          </a:xfrm>
        </p:spPr>
        <p:txBody>
          <a:bodyPr>
            <a:normAutofit fontScale="90000"/>
          </a:bodyPr>
          <a:lstStyle/>
          <a:p>
            <a:pPr algn="l"/>
            <a:r>
              <a:rPr lang="uk-UA" dirty="0"/>
              <a:t>Анотування Класів</a:t>
            </a:r>
          </a:p>
        </p:txBody>
      </p:sp>
      <p:sp>
        <p:nvSpPr>
          <p:cNvPr id="7" name="Місце для вмісту 6">
            <a:extLst>
              <a:ext uri="{FF2B5EF4-FFF2-40B4-BE49-F238E27FC236}">
                <a16:creationId xmlns:a16="http://schemas.microsoft.com/office/drawing/2014/main" id="{589B687B-D0A8-7A69-020F-4848927C2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60" y="2165063"/>
            <a:ext cx="3544556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Щоб отримати у результаті виконання функції </a:t>
            </a:r>
            <a:r>
              <a:rPr lang="en-US" dirty="0" err="1"/>
              <a:t>get_name</a:t>
            </a:r>
            <a:r>
              <a:rPr lang="en-US" dirty="0"/>
              <a:t>() </a:t>
            </a:r>
            <a:r>
              <a:rPr lang="uk-UA" dirty="0"/>
              <a:t>клас </a:t>
            </a:r>
            <a:r>
              <a:rPr lang="en-US" dirty="0"/>
              <a:t>Person,</a:t>
            </a:r>
            <a:r>
              <a:rPr lang="uk-UA" dirty="0"/>
              <a:t> потрібно скористатись </a:t>
            </a:r>
            <a:r>
              <a:rPr lang="en-US" dirty="0"/>
              <a:t>Type</a:t>
            </a:r>
            <a:r>
              <a:rPr lang="uk-UA" dirty="0"/>
              <a:t>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uk-UA" dirty="0"/>
              <a:t>Як бачимо, у ситуації 2 на рівні анотації типів виникають проблеми.</a:t>
            </a:r>
            <a:r>
              <a:rPr lang="en-US" dirty="0"/>
              <a:t> </a:t>
            </a:r>
            <a:r>
              <a:rPr lang="uk-UA" dirty="0"/>
              <a:t>Для їх уникнення використаємо згаданий раніше </a:t>
            </a:r>
            <a:r>
              <a:rPr lang="en-US" dirty="0" err="1"/>
              <a:t>TypeVar</a:t>
            </a:r>
            <a:r>
              <a:rPr lang="en-US" dirty="0"/>
              <a:t>.</a:t>
            </a:r>
            <a:endParaRPr lang="uk-UA" dirty="0"/>
          </a:p>
        </p:txBody>
      </p:sp>
      <p:pic>
        <p:nvPicPr>
          <p:cNvPr id="4" name="Рисунок 3" descr="Зображення, що містить текст, знімок екрана,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522C46DB-3849-1B7D-F46F-EA3257F99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93" y="488934"/>
            <a:ext cx="6243483" cy="616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7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1"/>
      <p:bldP spid="4" grpId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75833-3307-A78E-1A87-1F70BF3E4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uk-UA" sz="3200"/>
              <a:t>Анотування Класів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340D76-90FF-5FF5-9061-57E4BDF42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1600" dirty="0"/>
              <a:t>Для цього створюємо деякий загальний тип </a:t>
            </a:r>
            <a:r>
              <a:rPr lang="en-US" sz="1600" dirty="0"/>
              <a:t>T</a:t>
            </a:r>
            <a:r>
              <a:rPr lang="uk-UA" sz="1600" dirty="0"/>
              <a:t>, який є об’єктом класу </a:t>
            </a:r>
            <a:r>
              <a:rPr lang="en-US" sz="1600" dirty="0" err="1"/>
              <a:t>TypeVar</a:t>
            </a:r>
            <a:r>
              <a:rPr lang="uk-UA" sz="1600" dirty="0"/>
              <a:t>.  Обов’язково задаємо параметр імені, як правило, його вибирають аналогічним до назви змінної.</a:t>
            </a:r>
          </a:p>
          <a:p>
            <a:pPr marL="0" indent="0">
              <a:buNone/>
            </a:pPr>
            <a:endParaRPr lang="uk-UA" sz="1600" dirty="0"/>
          </a:p>
          <a:p>
            <a:pPr marL="0" indent="0">
              <a:buNone/>
            </a:pPr>
            <a:r>
              <a:rPr lang="uk-UA" sz="1600" dirty="0"/>
              <a:t>Додатково ми задали опціональний параметр </a:t>
            </a:r>
            <a:r>
              <a:rPr lang="en-US" sz="1600" dirty="0"/>
              <a:t>bound</a:t>
            </a:r>
            <a:r>
              <a:rPr lang="uk-UA" sz="1600" dirty="0"/>
              <a:t> = </a:t>
            </a:r>
            <a:r>
              <a:rPr lang="en-US" sz="1600" dirty="0"/>
              <a:t>Person, </a:t>
            </a:r>
            <a:r>
              <a:rPr lang="uk-UA" sz="1600" dirty="0"/>
              <a:t>що означає, що допустимими є будь-які типи, які зв’язані наслідуванням із класом </a:t>
            </a:r>
            <a:r>
              <a:rPr lang="en-US" sz="1600" dirty="0"/>
              <a:t>Person.</a:t>
            </a:r>
          </a:p>
        </p:txBody>
      </p:sp>
      <p:pic>
        <p:nvPicPr>
          <p:cNvPr id="5" name="Місце для вмісту 4" descr="Зображення, що містить текст, знімок екрана,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E2435F7F-9665-F2A8-BD18-E12B6E15D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30" y="746126"/>
            <a:ext cx="6363439" cy="547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2"/>
      <p:bldP spid="9" grpId="3"/>
      <p:bldP spid="5" grpId="4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51168-C86E-28F3-ABEA-E098D3A4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Різниця між </a:t>
            </a:r>
            <a:r>
              <a:rPr lang="en-US" dirty="0"/>
              <a:t>Type I </a:t>
            </a:r>
            <a:r>
              <a:rPr lang="en-US" dirty="0" err="1"/>
              <a:t>TypeVar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A4911D-6B4A-EDCE-E0A7-D0D26401F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Type[T] </a:t>
            </a:r>
            <a:r>
              <a:rPr lang="uk-UA" dirty="0"/>
              <a:t>використовується для позначення класів, які є підтипами </a:t>
            </a:r>
            <a:r>
              <a:rPr lang="en-US" dirty="0"/>
              <a:t>T. </a:t>
            </a:r>
            <a:r>
              <a:rPr lang="uk-UA" dirty="0"/>
              <a:t>Це дозволяє працювати з класами як із самостійними об'єктами, наприклад, передавати класи як аргументи функцій.</a:t>
            </a:r>
            <a:endParaRPr lang="en-US" dirty="0"/>
          </a:p>
          <a:p>
            <a:r>
              <a:rPr lang="en-US" dirty="0" err="1"/>
              <a:t>TypeVar</a:t>
            </a:r>
            <a:r>
              <a:rPr lang="en-US" dirty="0"/>
              <a:t> </a:t>
            </a:r>
            <a:r>
              <a:rPr lang="uk-UA" dirty="0"/>
              <a:t>використовується для створення узагальнених (</a:t>
            </a:r>
            <a:r>
              <a:rPr lang="en-US" dirty="0"/>
              <a:t>generic) </a:t>
            </a:r>
            <a:r>
              <a:rPr lang="uk-UA" dirty="0"/>
              <a:t>типів. Це змінна, що представляє довільний тип і дозволяє створювати узагальнені функції або класи.</a:t>
            </a:r>
          </a:p>
        </p:txBody>
      </p:sp>
    </p:spTree>
    <p:extLst>
      <p:ext uri="{BB962C8B-B14F-4D97-AF65-F5344CB8AC3E}">
        <p14:creationId xmlns:p14="http://schemas.microsoft.com/office/powerpoint/2010/main" val="379034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F7B86-29E2-E789-F7E4-0AAE4DFE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Анотування класів: </a:t>
            </a:r>
            <a:r>
              <a:rPr lang="en-US" dirty="0"/>
              <a:t>Self</a:t>
            </a:r>
            <a:endParaRPr lang="uk-U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CEF0CD-CD3D-F33D-7271-808FD6FCE7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7937" y="1970574"/>
            <a:ext cx="117164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З версії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3.11 можна використовувати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з модуля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typing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для позначення того, що метод повертає екземпляр власного класу:</a:t>
            </a:r>
          </a:p>
        </p:txBody>
      </p:sp>
      <p:pic>
        <p:nvPicPr>
          <p:cNvPr id="6" name="Рисунок 5" descr="Зображення, що містить текст, знімок екрана, Шрифт  Вміст, створений ШІ, може бути неправильним.">
            <a:extLst>
              <a:ext uri="{FF2B5EF4-FFF2-40B4-BE49-F238E27FC236}">
                <a16:creationId xmlns:a16="http://schemas.microsoft.com/office/drawing/2014/main" id="{F5600D3A-0211-F6FA-9F79-7DA33C72B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397" y="2970286"/>
            <a:ext cx="5983206" cy="338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9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1"/>
      <p:bldP spid="6" grpId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E3E19-71E3-D18A-1C23-A3E35B49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Анотування класів: Статичний та класовий методи</a:t>
            </a:r>
          </a:p>
        </p:txBody>
      </p:sp>
      <p:pic>
        <p:nvPicPr>
          <p:cNvPr id="5" name="Місце для вмісту 4" descr="Зображення, що містить текст, знімок екрана, Шрифт  Вміст, створений ШІ, може бути неправильним.">
            <a:extLst>
              <a:ext uri="{FF2B5EF4-FFF2-40B4-BE49-F238E27FC236}">
                <a16:creationId xmlns:a16="http://schemas.microsoft.com/office/drawing/2014/main" id="{59E4F9CE-245F-28F8-00D7-8059C841F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357" y="2763400"/>
            <a:ext cx="5029636" cy="2766300"/>
          </a:xfrm>
        </p:spPr>
      </p:pic>
    </p:spTree>
    <p:extLst>
      <p:ext uri="{BB962C8B-B14F-4D97-AF65-F5344CB8AC3E}">
        <p14:creationId xmlns:p14="http://schemas.microsoft.com/office/powerpoint/2010/main" val="158358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4864A-BEB9-F1BA-7F6E-ECE3C0C40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96169-3335-31AE-FF60-C63BE7E7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Анотування класів: __</a:t>
            </a:r>
            <a:r>
              <a:rPr lang="en-US" dirty="0"/>
              <a:t>future__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7C3CCAD-E25B-156E-C856-2B74ADFB3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1084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 err="1"/>
              <a:t>Анотовування</a:t>
            </a:r>
            <a:r>
              <a:rPr lang="uk-UA" dirty="0"/>
              <a:t> за допомогою прямого іменування класу в лапках вважається на даному етапі дещо застарілим.</a:t>
            </a:r>
            <a:r>
              <a:rPr lang="en-US" dirty="0"/>
              <a:t> </a:t>
            </a:r>
            <a:r>
              <a:rPr lang="uk-UA" dirty="0"/>
              <a:t>Натомість, рекомендовано використовувати модуль </a:t>
            </a:r>
            <a:r>
              <a:rPr lang="en-US" dirty="0"/>
              <a:t>__future__.</a:t>
            </a:r>
            <a:endParaRPr lang="uk-UA" dirty="0"/>
          </a:p>
        </p:txBody>
      </p:sp>
      <p:pic>
        <p:nvPicPr>
          <p:cNvPr id="7" name="Рисунок 6" descr="Зображення, що містить текст, знімок екрана, Шрифт  Вміст, створений ШІ, може бути неправильним.">
            <a:extLst>
              <a:ext uri="{FF2B5EF4-FFF2-40B4-BE49-F238E27FC236}">
                <a16:creationId xmlns:a16="http://schemas.microsoft.com/office/drawing/2014/main" id="{1556E0FE-5E43-5D6A-DA68-76F19FD29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104" y="3521744"/>
            <a:ext cx="6517791" cy="266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84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1"/>
      <p:bldP spid="7" grpId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851A3-E5FA-2807-17AC-486577FE0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Анотування всередині класів</a:t>
            </a:r>
          </a:p>
        </p:txBody>
      </p:sp>
      <p:pic>
        <p:nvPicPr>
          <p:cNvPr id="5" name="Місце для вмісту 4" descr="Зображення, що містить текст, знімок екрана, програмне забезпечення, Мультимедійне програмне забезпечення  Вміст, створений ШІ, може бути неправильним.">
            <a:extLst>
              <a:ext uri="{FF2B5EF4-FFF2-40B4-BE49-F238E27FC236}">
                <a16:creationId xmlns:a16="http://schemas.microsoft.com/office/drawing/2014/main" id="{84FCE073-1E2C-FF45-B100-DADF44FBE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75" y="2519655"/>
            <a:ext cx="10058400" cy="3253790"/>
          </a:xfrm>
        </p:spPr>
      </p:pic>
    </p:spTree>
    <p:extLst>
      <p:ext uri="{BB962C8B-B14F-4D97-AF65-F5344CB8AC3E}">
        <p14:creationId xmlns:p14="http://schemas.microsoft.com/office/powerpoint/2010/main" val="87619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85FAF-4C67-C663-A9B5-1337AC26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6277" y="673240"/>
            <a:ext cx="303152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Q&amp;A</a:t>
            </a:r>
          </a:p>
        </p:txBody>
      </p:sp>
      <p:pic>
        <p:nvPicPr>
          <p:cNvPr id="5" name="Місце для вмісту 4" descr="Break Time O Fox">
            <a:extLst>
              <a:ext uri="{FF2B5EF4-FFF2-40B4-BE49-F238E27FC236}">
                <a16:creationId xmlns:a16="http://schemas.microsoft.com/office/drawing/2014/main" id="{76CCF714-EE5F-DB21-5C64-F4D717C0A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6" r="2" b="928"/>
          <a:stretch/>
        </p:blipFill>
        <p:spPr>
          <a:xfrm>
            <a:off x="2405" y="10"/>
            <a:ext cx="779424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9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Відтінки сірого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ob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5483</TotalTime>
  <Words>806</Words>
  <Application>Microsoft Office PowerPoint</Application>
  <PresentationFormat>Широкий екран</PresentationFormat>
  <Paragraphs>73</Paragraphs>
  <Slides>31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31</vt:i4>
      </vt:variant>
    </vt:vector>
  </HeadingPairs>
  <TitlesOfParts>
    <vt:vector size="39" baseType="lpstr">
      <vt:lpstr>Calibri</vt:lpstr>
      <vt:lpstr>Courier New</vt:lpstr>
      <vt:lpstr>Roboto</vt:lpstr>
      <vt:lpstr>Roboto Black</vt:lpstr>
      <vt:lpstr>Rockwell Extra Bold</vt:lpstr>
      <vt:lpstr>Webdings</vt:lpstr>
      <vt:lpstr>Wingdings</vt:lpstr>
      <vt:lpstr>Дерево</vt:lpstr>
      <vt:lpstr>Лекція 2.  Type   Annotations</vt:lpstr>
      <vt:lpstr>Презентація PowerPoint</vt:lpstr>
      <vt:lpstr>Для чого потрібне анотування типів</vt:lpstr>
      <vt:lpstr>Для чого потрібне анотування типів</vt:lpstr>
      <vt:lpstr>Для чого потрібне анотування типів</vt:lpstr>
      <vt:lpstr>Для чого потрібне анотування типів</vt:lpstr>
      <vt:lpstr>Основи анотування типів</vt:lpstr>
      <vt:lpstr>Основи анотування типів</vt:lpstr>
      <vt:lpstr>Union</vt:lpstr>
      <vt:lpstr>optional</vt:lpstr>
      <vt:lpstr>ANY</vt:lpstr>
      <vt:lpstr>Final</vt:lpstr>
      <vt:lpstr>Узагальнені Типи (generics)</vt:lpstr>
      <vt:lpstr>Анотування типів колекцій</vt:lpstr>
      <vt:lpstr>List, Tuple, Set, Dict</vt:lpstr>
      <vt:lpstr>List, Tuple, Set, Dict</vt:lpstr>
      <vt:lpstr>Модуль mypy</vt:lpstr>
      <vt:lpstr>Callable</vt:lpstr>
      <vt:lpstr>Callable</vt:lpstr>
      <vt:lpstr>Анотації на рівні класів</vt:lpstr>
      <vt:lpstr>Анотації на рівні класів</vt:lpstr>
      <vt:lpstr>Any vs object</vt:lpstr>
      <vt:lpstr>Анотування Класів</vt:lpstr>
      <vt:lpstr>Анотування Класів</vt:lpstr>
      <vt:lpstr>Анотування Класів</vt:lpstr>
      <vt:lpstr>Різниця між Type I TypeVar</vt:lpstr>
      <vt:lpstr>Анотування класів: Self</vt:lpstr>
      <vt:lpstr>Анотування класів: Статичний та класовий методи</vt:lpstr>
      <vt:lpstr>Анотування класів: __future__</vt:lpstr>
      <vt:lpstr>Анотування всередині класів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Олександра Лисецька</dc:creator>
  <cp:lastModifiedBy>Олександра Лисецька</cp:lastModifiedBy>
  <cp:revision>7</cp:revision>
  <dcterms:created xsi:type="dcterms:W3CDTF">2025-02-13T10:13:29Z</dcterms:created>
  <dcterms:modified xsi:type="dcterms:W3CDTF">2026-02-23T08:44:53Z</dcterms:modified>
</cp:coreProperties>
</file>