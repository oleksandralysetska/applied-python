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3"/>
  </p:notesMasterIdLst>
  <p:sldIdLst>
    <p:sldId id="256" r:id="rId2"/>
    <p:sldId id="257" r:id="rId3"/>
    <p:sldId id="258" r:id="rId4"/>
    <p:sldId id="275" r:id="rId5"/>
    <p:sldId id="259" r:id="rId6"/>
    <p:sldId id="261" r:id="rId7"/>
    <p:sldId id="270" r:id="rId8"/>
    <p:sldId id="271" r:id="rId9"/>
    <p:sldId id="262" r:id="rId10"/>
    <p:sldId id="260" r:id="rId11"/>
    <p:sldId id="268" r:id="rId12"/>
    <p:sldId id="290" r:id="rId13"/>
    <p:sldId id="273" r:id="rId14"/>
    <p:sldId id="274" r:id="rId15"/>
    <p:sldId id="263" r:id="rId16"/>
    <p:sldId id="267" r:id="rId17"/>
    <p:sldId id="272" r:id="rId18"/>
    <p:sldId id="264" r:id="rId19"/>
    <p:sldId id="265" r:id="rId20"/>
    <p:sldId id="276" r:id="rId21"/>
    <p:sldId id="277" r:id="rId22"/>
    <p:sldId id="282" r:id="rId23"/>
    <p:sldId id="283" r:id="rId24"/>
    <p:sldId id="266" r:id="rId25"/>
    <p:sldId id="279" r:id="rId26"/>
    <p:sldId id="280" r:id="rId27"/>
    <p:sldId id="284" r:id="rId28"/>
    <p:sldId id="281" r:id="rId29"/>
    <p:sldId id="288" r:id="rId30"/>
    <p:sldId id="289" r:id="rId31"/>
    <p:sldId id="286" r:id="rId3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Світлий стиль 2 –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Помірний стиль 3 –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Помірний стиль 1 –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Помірний стиль 4 –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7B26C5-4107-4FEC-AEDC-1716B250A1EF}" styleName="Світли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F182B2-C9D6-4E2B-9EDD-9B0715CCDBF9}" type="doc">
      <dgm:prSet loTypeId="urn:microsoft.com/office/officeart/2008/layout/LinedList" loCatId="list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4A3F7BAE-25FE-403F-A720-F4AE1E87E569}">
      <dgm:prSet/>
      <dgm:spPr/>
      <dgm:t>
        <a:bodyPr/>
        <a:lstStyle/>
        <a:p>
          <a:r>
            <a:rPr lang="uk-UA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Симовли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+, *, ? Називають ще «жадібними» (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greedy)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, бо вони завжди намагаються захопити рядок якомога більшої довжини: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16F07CE3-A574-4B8B-9B9A-1BBE030092E0}" type="parTrans" cxnId="{E025E458-B927-4E44-8A5D-5DC6E2FB2A96}">
      <dgm:prSet/>
      <dgm:spPr/>
      <dgm:t>
        <a:bodyPr/>
        <a:lstStyle/>
        <a:p>
          <a:endParaRPr lang="en-US"/>
        </a:p>
      </dgm:t>
    </dgm:pt>
    <dgm:pt modelId="{7D0AF795-ED0E-4677-BC93-8027839030AE}" type="sibTrans" cxnId="{E025E458-B927-4E44-8A5D-5DC6E2FB2A96}">
      <dgm:prSet/>
      <dgm:spPr/>
      <dgm:t>
        <a:bodyPr/>
        <a:lstStyle/>
        <a:p>
          <a:endParaRPr lang="en-US"/>
        </a:p>
      </dgm:t>
    </dgm:pt>
    <dgm:pt modelId="{454592E5-8A76-49AF-ACF7-E53E1A357D6C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Рядок: </a:t>
          </a: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abababababa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gm:t>
    </dgm:pt>
    <dgm:pt modelId="{CE99BDFC-2964-4F3B-8B19-C3B0EB6D7C4F}" type="parTrans" cxnId="{6E4CD3F5-F1CD-4373-9095-72A7A6615EEF}">
      <dgm:prSet/>
      <dgm:spPr/>
      <dgm:t>
        <a:bodyPr/>
        <a:lstStyle/>
        <a:p>
          <a:endParaRPr lang="en-US"/>
        </a:p>
      </dgm:t>
    </dgm:pt>
    <dgm:pt modelId="{FEC7CC42-D3E0-434F-9CFD-7F0B0BFAD861}" type="sibTrans" cxnId="{6E4CD3F5-F1CD-4373-9095-72A7A6615EEF}">
      <dgm:prSet/>
      <dgm:spPr/>
      <dgm:t>
        <a:bodyPr/>
        <a:lstStyle/>
        <a:p>
          <a:endParaRPr lang="en-US"/>
        </a:p>
      </dgm:t>
    </dgm:pt>
    <dgm:pt modelId="{33371683-ACF6-4097-8C57-2392442F8D9D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Шаблон: </a:t>
          </a: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a\w*a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C9581BC-95B7-4AB4-A16D-DA84794737C9}" type="parTrans" cxnId="{DF2E4B18-4046-40A3-B04B-60D1AA9EFB86}">
      <dgm:prSet/>
      <dgm:spPr/>
      <dgm:t>
        <a:bodyPr/>
        <a:lstStyle/>
        <a:p>
          <a:endParaRPr lang="en-US"/>
        </a:p>
      </dgm:t>
    </dgm:pt>
    <dgm:pt modelId="{051C15BA-2788-4036-96F5-22144B899FA0}" type="sibTrans" cxnId="{DF2E4B18-4046-40A3-B04B-60D1AA9EFB86}">
      <dgm:prSet/>
      <dgm:spPr/>
      <dgm:t>
        <a:bodyPr/>
        <a:lstStyle/>
        <a:p>
          <a:endParaRPr lang="en-US"/>
        </a:p>
      </dgm:t>
    </dgm:pt>
    <dgm:pt modelId="{413BC511-5AC0-4CBB-BD70-ABA43A7BB834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Результат: </a:t>
          </a:r>
          <a:r>
            <a:rPr lang="en-US" b="1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abababababa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gm:t>
    </dgm:pt>
    <dgm:pt modelId="{D898FEA1-92B1-4A09-9089-77E17069FBEE}" type="parTrans" cxnId="{B4DA2F52-4197-45B8-93A7-61908A464AD0}">
      <dgm:prSet/>
      <dgm:spPr/>
      <dgm:t>
        <a:bodyPr/>
        <a:lstStyle/>
        <a:p>
          <a:endParaRPr lang="en-US"/>
        </a:p>
      </dgm:t>
    </dgm:pt>
    <dgm:pt modelId="{BBB02010-A6D3-4801-945B-95C3C75EC00B}" type="sibTrans" cxnId="{B4DA2F52-4197-45B8-93A7-61908A464AD0}">
      <dgm:prSet/>
      <dgm:spPr/>
      <dgm:t>
        <a:bodyPr/>
        <a:lstStyle/>
        <a:p>
          <a:endParaRPr lang="en-US"/>
        </a:p>
      </dgm:t>
    </dgm:pt>
    <dgm:pt modelId="{AB633AE8-5035-454C-8588-13D9B21AC39A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Для того, щоб шаблон охоплював якомога  меншу кількість символів, доцільно після «жадібного» </a:t>
          </a:r>
          <a:r>
            <a:rPr lang="uk-UA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символа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додати ?.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9AAE66B3-A582-48AB-A8F4-90F294E9E032}" type="parTrans" cxnId="{81ED4C1B-9F57-44D7-89E0-97509E1323BD}">
      <dgm:prSet/>
      <dgm:spPr/>
      <dgm:t>
        <a:bodyPr/>
        <a:lstStyle/>
        <a:p>
          <a:endParaRPr lang="en-US"/>
        </a:p>
      </dgm:t>
    </dgm:pt>
    <dgm:pt modelId="{059919D4-78AE-42D0-B3F6-B5F508820F18}" type="sibTrans" cxnId="{81ED4C1B-9F57-44D7-89E0-97509E1323BD}">
      <dgm:prSet/>
      <dgm:spPr/>
      <dgm:t>
        <a:bodyPr/>
        <a:lstStyle/>
        <a:p>
          <a:endParaRPr lang="en-US"/>
        </a:p>
      </dgm:t>
    </dgm:pt>
    <dgm:pt modelId="{1B210788-15A3-48F6-8667-7A8172813E57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Шаблон: </a:t>
          </a: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a\w*</a:t>
          </a:r>
          <a:r>
            <a:rPr lang="uk-UA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?</a:t>
          </a:r>
          <a:r>
            <a: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44190FB0-DBF8-4421-812B-0492CF4159AF}" type="parTrans" cxnId="{65454687-B369-4FCA-B3F4-16FE079DC1A2}">
      <dgm:prSet/>
      <dgm:spPr/>
      <dgm:t>
        <a:bodyPr/>
        <a:lstStyle/>
        <a:p>
          <a:endParaRPr lang="en-US"/>
        </a:p>
      </dgm:t>
    </dgm:pt>
    <dgm:pt modelId="{3AFD6E75-4C14-4990-AE6F-B314A36E7D46}" type="sibTrans" cxnId="{65454687-B369-4FCA-B3F4-16FE079DC1A2}">
      <dgm:prSet/>
      <dgm:spPr/>
      <dgm:t>
        <a:bodyPr/>
        <a:lstStyle/>
        <a:p>
          <a:endParaRPr lang="en-US"/>
        </a:p>
      </dgm:t>
    </dgm:pt>
    <dgm:pt modelId="{CFB2D90F-AFB6-4EF2-83EC-9A5E04E2B890}">
      <dgm:prSet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Результат: </a:t>
          </a:r>
          <a:r>
            <a:rPr lang="en-US" b="1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</a:t>
          </a:r>
          <a:r>
            <a:rPr lang="en-US" b="1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</a:t>
          </a:r>
          <a:r>
            <a:rPr lang="en-US" b="1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gm:t>
    </dgm:pt>
    <dgm:pt modelId="{0CE7EA01-3591-4C0B-830F-638B36A471E9}" type="parTrans" cxnId="{D84523F1-8991-4297-8CFD-F10D7A0870D0}">
      <dgm:prSet/>
      <dgm:spPr/>
      <dgm:t>
        <a:bodyPr/>
        <a:lstStyle/>
        <a:p>
          <a:endParaRPr lang="en-US"/>
        </a:p>
      </dgm:t>
    </dgm:pt>
    <dgm:pt modelId="{E265BB3E-6662-4EF0-9672-19890BA46F7D}" type="sibTrans" cxnId="{D84523F1-8991-4297-8CFD-F10D7A0870D0}">
      <dgm:prSet/>
      <dgm:spPr/>
      <dgm:t>
        <a:bodyPr/>
        <a:lstStyle/>
        <a:p>
          <a:endParaRPr lang="en-US"/>
        </a:p>
      </dgm:t>
    </dgm:pt>
    <dgm:pt modelId="{F8B63020-EC4E-49FE-82B8-AB308DBEDE1F}" type="pres">
      <dgm:prSet presAssocID="{06F182B2-C9D6-4E2B-9EDD-9B0715CCDBF9}" presName="vert0" presStyleCnt="0">
        <dgm:presLayoutVars>
          <dgm:dir/>
          <dgm:animOne val="branch"/>
          <dgm:animLvl val="lvl"/>
        </dgm:presLayoutVars>
      </dgm:prSet>
      <dgm:spPr/>
    </dgm:pt>
    <dgm:pt modelId="{D9239964-9F96-42A5-99AB-9ADA65A025E4}" type="pres">
      <dgm:prSet presAssocID="{4A3F7BAE-25FE-403F-A720-F4AE1E87E569}" presName="thickLine" presStyleLbl="alignNode1" presStyleIdx="0" presStyleCnt="7"/>
      <dgm:spPr/>
    </dgm:pt>
    <dgm:pt modelId="{AF8A39FB-B093-4E4D-97B6-D0E9E6AFB2E6}" type="pres">
      <dgm:prSet presAssocID="{4A3F7BAE-25FE-403F-A720-F4AE1E87E569}" presName="horz1" presStyleCnt="0"/>
      <dgm:spPr/>
    </dgm:pt>
    <dgm:pt modelId="{261D2A9D-5CE9-47CC-ADB1-CBD34641885C}" type="pres">
      <dgm:prSet presAssocID="{4A3F7BAE-25FE-403F-A720-F4AE1E87E569}" presName="tx1" presStyleLbl="revTx" presStyleIdx="0" presStyleCnt="7"/>
      <dgm:spPr/>
    </dgm:pt>
    <dgm:pt modelId="{31D2892F-E62A-4B3C-BE2C-AB13B7700E83}" type="pres">
      <dgm:prSet presAssocID="{4A3F7BAE-25FE-403F-A720-F4AE1E87E569}" presName="vert1" presStyleCnt="0"/>
      <dgm:spPr/>
    </dgm:pt>
    <dgm:pt modelId="{BFCB49C7-409B-41E5-B76E-1FFBEAF8CE99}" type="pres">
      <dgm:prSet presAssocID="{454592E5-8A76-49AF-ACF7-E53E1A357D6C}" presName="thickLine" presStyleLbl="alignNode1" presStyleIdx="1" presStyleCnt="7"/>
      <dgm:spPr/>
    </dgm:pt>
    <dgm:pt modelId="{3EE17407-7109-4C86-9C47-28B06CE0FBBA}" type="pres">
      <dgm:prSet presAssocID="{454592E5-8A76-49AF-ACF7-E53E1A357D6C}" presName="horz1" presStyleCnt="0"/>
      <dgm:spPr/>
    </dgm:pt>
    <dgm:pt modelId="{3DB590F9-B3D3-4473-A1ED-95B7F69D1032}" type="pres">
      <dgm:prSet presAssocID="{454592E5-8A76-49AF-ACF7-E53E1A357D6C}" presName="tx1" presStyleLbl="revTx" presStyleIdx="1" presStyleCnt="7"/>
      <dgm:spPr/>
    </dgm:pt>
    <dgm:pt modelId="{58A9FE2A-FE1D-427D-B3AF-28F214E27EB4}" type="pres">
      <dgm:prSet presAssocID="{454592E5-8A76-49AF-ACF7-E53E1A357D6C}" presName="vert1" presStyleCnt="0"/>
      <dgm:spPr/>
    </dgm:pt>
    <dgm:pt modelId="{FB10AAC2-8564-41C5-99D6-09B1DC4081ED}" type="pres">
      <dgm:prSet presAssocID="{33371683-ACF6-4097-8C57-2392442F8D9D}" presName="thickLine" presStyleLbl="alignNode1" presStyleIdx="2" presStyleCnt="7"/>
      <dgm:spPr/>
    </dgm:pt>
    <dgm:pt modelId="{4BEBEF62-8A85-4C56-87FA-5E138E67FF52}" type="pres">
      <dgm:prSet presAssocID="{33371683-ACF6-4097-8C57-2392442F8D9D}" presName="horz1" presStyleCnt="0"/>
      <dgm:spPr/>
    </dgm:pt>
    <dgm:pt modelId="{64A4B079-62E1-4A52-A36E-82FC8CF03E08}" type="pres">
      <dgm:prSet presAssocID="{33371683-ACF6-4097-8C57-2392442F8D9D}" presName="tx1" presStyleLbl="revTx" presStyleIdx="2" presStyleCnt="7"/>
      <dgm:spPr/>
    </dgm:pt>
    <dgm:pt modelId="{42004D9C-0119-48CC-9B21-3ED871723C35}" type="pres">
      <dgm:prSet presAssocID="{33371683-ACF6-4097-8C57-2392442F8D9D}" presName="vert1" presStyleCnt="0"/>
      <dgm:spPr/>
    </dgm:pt>
    <dgm:pt modelId="{3EE5D1EE-48FE-434C-8DC0-9BDE5193B1A1}" type="pres">
      <dgm:prSet presAssocID="{413BC511-5AC0-4CBB-BD70-ABA43A7BB834}" presName="thickLine" presStyleLbl="alignNode1" presStyleIdx="3" presStyleCnt="7"/>
      <dgm:spPr/>
    </dgm:pt>
    <dgm:pt modelId="{D6B60EEF-2156-4BD1-A2FE-1EA46768BC7A}" type="pres">
      <dgm:prSet presAssocID="{413BC511-5AC0-4CBB-BD70-ABA43A7BB834}" presName="horz1" presStyleCnt="0"/>
      <dgm:spPr/>
    </dgm:pt>
    <dgm:pt modelId="{DCF30798-0545-4829-B5A7-1F9D14FDFA58}" type="pres">
      <dgm:prSet presAssocID="{413BC511-5AC0-4CBB-BD70-ABA43A7BB834}" presName="tx1" presStyleLbl="revTx" presStyleIdx="3" presStyleCnt="7"/>
      <dgm:spPr/>
    </dgm:pt>
    <dgm:pt modelId="{9F51DD61-25E6-4F57-9234-9ED912B7F6FB}" type="pres">
      <dgm:prSet presAssocID="{413BC511-5AC0-4CBB-BD70-ABA43A7BB834}" presName="vert1" presStyleCnt="0"/>
      <dgm:spPr/>
    </dgm:pt>
    <dgm:pt modelId="{A7D0C8E2-4AF4-47FA-9656-F36E097B4657}" type="pres">
      <dgm:prSet presAssocID="{AB633AE8-5035-454C-8588-13D9B21AC39A}" presName="thickLine" presStyleLbl="alignNode1" presStyleIdx="4" presStyleCnt="7"/>
      <dgm:spPr/>
    </dgm:pt>
    <dgm:pt modelId="{5A0EC20A-636F-4ECD-8AB2-1BA41CF8EE96}" type="pres">
      <dgm:prSet presAssocID="{AB633AE8-5035-454C-8588-13D9B21AC39A}" presName="horz1" presStyleCnt="0"/>
      <dgm:spPr/>
    </dgm:pt>
    <dgm:pt modelId="{585732DB-A709-4C84-AD04-72856B33D1CF}" type="pres">
      <dgm:prSet presAssocID="{AB633AE8-5035-454C-8588-13D9B21AC39A}" presName="tx1" presStyleLbl="revTx" presStyleIdx="4" presStyleCnt="7"/>
      <dgm:spPr/>
    </dgm:pt>
    <dgm:pt modelId="{462A2EA3-C5CA-4476-9995-ABF017E0FA02}" type="pres">
      <dgm:prSet presAssocID="{AB633AE8-5035-454C-8588-13D9B21AC39A}" presName="vert1" presStyleCnt="0"/>
      <dgm:spPr/>
    </dgm:pt>
    <dgm:pt modelId="{AC9ED2CA-581D-4370-AF69-A0A1BB2AE4E6}" type="pres">
      <dgm:prSet presAssocID="{1B210788-15A3-48F6-8667-7A8172813E57}" presName="thickLine" presStyleLbl="alignNode1" presStyleIdx="5" presStyleCnt="7"/>
      <dgm:spPr/>
    </dgm:pt>
    <dgm:pt modelId="{5973DDFA-78D0-4CEB-A9B9-9B2904E0228A}" type="pres">
      <dgm:prSet presAssocID="{1B210788-15A3-48F6-8667-7A8172813E57}" presName="horz1" presStyleCnt="0"/>
      <dgm:spPr/>
    </dgm:pt>
    <dgm:pt modelId="{ED13E660-F712-4741-ADC6-490062A9F298}" type="pres">
      <dgm:prSet presAssocID="{1B210788-15A3-48F6-8667-7A8172813E57}" presName="tx1" presStyleLbl="revTx" presStyleIdx="5" presStyleCnt="7"/>
      <dgm:spPr/>
    </dgm:pt>
    <dgm:pt modelId="{BBD159BD-9DA8-43C8-B8E2-C04FF33819EC}" type="pres">
      <dgm:prSet presAssocID="{1B210788-15A3-48F6-8667-7A8172813E57}" presName="vert1" presStyleCnt="0"/>
      <dgm:spPr/>
    </dgm:pt>
    <dgm:pt modelId="{091DE9F6-0FDC-4788-A724-3687AADC1812}" type="pres">
      <dgm:prSet presAssocID="{CFB2D90F-AFB6-4EF2-83EC-9A5E04E2B890}" presName="thickLine" presStyleLbl="alignNode1" presStyleIdx="6" presStyleCnt="7"/>
      <dgm:spPr/>
    </dgm:pt>
    <dgm:pt modelId="{890086DF-41F9-42B0-B79A-4FE0CE4C7414}" type="pres">
      <dgm:prSet presAssocID="{CFB2D90F-AFB6-4EF2-83EC-9A5E04E2B890}" presName="horz1" presStyleCnt="0"/>
      <dgm:spPr/>
    </dgm:pt>
    <dgm:pt modelId="{B5312C4F-79A3-4DA6-9BF7-3EF320CD4AF1}" type="pres">
      <dgm:prSet presAssocID="{CFB2D90F-AFB6-4EF2-83EC-9A5E04E2B890}" presName="tx1" presStyleLbl="revTx" presStyleIdx="6" presStyleCnt="7"/>
      <dgm:spPr/>
    </dgm:pt>
    <dgm:pt modelId="{92ED55EC-CF75-4B7E-BA6A-75E32E42806A}" type="pres">
      <dgm:prSet presAssocID="{CFB2D90F-AFB6-4EF2-83EC-9A5E04E2B890}" presName="vert1" presStyleCnt="0"/>
      <dgm:spPr/>
    </dgm:pt>
  </dgm:ptLst>
  <dgm:cxnLst>
    <dgm:cxn modelId="{DF2E4B18-4046-40A3-B04B-60D1AA9EFB86}" srcId="{06F182B2-C9D6-4E2B-9EDD-9B0715CCDBF9}" destId="{33371683-ACF6-4097-8C57-2392442F8D9D}" srcOrd="2" destOrd="0" parTransId="{0C9581BC-95B7-4AB4-A16D-DA84794737C9}" sibTransId="{051C15BA-2788-4036-96F5-22144B899FA0}"/>
    <dgm:cxn modelId="{81ED4C1B-9F57-44D7-89E0-97509E1323BD}" srcId="{06F182B2-C9D6-4E2B-9EDD-9B0715CCDBF9}" destId="{AB633AE8-5035-454C-8588-13D9B21AC39A}" srcOrd="4" destOrd="0" parTransId="{9AAE66B3-A582-48AB-A8F4-90F294E9E032}" sibTransId="{059919D4-78AE-42D0-B3F6-B5F508820F18}"/>
    <dgm:cxn modelId="{95C72030-E0EE-44D2-A6D7-07D200D8E96B}" type="presOf" srcId="{4A3F7BAE-25FE-403F-A720-F4AE1E87E569}" destId="{261D2A9D-5CE9-47CC-ADB1-CBD34641885C}" srcOrd="0" destOrd="0" presId="urn:microsoft.com/office/officeart/2008/layout/LinedList"/>
    <dgm:cxn modelId="{D9EBD93F-91D8-451A-A63D-379B65DAD47A}" type="presOf" srcId="{413BC511-5AC0-4CBB-BD70-ABA43A7BB834}" destId="{DCF30798-0545-4829-B5A7-1F9D14FDFA58}" srcOrd="0" destOrd="0" presId="urn:microsoft.com/office/officeart/2008/layout/LinedList"/>
    <dgm:cxn modelId="{07166244-374C-4D56-B1C3-BC2C3F05B377}" type="presOf" srcId="{1B210788-15A3-48F6-8667-7A8172813E57}" destId="{ED13E660-F712-4741-ADC6-490062A9F298}" srcOrd="0" destOrd="0" presId="urn:microsoft.com/office/officeart/2008/layout/LinedList"/>
    <dgm:cxn modelId="{B4DA2F52-4197-45B8-93A7-61908A464AD0}" srcId="{06F182B2-C9D6-4E2B-9EDD-9B0715CCDBF9}" destId="{413BC511-5AC0-4CBB-BD70-ABA43A7BB834}" srcOrd="3" destOrd="0" parTransId="{D898FEA1-92B1-4A09-9089-77E17069FBEE}" sibTransId="{BBB02010-A6D3-4801-945B-95C3C75EC00B}"/>
    <dgm:cxn modelId="{E025E458-B927-4E44-8A5D-5DC6E2FB2A96}" srcId="{06F182B2-C9D6-4E2B-9EDD-9B0715CCDBF9}" destId="{4A3F7BAE-25FE-403F-A720-F4AE1E87E569}" srcOrd="0" destOrd="0" parTransId="{16F07CE3-A574-4B8B-9B9A-1BBE030092E0}" sibTransId="{7D0AF795-ED0E-4677-BC93-8027839030AE}"/>
    <dgm:cxn modelId="{65454687-B369-4FCA-B3F4-16FE079DC1A2}" srcId="{06F182B2-C9D6-4E2B-9EDD-9B0715CCDBF9}" destId="{1B210788-15A3-48F6-8667-7A8172813E57}" srcOrd="5" destOrd="0" parTransId="{44190FB0-DBF8-4421-812B-0492CF4159AF}" sibTransId="{3AFD6E75-4C14-4990-AE6F-B314A36E7D46}"/>
    <dgm:cxn modelId="{D82BCDAB-5FAE-4578-A94F-E8C2FE2E25A1}" type="presOf" srcId="{CFB2D90F-AFB6-4EF2-83EC-9A5E04E2B890}" destId="{B5312C4F-79A3-4DA6-9BF7-3EF320CD4AF1}" srcOrd="0" destOrd="0" presId="urn:microsoft.com/office/officeart/2008/layout/LinedList"/>
    <dgm:cxn modelId="{E3FFF8BD-972D-464E-B3A4-F45DC889FA29}" type="presOf" srcId="{06F182B2-C9D6-4E2B-9EDD-9B0715CCDBF9}" destId="{F8B63020-EC4E-49FE-82B8-AB308DBEDE1F}" srcOrd="0" destOrd="0" presId="urn:microsoft.com/office/officeart/2008/layout/LinedList"/>
    <dgm:cxn modelId="{97E8B0E7-919B-4713-A860-02D6AF1634CF}" type="presOf" srcId="{454592E5-8A76-49AF-ACF7-E53E1A357D6C}" destId="{3DB590F9-B3D3-4473-A1ED-95B7F69D1032}" srcOrd="0" destOrd="0" presId="urn:microsoft.com/office/officeart/2008/layout/LinedList"/>
    <dgm:cxn modelId="{E1E408EC-C69A-44BD-A407-2FDC90A8ACC5}" type="presOf" srcId="{33371683-ACF6-4097-8C57-2392442F8D9D}" destId="{64A4B079-62E1-4A52-A36E-82FC8CF03E08}" srcOrd="0" destOrd="0" presId="urn:microsoft.com/office/officeart/2008/layout/LinedList"/>
    <dgm:cxn modelId="{046DA0ED-BFEE-4812-94C7-5F5A9D796333}" type="presOf" srcId="{AB633AE8-5035-454C-8588-13D9B21AC39A}" destId="{585732DB-A709-4C84-AD04-72856B33D1CF}" srcOrd="0" destOrd="0" presId="urn:microsoft.com/office/officeart/2008/layout/LinedList"/>
    <dgm:cxn modelId="{D84523F1-8991-4297-8CFD-F10D7A0870D0}" srcId="{06F182B2-C9D6-4E2B-9EDD-9B0715CCDBF9}" destId="{CFB2D90F-AFB6-4EF2-83EC-9A5E04E2B890}" srcOrd="6" destOrd="0" parTransId="{0CE7EA01-3591-4C0B-830F-638B36A471E9}" sibTransId="{E265BB3E-6662-4EF0-9672-19890BA46F7D}"/>
    <dgm:cxn modelId="{6E4CD3F5-F1CD-4373-9095-72A7A6615EEF}" srcId="{06F182B2-C9D6-4E2B-9EDD-9B0715CCDBF9}" destId="{454592E5-8A76-49AF-ACF7-E53E1A357D6C}" srcOrd="1" destOrd="0" parTransId="{CE99BDFC-2964-4F3B-8B19-C3B0EB6D7C4F}" sibTransId="{FEC7CC42-D3E0-434F-9CFD-7F0B0BFAD861}"/>
    <dgm:cxn modelId="{6910E52C-2F8E-4E5E-8108-423AC0B3DB7F}" type="presParOf" srcId="{F8B63020-EC4E-49FE-82B8-AB308DBEDE1F}" destId="{D9239964-9F96-42A5-99AB-9ADA65A025E4}" srcOrd="0" destOrd="0" presId="urn:microsoft.com/office/officeart/2008/layout/LinedList"/>
    <dgm:cxn modelId="{7775BC1A-D7BE-4B98-A1C1-A24C1F4E352A}" type="presParOf" srcId="{F8B63020-EC4E-49FE-82B8-AB308DBEDE1F}" destId="{AF8A39FB-B093-4E4D-97B6-D0E9E6AFB2E6}" srcOrd="1" destOrd="0" presId="urn:microsoft.com/office/officeart/2008/layout/LinedList"/>
    <dgm:cxn modelId="{CD6D33FA-C2F3-4A9C-AB41-B522899D20D1}" type="presParOf" srcId="{AF8A39FB-B093-4E4D-97B6-D0E9E6AFB2E6}" destId="{261D2A9D-5CE9-47CC-ADB1-CBD34641885C}" srcOrd="0" destOrd="0" presId="urn:microsoft.com/office/officeart/2008/layout/LinedList"/>
    <dgm:cxn modelId="{B6202CE2-3B3C-44C3-87FA-CB5355CAD53C}" type="presParOf" srcId="{AF8A39FB-B093-4E4D-97B6-D0E9E6AFB2E6}" destId="{31D2892F-E62A-4B3C-BE2C-AB13B7700E83}" srcOrd="1" destOrd="0" presId="urn:microsoft.com/office/officeart/2008/layout/LinedList"/>
    <dgm:cxn modelId="{6D78C0AE-7A28-49D9-A5A6-93122FEE3139}" type="presParOf" srcId="{F8B63020-EC4E-49FE-82B8-AB308DBEDE1F}" destId="{BFCB49C7-409B-41E5-B76E-1FFBEAF8CE99}" srcOrd="2" destOrd="0" presId="urn:microsoft.com/office/officeart/2008/layout/LinedList"/>
    <dgm:cxn modelId="{DE217D9C-06FD-4E1D-B3F2-4E8175D9C7C3}" type="presParOf" srcId="{F8B63020-EC4E-49FE-82B8-AB308DBEDE1F}" destId="{3EE17407-7109-4C86-9C47-28B06CE0FBBA}" srcOrd="3" destOrd="0" presId="urn:microsoft.com/office/officeart/2008/layout/LinedList"/>
    <dgm:cxn modelId="{D074CCFC-1FDE-484C-B7E1-B286F68EC9E1}" type="presParOf" srcId="{3EE17407-7109-4C86-9C47-28B06CE0FBBA}" destId="{3DB590F9-B3D3-4473-A1ED-95B7F69D1032}" srcOrd="0" destOrd="0" presId="urn:microsoft.com/office/officeart/2008/layout/LinedList"/>
    <dgm:cxn modelId="{7689941E-8A34-4B48-A87F-7A0A11769BA1}" type="presParOf" srcId="{3EE17407-7109-4C86-9C47-28B06CE0FBBA}" destId="{58A9FE2A-FE1D-427D-B3AF-28F214E27EB4}" srcOrd="1" destOrd="0" presId="urn:microsoft.com/office/officeart/2008/layout/LinedList"/>
    <dgm:cxn modelId="{17EF576A-FFBC-46B8-A997-AC4C3E6E97F9}" type="presParOf" srcId="{F8B63020-EC4E-49FE-82B8-AB308DBEDE1F}" destId="{FB10AAC2-8564-41C5-99D6-09B1DC4081ED}" srcOrd="4" destOrd="0" presId="urn:microsoft.com/office/officeart/2008/layout/LinedList"/>
    <dgm:cxn modelId="{E2E56EAE-675E-4351-AAF8-FD20B16DA518}" type="presParOf" srcId="{F8B63020-EC4E-49FE-82B8-AB308DBEDE1F}" destId="{4BEBEF62-8A85-4C56-87FA-5E138E67FF52}" srcOrd="5" destOrd="0" presId="urn:microsoft.com/office/officeart/2008/layout/LinedList"/>
    <dgm:cxn modelId="{635C3CFD-641A-4C2E-AE6A-5473BAA5CB99}" type="presParOf" srcId="{4BEBEF62-8A85-4C56-87FA-5E138E67FF52}" destId="{64A4B079-62E1-4A52-A36E-82FC8CF03E08}" srcOrd="0" destOrd="0" presId="urn:microsoft.com/office/officeart/2008/layout/LinedList"/>
    <dgm:cxn modelId="{D5259819-0DF2-416E-98FC-280D335C967E}" type="presParOf" srcId="{4BEBEF62-8A85-4C56-87FA-5E138E67FF52}" destId="{42004D9C-0119-48CC-9B21-3ED871723C35}" srcOrd="1" destOrd="0" presId="urn:microsoft.com/office/officeart/2008/layout/LinedList"/>
    <dgm:cxn modelId="{E442D988-6948-4E71-A264-1503218FB513}" type="presParOf" srcId="{F8B63020-EC4E-49FE-82B8-AB308DBEDE1F}" destId="{3EE5D1EE-48FE-434C-8DC0-9BDE5193B1A1}" srcOrd="6" destOrd="0" presId="urn:microsoft.com/office/officeart/2008/layout/LinedList"/>
    <dgm:cxn modelId="{8CF01409-B370-4E9C-A794-60B25763FD4F}" type="presParOf" srcId="{F8B63020-EC4E-49FE-82B8-AB308DBEDE1F}" destId="{D6B60EEF-2156-4BD1-A2FE-1EA46768BC7A}" srcOrd="7" destOrd="0" presId="urn:microsoft.com/office/officeart/2008/layout/LinedList"/>
    <dgm:cxn modelId="{393378E2-3E2A-41B1-9835-EF589800BADD}" type="presParOf" srcId="{D6B60EEF-2156-4BD1-A2FE-1EA46768BC7A}" destId="{DCF30798-0545-4829-B5A7-1F9D14FDFA58}" srcOrd="0" destOrd="0" presId="urn:microsoft.com/office/officeart/2008/layout/LinedList"/>
    <dgm:cxn modelId="{1BB0AAA5-5AD7-41FB-8007-1EE78F0CA3DD}" type="presParOf" srcId="{D6B60EEF-2156-4BD1-A2FE-1EA46768BC7A}" destId="{9F51DD61-25E6-4F57-9234-9ED912B7F6FB}" srcOrd="1" destOrd="0" presId="urn:microsoft.com/office/officeart/2008/layout/LinedList"/>
    <dgm:cxn modelId="{20894CB4-F33F-483A-87ED-C0E6C041D0A0}" type="presParOf" srcId="{F8B63020-EC4E-49FE-82B8-AB308DBEDE1F}" destId="{A7D0C8E2-4AF4-47FA-9656-F36E097B4657}" srcOrd="8" destOrd="0" presId="urn:microsoft.com/office/officeart/2008/layout/LinedList"/>
    <dgm:cxn modelId="{7CE5D206-049F-4EAA-870B-F78C92877F74}" type="presParOf" srcId="{F8B63020-EC4E-49FE-82B8-AB308DBEDE1F}" destId="{5A0EC20A-636F-4ECD-8AB2-1BA41CF8EE96}" srcOrd="9" destOrd="0" presId="urn:microsoft.com/office/officeart/2008/layout/LinedList"/>
    <dgm:cxn modelId="{48889C20-5B59-41E2-8DD1-325188D46295}" type="presParOf" srcId="{5A0EC20A-636F-4ECD-8AB2-1BA41CF8EE96}" destId="{585732DB-A709-4C84-AD04-72856B33D1CF}" srcOrd="0" destOrd="0" presId="urn:microsoft.com/office/officeart/2008/layout/LinedList"/>
    <dgm:cxn modelId="{0AD514CE-66EC-4BAA-A951-0CA0FFEED115}" type="presParOf" srcId="{5A0EC20A-636F-4ECD-8AB2-1BA41CF8EE96}" destId="{462A2EA3-C5CA-4476-9995-ABF017E0FA02}" srcOrd="1" destOrd="0" presId="urn:microsoft.com/office/officeart/2008/layout/LinedList"/>
    <dgm:cxn modelId="{951C2540-F2E3-4B9F-ABC0-5C7FC44B996B}" type="presParOf" srcId="{F8B63020-EC4E-49FE-82B8-AB308DBEDE1F}" destId="{AC9ED2CA-581D-4370-AF69-A0A1BB2AE4E6}" srcOrd="10" destOrd="0" presId="urn:microsoft.com/office/officeart/2008/layout/LinedList"/>
    <dgm:cxn modelId="{18E6F915-9BAC-49F0-9647-AD5D8E106461}" type="presParOf" srcId="{F8B63020-EC4E-49FE-82B8-AB308DBEDE1F}" destId="{5973DDFA-78D0-4CEB-A9B9-9B2904E0228A}" srcOrd="11" destOrd="0" presId="urn:microsoft.com/office/officeart/2008/layout/LinedList"/>
    <dgm:cxn modelId="{52EFFFA9-93ED-45D4-9669-5073F26F1EA4}" type="presParOf" srcId="{5973DDFA-78D0-4CEB-A9B9-9B2904E0228A}" destId="{ED13E660-F712-4741-ADC6-490062A9F298}" srcOrd="0" destOrd="0" presId="urn:microsoft.com/office/officeart/2008/layout/LinedList"/>
    <dgm:cxn modelId="{18DF5B95-9CBF-448C-A0AA-23093A807AC9}" type="presParOf" srcId="{5973DDFA-78D0-4CEB-A9B9-9B2904E0228A}" destId="{BBD159BD-9DA8-43C8-B8E2-C04FF33819EC}" srcOrd="1" destOrd="0" presId="urn:microsoft.com/office/officeart/2008/layout/LinedList"/>
    <dgm:cxn modelId="{EDC387DA-AFB1-44F3-B13A-4FFE54C2139D}" type="presParOf" srcId="{F8B63020-EC4E-49FE-82B8-AB308DBEDE1F}" destId="{091DE9F6-0FDC-4788-A724-3687AADC1812}" srcOrd="12" destOrd="0" presId="urn:microsoft.com/office/officeart/2008/layout/LinedList"/>
    <dgm:cxn modelId="{5461D26C-F4A2-400B-A1B7-EE05DF597CD1}" type="presParOf" srcId="{F8B63020-EC4E-49FE-82B8-AB308DBEDE1F}" destId="{890086DF-41F9-42B0-B79A-4FE0CE4C7414}" srcOrd="13" destOrd="0" presId="urn:microsoft.com/office/officeart/2008/layout/LinedList"/>
    <dgm:cxn modelId="{D8EF35F3-4D55-4CD4-A1CC-CE20E37518F0}" type="presParOf" srcId="{890086DF-41F9-42B0-B79A-4FE0CE4C7414}" destId="{B5312C4F-79A3-4DA6-9BF7-3EF320CD4AF1}" srcOrd="0" destOrd="0" presId="urn:microsoft.com/office/officeart/2008/layout/LinedList"/>
    <dgm:cxn modelId="{22EF45CF-FB35-4FE2-A7D2-23AF499BD2DB}" type="presParOf" srcId="{890086DF-41F9-42B0-B79A-4FE0CE4C7414}" destId="{92ED55EC-CF75-4B7E-BA6A-75E32E42806A}" srcOrd="1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B17BFB-F5B1-4E13-9129-9387D2CD552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3CD2A9A-8C2F-44A4-8575-85420EC38994}">
      <dgm:prSet/>
      <dgm:spPr/>
      <dgm:t>
        <a:bodyPr/>
        <a:lstStyle/>
        <a:p>
          <a:r>
            <a:rPr lang="uk-UA" dirty="0"/>
            <a:t>Якщо деякий шаблон потрібно використовувати дуже багато разів у програмі, то для пришвидшення виконання цей шаблон доцільно </a:t>
          </a:r>
          <a:r>
            <a:rPr lang="uk-UA" dirty="0" err="1"/>
            <a:t>прокомпілювати</a:t>
          </a:r>
          <a:r>
            <a:rPr lang="uk-UA" dirty="0"/>
            <a:t>. Для цього модуль </a:t>
          </a:r>
          <a:r>
            <a:rPr lang="en-US" dirty="0"/>
            <a:t>re</a:t>
          </a:r>
          <a:r>
            <a:rPr lang="uk-UA" dirty="0"/>
            <a:t> надає функцію</a:t>
          </a:r>
          <a:endParaRPr lang="en-US" dirty="0"/>
        </a:p>
      </dgm:t>
    </dgm:pt>
    <dgm:pt modelId="{699E230B-99C7-4B88-B96E-557431F63496}" type="parTrans" cxnId="{4DD05CC7-3E96-421E-AD8A-2663B16800FB}">
      <dgm:prSet/>
      <dgm:spPr/>
      <dgm:t>
        <a:bodyPr/>
        <a:lstStyle/>
        <a:p>
          <a:endParaRPr lang="en-US"/>
        </a:p>
      </dgm:t>
    </dgm:pt>
    <dgm:pt modelId="{A627CF68-5EB7-41CB-9FC5-71B1E478FAC9}" type="sibTrans" cxnId="{4DD05CC7-3E96-421E-AD8A-2663B16800FB}">
      <dgm:prSet/>
      <dgm:spPr/>
      <dgm:t>
        <a:bodyPr/>
        <a:lstStyle/>
        <a:p>
          <a:endParaRPr lang="en-US"/>
        </a:p>
      </dgm:t>
    </dgm:pt>
    <dgm:pt modelId="{839AEFB3-E8B8-4372-83F3-F00F3714F5D6}">
      <dgm:prSet/>
      <dgm:spPr/>
      <dgm:t>
        <a:bodyPr/>
        <a:lstStyle/>
        <a:p>
          <a:pPr algn="ctr"/>
          <a:endParaRPr lang="en-US" b="1" dirty="0"/>
        </a:p>
        <a:p>
          <a:pPr algn="ctr"/>
          <a:r>
            <a:rPr lang="en-US" b="1" dirty="0" err="1"/>
            <a:t>re.compile</a:t>
          </a:r>
          <a:r>
            <a:rPr lang="en-US" b="1" dirty="0"/>
            <a:t>(pat, flags=0),</a:t>
          </a:r>
          <a:endParaRPr lang="en-US" dirty="0"/>
        </a:p>
      </dgm:t>
    </dgm:pt>
    <dgm:pt modelId="{98A10267-8BF2-49A3-81E4-8BDF3E6D9A67}" type="parTrans" cxnId="{A5AB39A2-EB0E-4CEC-95F6-9A2A5F998713}">
      <dgm:prSet/>
      <dgm:spPr/>
      <dgm:t>
        <a:bodyPr/>
        <a:lstStyle/>
        <a:p>
          <a:endParaRPr lang="en-US"/>
        </a:p>
      </dgm:t>
    </dgm:pt>
    <dgm:pt modelId="{FE91143A-CC82-4822-B6D9-A31943EF45DA}" type="sibTrans" cxnId="{A5AB39A2-EB0E-4CEC-95F6-9A2A5F998713}">
      <dgm:prSet/>
      <dgm:spPr/>
      <dgm:t>
        <a:bodyPr/>
        <a:lstStyle/>
        <a:p>
          <a:endParaRPr lang="en-US"/>
        </a:p>
      </dgm:t>
    </dgm:pt>
    <dgm:pt modelId="{245811E2-F5F0-47E3-B888-F2CB2D543EB4}">
      <dgm:prSet/>
      <dgm:spPr/>
      <dgm:t>
        <a:bodyPr/>
        <a:lstStyle/>
        <a:p>
          <a:r>
            <a:rPr lang="uk-UA" dirty="0"/>
            <a:t>де </a:t>
          </a:r>
          <a:r>
            <a:rPr lang="en-US" i="1" dirty="0"/>
            <a:t>pat</a:t>
          </a:r>
          <a:r>
            <a:rPr lang="en-US" dirty="0"/>
            <a:t> – </a:t>
          </a:r>
          <a:r>
            <a:rPr lang="uk-UA" dirty="0"/>
            <a:t>шаблон, а </a:t>
          </a:r>
          <a:r>
            <a:rPr lang="en-US" i="1" dirty="0"/>
            <a:t>flags</a:t>
          </a:r>
          <a:r>
            <a:rPr lang="en-US" dirty="0"/>
            <a:t> – </a:t>
          </a:r>
          <a:r>
            <a:rPr lang="uk-UA" dirty="0"/>
            <a:t>опціональний параметр, який є спеціальним модифікатором, що застосовується до шаблону.</a:t>
          </a:r>
          <a:endParaRPr lang="en-US" dirty="0"/>
        </a:p>
      </dgm:t>
    </dgm:pt>
    <dgm:pt modelId="{6E106E36-87F5-4E3F-AA19-10F9C04A838C}" type="parTrans" cxnId="{0671510E-2099-42AE-814E-2C978DC831F9}">
      <dgm:prSet/>
      <dgm:spPr/>
      <dgm:t>
        <a:bodyPr/>
        <a:lstStyle/>
        <a:p>
          <a:endParaRPr lang="en-US"/>
        </a:p>
      </dgm:t>
    </dgm:pt>
    <dgm:pt modelId="{195B4149-1271-4B1C-89DA-F64573C48B0F}" type="sibTrans" cxnId="{0671510E-2099-42AE-814E-2C978DC831F9}">
      <dgm:prSet/>
      <dgm:spPr/>
      <dgm:t>
        <a:bodyPr/>
        <a:lstStyle/>
        <a:p>
          <a:endParaRPr lang="en-US"/>
        </a:p>
      </dgm:t>
    </dgm:pt>
    <dgm:pt modelId="{F616D70F-8C62-4B55-863B-7CFABF9CF51B}">
      <dgm:prSet/>
      <dgm:spPr/>
      <dgm:t>
        <a:bodyPr/>
        <a:lstStyle/>
        <a:p>
          <a:r>
            <a:rPr lang="uk-UA" dirty="0"/>
            <a:t>У результаті виконання функції </a:t>
          </a:r>
          <a:r>
            <a:rPr lang="en-US" i="1" dirty="0" err="1"/>
            <a:t>re.compile</a:t>
          </a:r>
          <a:r>
            <a:rPr lang="en-US" i="1" dirty="0"/>
            <a:t>() </a:t>
          </a:r>
          <a:r>
            <a:rPr lang="uk-UA" dirty="0"/>
            <a:t>повертається відкомпільований шаблон (як об’єкт класу </a:t>
          </a:r>
          <a:r>
            <a:rPr lang="en-US" dirty="0" err="1"/>
            <a:t>re.Pattern</a:t>
          </a:r>
          <a:r>
            <a:rPr lang="en-US" dirty="0"/>
            <a:t>)</a:t>
          </a:r>
          <a:r>
            <a:rPr lang="uk-UA" dirty="0"/>
            <a:t>, який використовується для обробки тексту.</a:t>
          </a:r>
          <a:endParaRPr lang="en-US" dirty="0"/>
        </a:p>
      </dgm:t>
    </dgm:pt>
    <dgm:pt modelId="{8B5C9994-3F73-4DF4-9FE2-47D08842586B}" type="parTrans" cxnId="{B7CB8FED-EE60-4DF2-8CA4-9CCFE5BE0BE4}">
      <dgm:prSet/>
      <dgm:spPr/>
      <dgm:t>
        <a:bodyPr/>
        <a:lstStyle/>
        <a:p>
          <a:endParaRPr lang="en-US"/>
        </a:p>
      </dgm:t>
    </dgm:pt>
    <dgm:pt modelId="{A84AA49C-C486-4E8B-9E2D-7E68C8AC73CA}" type="sibTrans" cxnId="{B7CB8FED-EE60-4DF2-8CA4-9CCFE5BE0BE4}">
      <dgm:prSet/>
      <dgm:spPr/>
      <dgm:t>
        <a:bodyPr/>
        <a:lstStyle/>
        <a:p>
          <a:endParaRPr lang="en-US"/>
        </a:p>
      </dgm:t>
    </dgm:pt>
    <dgm:pt modelId="{E0B1E805-C2E0-4F93-AF97-355BE74F98CC}" type="pres">
      <dgm:prSet presAssocID="{81B17BFB-F5B1-4E13-9129-9387D2CD552E}" presName="vert0" presStyleCnt="0">
        <dgm:presLayoutVars>
          <dgm:dir/>
          <dgm:animOne val="branch"/>
          <dgm:animLvl val="lvl"/>
        </dgm:presLayoutVars>
      </dgm:prSet>
      <dgm:spPr/>
    </dgm:pt>
    <dgm:pt modelId="{76B6394F-553B-4E25-8CE3-367768FE9AA6}" type="pres">
      <dgm:prSet presAssocID="{13CD2A9A-8C2F-44A4-8575-85420EC38994}" presName="thickLine" presStyleLbl="alignNode1" presStyleIdx="0" presStyleCnt="4"/>
      <dgm:spPr/>
    </dgm:pt>
    <dgm:pt modelId="{89BFE17C-C5FE-4ED2-BD59-8BE02C343FB6}" type="pres">
      <dgm:prSet presAssocID="{13CD2A9A-8C2F-44A4-8575-85420EC38994}" presName="horz1" presStyleCnt="0"/>
      <dgm:spPr/>
    </dgm:pt>
    <dgm:pt modelId="{0324EA9F-AD7D-4E1C-B329-88A584FFD239}" type="pres">
      <dgm:prSet presAssocID="{13CD2A9A-8C2F-44A4-8575-85420EC38994}" presName="tx1" presStyleLbl="revTx" presStyleIdx="0" presStyleCnt="4"/>
      <dgm:spPr/>
    </dgm:pt>
    <dgm:pt modelId="{2D28C9E2-9796-4F51-933E-73DCD3940615}" type="pres">
      <dgm:prSet presAssocID="{13CD2A9A-8C2F-44A4-8575-85420EC38994}" presName="vert1" presStyleCnt="0"/>
      <dgm:spPr/>
    </dgm:pt>
    <dgm:pt modelId="{FF0834F9-4C17-407B-A724-C9FCBC441412}" type="pres">
      <dgm:prSet presAssocID="{839AEFB3-E8B8-4372-83F3-F00F3714F5D6}" presName="thickLine" presStyleLbl="alignNode1" presStyleIdx="1" presStyleCnt="4"/>
      <dgm:spPr/>
    </dgm:pt>
    <dgm:pt modelId="{F61439E4-6BB0-4507-AD62-79765490E013}" type="pres">
      <dgm:prSet presAssocID="{839AEFB3-E8B8-4372-83F3-F00F3714F5D6}" presName="horz1" presStyleCnt="0"/>
      <dgm:spPr/>
    </dgm:pt>
    <dgm:pt modelId="{2E0B59A1-77D9-4B41-9957-B23FEAF902C5}" type="pres">
      <dgm:prSet presAssocID="{839AEFB3-E8B8-4372-83F3-F00F3714F5D6}" presName="tx1" presStyleLbl="revTx" presStyleIdx="1" presStyleCnt="4"/>
      <dgm:spPr/>
    </dgm:pt>
    <dgm:pt modelId="{C1CDFA30-9C6B-42B0-BE8D-500B2E91A435}" type="pres">
      <dgm:prSet presAssocID="{839AEFB3-E8B8-4372-83F3-F00F3714F5D6}" presName="vert1" presStyleCnt="0"/>
      <dgm:spPr/>
    </dgm:pt>
    <dgm:pt modelId="{BD3FF76F-FA2D-47D7-BED8-F325A1331766}" type="pres">
      <dgm:prSet presAssocID="{245811E2-F5F0-47E3-B888-F2CB2D543EB4}" presName="thickLine" presStyleLbl="alignNode1" presStyleIdx="2" presStyleCnt="4"/>
      <dgm:spPr/>
    </dgm:pt>
    <dgm:pt modelId="{019B7E0B-8196-4CE7-8F6C-30CD562504DA}" type="pres">
      <dgm:prSet presAssocID="{245811E2-F5F0-47E3-B888-F2CB2D543EB4}" presName="horz1" presStyleCnt="0"/>
      <dgm:spPr/>
    </dgm:pt>
    <dgm:pt modelId="{1B040BA1-A3B4-4FF6-893C-A35EC66CD321}" type="pres">
      <dgm:prSet presAssocID="{245811E2-F5F0-47E3-B888-F2CB2D543EB4}" presName="tx1" presStyleLbl="revTx" presStyleIdx="2" presStyleCnt="4"/>
      <dgm:spPr/>
    </dgm:pt>
    <dgm:pt modelId="{DEC08BAF-7CFE-4DE0-A8BD-B4AAF54C2D87}" type="pres">
      <dgm:prSet presAssocID="{245811E2-F5F0-47E3-B888-F2CB2D543EB4}" presName="vert1" presStyleCnt="0"/>
      <dgm:spPr/>
    </dgm:pt>
    <dgm:pt modelId="{BCA028C3-DC55-4987-A672-520DFDACD74F}" type="pres">
      <dgm:prSet presAssocID="{F616D70F-8C62-4B55-863B-7CFABF9CF51B}" presName="thickLine" presStyleLbl="alignNode1" presStyleIdx="3" presStyleCnt="4"/>
      <dgm:spPr/>
    </dgm:pt>
    <dgm:pt modelId="{262F576D-882A-4CC8-BB41-EDB2867D72DC}" type="pres">
      <dgm:prSet presAssocID="{F616D70F-8C62-4B55-863B-7CFABF9CF51B}" presName="horz1" presStyleCnt="0"/>
      <dgm:spPr/>
    </dgm:pt>
    <dgm:pt modelId="{F576B0C6-587B-4B62-9AB0-F8087C41FA20}" type="pres">
      <dgm:prSet presAssocID="{F616D70F-8C62-4B55-863B-7CFABF9CF51B}" presName="tx1" presStyleLbl="revTx" presStyleIdx="3" presStyleCnt="4"/>
      <dgm:spPr/>
    </dgm:pt>
    <dgm:pt modelId="{F1CD95B9-9046-4984-A58C-82BBF5F46F79}" type="pres">
      <dgm:prSet presAssocID="{F616D70F-8C62-4B55-863B-7CFABF9CF51B}" presName="vert1" presStyleCnt="0"/>
      <dgm:spPr/>
    </dgm:pt>
  </dgm:ptLst>
  <dgm:cxnLst>
    <dgm:cxn modelId="{0671510E-2099-42AE-814E-2C978DC831F9}" srcId="{81B17BFB-F5B1-4E13-9129-9387D2CD552E}" destId="{245811E2-F5F0-47E3-B888-F2CB2D543EB4}" srcOrd="2" destOrd="0" parTransId="{6E106E36-87F5-4E3F-AA19-10F9C04A838C}" sibTransId="{195B4149-1271-4B1C-89DA-F64573C48B0F}"/>
    <dgm:cxn modelId="{8373124D-CEDF-45EA-B37B-80710145842B}" type="presOf" srcId="{81B17BFB-F5B1-4E13-9129-9387D2CD552E}" destId="{E0B1E805-C2E0-4F93-AF97-355BE74F98CC}" srcOrd="0" destOrd="0" presId="urn:microsoft.com/office/officeart/2008/layout/LinedList"/>
    <dgm:cxn modelId="{E68B7D71-6246-4B3E-8950-934E6D818B17}" type="presOf" srcId="{839AEFB3-E8B8-4372-83F3-F00F3714F5D6}" destId="{2E0B59A1-77D9-4B41-9957-B23FEAF902C5}" srcOrd="0" destOrd="0" presId="urn:microsoft.com/office/officeart/2008/layout/LinedList"/>
    <dgm:cxn modelId="{A5AB39A2-EB0E-4CEC-95F6-9A2A5F998713}" srcId="{81B17BFB-F5B1-4E13-9129-9387D2CD552E}" destId="{839AEFB3-E8B8-4372-83F3-F00F3714F5D6}" srcOrd="1" destOrd="0" parTransId="{98A10267-8BF2-49A3-81E4-8BDF3E6D9A67}" sibTransId="{FE91143A-CC82-4822-B6D9-A31943EF45DA}"/>
    <dgm:cxn modelId="{49DF89B2-02E3-4D2E-8BA5-D0D637E88CAA}" type="presOf" srcId="{13CD2A9A-8C2F-44A4-8575-85420EC38994}" destId="{0324EA9F-AD7D-4E1C-B329-88A584FFD239}" srcOrd="0" destOrd="0" presId="urn:microsoft.com/office/officeart/2008/layout/LinedList"/>
    <dgm:cxn modelId="{4DD05CC7-3E96-421E-AD8A-2663B16800FB}" srcId="{81B17BFB-F5B1-4E13-9129-9387D2CD552E}" destId="{13CD2A9A-8C2F-44A4-8575-85420EC38994}" srcOrd="0" destOrd="0" parTransId="{699E230B-99C7-4B88-B96E-557431F63496}" sibTransId="{A627CF68-5EB7-41CB-9FC5-71B1E478FAC9}"/>
    <dgm:cxn modelId="{911945E5-CFFC-4ABC-89AF-09FF1A237824}" type="presOf" srcId="{245811E2-F5F0-47E3-B888-F2CB2D543EB4}" destId="{1B040BA1-A3B4-4FF6-893C-A35EC66CD321}" srcOrd="0" destOrd="0" presId="urn:microsoft.com/office/officeart/2008/layout/LinedList"/>
    <dgm:cxn modelId="{6226BEEB-D451-4118-ACF6-DB2904EA1501}" type="presOf" srcId="{F616D70F-8C62-4B55-863B-7CFABF9CF51B}" destId="{F576B0C6-587B-4B62-9AB0-F8087C41FA20}" srcOrd="0" destOrd="0" presId="urn:microsoft.com/office/officeart/2008/layout/LinedList"/>
    <dgm:cxn modelId="{B7CB8FED-EE60-4DF2-8CA4-9CCFE5BE0BE4}" srcId="{81B17BFB-F5B1-4E13-9129-9387D2CD552E}" destId="{F616D70F-8C62-4B55-863B-7CFABF9CF51B}" srcOrd="3" destOrd="0" parTransId="{8B5C9994-3F73-4DF4-9FE2-47D08842586B}" sibTransId="{A84AA49C-C486-4E8B-9E2D-7E68C8AC73CA}"/>
    <dgm:cxn modelId="{1D0732AC-9201-4859-956E-A21D7ED40C71}" type="presParOf" srcId="{E0B1E805-C2E0-4F93-AF97-355BE74F98CC}" destId="{76B6394F-553B-4E25-8CE3-367768FE9AA6}" srcOrd="0" destOrd="0" presId="urn:microsoft.com/office/officeart/2008/layout/LinedList"/>
    <dgm:cxn modelId="{7EFC060B-BA5C-4000-9D16-48E120848AF4}" type="presParOf" srcId="{E0B1E805-C2E0-4F93-AF97-355BE74F98CC}" destId="{89BFE17C-C5FE-4ED2-BD59-8BE02C343FB6}" srcOrd="1" destOrd="0" presId="urn:microsoft.com/office/officeart/2008/layout/LinedList"/>
    <dgm:cxn modelId="{C45ECB54-2AEF-4EDB-9B69-5F945174B07A}" type="presParOf" srcId="{89BFE17C-C5FE-4ED2-BD59-8BE02C343FB6}" destId="{0324EA9F-AD7D-4E1C-B329-88A584FFD239}" srcOrd="0" destOrd="0" presId="urn:microsoft.com/office/officeart/2008/layout/LinedList"/>
    <dgm:cxn modelId="{06300E16-2AAF-49C8-A355-77200B4B9DCC}" type="presParOf" srcId="{89BFE17C-C5FE-4ED2-BD59-8BE02C343FB6}" destId="{2D28C9E2-9796-4F51-933E-73DCD3940615}" srcOrd="1" destOrd="0" presId="urn:microsoft.com/office/officeart/2008/layout/LinedList"/>
    <dgm:cxn modelId="{E8404A02-AAE8-4D91-BA24-34792D4D06BE}" type="presParOf" srcId="{E0B1E805-C2E0-4F93-AF97-355BE74F98CC}" destId="{FF0834F9-4C17-407B-A724-C9FCBC441412}" srcOrd="2" destOrd="0" presId="urn:microsoft.com/office/officeart/2008/layout/LinedList"/>
    <dgm:cxn modelId="{F23C43A1-F80C-473B-BDAB-8E9B976A19F4}" type="presParOf" srcId="{E0B1E805-C2E0-4F93-AF97-355BE74F98CC}" destId="{F61439E4-6BB0-4507-AD62-79765490E013}" srcOrd="3" destOrd="0" presId="urn:microsoft.com/office/officeart/2008/layout/LinedList"/>
    <dgm:cxn modelId="{BEE6A6DF-E19F-4CDD-A593-0FAA71BDC354}" type="presParOf" srcId="{F61439E4-6BB0-4507-AD62-79765490E013}" destId="{2E0B59A1-77D9-4B41-9957-B23FEAF902C5}" srcOrd="0" destOrd="0" presId="urn:microsoft.com/office/officeart/2008/layout/LinedList"/>
    <dgm:cxn modelId="{0A8DDFE8-C79A-4708-BE96-30482F41BA99}" type="presParOf" srcId="{F61439E4-6BB0-4507-AD62-79765490E013}" destId="{C1CDFA30-9C6B-42B0-BE8D-500B2E91A435}" srcOrd="1" destOrd="0" presId="urn:microsoft.com/office/officeart/2008/layout/LinedList"/>
    <dgm:cxn modelId="{BD439475-94F8-458A-8AC3-F97B6244C7CF}" type="presParOf" srcId="{E0B1E805-C2E0-4F93-AF97-355BE74F98CC}" destId="{BD3FF76F-FA2D-47D7-BED8-F325A1331766}" srcOrd="4" destOrd="0" presId="urn:microsoft.com/office/officeart/2008/layout/LinedList"/>
    <dgm:cxn modelId="{087452BA-DD2D-4553-BF14-53E7A104AD09}" type="presParOf" srcId="{E0B1E805-C2E0-4F93-AF97-355BE74F98CC}" destId="{019B7E0B-8196-4CE7-8F6C-30CD562504DA}" srcOrd="5" destOrd="0" presId="urn:microsoft.com/office/officeart/2008/layout/LinedList"/>
    <dgm:cxn modelId="{6F0819EC-9038-4802-AC36-1D6EEF9A17F5}" type="presParOf" srcId="{019B7E0B-8196-4CE7-8F6C-30CD562504DA}" destId="{1B040BA1-A3B4-4FF6-893C-A35EC66CD321}" srcOrd="0" destOrd="0" presId="urn:microsoft.com/office/officeart/2008/layout/LinedList"/>
    <dgm:cxn modelId="{9137F4C7-DE56-4C09-B21C-1C6DC09D7577}" type="presParOf" srcId="{019B7E0B-8196-4CE7-8F6C-30CD562504DA}" destId="{DEC08BAF-7CFE-4DE0-A8BD-B4AAF54C2D87}" srcOrd="1" destOrd="0" presId="urn:microsoft.com/office/officeart/2008/layout/LinedList"/>
    <dgm:cxn modelId="{76C4EE15-3B4F-4776-842C-89A331BE8C2A}" type="presParOf" srcId="{E0B1E805-C2E0-4F93-AF97-355BE74F98CC}" destId="{BCA028C3-DC55-4987-A672-520DFDACD74F}" srcOrd="6" destOrd="0" presId="urn:microsoft.com/office/officeart/2008/layout/LinedList"/>
    <dgm:cxn modelId="{944065F8-5961-40F1-BCA9-62E1F56C3749}" type="presParOf" srcId="{E0B1E805-C2E0-4F93-AF97-355BE74F98CC}" destId="{262F576D-882A-4CC8-BB41-EDB2867D72DC}" srcOrd="7" destOrd="0" presId="urn:microsoft.com/office/officeart/2008/layout/LinedList"/>
    <dgm:cxn modelId="{6B6856CE-7230-4BBC-AFD4-1E5B7766892C}" type="presParOf" srcId="{262F576D-882A-4CC8-BB41-EDB2867D72DC}" destId="{F576B0C6-587B-4B62-9AB0-F8087C41FA20}" srcOrd="0" destOrd="0" presId="urn:microsoft.com/office/officeart/2008/layout/LinedList"/>
    <dgm:cxn modelId="{2F287605-2142-4C41-A5E3-F4376099835A}" type="presParOf" srcId="{262F576D-882A-4CC8-BB41-EDB2867D72DC}" destId="{F1CD95B9-9046-4984-A58C-82BBF5F46F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CCE3E6-7A8F-4BDF-9979-876036B7192A}" type="doc">
      <dgm:prSet loTypeId="urn:microsoft.com/office/officeart/2008/layout/BendingPictureCaption" loCatId="picture" qsTypeId="urn:microsoft.com/office/officeart/2005/8/quickstyle/3d6" qsCatId="3D" csTypeId="urn:microsoft.com/office/officeart/2005/8/colors/accent5_3" csCatId="accent5" phldr="1"/>
      <dgm:spPr/>
      <dgm:t>
        <a:bodyPr/>
        <a:lstStyle/>
        <a:p>
          <a:endParaRPr lang="uk-UA"/>
        </a:p>
      </dgm:t>
    </dgm:pt>
    <dgm:pt modelId="{E85736D4-10C8-4F80-92A9-2D5024B419FF}">
      <dgm:prSet phldrT="[Текст]"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Компіляція без прапорців</a:t>
          </a:r>
        </a:p>
      </dgm:t>
    </dgm:pt>
    <dgm:pt modelId="{DB2D8352-4FB9-4E32-8D29-F8FF4943C968}" type="parTrans" cxnId="{8ACA488F-1BAE-4D24-9F21-BD89F3C87A16}">
      <dgm:prSet/>
      <dgm:spPr/>
      <dgm:t>
        <a:bodyPr/>
        <a:lstStyle/>
        <a:p>
          <a:endParaRPr lang="uk-UA"/>
        </a:p>
      </dgm:t>
    </dgm:pt>
    <dgm:pt modelId="{3DEB52B6-9E2C-4869-BB7D-B14CA8CA2D0A}" type="sibTrans" cxnId="{8ACA488F-1BAE-4D24-9F21-BD89F3C87A16}">
      <dgm:prSet/>
      <dgm:spPr/>
      <dgm:t>
        <a:bodyPr/>
        <a:lstStyle/>
        <a:p>
          <a:endParaRPr lang="uk-UA"/>
        </a:p>
      </dgm:t>
    </dgm:pt>
    <dgm:pt modelId="{30626699-6182-497B-8A7D-52C25F87C383}">
      <dgm:prSet phldrT="[Текст]"/>
      <dgm:spPr/>
      <dgm:t>
        <a:bodyPr/>
        <a:lstStyle/>
        <a:p>
          <a:r>
            <a: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Використання </a:t>
          </a: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re.IGNORECASE</a:t>
          </a:r>
          <a:endParaRPr lang="uk-UA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EB888E18-E15E-48AC-94D5-061BC7ABD190}" type="parTrans" cxnId="{127EA503-5D46-49AE-B3C8-E04CF8863C30}">
      <dgm:prSet/>
      <dgm:spPr/>
      <dgm:t>
        <a:bodyPr/>
        <a:lstStyle/>
        <a:p>
          <a:endParaRPr lang="uk-UA"/>
        </a:p>
      </dgm:t>
    </dgm:pt>
    <dgm:pt modelId="{BC993CC9-3BB9-40F6-9B8D-523012033849}" type="sibTrans" cxnId="{127EA503-5D46-49AE-B3C8-E04CF8863C30}">
      <dgm:prSet/>
      <dgm:spPr/>
      <dgm:t>
        <a:bodyPr/>
        <a:lstStyle/>
        <a:p>
          <a:endParaRPr lang="uk-UA"/>
        </a:p>
      </dgm:t>
    </dgm:pt>
    <dgm:pt modelId="{54E0EA59-F1C1-437E-B999-C2C518903A02}" type="pres">
      <dgm:prSet presAssocID="{66CCE3E6-7A8F-4BDF-9979-876036B7192A}" presName="diagram" presStyleCnt="0">
        <dgm:presLayoutVars>
          <dgm:dir/>
        </dgm:presLayoutVars>
      </dgm:prSet>
      <dgm:spPr/>
    </dgm:pt>
    <dgm:pt modelId="{E1F91EDE-8F18-4AC7-90F6-7E24B45272EE}" type="pres">
      <dgm:prSet presAssocID="{E85736D4-10C8-4F80-92A9-2D5024B419FF}" presName="composite" presStyleCnt="0"/>
      <dgm:spPr/>
    </dgm:pt>
    <dgm:pt modelId="{FC6416BB-AB88-4864-A259-A2CF484F255B}" type="pres">
      <dgm:prSet presAssocID="{E85736D4-10C8-4F80-92A9-2D5024B419FF}" presName="Image" presStyleLbl="bgShp" presStyleIdx="0" presStyleCnt="2" custScaleX="117642"/>
      <dgm:spPr/>
    </dgm:pt>
    <dgm:pt modelId="{62C5DD69-5BF1-4363-BF57-CDE23EF4AE36}" type="pres">
      <dgm:prSet presAssocID="{E85736D4-10C8-4F80-92A9-2D5024B419FF}" presName="Parent" presStyleLbl="node0" presStyleIdx="0" presStyleCnt="2" custLinFactNeighborX="-1053" custLinFactNeighborY="45089">
        <dgm:presLayoutVars>
          <dgm:bulletEnabled val="1"/>
        </dgm:presLayoutVars>
      </dgm:prSet>
      <dgm:spPr/>
    </dgm:pt>
    <dgm:pt modelId="{449FAE14-30A1-4A0E-A5D8-581E98CE2AC5}" type="pres">
      <dgm:prSet presAssocID="{3DEB52B6-9E2C-4869-BB7D-B14CA8CA2D0A}" presName="sibTrans" presStyleCnt="0"/>
      <dgm:spPr/>
    </dgm:pt>
    <dgm:pt modelId="{4B538D7C-84CE-453A-AAEC-D29625ED6F75}" type="pres">
      <dgm:prSet presAssocID="{30626699-6182-497B-8A7D-52C25F87C383}" presName="composite" presStyleCnt="0"/>
      <dgm:spPr/>
    </dgm:pt>
    <dgm:pt modelId="{B8FD053E-10A2-4F0C-8742-D64CDC187CDC}" type="pres">
      <dgm:prSet presAssocID="{30626699-6182-497B-8A7D-52C25F87C383}" presName="Image" presStyleLbl="bgShp" presStyleIdx="1" presStyleCnt="2" custScaleX="117265"/>
      <dgm:spPr/>
    </dgm:pt>
    <dgm:pt modelId="{81193F51-043A-42C4-82C4-6A0CBD15C3F3}" type="pres">
      <dgm:prSet presAssocID="{30626699-6182-497B-8A7D-52C25F87C383}" presName="Parent" presStyleLbl="node0" presStyleIdx="1" presStyleCnt="2" custLinFactNeighborX="571" custLinFactNeighborY="45089">
        <dgm:presLayoutVars>
          <dgm:bulletEnabled val="1"/>
        </dgm:presLayoutVars>
      </dgm:prSet>
      <dgm:spPr/>
    </dgm:pt>
  </dgm:ptLst>
  <dgm:cxnLst>
    <dgm:cxn modelId="{127EA503-5D46-49AE-B3C8-E04CF8863C30}" srcId="{66CCE3E6-7A8F-4BDF-9979-876036B7192A}" destId="{30626699-6182-497B-8A7D-52C25F87C383}" srcOrd="1" destOrd="0" parTransId="{EB888E18-E15E-48AC-94D5-061BC7ABD190}" sibTransId="{BC993CC9-3BB9-40F6-9B8D-523012033849}"/>
    <dgm:cxn modelId="{D073FA2D-8ED8-43F8-BC0D-37EAA63062AF}" type="presOf" srcId="{30626699-6182-497B-8A7D-52C25F87C383}" destId="{81193F51-043A-42C4-82C4-6A0CBD15C3F3}" srcOrd="0" destOrd="0" presId="urn:microsoft.com/office/officeart/2008/layout/BendingPictureCaption"/>
    <dgm:cxn modelId="{8ACA488F-1BAE-4D24-9F21-BD89F3C87A16}" srcId="{66CCE3E6-7A8F-4BDF-9979-876036B7192A}" destId="{E85736D4-10C8-4F80-92A9-2D5024B419FF}" srcOrd="0" destOrd="0" parTransId="{DB2D8352-4FB9-4E32-8D29-F8FF4943C968}" sibTransId="{3DEB52B6-9E2C-4869-BB7D-B14CA8CA2D0A}"/>
    <dgm:cxn modelId="{14700CC3-F5D7-44DD-BF74-E7502070B80B}" type="presOf" srcId="{66CCE3E6-7A8F-4BDF-9979-876036B7192A}" destId="{54E0EA59-F1C1-437E-B999-C2C518903A02}" srcOrd="0" destOrd="0" presId="urn:microsoft.com/office/officeart/2008/layout/BendingPictureCaption"/>
    <dgm:cxn modelId="{3C9893F9-5CE7-41DF-9D4A-8C80F404B47C}" type="presOf" srcId="{E85736D4-10C8-4F80-92A9-2D5024B419FF}" destId="{62C5DD69-5BF1-4363-BF57-CDE23EF4AE36}" srcOrd="0" destOrd="0" presId="urn:microsoft.com/office/officeart/2008/layout/BendingPictureCaption"/>
    <dgm:cxn modelId="{64ECB6AB-3069-4AE5-A7B9-BB28586FC5AE}" type="presParOf" srcId="{54E0EA59-F1C1-437E-B999-C2C518903A02}" destId="{E1F91EDE-8F18-4AC7-90F6-7E24B45272EE}" srcOrd="0" destOrd="0" presId="urn:microsoft.com/office/officeart/2008/layout/BendingPictureCaption"/>
    <dgm:cxn modelId="{C734D1F7-D917-4C8D-8C3D-B3E08E41D0D1}" type="presParOf" srcId="{E1F91EDE-8F18-4AC7-90F6-7E24B45272EE}" destId="{FC6416BB-AB88-4864-A259-A2CF484F255B}" srcOrd="0" destOrd="0" presId="urn:microsoft.com/office/officeart/2008/layout/BendingPictureCaption"/>
    <dgm:cxn modelId="{058C4EC7-4065-4D16-A7B0-799413410D10}" type="presParOf" srcId="{E1F91EDE-8F18-4AC7-90F6-7E24B45272EE}" destId="{62C5DD69-5BF1-4363-BF57-CDE23EF4AE36}" srcOrd="1" destOrd="0" presId="urn:microsoft.com/office/officeart/2008/layout/BendingPictureCaption"/>
    <dgm:cxn modelId="{3DFC29FF-A4ED-4988-8794-960305A9C524}" type="presParOf" srcId="{54E0EA59-F1C1-437E-B999-C2C518903A02}" destId="{449FAE14-30A1-4A0E-A5D8-581E98CE2AC5}" srcOrd="1" destOrd="0" presId="urn:microsoft.com/office/officeart/2008/layout/BendingPictureCaption"/>
    <dgm:cxn modelId="{8E4AE629-F83F-4013-B207-7CF73D3685AE}" type="presParOf" srcId="{54E0EA59-F1C1-437E-B999-C2C518903A02}" destId="{4B538D7C-84CE-453A-AAEC-D29625ED6F75}" srcOrd="2" destOrd="0" presId="urn:microsoft.com/office/officeart/2008/layout/BendingPictureCaption"/>
    <dgm:cxn modelId="{3E6F3D1B-B803-4F7F-8AC7-450F6DA0CB2D}" type="presParOf" srcId="{4B538D7C-84CE-453A-AAEC-D29625ED6F75}" destId="{B8FD053E-10A2-4F0C-8742-D64CDC187CDC}" srcOrd="0" destOrd="0" presId="urn:microsoft.com/office/officeart/2008/layout/BendingPictureCaption"/>
    <dgm:cxn modelId="{614A2546-6676-4D84-AD06-A4B4BAD2C91B}" type="presParOf" srcId="{4B538D7C-84CE-453A-AAEC-D29625ED6F75}" destId="{81193F51-043A-42C4-82C4-6A0CBD15C3F3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73F292-002E-4AE4-82FA-ACE09BCCA2D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DC6EE5-5A27-4060-A05D-6F87F5406AB8}">
      <dgm:prSet/>
      <dgm:spPr/>
      <dgm:t>
        <a:bodyPr/>
        <a:lstStyle/>
        <a:p>
          <a:r>
            <a:rPr lang="uk-UA"/>
            <a:t>Більшість функцій модуля </a:t>
          </a:r>
          <a:r>
            <a:rPr lang="en-US"/>
            <a:t>re </a:t>
          </a:r>
          <a:r>
            <a:rPr lang="uk-UA"/>
            <a:t>можна використовувати також і як методи екземплярів класу </a:t>
          </a:r>
          <a:r>
            <a:rPr lang="en-US"/>
            <a:t>re.Pattern</a:t>
          </a:r>
          <a:r>
            <a:rPr lang="uk-UA"/>
            <a:t>, але для цього, очевидно, потрібно скомпілювати шаблон.</a:t>
          </a:r>
          <a:endParaRPr lang="en-US"/>
        </a:p>
      </dgm:t>
    </dgm:pt>
    <dgm:pt modelId="{C0C0C55F-9FE8-4277-846C-D93D91012CAA}" type="parTrans" cxnId="{B526609D-7043-4575-8513-E6AC55389CD1}">
      <dgm:prSet/>
      <dgm:spPr/>
      <dgm:t>
        <a:bodyPr/>
        <a:lstStyle/>
        <a:p>
          <a:endParaRPr lang="en-US"/>
        </a:p>
      </dgm:t>
    </dgm:pt>
    <dgm:pt modelId="{778B63D1-B93D-4D00-AC21-FAB29741C417}" type="sibTrans" cxnId="{B526609D-7043-4575-8513-E6AC55389CD1}">
      <dgm:prSet/>
      <dgm:spPr/>
      <dgm:t>
        <a:bodyPr/>
        <a:lstStyle/>
        <a:p>
          <a:endParaRPr lang="en-US"/>
        </a:p>
      </dgm:t>
    </dgm:pt>
    <dgm:pt modelId="{E086C197-BF6F-47E3-A72C-C42BF11CE390}">
      <dgm:prSet/>
      <dgm:spPr/>
      <dgm:t>
        <a:bodyPr/>
        <a:lstStyle/>
        <a:p>
          <a:r>
            <a:rPr lang="uk-UA"/>
            <a:t>Розглянемо детальніше деякі з цих функцій, вважаючи, що </a:t>
          </a:r>
          <a:r>
            <a:rPr lang="en-US" i="1"/>
            <a:t>rgx</a:t>
          </a:r>
          <a:r>
            <a:rPr lang="en-US"/>
            <a:t> – </a:t>
          </a:r>
          <a:r>
            <a:rPr lang="uk-UA"/>
            <a:t>це вже відкомпільований шаблон, а </a:t>
          </a:r>
          <a:r>
            <a:rPr lang="en-US" i="1"/>
            <a:t>pat</a:t>
          </a:r>
          <a:r>
            <a:rPr lang="uk-UA"/>
            <a:t> – звичайний шаблон у вигляді рядка.</a:t>
          </a:r>
          <a:endParaRPr lang="en-US"/>
        </a:p>
      </dgm:t>
    </dgm:pt>
    <dgm:pt modelId="{68725374-6F89-43CB-B78D-131B5991FAEA}" type="parTrans" cxnId="{4A1BEF44-1810-4796-B067-9A022E6ED5B9}">
      <dgm:prSet/>
      <dgm:spPr/>
      <dgm:t>
        <a:bodyPr/>
        <a:lstStyle/>
        <a:p>
          <a:endParaRPr lang="en-US"/>
        </a:p>
      </dgm:t>
    </dgm:pt>
    <dgm:pt modelId="{22FE3B26-31BB-4F87-82F4-23F6347C1EF8}" type="sibTrans" cxnId="{4A1BEF44-1810-4796-B067-9A022E6ED5B9}">
      <dgm:prSet/>
      <dgm:spPr/>
      <dgm:t>
        <a:bodyPr/>
        <a:lstStyle/>
        <a:p>
          <a:endParaRPr lang="en-US"/>
        </a:p>
      </dgm:t>
    </dgm:pt>
    <dgm:pt modelId="{9B5BBE38-7E45-4D1E-A117-F96927CD03C3}" type="pres">
      <dgm:prSet presAssocID="{8B73F292-002E-4AE4-82FA-ACE09BCCA2D8}" presName="vert0" presStyleCnt="0">
        <dgm:presLayoutVars>
          <dgm:dir/>
          <dgm:animOne val="branch"/>
          <dgm:animLvl val="lvl"/>
        </dgm:presLayoutVars>
      </dgm:prSet>
      <dgm:spPr/>
    </dgm:pt>
    <dgm:pt modelId="{9510DF1C-9004-439B-B123-3FA32D4AC01B}" type="pres">
      <dgm:prSet presAssocID="{55DC6EE5-5A27-4060-A05D-6F87F5406AB8}" presName="thickLine" presStyleLbl="alignNode1" presStyleIdx="0" presStyleCnt="2"/>
      <dgm:spPr/>
    </dgm:pt>
    <dgm:pt modelId="{070CEC4A-A592-43D3-A2F6-D6A46FFBD8AF}" type="pres">
      <dgm:prSet presAssocID="{55DC6EE5-5A27-4060-A05D-6F87F5406AB8}" presName="horz1" presStyleCnt="0"/>
      <dgm:spPr/>
    </dgm:pt>
    <dgm:pt modelId="{5AC9A9B4-4ADD-465E-98EB-305879F9592D}" type="pres">
      <dgm:prSet presAssocID="{55DC6EE5-5A27-4060-A05D-6F87F5406AB8}" presName="tx1" presStyleLbl="revTx" presStyleIdx="0" presStyleCnt="2"/>
      <dgm:spPr/>
    </dgm:pt>
    <dgm:pt modelId="{E0615B07-C9B8-4384-99F7-B55B6A549530}" type="pres">
      <dgm:prSet presAssocID="{55DC6EE5-5A27-4060-A05D-6F87F5406AB8}" presName="vert1" presStyleCnt="0"/>
      <dgm:spPr/>
    </dgm:pt>
    <dgm:pt modelId="{61FE2BF2-C892-41F1-B464-A61EDF0FCC96}" type="pres">
      <dgm:prSet presAssocID="{E086C197-BF6F-47E3-A72C-C42BF11CE390}" presName="thickLine" presStyleLbl="alignNode1" presStyleIdx="1" presStyleCnt="2"/>
      <dgm:spPr/>
    </dgm:pt>
    <dgm:pt modelId="{BDB8BF87-DCAE-4F52-9EB9-7052CD03FEBB}" type="pres">
      <dgm:prSet presAssocID="{E086C197-BF6F-47E3-A72C-C42BF11CE390}" presName="horz1" presStyleCnt="0"/>
      <dgm:spPr/>
    </dgm:pt>
    <dgm:pt modelId="{27B88D98-7024-45CD-8F99-393A638264B6}" type="pres">
      <dgm:prSet presAssocID="{E086C197-BF6F-47E3-A72C-C42BF11CE390}" presName="tx1" presStyleLbl="revTx" presStyleIdx="1" presStyleCnt="2"/>
      <dgm:spPr/>
    </dgm:pt>
    <dgm:pt modelId="{9881BF50-9BA6-4E0F-86B6-EAF592B28F79}" type="pres">
      <dgm:prSet presAssocID="{E086C197-BF6F-47E3-A72C-C42BF11CE390}" presName="vert1" presStyleCnt="0"/>
      <dgm:spPr/>
    </dgm:pt>
  </dgm:ptLst>
  <dgm:cxnLst>
    <dgm:cxn modelId="{CA8EF461-2243-45A0-9071-A4F2607DFEEF}" type="presOf" srcId="{8B73F292-002E-4AE4-82FA-ACE09BCCA2D8}" destId="{9B5BBE38-7E45-4D1E-A117-F96927CD03C3}" srcOrd="0" destOrd="0" presId="urn:microsoft.com/office/officeart/2008/layout/LinedList"/>
    <dgm:cxn modelId="{4A1BEF44-1810-4796-B067-9A022E6ED5B9}" srcId="{8B73F292-002E-4AE4-82FA-ACE09BCCA2D8}" destId="{E086C197-BF6F-47E3-A72C-C42BF11CE390}" srcOrd="1" destOrd="0" parTransId="{68725374-6F89-43CB-B78D-131B5991FAEA}" sibTransId="{22FE3B26-31BB-4F87-82F4-23F6347C1EF8}"/>
    <dgm:cxn modelId="{1BC7CD84-FAF2-437F-AAEE-953D77B1CA29}" type="presOf" srcId="{55DC6EE5-5A27-4060-A05D-6F87F5406AB8}" destId="{5AC9A9B4-4ADD-465E-98EB-305879F9592D}" srcOrd="0" destOrd="0" presId="urn:microsoft.com/office/officeart/2008/layout/LinedList"/>
    <dgm:cxn modelId="{B526609D-7043-4575-8513-E6AC55389CD1}" srcId="{8B73F292-002E-4AE4-82FA-ACE09BCCA2D8}" destId="{55DC6EE5-5A27-4060-A05D-6F87F5406AB8}" srcOrd="0" destOrd="0" parTransId="{C0C0C55F-9FE8-4277-846C-D93D91012CAA}" sibTransId="{778B63D1-B93D-4D00-AC21-FAB29741C417}"/>
    <dgm:cxn modelId="{7722D3EA-894B-4C68-BFFE-DDF656CB5833}" type="presOf" srcId="{E086C197-BF6F-47E3-A72C-C42BF11CE390}" destId="{27B88D98-7024-45CD-8F99-393A638264B6}" srcOrd="0" destOrd="0" presId="urn:microsoft.com/office/officeart/2008/layout/LinedList"/>
    <dgm:cxn modelId="{86931AA2-330F-46DC-872B-2169496926A3}" type="presParOf" srcId="{9B5BBE38-7E45-4D1E-A117-F96927CD03C3}" destId="{9510DF1C-9004-439B-B123-3FA32D4AC01B}" srcOrd="0" destOrd="0" presId="urn:microsoft.com/office/officeart/2008/layout/LinedList"/>
    <dgm:cxn modelId="{BC1FD7C4-C3E1-4E35-B65F-467E8368F242}" type="presParOf" srcId="{9B5BBE38-7E45-4D1E-A117-F96927CD03C3}" destId="{070CEC4A-A592-43D3-A2F6-D6A46FFBD8AF}" srcOrd="1" destOrd="0" presId="urn:microsoft.com/office/officeart/2008/layout/LinedList"/>
    <dgm:cxn modelId="{E4443030-42F7-4307-8458-A56C1BC4D154}" type="presParOf" srcId="{070CEC4A-A592-43D3-A2F6-D6A46FFBD8AF}" destId="{5AC9A9B4-4ADD-465E-98EB-305879F9592D}" srcOrd="0" destOrd="0" presId="urn:microsoft.com/office/officeart/2008/layout/LinedList"/>
    <dgm:cxn modelId="{FC238843-F133-4C38-8F92-171F39B193D6}" type="presParOf" srcId="{070CEC4A-A592-43D3-A2F6-D6A46FFBD8AF}" destId="{E0615B07-C9B8-4384-99F7-B55B6A549530}" srcOrd="1" destOrd="0" presId="urn:microsoft.com/office/officeart/2008/layout/LinedList"/>
    <dgm:cxn modelId="{5649EF38-9192-42CA-861E-5253F3FF37C0}" type="presParOf" srcId="{9B5BBE38-7E45-4D1E-A117-F96927CD03C3}" destId="{61FE2BF2-C892-41F1-B464-A61EDF0FCC96}" srcOrd="2" destOrd="0" presId="urn:microsoft.com/office/officeart/2008/layout/LinedList"/>
    <dgm:cxn modelId="{4C85AE31-087F-475A-8046-6A910CD08508}" type="presParOf" srcId="{9B5BBE38-7E45-4D1E-A117-F96927CD03C3}" destId="{BDB8BF87-DCAE-4F52-9EB9-7052CD03FEBB}" srcOrd="3" destOrd="0" presId="urn:microsoft.com/office/officeart/2008/layout/LinedList"/>
    <dgm:cxn modelId="{5EB0E497-3FE6-4AD9-B9E5-C49AB671A843}" type="presParOf" srcId="{BDB8BF87-DCAE-4F52-9EB9-7052CD03FEBB}" destId="{27B88D98-7024-45CD-8F99-393A638264B6}" srcOrd="0" destOrd="0" presId="urn:microsoft.com/office/officeart/2008/layout/LinedList"/>
    <dgm:cxn modelId="{A130B86F-04CB-42FB-B666-2D22C40497CF}" type="presParOf" srcId="{BDB8BF87-DCAE-4F52-9EB9-7052CD03FEBB}" destId="{9881BF50-9BA6-4E0F-86B6-EAF592B28F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39964-9F96-42A5-99AB-9ADA65A025E4}">
      <dsp:nvSpPr>
        <dsp:cNvPr id="0" name=""/>
        <dsp:cNvSpPr/>
      </dsp:nvSpPr>
      <dsp:spPr>
        <a:xfrm>
          <a:off x="0" y="671"/>
          <a:ext cx="6263640" cy="0"/>
        </a:xfrm>
        <a:prstGeom prst="line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D2A9D-5CE9-47CC-ADB1-CBD34641885C}">
      <dsp:nvSpPr>
        <dsp:cNvPr id="0" name=""/>
        <dsp:cNvSpPr/>
      </dsp:nvSpPr>
      <dsp:spPr>
        <a:xfrm>
          <a:off x="0" y="671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Симовли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+, *, ? Називають ще «жадібними» (</a:t>
          </a: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greedy)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, бо вони завжди намагаються захопити рядок якомога більшої довжини:</a:t>
          </a:r>
          <a:endParaRPr lang="en-US" sz="16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671"/>
        <a:ext cx="6263640" cy="786192"/>
      </dsp:txXfrm>
    </dsp:sp>
    <dsp:sp modelId="{BFCB49C7-409B-41E5-B76E-1FFBEAF8CE99}">
      <dsp:nvSpPr>
        <dsp:cNvPr id="0" name=""/>
        <dsp:cNvSpPr/>
      </dsp:nvSpPr>
      <dsp:spPr>
        <a:xfrm>
          <a:off x="0" y="786863"/>
          <a:ext cx="6263640" cy="0"/>
        </a:xfrm>
        <a:prstGeom prst="line">
          <a:avLst/>
        </a:prstGeom>
        <a:solidFill>
          <a:schemeClr val="accent2">
            <a:shade val="80000"/>
            <a:hueOff val="-75834"/>
            <a:satOff val="1418"/>
            <a:lumOff val="4520"/>
            <a:alphaOff val="0"/>
          </a:schemeClr>
        </a:solidFill>
        <a:ln w="19050" cap="flat" cmpd="sng" algn="ctr">
          <a:solidFill>
            <a:schemeClr val="accent2">
              <a:shade val="80000"/>
              <a:hueOff val="-75834"/>
              <a:satOff val="1418"/>
              <a:lumOff val="45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590F9-B3D3-4473-A1ED-95B7F69D1032}">
      <dsp:nvSpPr>
        <dsp:cNvPr id="0" name=""/>
        <dsp:cNvSpPr/>
      </dsp:nvSpPr>
      <dsp:spPr>
        <a:xfrm>
          <a:off x="0" y="786863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Рядок: </a:t>
          </a:r>
          <a:r>
            <a:rPr lang="en-US" sz="16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abababababa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sp:txBody>
      <dsp:txXfrm>
        <a:off x="0" y="786863"/>
        <a:ext cx="6263640" cy="786192"/>
      </dsp:txXfrm>
    </dsp:sp>
    <dsp:sp modelId="{FB10AAC2-8564-41C5-99D6-09B1DC4081ED}">
      <dsp:nvSpPr>
        <dsp:cNvPr id="0" name=""/>
        <dsp:cNvSpPr/>
      </dsp:nvSpPr>
      <dsp:spPr>
        <a:xfrm>
          <a:off x="0" y="1573055"/>
          <a:ext cx="6263640" cy="0"/>
        </a:xfrm>
        <a:prstGeom prst="line">
          <a:avLst/>
        </a:prstGeom>
        <a:solidFill>
          <a:schemeClr val="accent2">
            <a:shade val="80000"/>
            <a:hueOff val="-151668"/>
            <a:satOff val="2837"/>
            <a:lumOff val="9040"/>
            <a:alphaOff val="0"/>
          </a:schemeClr>
        </a:solidFill>
        <a:ln w="19050" cap="flat" cmpd="sng" algn="ctr">
          <a:solidFill>
            <a:schemeClr val="accent2">
              <a:shade val="80000"/>
              <a:hueOff val="-151668"/>
              <a:satOff val="2837"/>
              <a:lumOff val="90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4B079-62E1-4A52-A36E-82FC8CF03E08}">
      <dsp:nvSpPr>
        <dsp:cNvPr id="0" name=""/>
        <dsp:cNvSpPr/>
      </dsp:nvSpPr>
      <dsp:spPr>
        <a:xfrm>
          <a:off x="0" y="1573055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Шаблон: </a:t>
          </a:r>
          <a:r>
            <a:rPr lang="en-US" sz="16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a\w*a</a:t>
          </a:r>
          <a:endParaRPr lang="en-US" sz="16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1573055"/>
        <a:ext cx="6263640" cy="786192"/>
      </dsp:txXfrm>
    </dsp:sp>
    <dsp:sp modelId="{3EE5D1EE-48FE-434C-8DC0-9BDE5193B1A1}">
      <dsp:nvSpPr>
        <dsp:cNvPr id="0" name=""/>
        <dsp:cNvSpPr/>
      </dsp:nvSpPr>
      <dsp:spPr>
        <a:xfrm>
          <a:off x="0" y="2359247"/>
          <a:ext cx="6263640" cy="0"/>
        </a:xfrm>
        <a:prstGeom prst="line">
          <a:avLst/>
        </a:prstGeom>
        <a:solidFill>
          <a:schemeClr val="accent2">
            <a:shade val="80000"/>
            <a:hueOff val="-227502"/>
            <a:satOff val="4255"/>
            <a:lumOff val="13560"/>
            <a:alphaOff val="0"/>
          </a:schemeClr>
        </a:solidFill>
        <a:ln w="19050" cap="flat" cmpd="sng" algn="ctr">
          <a:solidFill>
            <a:schemeClr val="accent2">
              <a:shade val="80000"/>
              <a:hueOff val="-227502"/>
              <a:satOff val="4255"/>
              <a:lumOff val="13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30798-0545-4829-B5A7-1F9D14FDFA58}">
      <dsp:nvSpPr>
        <dsp:cNvPr id="0" name=""/>
        <dsp:cNvSpPr/>
      </dsp:nvSpPr>
      <dsp:spPr>
        <a:xfrm>
          <a:off x="0" y="2359247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Результат: </a:t>
          </a:r>
          <a:r>
            <a:rPr lang="en-US" sz="1600" b="1" kern="1200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abababababa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sp:txBody>
      <dsp:txXfrm>
        <a:off x="0" y="2359247"/>
        <a:ext cx="6263640" cy="786192"/>
      </dsp:txXfrm>
    </dsp:sp>
    <dsp:sp modelId="{A7D0C8E2-4AF4-47FA-9656-F36E097B4657}">
      <dsp:nvSpPr>
        <dsp:cNvPr id="0" name=""/>
        <dsp:cNvSpPr/>
      </dsp:nvSpPr>
      <dsp:spPr>
        <a:xfrm>
          <a:off x="0" y="3145440"/>
          <a:ext cx="6263640" cy="0"/>
        </a:xfrm>
        <a:prstGeom prst="line">
          <a:avLst/>
        </a:prstGeom>
        <a:solidFill>
          <a:schemeClr val="accent2">
            <a:shade val="80000"/>
            <a:hueOff val="-303336"/>
            <a:satOff val="5673"/>
            <a:lumOff val="18081"/>
            <a:alphaOff val="0"/>
          </a:schemeClr>
        </a:solidFill>
        <a:ln w="19050" cap="flat" cmpd="sng" algn="ctr">
          <a:solidFill>
            <a:schemeClr val="accent2">
              <a:shade val="80000"/>
              <a:hueOff val="-303336"/>
              <a:satOff val="5673"/>
              <a:lumOff val="180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732DB-A709-4C84-AD04-72856B33D1CF}">
      <dsp:nvSpPr>
        <dsp:cNvPr id="0" name=""/>
        <dsp:cNvSpPr/>
      </dsp:nvSpPr>
      <dsp:spPr>
        <a:xfrm>
          <a:off x="0" y="3145440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Для того, щоб шаблон охоплював якомога  меншу кількість символів, доцільно після «жадібного» </a:t>
          </a:r>
          <a:r>
            <a:rPr lang="uk-UA" sz="16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символа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 додати ?.</a:t>
          </a:r>
          <a:endParaRPr lang="en-US" sz="16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3145440"/>
        <a:ext cx="6263640" cy="786192"/>
      </dsp:txXfrm>
    </dsp:sp>
    <dsp:sp modelId="{AC9ED2CA-581D-4370-AF69-A0A1BB2AE4E6}">
      <dsp:nvSpPr>
        <dsp:cNvPr id="0" name=""/>
        <dsp:cNvSpPr/>
      </dsp:nvSpPr>
      <dsp:spPr>
        <a:xfrm>
          <a:off x="0" y="3931632"/>
          <a:ext cx="6263640" cy="0"/>
        </a:xfrm>
        <a:prstGeom prst="line">
          <a:avLst/>
        </a:prstGeom>
        <a:solidFill>
          <a:schemeClr val="accent2">
            <a:shade val="80000"/>
            <a:hueOff val="-379170"/>
            <a:satOff val="7092"/>
            <a:lumOff val="22601"/>
            <a:alphaOff val="0"/>
          </a:schemeClr>
        </a:solidFill>
        <a:ln w="19050" cap="flat" cmpd="sng" algn="ctr">
          <a:solidFill>
            <a:schemeClr val="accent2">
              <a:shade val="80000"/>
              <a:hueOff val="-379170"/>
              <a:satOff val="7092"/>
              <a:lumOff val="226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3E660-F712-4741-ADC6-490062A9F298}">
      <dsp:nvSpPr>
        <dsp:cNvPr id="0" name=""/>
        <dsp:cNvSpPr/>
      </dsp:nvSpPr>
      <dsp:spPr>
        <a:xfrm>
          <a:off x="0" y="3931632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Шаблон: </a:t>
          </a:r>
          <a:r>
            <a:rPr lang="en-US" sz="16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a\w*</a:t>
          </a:r>
          <a:r>
            <a:rPr lang="uk-UA" sz="16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?</a:t>
          </a:r>
          <a:r>
            <a:rPr lang="en-US" sz="1600" b="1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</a:t>
          </a:r>
          <a:endParaRPr lang="en-US" sz="16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3931632"/>
        <a:ext cx="6263640" cy="786192"/>
      </dsp:txXfrm>
    </dsp:sp>
    <dsp:sp modelId="{091DE9F6-0FDC-4788-A724-3687AADC1812}">
      <dsp:nvSpPr>
        <dsp:cNvPr id="0" name=""/>
        <dsp:cNvSpPr/>
      </dsp:nvSpPr>
      <dsp:spPr>
        <a:xfrm>
          <a:off x="0" y="4717824"/>
          <a:ext cx="6263640" cy="0"/>
        </a:xfrm>
        <a:prstGeom prst="line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accent2">
              <a:shade val="80000"/>
              <a:hueOff val="-455004"/>
              <a:satOff val="8510"/>
              <a:lumOff val="27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12C4F-79A3-4DA6-9BF7-3EF320CD4AF1}">
      <dsp:nvSpPr>
        <dsp:cNvPr id="0" name=""/>
        <dsp:cNvSpPr/>
      </dsp:nvSpPr>
      <dsp:spPr>
        <a:xfrm>
          <a:off x="0" y="4717824"/>
          <a:ext cx="6263640" cy="78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Результат: </a:t>
          </a:r>
          <a:r>
            <a:rPr lang="en-US" sz="1600" b="1" kern="1200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en-US" sz="16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</a:t>
          </a:r>
          <a:r>
            <a:rPr lang="en-US" sz="1600" b="1" kern="1200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en-US" sz="16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b</a:t>
          </a:r>
          <a:r>
            <a:rPr lang="en-US" sz="1600" b="1" kern="1200" dirty="0" err="1">
              <a:highlight>
                <a:srgbClr val="C0C0C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aba</a:t>
          </a:r>
          <a:r>
            <a:rPr lang="uk-UA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с</a:t>
          </a:r>
          <a:r>
            <a:rPr lang="en-US" sz="16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c</a:t>
          </a:r>
        </a:p>
      </dsp:txBody>
      <dsp:txXfrm>
        <a:off x="0" y="4717824"/>
        <a:ext cx="6263640" cy="786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6394F-553B-4E25-8CE3-367768FE9AA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4EA9F-AD7D-4E1C-B329-88A584FFD23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Якщо деякий шаблон потрібно використовувати дуже багато разів у програмі, то для пришвидшення виконання цей шаблон доцільно </a:t>
          </a:r>
          <a:r>
            <a:rPr lang="uk-UA" sz="2100" kern="1200" dirty="0" err="1"/>
            <a:t>прокомпілювати</a:t>
          </a:r>
          <a:r>
            <a:rPr lang="uk-UA" sz="2100" kern="1200" dirty="0"/>
            <a:t>. Для цього модуль </a:t>
          </a:r>
          <a:r>
            <a:rPr lang="en-US" sz="2100" kern="1200" dirty="0"/>
            <a:t>re</a:t>
          </a:r>
          <a:r>
            <a:rPr lang="uk-UA" sz="2100" kern="1200" dirty="0"/>
            <a:t> надає функцію</a:t>
          </a:r>
          <a:endParaRPr lang="en-US" sz="2100" kern="1200" dirty="0"/>
        </a:p>
      </dsp:txBody>
      <dsp:txXfrm>
        <a:off x="0" y="0"/>
        <a:ext cx="6900512" cy="1384035"/>
      </dsp:txXfrm>
    </dsp:sp>
    <dsp:sp modelId="{FF0834F9-4C17-407B-A724-C9FCBC441412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B59A1-77D9-4B41-9957-B23FEAF902C5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re.compile</a:t>
          </a:r>
          <a:r>
            <a:rPr lang="en-US" sz="2100" b="1" kern="1200" dirty="0"/>
            <a:t>(pat, flags=0),</a:t>
          </a:r>
          <a:endParaRPr lang="en-US" sz="2100" kern="1200" dirty="0"/>
        </a:p>
      </dsp:txBody>
      <dsp:txXfrm>
        <a:off x="0" y="1384035"/>
        <a:ext cx="6900512" cy="1384035"/>
      </dsp:txXfrm>
    </dsp:sp>
    <dsp:sp modelId="{BD3FF76F-FA2D-47D7-BED8-F325A1331766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40BA1-A3B4-4FF6-893C-A35EC66CD32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де </a:t>
          </a:r>
          <a:r>
            <a:rPr lang="en-US" sz="2100" i="1" kern="1200" dirty="0"/>
            <a:t>pat</a:t>
          </a:r>
          <a:r>
            <a:rPr lang="en-US" sz="2100" kern="1200" dirty="0"/>
            <a:t> – </a:t>
          </a:r>
          <a:r>
            <a:rPr lang="uk-UA" sz="2100" kern="1200" dirty="0"/>
            <a:t>шаблон, а </a:t>
          </a:r>
          <a:r>
            <a:rPr lang="en-US" sz="2100" i="1" kern="1200" dirty="0"/>
            <a:t>flags</a:t>
          </a:r>
          <a:r>
            <a:rPr lang="en-US" sz="2100" kern="1200" dirty="0"/>
            <a:t> – </a:t>
          </a:r>
          <a:r>
            <a:rPr lang="uk-UA" sz="2100" kern="1200" dirty="0"/>
            <a:t>опціональний параметр, який є спеціальним модифікатором, що застосовується до шаблону.</a:t>
          </a:r>
          <a:endParaRPr lang="en-US" sz="2100" kern="1200" dirty="0"/>
        </a:p>
      </dsp:txBody>
      <dsp:txXfrm>
        <a:off x="0" y="2768070"/>
        <a:ext cx="6900512" cy="1384035"/>
      </dsp:txXfrm>
    </dsp:sp>
    <dsp:sp modelId="{BCA028C3-DC55-4987-A672-520DFDACD74F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6B0C6-587B-4B62-9AB0-F8087C41FA20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У результаті виконання функції </a:t>
          </a:r>
          <a:r>
            <a:rPr lang="en-US" sz="2100" i="1" kern="1200" dirty="0" err="1"/>
            <a:t>re.compile</a:t>
          </a:r>
          <a:r>
            <a:rPr lang="en-US" sz="2100" i="1" kern="1200" dirty="0"/>
            <a:t>() </a:t>
          </a:r>
          <a:r>
            <a:rPr lang="uk-UA" sz="2100" kern="1200" dirty="0"/>
            <a:t>повертається відкомпільований шаблон (як об’єкт класу </a:t>
          </a:r>
          <a:r>
            <a:rPr lang="en-US" sz="2100" kern="1200" dirty="0" err="1"/>
            <a:t>re.Pattern</a:t>
          </a:r>
          <a:r>
            <a:rPr lang="en-US" sz="2100" kern="1200" dirty="0"/>
            <a:t>)</a:t>
          </a:r>
          <a:r>
            <a:rPr lang="uk-UA" sz="2100" kern="1200" dirty="0"/>
            <a:t>, який використовується для обробки тексту.</a:t>
          </a:r>
          <a:endParaRPr lang="en-US" sz="2100" kern="1200" dirty="0"/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416BB-AB88-4864-A259-A2CF484F255B}">
      <dsp:nvSpPr>
        <dsp:cNvPr id="0" name=""/>
        <dsp:cNvSpPr/>
      </dsp:nvSpPr>
      <dsp:spPr>
        <a:xfrm>
          <a:off x="3539" y="499299"/>
          <a:ext cx="4856925" cy="3050993"/>
        </a:xfrm>
        <a:prstGeom prst="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5DD69-5BF1-4363-BF57-CDE23EF4AE36}">
      <dsp:nvSpPr>
        <dsp:cNvPr id="0" name=""/>
        <dsp:cNvSpPr/>
      </dsp:nvSpPr>
      <dsp:spPr>
        <a:xfrm>
          <a:off x="1164755" y="3382578"/>
          <a:ext cx="3557592" cy="854948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uk-UA" sz="2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Компіляція без прапорців</a:t>
          </a:r>
        </a:p>
      </dsp:txBody>
      <dsp:txXfrm>
        <a:off x="1164755" y="3382578"/>
        <a:ext cx="3557592" cy="854948"/>
      </dsp:txXfrm>
    </dsp:sp>
    <dsp:sp modelId="{B8FD053E-10A2-4F0C-8742-D64CDC187CDC}">
      <dsp:nvSpPr>
        <dsp:cNvPr id="0" name=""/>
        <dsp:cNvSpPr/>
      </dsp:nvSpPr>
      <dsp:spPr>
        <a:xfrm>
          <a:off x="5670699" y="499299"/>
          <a:ext cx="4841360" cy="3050993"/>
        </a:xfrm>
        <a:prstGeom prst="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93F51-043A-42C4-82C4-6A0CBD15C3F3}">
      <dsp:nvSpPr>
        <dsp:cNvPr id="0" name=""/>
        <dsp:cNvSpPr/>
      </dsp:nvSpPr>
      <dsp:spPr>
        <a:xfrm>
          <a:off x="6881909" y="3382578"/>
          <a:ext cx="3557592" cy="854948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uk-UA" sz="2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Використання </a:t>
          </a:r>
          <a:r>
            <a:rPr lang="en-US" sz="2700" kern="1200" dirty="0" err="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re.IGNORECASE</a:t>
          </a:r>
          <a:endParaRPr lang="uk-UA" sz="27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6881909" y="3382578"/>
        <a:ext cx="3557592" cy="854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0DF1C-9004-439B-B123-3FA32D4AC01B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9A9B4-4ADD-465E-98EB-305879F9592D}">
      <dsp:nvSpPr>
        <dsp:cNvPr id="0" name=""/>
        <dsp:cNvSpPr/>
      </dsp:nvSpPr>
      <dsp:spPr>
        <a:xfrm>
          <a:off x="0" y="0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kern="1200"/>
            <a:t>Більшість функцій модуля </a:t>
          </a:r>
          <a:r>
            <a:rPr lang="en-US" sz="3000" kern="1200"/>
            <a:t>re </a:t>
          </a:r>
          <a:r>
            <a:rPr lang="uk-UA" sz="3000" kern="1200"/>
            <a:t>можна використовувати також і як методи екземплярів класу </a:t>
          </a:r>
          <a:r>
            <a:rPr lang="en-US" sz="3000" kern="1200"/>
            <a:t>re.Pattern</a:t>
          </a:r>
          <a:r>
            <a:rPr lang="uk-UA" sz="3000" kern="1200"/>
            <a:t>, але для цього, очевидно, потрібно скомпілювати шаблон.</a:t>
          </a:r>
          <a:endParaRPr lang="en-US" sz="3000" kern="1200"/>
        </a:p>
      </dsp:txBody>
      <dsp:txXfrm>
        <a:off x="0" y="0"/>
        <a:ext cx="6291714" cy="2765367"/>
      </dsp:txXfrm>
    </dsp:sp>
    <dsp:sp modelId="{61FE2BF2-C892-41F1-B464-A61EDF0FCC96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88D98-7024-45CD-8F99-393A638264B6}">
      <dsp:nvSpPr>
        <dsp:cNvPr id="0" name=""/>
        <dsp:cNvSpPr/>
      </dsp:nvSpPr>
      <dsp:spPr>
        <a:xfrm>
          <a:off x="0" y="2765367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kern="1200"/>
            <a:t>Розглянемо детальніше деякі з цих функцій, вважаючи, що </a:t>
          </a:r>
          <a:r>
            <a:rPr lang="en-US" sz="3000" i="1" kern="1200"/>
            <a:t>rgx</a:t>
          </a:r>
          <a:r>
            <a:rPr lang="en-US" sz="3000" kern="1200"/>
            <a:t> – </a:t>
          </a:r>
          <a:r>
            <a:rPr lang="uk-UA" sz="3000" kern="1200"/>
            <a:t>це вже відкомпільований шаблон, а </a:t>
          </a:r>
          <a:r>
            <a:rPr lang="en-US" sz="3000" i="1" kern="1200"/>
            <a:t>pat</a:t>
          </a:r>
          <a:r>
            <a:rPr lang="uk-UA" sz="3000" kern="1200"/>
            <a:t> – звичайний шаблон у вигляді рядка.</a:t>
          </a:r>
          <a:endParaRPr lang="en-US" sz="3000" kern="1200"/>
        </a:p>
      </dsp:txBody>
      <dsp:txXfrm>
        <a:off x="0" y="2765367"/>
        <a:ext cx="6291714" cy="2765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06216-6FAB-4FA7-87D4-0EF0A94BF17C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5176E-ED6F-4CC0-8531-860075CBA9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817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5176E-ED6F-4CC0-8531-860075CBA9EF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955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4267E-F514-431C-A074-3582C066D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DB759E7-AF39-1F00-CB45-CC4735A42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0258A37-545E-3202-C3FA-7F0727B0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D457647-904C-2F36-BA35-11FC4BBA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C43A2B-928F-E839-4739-8731C373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66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C7794-2798-25CF-4D93-1A99CF4E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4BC12B6-6757-39FE-5D6E-F7F3B790F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E47791-D199-3F29-029F-806F96B7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57F9F5B-F96A-AAFE-987D-7333D1D0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60708A-6AF2-0175-1508-E0540CB4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494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F621D-200B-E53E-CA43-A7776BAD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6C571DC-4682-7735-E281-53D4B44E5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4201329-4A79-61A1-9C8B-C93E7736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ED63F9C-2DC6-0656-E5C4-59D069D5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612B4A6-1B9B-6293-2644-C2ECA177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993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7D7FD-7BE7-76E0-1FDA-7D6E7092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384CF74-FEB6-2756-AE77-F7E0941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B01526F-BE84-E4DB-2AB6-11F0D4381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2373A49-B3D8-63E7-2574-94A38293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800B6FA-4094-44EA-D1D0-E3022235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86AB06E-583C-2D08-E49D-7F24863A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98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C1A6B-8384-39AC-6D71-445F9E91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19A8DF3-9F00-8051-C92C-35027F03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E4EB505-C9C2-C17D-B1E9-991090883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CD0BB42-1ADB-275F-681F-1E6262870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2386945-81A1-60F0-49FC-05CEEB5A5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F7D60B2-3442-E30A-B3B0-88EBFECB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E60EA6A-75D8-7045-6589-F05CF844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33155DB-18E2-C9DA-3A93-75DF1FDB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557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C1031-DF6C-59BD-69AE-E050C913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262BD1F-09DB-9856-9949-8C77D732E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0AEAE88-8DB1-3983-5472-A387202A1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2872BEF-4E40-A0A7-33AB-E256C73C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137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7EDF82B-9B85-45F9-2CAD-2FA591CB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DC14412-DB64-7AC0-4267-DC6BD9E6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61E4654-7151-3961-1AD7-9355783F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190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10455-C4DC-1717-FDFD-9679BEC6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64FF5C-9434-6EE1-397B-149F669A9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A792AA8-A5AC-CED1-1361-27D25DAA4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AA540C-7CA1-E170-B589-232B81E4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F2795D1-B9F3-D157-36B4-7C3149DE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13CFAB-61D4-9E16-B504-585BC4AF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73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8F389-C7A6-8E28-AF70-2D43A6E2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8DE0710-4D70-4743-AA74-6D9FB1F61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9985F1B-9318-3639-D94D-FA0DEA47C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C8147EE-DB20-DB72-9349-74784969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C4BFA3A-7B02-52F3-029F-CE9408FC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A809FF3-D23F-9C4C-8400-977AAD19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354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BF3A5-7ADF-A561-887C-31D3764F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F2C623C-E1D6-3262-55C7-5D4CA338A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0932B61-1255-9341-F763-1921AA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F5CD29-1EC7-576D-4391-3F8D05CC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826A86A-17A5-DD00-92D9-EBD74E66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823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C8121A4-7BA3-37E4-4C57-2F759E861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02B121A-778E-AD64-63D6-F61D43599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6E9EEC6-7EAF-CBEC-ABD5-F82FA546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0F1EFE5-FB9A-6EBC-C1C4-505882E5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22C1556-5CE9-9677-BE66-8BA472D9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0750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90D8CFD-7071-8CA3-61CB-555DA469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CD82006-1F04-B563-AB9F-1BF4C1E0B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80E895-2F1A-8449-6D3F-43B1A776C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EF813A-43E3-9545-17DB-C32296FAC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2E68E6-4E80-4814-C7B8-57ADF0873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0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egex101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\\w" TargetMode="External"/><Relationship Id="rId2" Type="http://schemas.openxmlformats.org/officeDocument/2006/relationships/hyperlink" Target="file:///\\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Lec%203%20prog/rgex1.py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Lec%203%20prog/regex2.py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Lec%203%20prog/regex3.py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2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F0E3B-0496-EEF5-A9C4-F14DF1CC9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uk-UA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Лекція 3</a:t>
            </a:r>
            <a:br>
              <a:rPr lang="uk-UA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uk-UA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РЕГУЛЯРНІ ВИРАЗИ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AC98E54-4B51-B690-B38F-201F6F617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uk-UA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Синтаксис, </a:t>
            </a:r>
            <a:r>
              <a:rPr lang="en-US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r-</a:t>
            </a:r>
            <a:r>
              <a:rPr lang="uk-UA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рядки, модуль </a:t>
            </a:r>
            <a:r>
              <a:rPr lang="en-US">
                <a:latin typeface="Roboto Light" panose="020F0502020204030204" pitchFamily="2" charset="0"/>
                <a:ea typeface="Roboto Light" panose="020F0502020204030204" pitchFamily="2" charset="0"/>
                <a:cs typeface="Roboto Light" panose="020F0502020204030204" pitchFamily="2" charset="0"/>
              </a:rPr>
              <a:t>r</a:t>
            </a:r>
            <a:endParaRPr lang="uk-UA" dirty="0">
              <a:latin typeface="Roboto Light" panose="020F0502020204030204" pitchFamily="2" charset="0"/>
              <a:ea typeface="Roboto Light" panose="020F0502020204030204" pitchFamily="2" charset="0"/>
              <a:cs typeface="Roboto Light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4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0C719-6FBC-5305-5C30-9C9B71DE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3143437"/>
            <a:ext cx="6287565" cy="2780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Регулярні</a:t>
            </a:r>
            <a:r>
              <a:rPr lang="en-US" kern="12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вирази</a:t>
            </a:r>
            <a:endParaRPr lang="en-US" kern="1200" dirty="0">
              <a:solidFill>
                <a:srgbClr val="FFFFFF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BC47E7-7130-6A2D-BAEB-51D5BF84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61" y="356187"/>
            <a:ext cx="2878409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Регулярний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вираз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спеціальний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рядок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який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описує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пошуку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тексті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7FEF2-A8E2-7EB9-41F4-FDF9685E102D}"/>
              </a:ext>
            </a:extLst>
          </p:cNvPr>
          <p:cNvSpPr txBox="1"/>
          <p:nvPr/>
        </p:nvSpPr>
        <p:spPr>
          <a:xfrm>
            <a:off x="8222945" y="2377441"/>
            <a:ext cx="4416096" cy="3952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uk-UA" dirty="0"/>
              <a:t>Використовуються при: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✔ </a:t>
            </a:r>
            <a:r>
              <a:rPr lang="en-US" dirty="0" err="1"/>
              <a:t>Роботі</a:t>
            </a:r>
            <a:r>
              <a:rPr lang="en-US" dirty="0"/>
              <a:t> з </a:t>
            </a:r>
            <a:r>
              <a:rPr lang="en-US" dirty="0" err="1"/>
              <a:t>текстами</a:t>
            </a:r>
            <a:r>
              <a:rPr lang="en-US" dirty="0"/>
              <a:t> (</a:t>
            </a:r>
            <a:r>
              <a:rPr lang="en-US" dirty="0" err="1"/>
              <a:t>очищення</a:t>
            </a:r>
            <a:r>
              <a:rPr lang="en-US" dirty="0"/>
              <a:t>, </a:t>
            </a:r>
            <a:r>
              <a:rPr lang="en-US" dirty="0" err="1"/>
              <a:t>форматування</a:t>
            </a:r>
            <a:r>
              <a:rPr lang="en-US" dirty="0"/>
              <a:t>).</a:t>
            </a:r>
            <a:endParaRPr lang="uk-UA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Перевірці</a:t>
            </a:r>
            <a:r>
              <a:rPr lang="en-US" dirty="0"/>
              <a:t> </a:t>
            </a:r>
            <a:r>
              <a:rPr lang="en-US" dirty="0" err="1"/>
              <a:t>введених</a:t>
            </a:r>
            <a:r>
              <a:rPr lang="en-US" dirty="0"/>
              <a:t> </a:t>
            </a:r>
            <a:r>
              <a:rPr lang="en-US" dirty="0" err="1"/>
              <a:t>даних</a:t>
            </a:r>
            <a:r>
              <a:rPr lang="en-US" dirty="0"/>
              <a:t> (email, </a:t>
            </a:r>
            <a:r>
              <a:rPr lang="en-US" dirty="0" err="1"/>
              <a:t>телефони</a:t>
            </a:r>
            <a:r>
              <a:rPr lang="en-US" dirty="0"/>
              <a:t>).</a:t>
            </a:r>
            <a:endParaRPr lang="uk-UA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Веб-скрапінгу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парсингу</a:t>
            </a:r>
            <a:r>
              <a:rPr lang="en-US" dirty="0"/>
              <a:t> </a:t>
            </a:r>
            <a:r>
              <a:rPr lang="en-US" dirty="0" err="1"/>
              <a:t>даних</a:t>
            </a:r>
            <a:r>
              <a:rPr lang="en-US" dirty="0"/>
              <a:t>.</a:t>
            </a:r>
            <a:endParaRPr lang="uk-UA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Аналізі</a:t>
            </a:r>
            <a:r>
              <a:rPr lang="en-US" dirty="0"/>
              <a:t> </a:t>
            </a:r>
            <a:r>
              <a:rPr lang="en-US" dirty="0" err="1"/>
              <a:t>логів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системних</a:t>
            </a:r>
            <a:r>
              <a:rPr lang="en-US" dirty="0"/>
              <a:t> </a:t>
            </a:r>
            <a:r>
              <a:rPr lang="en-US" dirty="0" err="1"/>
              <a:t>звітів</a:t>
            </a:r>
            <a:r>
              <a:rPr lang="en-US" dirty="0"/>
              <a:t>.</a:t>
            </a:r>
            <a:endParaRPr lang="uk-UA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Фільтрації</a:t>
            </a:r>
            <a:r>
              <a:rPr lang="en-US" dirty="0"/>
              <a:t> </a:t>
            </a:r>
            <a:r>
              <a:rPr lang="en-US" dirty="0" err="1"/>
              <a:t>контенту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безпеці</a:t>
            </a:r>
            <a:r>
              <a:rPr lang="en-US" dirty="0"/>
              <a:t>.</a:t>
            </a:r>
            <a:endParaRPr lang="uk-UA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dirty="0"/>
            </a:br>
            <a:r>
              <a:rPr lang="en-US" dirty="0"/>
              <a:t>✔ </a:t>
            </a:r>
            <a:r>
              <a:rPr lang="en-US" dirty="0" err="1"/>
              <a:t>Автоматизації</a:t>
            </a:r>
            <a:r>
              <a:rPr lang="en-US" dirty="0"/>
              <a:t> </a:t>
            </a:r>
            <a:r>
              <a:rPr lang="en-US" dirty="0" err="1"/>
              <a:t>обробки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Швидкий перехід до слайда 4">
                <a:extLst>
                  <a:ext uri="{FF2B5EF4-FFF2-40B4-BE49-F238E27FC236}">
                    <a16:creationId xmlns:a16="http://schemas.microsoft.com/office/drawing/2014/main" id="{8DAC27A7-5DA2-D0B1-A6B5-3CC2B60A82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7813351"/>
                  </p:ext>
                </p:extLst>
              </p:nvPr>
            </p:nvGraphicFramePr>
            <p:xfrm>
              <a:off x="8480449" y="6857452"/>
              <a:ext cx="3048000" cy="1714500"/>
            </p:xfrm>
            <a:graphic>
              <a:graphicData uri="http://schemas.microsoft.com/office/powerpoint/2016/slidezoom">
                <pslz:sldZm>
                  <pslz:sldZmObj sldId="258" cId="2932420581">
                    <pslz:zmPr id="{78A579BC-FCD7-47FF-9CE6-33299D1EC64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Швидкий перехід до слайда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DAC27A7-5DA2-D0B1-A6B5-3CC2B60A82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0449" y="6857452"/>
                <a:ext cx="30480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480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9F0BB-0A33-F2C0-A4CD-31D6FAAC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1153572"/>
            <a:ext cx="3657600" cy="4461163"/>
          </a:xfrm>
        </p:spPr>
        <p:txBody>
          <a:bodyPr>
            <a:normAutofit/>
          </a:bodyPr>
          <a:lstStyle/>
          <a:p>
            <a:r>
              <a:rPr lang="uk-UA" sz="41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Шаблони </a:t>
            </a:r>
            <a:br>
              <a:rPr lang="en-US" sz="41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uk-UA" sz="41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та </a:t>
            </a:r>
            <a:r>
              <a:rPr lang="uk-UA" sz="4100" dirty="0" err="1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метасимволи</a:t>
            </a:r>
            <a:endParaRPr lang="uk-UA" sz="4100" dirty="0">
              <a:solidFill>
                <a:srgbClr val="FFFFFF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30D6C55-23A2-F2ED-202E-A266427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Використання регулярних виразів при роботі з текстом полягає у створенні шаблонів, які виявляють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(match)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або змінюють частини рядків.</a:t>
            </a:r>
          </a:p>
          <a:p>
            <a:pPr marL="0" indent="0">
              <a:buNone/>
            </a:pPr>
            <a:endParaRPr lang="uk-UA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 регулярного виразу 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це рядок, який містить звичайні та мета- символи.</a:t>
            </a:r>
          </a:p>
          <a:p>
            <a:pPr marL="0" indent="0">
              <a:buNone/>
            </a:pPr>
            <a:endParaRPr lang="uk-UA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b="1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Метасимволи</a:t>
            </a:r>
            <a:r>
              <a:rPr lang="uk-UA" sz="22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це спеціальні символи, які мають особливе значення в регулярних виразах і використовуються для створення гнучких шаблонів пошуку.</a:t>
            </a:r>
          </a:p>
          <a:p>
            <a:pPr marL="0" indent="0">
              <a:buNone/>
            </a:pPr>
            <a:endParaRPr lang="uk-UA" sz="22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Якщо звичайні символи (a, b, 1, @) просто </a:t>
            </a:r>
            <a:r>
              <a:rPr lang="uk-UA" sz="22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шукаються</a:t>
            </a:r>
            <a:r>
              <a:rPr lang="uk-UA" sz="22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у тексті, </a:t>
            </a:r>
            <a:r>
              <a:rPr lang="uk-UA" sz="2200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метасимволи</a:t>
            </a:r>
            <a:r>
              <a:rPr lang="uk-UA" sz="22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керують процесом пошуку та визначають складні правила.</a:t>
            </a:r>
          </a:p>
        </p:txBody>
      </p:sp>
    </p:spTree>
    <p:extLst>
      <p:ext uri="{BB962C8B-B14F-4D97-AF65-F5344CB8AC3E}">
        <p14:creationId xmlns:p14="http://schemas.microsoft.com/office/powerpoint/2010/main" val="293242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08232-C5F8-1502-D832-BE5B22A1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regex101.com</a:t>
            </a:r>
            <a:endParaRPr lang="uk-UA" sz="32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85CD582-AF48-1FB8-C6FF-A549FF3EC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60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Для роботи з регулярними виразами існує багато засобів, одним із них може бути сайт </a:t>
            </a:r>
            <a:r>
              <a:rPr lang="en-US" sz="160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2"/>
              </a:rPr>
              <a:t>regex101.com</a:t>
            </a:r>
            <a:r>
              <a:rPr lang="uk-UA" sz="160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en-US" sz="160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.</a:t>
            </a:r>
            <a:endParaRPr lang="en-US" sz="1600" dirty="0">
              <a:latin typeface="Roboto Condensed Medium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pic>
        <p:nvPicPr>
          <p:cNvPr id="5" name="Місце для вмісту 4" descr="Зображення, що містить текст, Шрифт, знімок екрана, Графік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FB1FC42D-0E35-E4A9-A2F0-4CA5C6E0A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" r="2" b="2"/>
          <a:stretch/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8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366A0-9C69-7514-9FE8-7650139A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Метасимволи</a:t>
            </a:r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, що відповідають багатьом символам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43F2CD8-8949-1D9B-B098-C6886273A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152670"/>
              </p:ext>
            </p:extLst>
          </p:nvPr>
        </p:nvGraphicFramePr>
        <p:xfrm>
          <a:off x="1430933" y="2011729"/>
          <a:ext cx="9330134" cy="4160842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353351">
                  <a:extLst>
                    <a:ext uri="{9D8B030D-6E8A-4147-A177-3AD203B41FA5}">
                      <a16:colId xmlns:a16="http://schemas.microsoft.com/office/drawing/2014/main" val="2832103342"/>
                    </a:ext>
                  </a:extLst>
                </a:gridCol>
                <a:gridCol w="3924693">
                  <a:extLst>
                    <a:ext uri="{9D8B030D-6E8A-4147-A177-3AD203B41FA5}">
                      <a16:colId xmlns:a16="http://schemas.microsoft.com/office/drawing/2014/main" val="1869975996"/>
                    </a:ext>
                  </a:extLst>
                </a:gridCol>
                <a:gridCol w="4052090">
                  <a:extLst>
                    <a:ext uri="{9D8B030D-6E8A-4147-A177-3AD203B41FA5}">
                      <a16:colId xmlns:a16="http://schemas.microsoft.com/office/drawing/2014/main" val="2386679938"/>
                    </a:ext>
                  </a:extLst>
                </a:gridCol>
              </a:tblGrid>
              <a:tr h="325760">
                <a:tc>
                  <a:txBody>
                    <a:bodyPr/>
                    <a:lstStyle/>
                    <a:p>
                      <a:pPr algn="ctr"/>
                      <a:r>
                        <a:rPr lang="uk-UA" sz="1500" dirty="0" err="1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Метасимвол</a:t>
                      </a:r>
                      <a:endParaRPr lang="uk-UA" sz="1500" dirty="0">
                        <a:latin typeface="Roboto Condensed Medium" panose="02000000000000000000" pitchFamily="2" charset="0"/>
                        <a:ea typeface="Roboto Condensed Medium" panose="02000000000000000000" pitchFamily="2" charset="0"/>
                        <a:cs typeface="Roboto Condensed Medium" panose="02000000000000000000" pitchFamily="2" charset="0"/>
                      </a:endParaRPr>
                    </a:p>
                  </a:txBody>
                  <a:tcPr marL="74036" marR="74036" marT="37018" marB="370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Опис</a:t>
                      </a:r>
                    </a:p>
                  </a:txBody>
                  <a:tcPr marL="74036" marR="74036" marT="37018" marB="370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 dirty="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Приклад</a:t>
                      </a:r>
                    </a:p>
                  </a:txBody>
                  <a:tcPr marL="74036" marR="74036" marT="37018" marB="37018" anchor="ctr"/>
                </a:tc>
                <a:extLst>
                  <a:ext uri="{0D108BD9-81ED-4DB2-BD59-A6C34878D82A}">
                    <a16:rowId xmlns:a16="http://schemas.microsoft.com/office/drawing/2014/main" val="65114162"/>
                  </a:ext>
                </a:extLst>
              </a:tr>
              <a:tr h="547869">
                <a:tc>
                  <a:txBody>
                    <a:bodyPr/>
                    <a:lstStyle/>
                    <a:p>
                      <a:pPr algn="l"/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</a:t>
                      </a: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Будь-</a:t>
                      </a:r>
                      <a:r>
                        <a:rPr lang="ru-RU" sz="15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який</a:t>
                      </a:r>
                      <a:r>
                        <a:rPr lang="ru-RU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символ, </a:t>
                      </a:r>
                      <a:r>
                        <a:rPr lang="ru-RU" sz="15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крім</a:t>
                      </a:r>
                      <a:r>
                        <a:rPr lang="ru-RU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нового рядка (\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n)</a:t>
                      </a:r>
                      <a:endParaRPr lang="uk-UA" sz="15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</a:t>
                      </a:r>
                      <a:r>
                        <a:rPr lang="uk-UA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відповідатиме, наприклад, таким фразам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uk-UA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*t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cUt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uk-UA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3t</a:t>
                      </a:r>
                      <a:endParaRPr lang="uk-UA" sz="1500" b="1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 anchor="ctr"/>
                </a:tc>
                <a:extLst>
                  <a:ext uri="{0D108BD9-81ED-4DB2-BD59-A6C34878D82A}">
                    <a16:rowId xmlns:a16="http://schemas.microsoft.com/office/drawing/2014/main" val="2001663426"/>
                  </a:ext>
                </a:extLst>
              </a:tr>
              <a:tr h="547869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\d 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Відповідає будь-якій цифрі від 0 до 9</a:t>
                      </a: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\d\d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буде знаходити всі двоцифрові фрагменти. Наприклад,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65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02</a:t>
                      </a:r>
                      <a:endParaRPr lang="uk-UA" sz="1500" b="1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3733700775"/>
                  </a:ext>
                </a:extLst>
              </a:tr>
              <a:tr h="547869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\D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Заперечення \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відповідає будь-якому символу, що не є цифрою</a:t>
                      </a: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\d\D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шукатиме фрагмент, де підряд ідуть цифра та не цифра. Наприклад, 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4а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_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2414417971"/>
                  </a:ext>
                </a:extLst>
              </a:tr>
              <a:tr h="547869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\w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Будь-який буквено-цифровий символ (</a:t>
                      </a:r>
                      <a:r>
                        <a:rPr lang="ru-RU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a-z</a:t>
                      </a:r>
                      <a:r>
                        <a:rPr lang="ru-RU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ru-RU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A-Z</a:t>
                      </a:r>
                      <a:r>
                        <a:rPr lang="ru-RU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ru-RU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0-9</a:t>
                      </a:r>
                      <a:r>
                        <a:rPr lang="ru-RU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ru-RU" sz="1500" b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_</a:t>
                      </a:r>
                      <a:r>
                        <a:rPr lang="ru-RU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wox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може відповідати за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fox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_ox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4ox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2686429667"/>
                  </a:ext>
                </a:extLst>
              </a:tr>
              <a:tr h="547869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\W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Заперечення до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\w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\d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відповідатиме, наприклад, таким фрагментам: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2!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4˚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2009598011"/>
                  </a:ext>
                </a:extLst>
              </a:tr>
              <a:tr h="769977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\s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Відповідає символу пропуску (включно з табуляцією), але не відповідає за перехід на новий рядок</a:t>
                      </a: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1\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s6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може відповідати таким фрагментам тексту: 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1 6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або</a:t>
                      </a:r>
                    </a:p>
                    <a:p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1    6</a:t>
                      </a: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3589931292"/>
                  </a:ext>
                </a:extLst>
              </a:tr>
              <a:tr h="32576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\S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Заперечення до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\s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tc>
                  <a:txBody>
                    <a:bodyPr/>
                    <a:lstStyle/>
                    <a:p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1\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S6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відповідатиме, наприклад, 116, 1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a6</a:t>
                      </a:r>
                      <a:endParaRPr lang="uk-UA" sz="15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4036" marR="74036" marT="37018" marB="37018"/>
                </a:tc>
                <a:extLst>
                  <a:ext uri="{0D108BD9-81ED-4DB2-BD59-A6C34878D82A}">
                    <a16:rowId xmlns:a16="http://schemas.microsoft.com/office/drawing/2014/main" val="325539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8454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58578-238A-622A-FCB9-42E39D94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DC279-39FB-9243-20E1-9111C0E2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Метасимволи</a:t>
            </a:r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, що відповідають локації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8EAB554-38C4-F087-CECC-C9F65FDA7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828548"/>
              </p:ext>
            </p:extLst>
          </p:nvPr>
        </p:nvGraphicFramePr>
        <p:xfrm>
          <a:off x="838200" y="2396999"/>
          <a:ext cx="10515601" cy="3390299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871222">
                  <a:extLst>
                    <a:ext uri="{9D8B030D-6E8A-4147-A177-3AD203B41FA5}">
                      <a16:colId xmlns:a16="http://schemas.microsoft.com/office/drawing/2014/main" val="2832103342"/>
                    </a:ext>
                  </a:extLst>
                </a:gridCol>
                <a:gridCol w="4214762">
                  <a:extLst>
                    <a:ext uri="{9D8B030D-6E8A-4147-A177-3AD203B41FA5}">
                      <a16:colId xmlns:a16="http://schemas.microsoft.com/office/drawing/2014/main" val="1869975996"/>
                    </a:ext>
                  </a:extLst>
                </a:gridCol>
                <a:gridCol w="4429617">
                  <a:extLst>
                    <a:ext uri="{9D8B030D-6E8A-4147-A177-3AD203B41FA5}">
                      <a16:colId xmlns:a16="http://schemas.microsoft.com/office/drawing/2014/main" val="2386679938"/>
                    </a:ext>
                  </a:extLst>
                </a:gridCol>
              </a:tblGrid>
              <a:tr h="457587">
                <a:tc>
                  <a:txBody>
                    <a:bodyPr/>
                    <a:lstStyle/>
                    <a:p>
                      <a:pPr algn="ctr"/>
                      <a:r>
                        <a:rPr lang="uk-UA" sz="200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Метасимвол</a:t>
                      </a:r>
                    </a:p>
                  </a:txBody>
                  <a:tcPr marL="103997" marR="103997" marT="51998" marB="519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00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Опис</a:t>
                      </a:r>
                    </a:p>
                  </a:txBody>
                  <a:tcPr marL="103997" marR="103997" marT="51998" marB="519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000" dirty="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Приклад</a:t>
                      </a:r>
                    </a:p>
                  </a:txBody>
                  <a:tcPr marL="103997" marR="103997" marT="51998" marB="51998" anchor="ctr"/>
                </a:tc>
                <a:extLst>
                  <a:ext uri="{0D108BD9-81ED-4DB2-BD59-A6C34878D82A}">
                    <a16:rowId xmlns:a16="http://schemas.microsoft.com/office/drawing/2014/main" val="65114162"/>
                  </a:ext>
                </a:extLst>
              </a:tr>
              <a:tr h="769577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^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uk-UA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Позначає початок рядка</a:t>
                      </a: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^Hello 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знайде 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Hello</a:t>
                      </a:r>
                      <a:r>
                        <a:rPr lang="en-US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якщо це слово розміщено на початку рядка</a:t>
                      </a:r>
                      <a:endParaRPr lang="uk-UA" sz="20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 anchor="ctr"/>
                </a:tc>
                <a:extLst>
                  <a:ext uri="{0D108BD9-81ED-4DB2-BD59-A6C34878D82A}">
                    <a16:rowId xmlns:a16="http://schemas.microsoft.com/office/drawing/2014/main" val="2001663426"/>
                  </a:ext>
                </a:extLst>
              </a:tr>
              <a:tr h="769577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$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uk-UA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Позначає кінець рядка</a:t>
                      </a: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world$</a:t>
                      </a:r>
                      <a:r>
                        <a:rPr lang="uk-UA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знайде 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world</a:t>
                      </a:r>
                      <a:r>
                        <a:rPr lang="en-US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якщо це слово стоїть у кінці рядка</a:t>
                      </a:r>
                      <a:endParaRPr lang="uk-UA" sz="20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/>
                </a:tc>
                <a:extLst>
                  <a:ext uri="{0D108BD9-81ED-4DB2-BD59-A6C34878D82A}">
                    <a16:rowId xmlns:a16="http://schemas.microsoft.com/office/drawing/2014/main" val="3733700775"/>
                  </a:ext>
                </a:extLst>
              </a:tr>
              <a:tr h="139355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\b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uk-UA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Відповідає за межі слова, тобто початок або кінець (\</a:t>
                      </a:r>
                      <a:r>
                        <a:rPr lang="en-US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 – </a:t>
                      </a:r>
                      <a:r>
                        <a:rPr lang="uk-UA" sz="20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заперечення)</a:t>
                      </a:r>
                    </a:p>
                  </a:txBody>
                  <a:tcPr marL="103997" marR="103997" marT="51998" marB="51998"/>
                </a:tc>
                <a:tc>
                  <a:txBody>
                    <a:bodyPr/>
                    <a:lstStyle/>
                    <a:p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У реченні 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Find a cat in this category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регулярний вираз</a:t>
                      </a:r>
                      <a:r>
                        <a:rPr lang="en-US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cat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відповідатиме за </a:t>
                      </a:r>
                      <a:r>
                        <a:rPr lang="uk-UA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 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та 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</a:t>
                      </a:r>
                      <a:r>
                        <a:rPr lang="en-US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egory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а  </a:t>
                      </a:r>
                      <a:r>
                        <a:rPr lang="uk-UA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</a:t>
                      </a:r>
                      <a:r>
                        <a:rPr lang="en-US" sz="20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bcat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\b </a:t>
                      </a:r>
                      <a:r>
                        <a:rPr lang="uk-UA" sz="20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знайде тільки слово </a:t>
                      </a:r>
                      <a:r>
                        <a:rPr lang="en-US" sz="20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</a:t>
                      </a:r>
                      <a:endParaRPr lang="uk-UA" sz="20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3997" marR="103997" marT="51998" marB="51998"/>
                </a:tc>
                <a:extLst>
                  <a:ext uri="{0D108BD9-81ED-4DB2-BD59-A6C34878D82A}">
                    <a16:rowId xmlns:a16="http://schemas.microsoft.com/office/drawing/2014/main" val="241441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665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9849-E3B0-D2EE-5762-881E1997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41FAABC8-27EB-4B8B-F13F-4A3789C3AB58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2C69AB08-5E27-7212-C0AB-B11A78B74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974" y="2494281"/>
            <a:ext cx="9746226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Який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регулярний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вираз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знайде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всі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слова,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що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закінчуються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на "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ing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"?</a:t>
            </a:r>
            <a:endParaRPr lang="uk-UA" sz="2800" dirty="0">
              <a:latin typeface="Roboto Condensed Medium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555CD045-70AA-AF76-AF58-40F5959E3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2364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0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DA14-F6E6-1588-FAE4-D18355A6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7909F44B-D5DB-AA67-5D1A-B7399212CFB6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4CDCC082-7E76-D73A-7E71-4D41F89F1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974" y="2494281"/>
            <a:ext cx="9746226" cy="91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Який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регулярний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вираз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знайде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всі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слова,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що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закінчуються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 на "</a:t>
            </a:r>
            <a:r>
              <a:rPr lang="ru-RU" sz="2800" dirty="0" err="1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ing</a:t>
            </a:r>
            <a:r>
              <a:rPr lang="ru-RU" sz="2800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"?</a:t>
            </a:r>
            <a:endParaRPr lang="uk-UA" sz="2800" dirty="0">
              <a:latin typeface="Roboto Condensed Medium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076D02E2-1F53-D154-D0C6-43DA1769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2364740"/>
            <a:ext cx="914400" cy="914400"/>
          </a:xfrm>
          <a:prstGeom prst="rect">
            <a:avLst/>
          </a:prstGeom>
        </p:spPr>
      </p:pic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EE7E769A-789C-5B5F-8644-3B680C7CC038}"/>
              </a:ext>
            </a:extLst>
          </p:cNvPr>
          <p:cNvSpPr/>
          <p:nvPr/>
        </p:nvSpPr>
        <p:spPr>
          <a:xfrm>
            <a:off x="0" y="4294403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Місце для вмісту 4">
            <a:extLst>
              <a:ext uri="{FF2B5EF4-FFF2-40B4-BE49-F238E27FC236}">
                <a16:creationId xmlns:a16="http://schemas.microsoft.com/office/drawing/2014/main" id="{33CF747D-FA36-5939-4933-D32D31CA2FA1}"/>
              </a:ext>
            </a:extLst>
          </p:cNvPr>
          <p:cNvSpPr txBox="1">
            <a:spLocks/>
          </p:cNvSpPr>
          <p:nvPr/>
        </p:nvSpPr>
        <p:spPr>
          <a:xfrm>
            <a:off x="1759974" y="4594123"/>
            <a:ext cx="9746226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\</a:t>
            </a:r>
            <a:r>
              <a:rPr lang="en-US" sz="3600" b="1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w+ing</a:t>
            </a:r>
            <a:r>
              <a:rPr lang="en-US" sz="36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\b</a:t>
            </a:r>
            <a:endParaRPr lang="uk-UA" sz="36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pic>
        <p:nvPicPr>
          <p:cNvPr id="9" name="Графіка 8" descr="Circle with left arrow with solid fill">
            <a:extLst>
              <a:ext uri="{FF2B5EF4-FFF2-40B4-BE49-F238E27FC236}">
                <a16:creationId xmlns:a16="http://schemas.microsoft.com/office/drawing/2014/main" id="{EC0217D8-ADAF-DC18-ED15-353073893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228600" y="44442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9159E-6B5C-B353-C15E-0009632B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368C1-6B44-6E5E-08A0-3502E06C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Метасимволи</a:t>
            </a:r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, що відповідають багатьом символам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46CAB0BE-B93A-DAD7-E7F3-C5D918A42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880944"/>
              </p:ext>
            </p:extLst>
          </p:nvPr>
        </p:nvGraphicFramePr>
        <p:xfrm>
          <a:off x="1170530" y="2011729"/>
          <a:ext cx="9850940" cy="4160841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424314">
                  <a:extLst>
                    <a:ext uri="{9D8B030D-6E8A-4147-A177-3AD203B41FA5}">
                      <a16:colId xmlns:a16="http://schemas.microsoft.com/office/drawing/2014/main" val="2832103342"/>
                    </a:ext>
                  </a:extLst>
                </a:gridCol>
                <a:gridCol w="4071859">
                  <a:extLst>
                    <a:ext uri="{9D8B030D-6E8A-4147-A177-3AD203B41FA5}">
                      <a16:colId xmlns:a16="http://schemas.microsoft.com/office/drawing/2014/main" val="1869975996"/>
                    </a:ext>
                  </a:extLst>
                </a:gridCol>
                <a:gridCol w="4354767">
                  <a:extLst>
                    <a:ext uri="{9D8B030D-6E8A-4147-A177-3AD203B41FA5}">
                      <a16:colId xmlns:a16="http://schemas.microsoft.com/office/drawing/2014/main" val="2386679938"/>
                    </a:ext>
                  </a:extLst>
                </a:gridCol>
              </a:tblGrid>
              <a:tr h="342841">
                <a:tc>
                  <a:txBody>
                    <a:bodyPr/>
                    <a:lstStyle/>
                    <a:p>
                      <a:pPr algn="ctr"/>
                      <a:r>
                        <a:rPr lang="uk-UA" sz="150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Метасимвол</a:t>
                      </a:r>
                    </a:p>
                  </a:txBody>
                  <a:tcPr marL="77918" marR="77918" marT="38959" marB="38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Опис</a:t>
                      </a:r>
                    </a:p>
                  </a:txBody>
                  <a:tcPr marL="77918" marR="77918" marT="38959" marB="38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 dirty="0">
                          <a:latin typeface="Roboto Condensed Medium" panose="02000000000000000000" pitchFamily="2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Приклад</a:t>
                      </a:r>
                    </a:p>
                  </a:txBody>
                  <a:tcPr marL="77918" marR="77918" marT="38959" marB="38959" anchor="ctr"/>
                </a:tc>
                <a:extLst>
                  <a:ext uri="{0D108BD9-81ED-4DB2-BD59-A6C34878D82A}">
                    <a16:rowId xmlns:a16="http://schemas.microsoft.com/office/drawing/2014/main" val="65114162"/>
                  </a:ext>
                </a:extLst>
              </a:tr>
              <a:tr h="810351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*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Нуль і більше повторень шаблону, що передує символу *</a:t>
                      </a: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tan*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відповідатиме, наприклад, таким фразам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</a:t>
                      </a:r>
                    </a:p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lk,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dem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go, ka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a, s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ck</a:t>
                      </a:r>
                      <a:endParaRPr lang="uk-UA" sz="15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 anchor="ctr"/>
                </a:tc>
                <a:extLst>
                  <a:ext uri="{0D108BD9-81ED-4DB2-BD59-A6C34878D82A}">
                    <a16:rowId xmlns:a16="http://schemas.microsoft.com/office/drawing/2014/main" val="2001663426"/>
                  </a:ext>
                </a:extLst>
              </a:tr>
              <a:tr h="1277861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Одне або більше повторень шаблону</a:t>
                      </a: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Якщо у попередньому прикладі замінити у шаблоні * на +, то отримаємо такий результат: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відповідатиме фразам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lk,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dem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go, ka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tan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a, stack</a:t>
                      </a:r>
                      <a:endParaRPr lang="uk-UA" sz="15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extLst>
                  <a:ext uri="{0D108BD9-81ED-4DB2-BD59-A6C34878D82A}">
                    <a16:rowId xmlns:a16="http://schemas.microsoft.com/office/drawing/2014/main" val="3733700775"/>
                  </a:ext>
                </a:extLst>
              </a:tr>
              <a:tr h="576596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?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 або 1 повторення шаблону</a:t>
                      </a: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студенти?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Відповідатиме і за 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студент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і за 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студенти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а 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colou?r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color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та 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colour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extLst>
                  <a:ext uri="{0D108BD9-81ED-4DB2-BD59-A6C34878D82A}">
                    <a16:rowId xmlns:a16="http://schemas.microsoft.com/office/drawing/2014/main" val="2414417971"/>
                  </a:ext>
                </a:extLst>
              </a:tr>
              <a:tr h="576596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{N}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повторень шаблону, де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– натуральне число</a:t>
                      </a: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</a:t>
                      </a:r>
                      <a:r>
                        <a:rPr lang="uk-UA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\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d{2}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може відповідати за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a54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a06</a:t>
                      </a:r>
                      <a:r>
                        <a:rPr lang="en-US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uk-UA" sz="1500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тощо</a:t>
                      </a:r>
                    </a:p>
                  </a:txBody>
                  <a:tcPr marL="77918" marR="77918" marT="38959" marB="38959"/>
                </a:tc>
                <a:extLst>
                  <a:ext uri="{0D108BD9-81ED-4DB2-BD59-A6C34878D82A}">
                    <a16:rowId xmlns:a16="http://schemas.microsoft.com/office/drawing/2014/main" val="2686429667"/>
                  </a:ext>
                </a:extLst>
              </a:tr>
              <a:tr h="576596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{N,M}</a:t>
                      </a:r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до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M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повторень шаблону, де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N,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– натуральні числа</a:t>
                      </a:r>
                    </a:p>
                  </a:txBody>
                  <a:tcPr marL="77918" marR="77918" marT="38959" marB="38959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a\d{2,3}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відповідатиме, наприклад, таким фрагментам: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a12, a763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7918" marR="77918" marT="38959" marB="38959"/>
                </a:tc>
                <a:extLst>
                  <a:ext uri="{0D108BD9-81ED-4DB2-BD59-A6C34878D82A}">
                    <a16:rowId xmlns:a16="http://schemas.microsoft.com/office/drawing/2014/main" val="200959801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Швидкий перехід до слайда 4">
                <a:extLst>
                  <a:ext uri="{FF2B5EF4-FFF2-40B4-BE49-F238E27FC236}">
                    <a16:creationId xmlns:a16="http://schemas.microsoft.com/office/drawing/2014/main" id="{347704C1-8E54-2E87-DA92-60F7C699DF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5871736"/>
                  </p:ext>
                </p:extLst>
              </p:nvPr>
            </p:nvGraphicFramePr>
            <p:xfrm>
              <a:off x="3046476" y="-1429971"/>
              <a:ext cx="3048000" cy="1714500"/>
            </p:xfrm>
            <a:graphic>
              <a:graphicData uri="http://schemas.microsoft.com/office/powerpoint/2016/slidezoom">
                <pslz:sldZm>
                  <pslz:sldZmObj sldId="260" cId="3642668214">
                    <pslz:zmPr id="{5DB0A23D-97FA-49AF-A214-2F1FB3718DD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Швидкий перехід до слайда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47704C1-8E54-2E87-DA92-60F7C699DF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46476" y="-1429971"/>
                <a:ext cx="30480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413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0D36D-B18D-4A13-99CA-90962A0B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57189"/>
            <a:ext cx="3551936" cy="5567891"/>
          </a:xfrm>
        </p:spPr>
        <p:txBody>
          <a:bodyPr>
            <a:normAutofit/>
          </a:bodyPr>
          <a:lstStyle/>
          <a:p>
            <a:r>
              <a:rPr lang="uk-UA" sz="5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«Жадібні» символи</a:t>
            </a:r>
          </a:p>
        </p:txBody>
      </p:sp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4CF9E81C-DEDF-01D7-82D0-4A3370D13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73382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66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07720-0140-C00D-034A-578368C4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«Жадібні» символи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FD070D-E6BD-3C15-1B55-39E00D127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Зауважимо, що *,?, + сприймаються компілятором як </a:t>
            </a:r>
            <a:r>
              <a:rPr lang="uk-UA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метасимволи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а якщо потрібно знайти котрийсь із них конкретно у рядку, то доцільно скористатись </a:t>
            </a:r>
            <a:r>
              <a:rPr lang="uk-UA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ескейп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-послідовностями: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Рядок: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2+2=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Шаблон1: </a:t>
            </a:r>
            <a:r>
              <a:rPr lang="uk-UA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200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14</a:t>
            </a:r>
            <a:endParaRPr lang="uk-UA" sz="2200" b="1" dirty="0">
              <a:highlight>
                <a:srgbClr val="8080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\d\+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2+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2=14</a:t>
            </a:r>
          </a:p>
          <a:p>
            <a:pPr marL="0" indent="0">
              <a:buNone/>
            </a:pPr>
            <a:endParaRPr lang="en-US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\d+\+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200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?????</a:t>
            </a:r>
            <a:endParaRPr lang="uk-UA" sz="2200" b="1" dirty="0">
              <a:highlight>
                <a:srgbClr val="8080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54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2B416-09E2-4FC4-D3DD-12E7671C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F69E68-E5A1-33AE-1148-6979D233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238AB69-D4DC-FCA7-F698-2F3EACF9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D5F94-3FBB-B54F-4FAB-90C340EE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«Жадібні» символи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FBAF09F-F416-879A-7787-6FAE8C797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BEA6323-561B-739B-C6C3-88A866D8E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Зауважимо, що *,?, + сприймаються компілятором як </a:t>
            </a:r>
            <a:r>
              <a:rPr lang="uk-UA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метасимволи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а якщо потрібно знайти котрийсь із них конкретно у рядку, то доцільно скористатись </a:t>
            </a:r>
            <a:r>
              <a:rPr lang="uk-UA" sz="2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ескейп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-послідовностями: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Рядок: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2+2=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Шаблон1: </a:t>
            </a:r>
            <a:r>
              <a:rPr lang="uk-UA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200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14</a:t>
            </a:r>
            <a:endParaRPr lang="uk-UA" sz="2200" b="1" dirty="0">
              <a:highlight>
                <a:srgbClr val="8080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2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\d\+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200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2+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2=14</a:t>
            </a:r>
          </a:p>
          <a:p>
            <a:pPr marL="0" indent="0">
              <a:buNone/>
            </a:pPr>
            <a:endParaRPr lang="en-US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\d+\+</a:t>
            </a:r>
            <a:endParaRPr lang="uk-UA" sz="22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sz="2400" dirty="0">
                <a:highlight>
                  <a:srgbClr val="808000"/>
                </a:highlight>
              </a:rPr>
              <a:t>12+</a:t>
            </a:r>
            <a:r>
              <a:rPr lang="en-US" sz="2400" dirty="0"/>
              <a:t>2=14</a:t>
            </a:r>
            <a:endParaRPr lang="uk-UA" sz="2400" b="1" dirty="0"/>
          </a:p>
        </p:txBody>
      </p:sp>
    </p:spTree>
    <p:extLst>
      <p:ext uri="{BB962C8B-B14F-4D97-AF65-F5344CB8AC3E}">
        <p14:creationId xmlns:p14="http://schemas.microsoft.com/office/powerpoint/2010/main" val="223246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E62F-3B87-96CC-0C98-F2BFA004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AEDDF69D-8840-5AE2-BEFF-8CD865EFC7A9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EA95B9-4D77-7BA3-7011-0BFAEB998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0538" y="2751108"/>
            <a:ext cx="95268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Як записати регулярний вираз для пошуку номерів телефону у форматі 050-123-45-67? </a:t>
            </a: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5DDEA2A5-9DCA-6949-33AD-A7CA6D9D1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069" y="23647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33D9-81A9-55A4-63C2-FDC71D5E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4216FF62-7D6A-CA22-B66C-FADB6BBDE996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F5D526E-9A1B-276B-D623-EAF7BA3A3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0538" y="2751108"/>
            <a:ext cx="95268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Як записати регулярний вираз для пошуку номерів телефону у форматі 050-123-45-67? </a:t>
            </a: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51C2417A-7581-6903-23B4-EA33B66E4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069" y="2364740"/>
            <a:ext cx="914400" cy="914400"/>
          </a:xfrm>
          <a:prstGeom prst="rect">
            <a:avLst/>
          </a:prstGeom>
        </p:spPr>
      </p:pic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6BE05B27-BE3C-C423-44DB-7E373636E6B3}"/>
              </a:ext>
            </a:extLst>
          </p:cNvPr>
          <p:cNvSpPr/>
          <p:nvPr/>
        </p:nvSpPr>
        <p:spPr>
          <a:xfrm>
            <a:off x="0" y="4294403"/>
            <a:ext cx="11470640" cy="1214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4" name="Місце для вмісту 4">
            <a:extLst>
              <a:ext uri="{FF2B5EF4-FFF2-40B4-BE49-F238E27FC236}">
                <a16:creationId xmlns:a16="http://schemas.microsoft.com/office/drawing/2014/main" id="{6EF889B5-5E18-AE01-69C3-A2914C826A79}"/>
              </a:ext>
            </a:extLst>
          </p:cNvPr>
          <p:cNvSpPr txBox="1">
            <a:spLocks/>
          </p:cNvSpPr>
          <p:nvPr/>
        </p:nvSpPr>
        <p:spPr>
          <a:xfrm>
            <a:off x="1759974" y="4594123"/>
            <a:ext cx="9746226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Roboto Condensed Medium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\d{3}-\d{3}-\d{2}-\d{2}</a:t>
            </a:r>
            <a:endParaRPr lang="uk-UA" sz="4400" b="1" dirty="0">
              <a:latin typeface="Roboto Condensed Medium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pic>
        <p:nvPicPr>
          <p:cNvPr id="9" name="Графіка 8" descr="Circle with left arrow with solid fill">
            <a:extLst>
              <a:ext uri="{FF2B5EF4-FFF2-40B4-BE49-F238E27FC236}">
                <a16:creationId xmlns:a16="http://schemas.microsoft.com/office/drawing/2014/main" id="{B1CF15D3-463A-F9B8-E8F3-A002C4202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422787" y="44442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9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CEA2A-E6DA-E55C-D133-9BE16405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853" y="1461359"/>
            <a:ext cx="2768199" cy="4064628"/>
          </a:xfrm>
        </p:spPr>
        <p:txBody>
          <a:bodyPr>
            <a:normAutofit/>
          </a:bodyPr>
          <a:lstStyle/>
          <a:p>
            <a:r>
              <a:rPr lang="uk-UA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Задання множини символів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DCAACB-D461-CD7D-8776-588DEE64E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3935281"/>
          </a:xfrm>
        </p:spPr>
        <p:txBody>
          <a:bodyPr>
            <a:normAutofit/>
          </a:bodyPr>
          <a:lstStyle/>
          <a:p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Щоб задати множину допустимих символів у певному місці шаблону потрібно скористатись квадратними дужками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 ].</a:t>
            </a:r>
          </a:p>
          <a:p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квадратних дужках можна перерахувати символи, що можуть стояти на цій позиції, або задати певний діапазон (наприклад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C-Q, a-z, 3-8).</a:t>
            </a:r>
          </a:p>
          <a:p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Інколи кажуть, що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 ]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задають класи символів, але на практиці це не має нічого спільного із класами ООП.</a:t>
            </a:r>
          </a:p>
          <a:p>
            <a:endParaRPr lang="uk-UA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того, щоб визначити заперечення наявності певних символів на вказаній позиції використовують синтаксис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[^].</a:t>
            </a:r>
            <a:endParaRPr lang="uk-UA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Місце для вмісту 2">
            <a:extLst>
              <a:ext uri="{FF2B5EF4-FFF2-40B4-BE49-F238E27FC236}">
                <a16:creationId xmlns:a16="http://schemas.microsoft.com/office/drawing/2014/main" id="{FF9866B9-163C-A539-7CF7-4326B55EB33C}"/>
              </a:ext>
            </a:extLst>
          </p:cNvPr>
          <p:cNvSpPr txBox="1">
            <a:spLocks/>
          </p:cNvSpPr>
          <p:nvPr/>
        </p:nvSpPr>
        <p:spPr>
          <a:xfrm>
            <a:off x="13244431" y="872698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Рядок: 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abe, cat, c6t, cutlery, a e</a:t>
            </a: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Шаблон1: 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c[aeiou1,]t</a:t>
            </a: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abe, </a:t>
            </a:r>
            <a:r>
              <a:rPr lang="en-US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cat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c6t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cut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lery, a e</a:t>
            </a: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e[^aeiou]a</a:t>
            </a: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abe</a:t>
            </a:r>
            <a: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cat, c6t, cutlery, </a:t>
            </a:r>
            <a:r>
              <a:rPr lang="en-US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</a:t>
            </a:r>
            <a:endParaRPr lang="uk-UA">
              <a:highlight>
                <a:srgbClr val="8080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uk-UA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00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6238B-911E-96CE-26F2-5ADE60DB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1DA08-71DC-D19C-CE2E-24D69F08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uk-UA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Задання множини символів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B789F1-8E49-B915-6D07-45DF1632E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Рядок: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ema, cat, c6t, cutlery, e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Шаблон1: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c[aeiou6,]t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ema, </a:t>
            </a:r>
            <a:r>
              <a:rPr lang="en-US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c6t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lery, e a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Шаблон2: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e[^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aeiou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]a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Результат: </a:t>
            </a:r>
            <a:r>
              <a:rPr lang="en-US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cat, c6t, cutlery, </a:t>
            </a:r>
            <a:r>
              <a:rPr lang="en-US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a</a:t>
            </a:r>
            <a:endParaRPr lang="uk-UA" dirty="0">
              <a:highlight>
                <a:srgbClr val="8080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479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B5619-6FF2-EE9C-9444-4E3E8996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Вибір з декількох варіантів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6708415-FA05-7254-1C71-EC2917AE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Часто потрібно задавати шаблони, які передбачають, що на певній позиції може знаходитись декілька варіантів «</a:t>
            </a:r>
            <a:r>
              <a:rPr lang="uk-UA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підшаблонів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». Щоб це реалізувати можна скористатись оператором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|.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Наприклад, шаблон </a:t>
            </a:r>
            <a:r>
              <a:rPr lang="uk-UA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__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|\d\d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відповідає двом підкресленням або двом цифрам (</a:t>
            </a:r>
            <a:r>
              <a:rPr lang="uk-UA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__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18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тощо).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 шаблон 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\</a:t>
            </a:r>
            <a:r>
              <a:rPr lang="en-US" b="1" dirty="0" err="1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bM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b="1" dirty="0" err="1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r|rs|iss|s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)\.?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знайде такі фрагменти тексту: </a:t>
            </a:r>
          </a:p>
          <a:p>
            <a:pPr marL="0" indent="0" algn="ctr">
              <a:buNone/>
            </a:pP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Mr.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Smith and 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Mrs.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Johnson had a meeting with 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Miss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Taylor and </a:t>
            </a:r>
            <a:r>
              <a:rPr lang="en-US" b="1" dirty="0">
                <a:highlight>
                  <a:srgbClr val="8080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Ms.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Doe.</a:t>
            </a:r>
            <a:endParaRPr lang="uk-UA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Слід зауважити, що при зчитуванні шаблону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перевіряє варіанти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зліва на право.</a:t>
            </a:r>
          </a:p>
        </p:txBody>
      </p:sp>
    </p:spTree>
    <p:extLst>
      <p:ext uri="{BB962C8B-B14F-4D97-AF65-F5344CB8AC3E}">
        <p14:creationId xmlns:p14="http://schemas.microsoft.com/office/powerpoint/2010/main" val="62219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00513-A209-CF8F-0FB9-7F530ACE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Особливості задання шаблонів у </a:t>
            </a:r>
            <a:r>
              <a:rPr lang="en-US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Python</a:t>
            </a:r>
            <a:endParaRPr lang="uk-UA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0BDDE1-44FB-E62D-5AF4-849FA6FE5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шаблони регулярних виразів – це звичайні рядки. Як ми вже бачили, деякі із </a:t>
            </a:r>
            <a:r>
              <a:rPr lang="uk-UA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метасимволів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регулярних виразів є  тотожними до синтаксису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escape-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послідовностей (наприклад, \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обрамлення слова у регулярних виразах і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\b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аналог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backspace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escape-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послідовностях).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Тому, щоб розрізняти ці випадки для регулярних виразів </a:t>
            </a:r>
            <a:r>
              <a:rPr lang="uk-UA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бекслеш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потрібно дублювати (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\\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b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 action="ppaction://hlinkfile"/>
              </a:rPr>
              <a:t>\\w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 action="ppaction://hlinkfile"/>
              </a:rPr>
              <a:t>\\s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)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Щоб уникнути казусів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 зайвого дублювання часто використовують «сирі» (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raw)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рядки (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r-strings). 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-рядки позначають літерою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перед лапками для оголошення рядка.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'this is a string'</a:t>
            </a:r>
            <a:br>
              <a:rPr lang="en-US" sz="2800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800" dirty="0" err="1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r'this</a:t>
            </a:r>
            <a:r>
              <a:rPr lang="en-US" sz="2800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is a raw string'</a:t>
            </a:r>
            <a:endParaRPr lang="en-US" sz="2800" dirty="0">
              <a:solidFill>
                <a:srgbClr val="AFB9C3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9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A448D-B10B-614F-C552-64915113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uk-UA" sz="2800">
                <a:latin typeface=" Roboto Black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lang="en-US" sz="2800">
                <a:latin typeface=" Roboto Black"/>
                <a:ea typeface="Roboto" panose="02000000000000000000" pitchFamily="2" charset="0"/>
                <a:cs typeface="Roboto" panose="02000000000000000000" pitchFamily="2" charset="0"/>
              </a:rPr>
              <a:t>re</a:t>
            </a:r>
            <a:r>
              <a:rPr lang="uk-UA" sz="2800">
                <a:latin typeface=" Roboto Black"/>
                <a:ea typeface="Roboto" panose="02000000000000000000" pitchFamily="2" charset="0"/>
                <a:cs typeface="Roboto" panose="02000000000000000000" pitchFamily="2" charset="0"/>
              </a:rPr>
              <a:t>. Знаходження всіх входжень шаблону у тексті</a:t>
            </a:r>
          </a:p>
        </p:txBody>
      </p:sp>
      <p:sp>
        <p:nvSpPr>
          <p:cNvPr id="9" name="Місце для вмісту 2">
            <a:extLst>
              <a:ext uri="{FF2B5EF4-FFF2-40B4-BE49-F238E27FC236}">
                <a16:creationId xmlns:a16="http://schemas.microsoft.com/office/drawing/2014/main" id="{D4F88F19-2151-B8CA-91CC-BBD12FCC9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Модуль </a:t>
            </a:r>
            <a:r>
              <a:rPr kumimoji="0" lang="uk-UA" altLang="uk-UA" sz="1400" b="1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це стандартна бібліотека Python для роботи з </a:t>
            </a:r>
            <a:r>
              <a:rPr kumimoji="0" lang="uk-UA" altLang="uk-UA" sz="1400" b="1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регулярними виразами (RegEx)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kumimoji="0" lang="en-US" altLang="uk-UA" sz="1400" b="0" i="0" u="none" strike="noStrike" cap="none" normalizeH="0" baseline="0">
              <a:ln>
                <a:noFill/>
              </a:ln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b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Він дозволяє </a:t>
            </a:r>
            <a:r>
              <a:rPr kumimoji="0" lang="uk-UA" altLang="uk-UA" sz="1400" b="1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шукати, замінювати, розбивати текст</a:t>
            </a:r>
            <a:r>
              <a:rPr kumimoji="0" lang="uk-UA" altLang="uk-UA" sz="1400" b="0" i="0" u="none" strike="noStrike" cap="none" normalizeH="0" baseline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 певними шаблонами. </a:t>
            </a:r>
          </a:p>
          <a:p>
            <a:pPr marL="0" indent="0">
              <a:buNone/>
            </a:pPr>
            <a:r>
              <a:rPr lang="uk-UA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Найпростіший варіант застосування – знаходження всіх частин тексту, які відповідають заданому шаблону. Для цього існує функція</a:t>
            </a: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0" indent="0">
              <a:buNone/>
            </a:pPr>
            <a:r>
              <a:rPr lang="en-US" sz="14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re.findall(pat, s),</a:t>
            </a:r>
          </a:p>
          <a:p>
            <a:pPr marL="0" indent="0">
              <a:buNone/>
            </a:pPr>
            <a:r>
              <a:rPr lang="uk-UA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 </a:t>
            </a: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</a:t>
            </a:r>
            <a:r>
              <a:rPr lang="uk-UA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шаблон, </a:t>
            </a: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</a:t>
            </a:r>
            <a:r>
              <a:rPr lang="uk-UA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текст, до якого застосовується шаблон.</a:t>
            </a:r>
          </a:p>
          <a:p>
            <a:pPr marL="0" indent="0">
              <a:buNone/>
            </a:pPr>
            <a:r>
              <a:rPr lang="uk-UA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результаті, функція повертає список підрядків, що відповідають шаблону.</a:t>
            </a:r>
          </a:p>
        </p:txBody>
      </p:sp>
      <p:pic>
        <p:nvPicPr>
          <p:cNvPr id="5" name="Рисунок 4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F15D658F-88D2-AF04-C59F-BB9403CC6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04" y="264925"/>
            <a:ext cx="3845229" cy="632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8C44F-048F-47C0-EB20-B4966A18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4CF21-0ED5-D097-C93E-C26D8B52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472046" cy="4064628"/>
          </a:xfrm>
        </p:spPr>
        <p:txBody>
          <a:bodyPr>
            <a:normAutofit/>
          </a:bodyPr>
          <a:lstStyle/>
          <a:p>
            <a:r>
              <a:rPr lang="uk-UA" sz="37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Модуль </a:t>
            </a:r>
            <a:r>
              <a:rPr lang="en-US" sz="37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</a:t>
            </a:r>
            <a:r>
              <a:rPr lang="uk-UA" sz="3700" dirty="0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. Знаходження всіх входжень шаблону у тексті</a:t>
            </a:r>
          </a:p>
        </p:txBody>
      </p:sp>
      <p:sp>
        <p:nvSpPr>
          <p:cNvPr id="20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ADC7FA5-6987-41E5-ADF1-A4E2A1AE4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Нехай задано файл, у якому записані деякі роки трьома або чотирма цифрами. Потрібно знайти ці роки, а також номери рядків, де вони записані.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вирішення цієї задачі скористаємось шаблоном</a:t>
            </a:r>
          </a:p>
          <a:p>
            <a:pPr marL="0" indent="0"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 = r’\d{3,4}’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 повернення списку років реалізуємо скориставшись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re.findall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Розв’язання</a:t>
            </a:r>
            <a:r>
              <a:rPr lang="uk-UA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regex1.py)</a:t>
            </a:r>
          </a:p>
        </p:txBody>
      </p:sp>
    </p:spTree>
    <p:extLst>
      <p:ext uri="{BB962C8B-B14F-4D97-AF65-F5344CB8AC3E}">
        <p14:creationId xmlns:p14="http://schemas.microsoft.com/office/powerpoint/2010/main" val="3884877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EEEFE-7D97-034C-F810-04F2EDAF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uk-UA" sz="46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Компіляція регулярних виразів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Місце для вмісту 2">
            <a:extLst>
              <a:ext uri="{FF2B5EF4-FFF2-40B4-BE49-F238E27FC236}">
                <a16:creationId xmlns:a16="http://schemas.microsoft.com/office/drawing/2014/main" id="{8AD2C12A-A152-491A-7DE5-41406E1C9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8862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0692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E60E8-616F-D2F5-D19D-050DB874C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8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9CD22-809D-DF22-5690-FE5E64EF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Компіляція регулярних виразів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9D5E3-C76B-CC3E-C9C7-4F339AC49F41}"/>
              </a:ext>
            </a:extLst>
          </p:cNvPr>
          <p:cNvSpPr txBox="1"/>
          <p:nvPr/>
        </p:nvSpPr>
        <p:spPr>
          <a:xfrm>
            <a:off x="870148" y="3962792"/>
            <a:ext cx="5221185" cy="2102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Розглянемо детальніше деякі можливі значення параметра flags.</a:t>
            </a:r>
          </a:p>
        </p:txBody>
      </p:sp>
      <p:sp>
        <p:nvSpPr>
          <p:cNvPr id="26" name="Freeform: Shape 20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5C4B8787-A608-5751-7DC4-142611B5E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238831"/>
              </p:ext>
            </p:extLst>
          </p:nvPr>
        </p:nvGraphicFramePr>
        <p:xfrm>
          <a:off x="6735382" y="1209577"/>
          <a:ext cx="5292210" cy="450832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4181">
                  <a:extLst>
                    <a:ext uri="{9D8B030D-6E8A-4147-A177-3AD203B41FA5}">
                      <a16:colId xmlns:a16="http://schemas.microsoft.com/office/drawing/2014/main" val="3532215916"/>
                    </a:ext>
                  </a:extLst>
                </a:gridCol>
                <a:gridCol w="3038029">
                  <a:extLst>
                    <a:ext uri="{9D8B030D-6E8A-4147-A177-3AD203B41FA5}">
                      <a16:colId xmlns:a16="http://schemas.microsoft.com/office/drawing/2014/main" val="4027485461"/>
                    </a:ext>
                  </a:extLst>
                </a:gridCol>
              </a:tblGrid>
              <a:tr h="432299">
                <a:tc>
                  <a:txBody>
                    <a:bodyPr/>
                    <a:lstStyle/>
                    <a:p>
                      <a:r>
                        <a:rPr lang="uk-UA" sz="1700"/>
                        <a:t>Значення </a:t>
                      </a:r>
                      <a:r>
                        <a:rPr lang="en-US" sz="1700"/>
                        <a:t>flags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tc>
                  <a:txBody>
                    <a:bodyPr/>
                    <a:lstStyle/>
                    <a:p>
                      <a:r>
                        <a:rPr lang="uk-UA" sz="1700"/>
                        <a:t>Опис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extLst>
                  <a:ext uri="{0D108BD9-81ED-4DB2-BD59-A6C34878D82A}">
                    <a16:rowId xmlns:a16="http://schemas.microsoft.com/office/drawing/2014/main" val="671793548"/>
                  </a:ext>
                </a:extLst>
              </a:tr>
              <a:tr h="725653">
                <a:tc>
                  <a:txBody>
                    <a:bodyPr/>
                    <a:lstStyle/>
                    <a:p>
                      <a:r>
                        <a:rPr lang="en-US" sz="1700"/>
                        <a:t>re.IGNORECASE (re.I)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tc>
                  <a:txBody>
                    <a:bodyPr/>
                    <a:lstStyle/>
                    <a:p>
                      <a:r>
                        <a:rPr lang="uk-UA" sz="1700"/>
                        <a:t>Ігнорує регістр (не розрізняє </a:t>
                      </a:r>
                      <a:r>
                        <a:rPr lang="en-US" sz="1700"/>
                        <a:t>a </a:t>
                      </a:r>
                      <a:r>
                        <a:rPr lang="uk-UA" sz="1700"/>
                        <a:t>і </a:t>
                      </a:r>
                      <a:r>
                        <a:rPr lang="en-US" sz="1700"/>
                        <a:t>A)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extLst>
                  <a:ext uri="{0D108BD9-81ED-4DB2-BD59-A6C34878D82A}">
                    <a16:rowId xmlns:a16="http://schemas.microsoft.com/office/drawing/2014/main" val="3581257683"/>
                  </a:ext>
                </a:extLst>
              </a:tr>
              <a:tr h="1019007">
                <a:tc>
                  <a:txBody>
                    <a:bodyPr/>
                    <a:lstStyle/>
                    <a:p>
                      <a:r>
                        <a:rPr lang="en-US" sz="1700"/>
                        <a:t>re.MULTILINE (re.M)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Дозволяє ^ і $ працювати для кожного рядка окремо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extLst>
                  <a:ext uri="{0D108BD9-81ED-4DB2-BD59-A6C34878D82A}">
                    <a16:rowId xmlns:a16="http://schemas.microsoft.com/office/drawing/2014/main" val="2405064152"/>
                  </a:ext>
                </a:extLst>
              </a:tr>
              <a:tr h="725653">
                <a:tc>
                  <a:txBody>
                    <a:bodyPr/>
                    <a:lstStyle/>
                    <a:p>
                      <a:r>
                        <a:rPr lang="en-US" sz="1700"/>
                        <a:t>re.DOTALL (re.S)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tc>
                  <a:txBody>
                    <a:bodyPr/>
                    <a:lstStyle/>
                    <a:p>
                      <a:r>
                        <a:rPr lang="uk-UA" sz="1700"/>
                        <a:t>Символ . охоплює також \</a:t>
                      </a:r>
                      <a:r>
                        <a:rPr lang="en-US" sz="1700"/>
                        <a:t>n</a:t>
                      </a:r>
                      <a:endParaRPr lang="uk-UA" sz="17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extLst>
                  <a:ext uri="{0D108BD9-81ED-4DB2-BD59-A6C34878D82A}">
                    <a16:rowId xmlns:a16="http://schemas.microsoft.com/office/drawing/2014/main" val="2989972794"/>
                  </a:ext>
                </a:extLst>
              </a:tr>
              <a:tr h="1605715">
                <a:tc>
                  <a:txBody>
                    <a:bodyPr/>
                    <a:lstStyle/>
                    <a:p>
                      <a:r>
                        <a:rPr lang="en-US" sz="1700" dirty="0" err="1"/>
                        <a:t>re.VERBOSE</a:t>
                      </a:r>
                      <a:r>
                        <a:rPr lang="en-US" sz="1700" dirty="0"/>
                        <a:t> (</a:t>
                      </a:r>
                      <a:r>
                        <a:rPr lang="en-US" sz="1700" dirty="0" err="1"/>
                        <a:t>re.X</a:t>
                      </a:r>
                      <a:r>
                        <a:rPr lang="en-US" sz="1700" dirty="0"/>
                        <a:t>)</a:t>
                      </a:r>
                      <a:endParaRPr lang="uk-UA" sz="17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tc>
                  <a:txBody>
                    <a:bodyPr/>
                    <a:lstStyle/>
                    <a:p>
                      <a:r>
                        <a:rPr lang="uk-UA" sz="1700" noProof="0" dirty="0"/>
                        <a:t>Дозволяє</a:t>
                      </a:r>
                      <a:r>
                        <a:rPr lang="ru-RU" sz="1700" dirty="0"/>
                        <a:t> </a:t>
                      </a:r>
                      <a:r>
                        <a:rPr lang="ru-RU" sz="1700" dirty="0" err="1"/>
                        <a:t>додавати</a:t>
                      </a:r>
                      <a:r>
                        <a:rPr lang="ru-RU" sz="1700" dirty="0"/>
                        <a:t> </a:t>
                      </a:r>
                      <a:r>
                        <a:rPr lang="ru-RU" sz="1700" dirty="0" err="1"/>
                        <a:t>пробіли</a:t>
                      </a:r>
                      <a:r>
                        <a:rPr lang="ru-RU" sz="1700" dirty="0"/>
                        <a:t> і </a:t>
                      </a:r>
                      <a:r>
                        <a:rPr lang="ru-RU" sz="1700" dirty="0" err="1"/>
                        <a:t>коментарі</a:t>
                      </a:r>
                      <a:r>
                        <a:rPr lang="ru-RU" sz="1700" dirty="0"/>
                        <a:t> (</a:t>
                      </a:r>
                      <a:r>
                        <a:rPr lang="ru-RU" sz="1700" dirty="0" err="1"/>
                        <a:t>починаються</a:t>
                      </a:r>
                      <a:r>
                        <a:rPr lang="ru-RU" sz="1700" dirty="0"/>
                        <a:t> </a:t>
                      </a:r>
                      <a:r>
                        <a:rPr lang="ru-RU" sz="1700" dirty="0" err="1"/>
                        <a:t>із</a:t>
                      </a:r>
                      <a:r>
                        <a:rPr lang="ru-RU" sz="1700" dirty="0"/>
                        <a:t> символа </a:t>
                      </a:r>
                      <a:r>
                        <a:rPr lang="en-US" sz="1700" dirty="0"/>
                        <a:t>#)</a:t>
                      </a:r>
                      <a:r>
                        <a:rPr lang="ru-RU" sz="1700" dirty="0"/>
                        <a:t> для </a:t>
                      </a:r>
                      <a:r>
                        <a:rPr lang="ru-RU" sz="1700" dirty="0" err="1"/>
                        <a:t>покращення</a:t>
                      </a:r>
                      <a:r>
                        <a:rPr lang="ru-RU" sz="1700" dirty="0"/>
                        <a:t> </a:t>
                      </a:r>
                      <a:r>
                        <a:rPr lang="ru-RU" sz="1700" dirty="0" err="1"/>
                        <a:t>читабельності</a:t>
                      </a:r>
                      <a:endParaRPr lang="uk-UA" sz="17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7743" marR="87743" marT="43871" marB="43871"/>
                </a:tc>
                <a:extLst>
                  <a:ext uri="{0D108BD9-81ED-4DB2-BD59-A6C34878D82A}">
                    <a16:rowId xmlns:a16="http://schemas.microsoft.com/office/drawing/2014/main" val="116505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319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5F43-3265-E2D9-1F49-1A887E1E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0964B-32F8-4691-6B13-BB7A6488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94853"/>
            <a:ext cx="8610600" cy="1293028"/>
          </a:xfrm>
        </p:spPr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Компіляція регулярних виразів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07C3DBC4-EB8D-14DA-5640-C2D4D1FFF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5251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 descr="Зображення, що містить текст, знімок екрана, Шрифт, програмне забезпечен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CA01F494-A061-92BE-D2B0-7A93DF8017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69574"/>
            <a:ext cx="5243052" cy="2585884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44A0A1EE-BC37-23DC-4BD2-E7D757A5C6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644" y="2369574"/>
            <a:ext cx="5159072" cy="258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1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28DD7-3FAF-58E5-C422-AA6A6C11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Компіляція регулярних виразів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2C134C-A26C-A002-A062-98BB0526C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практиці часто постають задачі, коли потрібно використати одразу декілька прапорців для компіляції деякого шаблону. Тоді можна скористатись оператором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їх об’єднання.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використання цього оператора на приклад задачі для знаходження всіх заголовків деякого тексту.</a:t>
            </a:r>
          </a:p>
        </p:txBody>
      </p:sp>
    </p:spTree>
    <p:extLst>
      <p:ext uri="{BB962C8B-B14F-4D97-AF65-F5344CB8AC3E}">
        <p14:creationId xmlns:p14="http://schemas.microsoft.com/office/powerpoint/2010/main" val="1971039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 descr="Зображення, що містить текст, знімок екрана, програмне забезпечення, Мультимедійне програмне забезпечен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60FE8888-BC42-0C17-E4EB-F699ADAB7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188"/>
            <a:ext cx="12140468" cy="6449624"/>
          </a:xfrm>
        </p:spPr>
      </p:pic>
    </p:spTree>
    <p:extLst>
      <p:ext uri="{BB962C8B-B14F-4D97-AF65-F5344CB8AC3E}">
        <p14:creationId xmlns:p14="http://schemas.microsoft.com/office/powerpoint/2010/main" val="259372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A7D9C-3A75-C33D-43DD-D8B2B6BD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Функції модуля </a:t>
            </a:r>
            <a:r>
              <a:rPr lang="en-US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</a:t>
            </a:r>
            <a:r>
              <a:rPr lang="uk-UA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та методи класу </a:t>
            </a:r>
            <a:r>
              <a:rPr lang="en-US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regex</a:t>
            </a:r>
            <a:r>
              <a:rPr lang="uk-UA">
                <a:solidFill>
                  <a:srgbClr val="FFFFFF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для пошуку підрядків</a:t>
            </a:r>
          </a:p>
        </p:txBody>
      </p:sp>
      <p:graphicFrame>
        <p:nvGraphicFramePr>
          <p:cNvPr id="5" name="Місце для вмісту 2">
            <a:extLst>
              <a:ext uri="{FF2B5EF4-FFF2-40B4-BE49-F238E27FC236}">
                <a16:creationId xmlns:a16="http://schemas.microsoft.com/office/drawing/2014/main" id="{105064BA-BC56-04A3-6C7D-EDA34A4B2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85144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132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59363-94FC-B61D-CD12-4D8AB615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B9078-CA9E-A764-614E-DBA99AD8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sz="4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Функції модуля </a:t>
            </a:r>
            <a:r>
              <a:rPr lang="en-US" sz="4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</a:t>
            </a:r>
            <a:r>
              <a:rPr lang="uk-UA" sz="4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та методи класу </a:t>
            </a:r>
            <a:r>
              <a:rPr lang="en-US" sz="4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regex</a:t>
            </a:r>
            <a:r>
              <a:rPr lang="uk-UA" sz="4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для пошуку підрядків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19FBBDF-953B-9E97-BA99-2B37F2709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877733"/>
              </p:ext>
            </p:extLst>
          </p:nvPr>
        </p:nvGraphicFramePr>
        <p:xfrm>
          <a:off x="1847967" y="2228087"/>
          <a:ext cx="8496067" cy="39488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20887">
                  <a:extLst>
                    <a:ext uri="{9D8B030D-6E8A-4147-A177-3AD203B41FA5}">
                      <a16:colId xmlns:a16="http://schemas.microsoft.com/office/drawing/2014/main" val="1784329077"/>
                    </a:ext>
                  </a:extLst>
                </a:gridCol>
                <a:gridCol w="5375180">
                  <a:extLst>
                    <a:ext uri="{9D8B030D-6E8A-4147-A177-3AD203B41FA5}">
                      <a16:colId xmlns:a16="http://schemas.microsoft.com/office/drawing/2014/main" val="1102694673"/>
                    </a:ext>
                  </a:extLst>
                </a:gridCol>
              </a:tblGrid>
              <a:tr h="315911">
                <a:tc>
                  <a:txBody>
                    <a:bodyPr/>
                    <a:lstStyle/>
                    <a:p>
                      <a:r>
                        <a:rPr lang="uk-UA" sz="1400"/>
                        <a:t>Функція (метод)</a:t>
                      </a:r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Опис</a:t>
                      </a:r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extLst>
                  <a:ext uri="{0D108BD9-81ED-4DB2-BD59-A6C34878D82A}">
                    <a16:rowId xmlns:a16="http://schemas.microsoft.com/office/drawing/2014/main" val="3450498133"/>
                  </a:ext>
                </a:extLst>
              </a:tr>
              <a:tr h="746697">
                <a:tc>
                  <a:txBody>
                    <a:bodyPr/>
                    <a:lstStyle/>
                    <a:p>
                      <a:r>
                        <a:rPr lang="en-US" sz="1400"/>
                        <a:t>re.search(pat, string, flags = 0)</a:t>
                      </a:r>
                    </a:p>
                    <a:p>
                      <a:r>
                        <a:rPr lang="uk-UA" sz="1400"/>
                        <a:t>або</a:t>
                      </a:r>
                    </a:p>
                    <a:p>
                      <a:r>
                        <a:rPr lang="en-US" sz="1400"/>
                        <a:t>rgx.search(string)</a:t>
                      </a:r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Знаходить перший підрядок, що відповідає шаблону, у рядку </a:t>
                      </a:r>
                      <a:r>
                        <a:rPr lang="en-US" sz="1400"/>
                        <a:t>string. </a:t>
                      </a:r>
                      <a:r>
                        <a:rPr lang="uk-UA" sz="1400"/>
                        <a:t>Повертає об’єкт класу </a:t>
                      </a:r>
                      <a:r>
                        <a:rPr lang="en-US" sz="1400"/>
                        <a:t>re.Match </a:t>
                      </a:r>
                      <a:r>
                        <a:rPr lang="uk-UA" sz="1400"/>
                        <a:t>або </a:t>
                      </a:r>
                      <a:r>
                        <a:rPr lang="en-US" sz="1400"/>
                        <a:t>None</a:t>
                      </a:r>
                      <a:r>
                        <a:rPr lang="uk-UA" sz="1400"/>
                        <a:t>, якщо нічого не знайдено.</a:t>
                      </a:r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extLst>
                  <a:ext uri="{0D108BD9-81ED-4DB2-BD59-A6C34878D82A}">
                    <a16:rowId xmlns:a16="http://schemas.microsoft.com/office/drawing/2014/main" val="2910565310"/>
                  </a:ext>
                </a:extLst>
              </a:tr>
              <a:tr h="962090">
                <a:tc>
                  <a:txBody>
                    <a:bodyPr/>
                    <a:lstStyle/>
                    <a:p>
                      <a:r>
                        <a:rPr lang="en-US" sz="1400"/>
                        <a:t>re.mathch(pat, string, flags = 0)</a:t>
                      </a:r>
                    </a:p>
                    <a:p>
                      <a:r>
                        <a:rPr lang="uk-UA" sz="1400"/>
                        <a:t>або</a:t>
                      </a:r>
                    </a:p>
                    <a:p>
                      <a:r>
                        <a:rPr lang="en-US" sz="1400"/>
                        <a:t>rgx.smatch(string)</a:t>
                      </a:r>
                      <a:endParaRPr lang="uk-UA" sz="1400"/>
                    </a:p>
                    <a:p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/>
                        <a:t>Перевіряє, чи відповідає початок рядка </a:t>
                      </a:r>
                      <a:r>
                        <a:rPr lang="en-US" sz="1400"/>
                        <a:t>string </a:t>
                      </a:r>
                      <a:r>
                        <a:rPr lang="uk-UA" sz="1400"/>
                        <a:t>шаблону</a:t>
                      </a:r>
                      <a:r>
                        <a:rPr lang="en-US" sz="1400"/>
                        <a:t>. </a:t>
                      </a:r>
                      <a:r>
                        <a:rPr lang="uk-UA" sz="1400"/>
                        <a:t>Повертає об’єкт класу </a:t>
                      </a:r>
                      <a:r>
                        <a:rPr lang="en-US" sz="1400"/>
                        <a:t>re.Match </a:t>
                      </a:r>
                      <a:r>
                        <a:rPr lang="uk-UA" sz="1400"/>
                        <a:t>або </a:t>
                      </a:r>
                      <a:r>
                        <a:rPr lang="en-US" sz="1400"/>
                        <a:t>None</a:t>
                      </a:r>
                      <a:r>
                        <a:rPr lang="uk-UA" sz="1400"/>
                        <a:t>, якщо не відповідає.</a:t>
                      </a:r>
                    </a:p>
                    <a:p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extLst>
                  <a:ext uri="{0D108BD9-81ED-4DB2-BD59-A6C34878D82A}">
                    <a16:rowId xmlns:a16="http://schemas.microsoft.com/office/drawing/2014/main" val="1501733170"/>
                  </a:ext>
                </a:extLst>
              </a:tr>
              <a:tr h="962090">
                <a:tc>
                  <a:txBody>
                    <a:bodyPr/>
                    <a:lstStyle/>
                    <a:p>
                      <a:r>
                        <a:rPr lang="en-US" sz="1400"/>
                        <a:t>re.findall(pat, string, flags = 0)</a:t>
                      </a:r>
                    </a:p>
                    <a:p>
                      <a:r>
                        <a:rPr lang="uk-UA" sz="1400"/>
                        <a:t>або</a:t>
                      </a:r>
                    </a:p>
                    <a:p>
                      <a:r>
                        <a:rPr lang="en-US" sz="1400"/>
                        <a:t>rgx.findall(string)</a:t>
                      </a:r>
                      <a:endParaRPr lang="uk-UA" sz="1400"/>
                    </a:p>
                    <a:p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Повертає список усіх підрядків рядка </a:t>
                      </a:r>
                      <a:r>
                        <a:rPr lang="en-US" sz="1400"/>
                        <a:t>string</a:t>
                      </a:r>
                      <a:r>
                        <a:rPr lang="uk-UA" sz="1400"/>
                        <a:t>, що відповідають заданому шаблону.</a:t>
                      </a:r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extLst>
                  <a:ext uri="{0D108BD9-81ED-4DB2-BD59-A6C34878D82A}">
                    <a16:rowId xmlns:a16="http://schemas.microsoft.com/office/drawing/2014/main" val="2052541688"/>
                  </a:ext>
                </a:extLst>
              </a:tr>
              <a:tr h="962090">
                <a:tc>
                  <a:txBody>
                    <a:bodyPr/>
                    <a:lstStyle/>
                    <a:p>
                      <a:r>
                        <a:rPr lang="en-US" sz="1400"/>
                        <a:t>re. finditer(pat, string, flags = 0)</a:t>
                      </a:r>
                    </a:p>
                    <a:p>
                      <a:r>
                        <a:rPr lang="uk-UA" sz="1400"/>
                        <a:t>або</a:t>
                      </a:r>
                    </a:p>
                    <a:p>
                      <a:r>
                        <a:rPr lang="en-US" sz="1400"/>
                        <a:t>rgx.finditer(string)</a:t>
                      </a:r>
                      <a:endParaRPr lang="uk-UA" sz="1400"/>
                    </a:p>
                    <a:p>
                      <a:endParaRPr lang="uk-UA" sz="14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Повертає </a:t>
                      </a:r>
                      <a:r>
                        <a:rPr lang="uk-UA" sz="1400" dirty="0" err="1"/>
                        <a:t>ітератор</a:t>
                      </a:r>
                      <a:r>
                        <a:rPr lang="uk-UA" sz="1400" dirty="0"/>
                        <a:t>, який пробігає послідовність усіх </a:t>
                      </a:r>
                      <a:r>
                        <a:rPr lang="uk-UA" sz="1400" dirty="0" err="1"/>
                        <a:t>підрядків</a:t>
                      </a:r>
                      <a:r>
                        <a:rPr lang="uk-UA" sz="1400" dirty="0"/>
                        <a:t> рядка </a:t>
                      </a:r>
                      <a:r>
                        <a:rPr lang="en-US" sz="1400" dirty="0"/>
                        <a:t>string</a:t>
                      </a:r>
                      <a:r>
                        <a:rPr lang="uk-UA" sz="1400" dirty="0"/>
                        <a:t>, що відповідають шаблону. Кожен елемент отриманої </a:t>
                      </a:r>
                      <a:r>
                        <a:rPr lang="uk-UA" sz="1400" dirty="0" err="1"/>
                        <a:t>ітерованої</a:t>
                      </a:r>
                      <a:r>
                        <a:rPr lang="uk-UA" sz="1400" dirty="0"/>
                        <a:t> послідовності є екземпляром класу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re.Match</a:t>
                      </a:r>
                      <a:r>
                        <a:rPr lang="uk-UA" sz="1400" dirty="0"/>
                        <a:t>.</a:t>
                      </a:r>
                      <a:endParaRPr lang="uk-UA" sz="14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1798" marR="71798" marT="35899" marB="35899"/>
                </a:tc>
                <a:extLst>
                  <a:ext uri="{0D108BD9-81ED-4DB2-BD59-A6C34878D82A}">
                    <a16:rowId xmlns:a16="http://schemas.microsoft.com/office/drawing/2014/main" val="151152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586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E6573-4689-304D-3B0D-F244EEB9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uk-UA"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Клас </a:t>
            </a:r>
            <a:r>
              <a:rPr lang="en-US" sz="32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re.Match</a:t>
            </a:r>
            <a:endParaRPr lang="uk-UA" sz="32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F6B24D-90E2-6774-5771-9B26062C8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Клас </a:t>
            </a:r>
            <a:r>
              <a:rPr lang="en-US" sz="17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re.Match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дозволяє визначати характер </a:t>
            </a:r>
            <a:r>
              <a:rPr lang="uk-UA" sz="17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підрядка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відповідав шаблону. Як ми вже бачили, об’єкти цього класу створюються у результаті виконання функцій (методів) 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search, match, </a:t>
            </a:r>
            <a:r>
              <a:rPr lang="en-US" sz="17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finditer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методи класу </a:t>
            </a:r>
            <a:r>
              <a:rPr lang="en-US" sz="17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re.Match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вважаючи, що 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mt –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 деякий екземпляр цього класу.</a:t>
            </a:r>
          </a:p>
          <a:p>
            <a:pPr marL="0" indent="0">
              <a:buNone/>
            </a:pPr>
            <a:endParaRPr lang="uk-UA" sz="17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996C49EE-F71E-6BA2-8352-7C5599560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389423"/>
              </p:ext>
            </p:extLst>
          </p:nvPr>
        </p:nvGraphicFramePr>
        <p:xfrm>
          <a:off x="659018" y="2734056"/>
          <a:ext cx="10962357" cy="34838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08267">
                  <a:extLst>
                    <a:ext uri="{9D8B030D-6E8A-4147-A177-3AD203B41FA5}">
                      <a16:colId xmlns:a16="http://schemas.microsoft.com/office/drawing/2014/main" val="810035564"/>
                    </a:ext>
                  </a:extLst>
                </a:gridCol>
                <a:gridCol w="7754090">
                  <a:extLst>
                    <a:ext uri="{9D8B030D-6E8A-4147-A177-3AD203B41FA5}">
                      <a16:colId xmlns:a16="http://schemas.microsoft.com/office/drawing/2014/main" val="2285511917"/>
                    </a:ext>
                  </a:extLst>
                </a:gridCol>
              </a:tblGrid>
              <a:tr h="450853">
                <a:tc>
                  <a:txBody>
                    <a:bodyPr/>
                    <a:lstStyle/>
                    <a:p>
                      <a:r>
                        <a:rPr lang="uk-UA" sz="2000"/>
                        <a:t>Метод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tc>
                  <a:txBody>
                    <a:bodyPr/>
                    <a:lstStyle/>
                    <a:p>
                      <a:r>
                        <a:rPr lang="uk-UA" sz="2000"/>
                        <a:t>Опис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extLst>
                  <a:ext uri="{0D108BD9-81ED-4DB2-BD59-A6C34878D82A}">
                    <a16:rowId xmlns:a16="http://schemas.microsoft.com/office/drawing/2014/main" val="3271742662"/>
                  </a:ext>
                </a:extLst>
              </a:tr>
              <a:tr h="450853">
                <a:tc>
                  <a:txBody>
                    <a:bodyPr/>
                    <a:lstStyle/>
                    <a:p>
                      <a:r>
                        <a:rPr lang="en-US" sz="2000"/>
                        <a:t>mt.group()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tc>
                  <a:txBody>
                    <a:bodyPr/>
                    <a:lstStyle/>
                    <a:p>
                      <a:r>
                        <a:rPr lang="uk-UA" sz="2000"/>
                        <a:t>Повертає підрядок, що відповідає шаблону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extLst>
                  <a:ext uri="{0D108BD9-81ED-4DB2-BD59-A6C34878D82A}">
                    <a16:rowId xmlns:a16="http://schemas.microsoft.com/office/drawing/2014/main" val="2706925894"/>
                  </a:ext>
                </a:extLst>
              </a:tr>
              <a:tr h="758253">
                <a:tc>
                  <a:txBody>
                    <a:bodyPr/>
                    <a:lstStyle/>
                    <a:p>
                      <a:r>
                        <a:rPr lang="en-US" sz="2000"/>
                        <a:t>mt.start()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tc>
                  <a:txBody>
                    <a:bodyPr/>
                    <a:lstStyle/>
                    <a:p>
                      <a:r>
                        <a:rPr lang="uk-UA" sz="2000"/>
                        <a:t>Повертає початкову позицію у рядку підрядка, що відповідає шаблону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extLst>
                  <a:ext uri="{0D108BD9-81ED-4DB2-BD59-A6C34878D82A}">
                    <a16:rowId xmlns:a16="http://schemas.microsoft.com/office/drawing/2014/main" val="261036684"/>
                  </a:ext>
                </a:extLst>
              </a:tr>
              <a:tr h="758253">
                <a:tc>
                  <a:txBody>
                    <a:bodyPr/>
                    <a:lstStyle/>
                    <a:p>
                      <a:r>
                        <a:rPr lang="en-US" sz="2000"/>
                        <a:t>mt.end()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/>
                        <a:t>Повертає кінцеву позицію у рядку підрядка, що відповідає шаблону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extLst>
                  <a:ext uri="{0D108BD9-81ED-4DB2-BD59-A6C34878D82A}">
                    <a16:rowId xmlns:a16="http://schemas.microsoft.com/office/drawing/2014/main" val="3926984386"/>
                  </a:ext>
                </a:extLst>
              </a:tr>
              <a:tr h="1065653">
                <a:tc>
                  <a:txBody>
                    <a:bodyPr/>
                    <a:lstStyle/>
                    <a:p>
                      <a:r>
                        <a:rPr lang="en-US" sz="2000"/>
                        <a:t>mt.span()</a:t>
                      </a:r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/>
                        <a:t>Повертає кортеж із початкової та кінцевої позицій у рядку підрядка, що відповідає шаблону</a:t>
                      </a:r>
                    </a:p>
                    <a:p>
                      <a:endParaRPr lang="uk-UA" sz="20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02467" marR="102467" marT="51233" marB="51233"/>
                </a:tc>
                <a:extLst>
                  <a:ext uri="{0D108BD9-81ED-4DB2-BD59-A6C34878D82A}">
                    <a16:rowId xmlns:a16="http://schemas.microsoft.com/office/drawing/2014/main" val="58993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028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2D566-1289-A1B5-402F-FA3155D82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DD95B-D4C6-70B5-5337-B7AA5953D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uk-UA" sz="40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Клас </a:t>
            </a:r>
            <a:r>
              <a:rPr lang="en-US" sz="400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re.Match</a:t>
            </a:r>
            <a:endParaRPr lang="uk-UA" sz="400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8FD00B0-422B-4451-2E55-00FC11001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такий приклад.</a:t>
            </a:r>
          </a:p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текстовому файлі міститься текст, що включає інформацію про роки, коли відбулися певні події.</a:t>
            </a:r>
          </a:p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Побудувати впорядкований список років з цього тексту разом із номерами рядків файлу, де вказано той чи інший рік.</a:t>
            </a:r>
          </a:p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Крім того, вказати також позицію цього року у самому рядку та у цілому файлі.</a:t>
            </a:r>
          </a:p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Повернення дат реалізувати з використанням функції </a:t>
            </a:r>
            <a:r>
              <a:rPr lang="en-US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finditer</a:t>
            </a: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(), а аналіз характеристик провести засобами класу</a:t>
            </a:r>
            <a:r>
              <a:rPr lang="en-US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re.Match</a:t>
            </a: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2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Розв’язання</a:t>
            </a:r>
            <a:r>
              <a:rPr lang="uk-UA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en-US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(regex1_2.py)</a:t>
            </a:r>
            <a:endParaRPr lang="uk-UA" sz="2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2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64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B2A9-3EB3-1DF6-3A20-B7766B9C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8CB3E-34DA-F4DB-FCAA-2FC803EC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Клас </a:t>
            </a:r>
            <a:r>
              <a:rPr lang="en-US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re.Match</a:t>
            </a:r>
            <a:endParaRPr lang="uk-UA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1FC639-BEF8-000F-3E88-35392BB44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8586"/>
            <a:ext cx="10820400" cy="45110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Розглянемо ще один приклад.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Деякий навчальний заклад у текстовому файлі збирає інформацію про студентів.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файлі містяться дані про: ПІП студента, номер студентського квитка, дату народження, телефон.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Побудувати словник, ключами якого є номери студентських квитків, а значеннями – відповідна інформація про студентів.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Перевірити правильність інформації.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Очікуваний формат даних у файлі:</a:t>
            </a: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 action="ppaction://hlinkfile"/>
              </a:rPr>
              <a:t>Розв’язок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(regex2.py)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545ADF69-4547-074F-317A-1FC1D0232525}"/>
              </a:ext>
            </a:extLst>
          </p:cNvPr>
          <p:cNvSpPr/>
          <p:nvPr/>
        </p:nvSpPr>
        <p:spPr>
          <a:xfrm>
            <a:off x="1691148" y="5466736"/>
            <a:ext cx="8809703" cy="3932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Прізвище Ім’я По-батькові АБ12345678 01.01.2005 +380 (00) 000 0000</a:t>
            </a:r>
          </a:p>
        </p:txBody>
      </p:sp>
    </p:spTree>
    <p:extLst>
      <p:ext uri="{BB962C8B-B14F-4D97-AF65-F5344CB8AC3E}">
        <p14:creationId xmlns:p14="http://schemas.microsoft.com/office/powerpoint/2010/main" val="2364212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1B8E14F7-4DA3-C10B-12D8-62A21957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1944" y="673240"/>
            <a:ext cx="3993931" cy="3446373"/>
          </a:xfrm>
          <a:noFill/>
          <a:ln w="19050">
            <a:noFill/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115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F &amp; Q</a:t>
            </a:r>
          </a:p>
        </p:txBody>
      </p:sp>
      <p:pic>
        <p:nvPicPr>
          <p:cNvPr id="9" name="Місце для вмісту 8" descr="Thinking O Fox">
            <a:extLst>
              <a:ext uri="{FF2B5EF4-FFF2-40B4-BE49-F238E27FC236}">
                <a16:creationId xmlns:a16="http://schemas.microsoft.com/office/drawing/2014/main" id="{4E41C20E-3EC2-20FA-B61D-427FF47C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3" r="2" b="5401"/>
          <a:stretch/>
        </p:blipFill>
        <p:spPr>
          <a:xfrm>
            <a:off x="2405" y="10"/>
            <a:ext cx="77942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3658</TotalTime>
  <Words>2207</Words>
  <Application>Microsoft Office PowerPoint</Application>
  <PresentationFormat>Широкий екран</PresentationFormat>
  <Paragraphs>243</Paragraphs>
  <Slides>31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31</vt:i4>
      </vt:variant>
    </vt:vector>
  </HeadingPairs>
  <TitlesOfParts>
    <vt:vector size="41" baseType="lpstr">
      <vt:lpstr> Roboto Black</vt:lpstr>
      <vt:lpstr>Aptos</vt:lpstr>
      <vt:lpstr>Aptos Display</vt:lpstr>
      <vt:lpstr>Arial</vt:lpstr>
      <vt:lpstr>Calibri</vt:lpstr>
      <vt:lpstr>Roboto</vt:lpstr>
      <vt:lpstr>Roboto Black</vt:lpstr>
      <vt:lpstr>Roboto Condensed Medium</vt:lpstr>
      <vt:lpstr>Roboto Light</vt:lpstr>
      <vt:lpstr>Тема Office</vt:lpstr>
      <vt:lpstr>Лекція 3 РЕГУЛЯРНІ ВИРАЗИ</vt:lpstr>
      <vt:lpstr>Регулярні вирази</vt:lpstr>
      <vt:lpstr>Шаблони  та метасимволи</vt:lpstr>
      <vt:lpstr>regex101.com</vt:lpstr>
      <vt:lpstr>Метасимволи, що відповідають багатьом символам</vt:lpstr>
      <vt:lpstr>Метасимволи, що відповідають локації</vt:lpstr>
      <vt:lpstr>Презентація PowerPoint</vt:lpstr>
      <vt:lpstr>Презентація PowerPoint</vt:lpstr>
      <vt:lpstr>Метасимволи, що відповідають багатьом символам</vt:lpstr>
      <vt:lpstr>«Жадібні» символи</vt:lpstr>
      <vt:lpstr>«Жадібні» символи</vt:lpstr>
      <vt:lpstr>«Жадібні» символи</vt:lpstr>
      <vt:lpstr>Презентація PowerPoint</vt:lpstr>
      <vt:lpstr>Презентація PowerPoint</vt:lpstr>
      <vt:lpstr>Задання множини символів</vt:lpstr>
      <vt:lpstr>Задання множини символів</vt:lpstr>
      <vt:lpstr>Вибір з декількох варіантів</vt:lpstr>
      <vt:lpstr>Особливості задання шаблонів у Python</vt:lpstr>
      <vt:lpstr>Модуль re. Знаходження всіх входжень шаблону у тексті</vt:lpstr>
      <vt:lpstr>Модуль re. Знаходження всіх входжень шаблону у тексті</vt:lpstr>
      <vt:lpstr>Компіляція регулярних виразів</vt:lpstr>
      <vt:lpstr>Компіляція регулярних виразів</vt:lpstr>
      <vt:lpstr>Компіляція регулярних виразів</vt:lpstr>
      <vt:lpstr>Компіляція регулярних виразів</vt:lpstr>
      <vt:lpstr>Презентація PowerPoint</vt:lpstr>
      <vt:lpstr>Функції модуля re та методи класу regex для пошуку підрядків</vt:lpstr>
      <vt:lpstr>Функції модуля re та методи класу regex для пошуку підрядків</vt:lpstr>
      <vt:lpstr>Клас re.Match</vt:lpstr>
      <vt:lpstr>Клас re.Match</vt:lpstr>
      <vt:lpstr>Клас re.Match</vt:lpstr>
      <vt:lpstr>F &amp; 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Олександра Лисецька</dc:creator>
  <cp:lastModifiedBy>Олександра Лисецька</cp:lastModifiedBy>
  <cp:revision>15</cp:revision>
  <dcterms:created xsi:type="dcterms:W3CDTF">2025-03-01T11:07:21Z</dcterms:created>
  <dcterms:modified xsi:type="dcterms:W3CDTF">2026-02-28T19:27:46Z</dcterms:modified>
</cp:coreProperties>
</file>